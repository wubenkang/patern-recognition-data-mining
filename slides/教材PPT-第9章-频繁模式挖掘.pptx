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6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43"/>
  </p:handoutMasterIdLst>
  <p:sldIdLst>
    <p:sldId id="256" r:id="rId3"/>
    <p:sldId id="257" r:id="rId5"/>
    <p:sldId id="258" r:id="rId6"/>
    <p:sldId id="277" r:id="rId7"/>
    <p:sldId id="262" r:id="rId8"/>
    <p:sldId id="283" r:id="rId9"/>
    <p:sldId id="284" r:id="rId10"/>
    <p:sldId id="321" r:id="rId11"/>
    <p:sldId id="266" r:id="rId12"/>
    <p:sldId id="285" r:id="rId13"/>
    <p:sldId id="286" r:id="rId14"/>
    <p:sldId id="287" r:id="rId15"/>
    <p:sldId id="301" r:id="rId16"/>
    <p:sldId id="302" r:id="rId17"/>
    <p:sldId id="303" r:id="rId18"/>
    <p:sldId id="270" r:id="rId19"/>
    <p:sldId id="288" r:id="rId20"/>
    <p:sldId id="289" r:id="rId21"/>
    <p:sldId id="323" r:id="rId22"/>
    <p:sldId id="304" r:id="rId23"/>
    <p:sldId id="305" r:id="rId24"/>
    <p:sldId id="306" r:id="rId25"/>
    <p:sldId id="293" r:id="rId26"/>
    <p:sldId id="294" r:id="rId27"/>
    <p:sldId id="325" r:id="rId28"/>
    <p:sldId id="308" r:id="rId29"/>
    <p:sldId id="311" r:id="rId30"/>
    <p:sldId id="312" r:id="rId31"/>
    <p:sldId id="298" r:id="rId32"/>
    <p:sldId id="296" r:id="rId33"/>
    <p:sldId id="317" r:id="rId34"/>
    <p:sldId id="318" r:id="rId35"/>
    <p:sldId id="319" r:id="rId36"/>
    <p:sldId id="316" r:id="rId37"/>
    <p:sldId id="292" r:id="rId38"/>
    <p:sldId id="299" r:id="rId39"/>
    <p:sldId id="324" r:id="rId40"/>
    <p:sldId id="281" r:id="rId41"/>
    <p:sldId id="300" r:id="rId42"/>
  </p:sldIdLst>
  <p:sldSz cx="12192000" cy="6858000"/>
  <p:notesSz cx="6858000" cy="9144000"/>
  <p:embeddedFontLst>
    <p:embeddedFont>
      <p:font typeface="思源黑体 CN Regular" panose="020B0500000000000000" charset="-122"/>
      <p:regular r:id="rId49"/>
    </p:embeddedFont>
    <p:embeddedFont>
      <p:font typeface="楷体" panose="02010609060101010101" charset="-122"/>
      <p:regular r:id="rId50"/>
    </p:embeddedFont>
  </p:embeddedFontLst>
  <p:custDataLst>
    <p:tags r:id="rId5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B0F0"/>
    <a:srgbClr val="006FAE"/>
    <a:srgbClr val="0056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12" autoAdjust="0"/>
    <p:restoredTop sz="94660"/>
  </p:normalViewPr>
  <p:slideViewPr>
    <p:cSldViewPr snapToGrid="0">
      <p:cViewPr varScale="1">
        <p:scale>
          <a:sx n="83" d="100"/>
          <a:sy n="83" d="100"/>
        </p:scale>
        <p:origin x="126" y="5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gs" Target="tags/tag63.xml"/><Relationship Id="rId50" Type="http://schemas.openxmlformats.org/officeDocument/2006/relationships/font" Target="fonts/font2.fntdata"/><Relationship Id="rId5" Type="http://schemas.openxmlformats.org/officeDocument/2006/relationships/slide" Target="slides/slide2.xml"/><Relationship Id="rId49" Type="http://schemas.openxmlformats.org/officeDocument/2006/relationships/font" Target="fonts/font1.fntdata"/><Relationship Id="rId48" Type="http://schemas.openxmlformats.org/officeDocument/2006/relationships/customXml" Target="../customXml/item1.xml"/><Relationship Id="rId47" Type="http://schemas.openxmlformats.org/officeDocument/2006/relationships/customXmlProps" Target="../customXml/itemProps6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Regular" panose="020B0500000000000000" charset="-122"/>
              </a:rPr>
            </a:fld>
            <a:endParaRPr lang="zh-CN" altLang="en-US">
              <a:cs typeface="思源黑体 CN Regular" panose="020B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Regular" panose="020B0500000000000000" charset="-122"/>
              </a:rPr>
            </a:fld>
            <a:endParaRPr lang="zh-CN" altLang="en-US">
              <a:cs typeface="思源黑体 CN Regular" panose="020B05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AC6BB1A7-0D1B-4F2D-B557-917D931FD8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24E404EE-387A-4429-A950-C98FCE955E0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4572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9144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3716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18288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E8E436A-E919-4421-9BC7-04029FF8AF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2E8E436A-E919-4421-9BC7-04029FF8AF7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B29329AE-01FF-4B06-A12C-DAE64B6F6607}" type="slidenum">
              <a:rPr lang="zh-CN" altLang="en-US" smtClean="0"/>
            </a:fld>
            <a:endParaRPr lang="zh-CN" altLang="en-US"/>
          </a:p>
        </p:txBody>
      </p:sp>
      <p:grpSp>
        <p:nvGrpSpPr>
          <p:cNvPr id="7" name="组合 6"/>
          <p:cNvGrpSpPr/>
          <p:nvPr userDrawn="1"/>
        </p:nvGrpSpPr>
        <p:grpSpPr>
          <a:xfrm>
            <a:off x="0" y="0"/>
            <a:ext cx="12192000" cy="6858000"/>
            <a:chOff x="0" y="0"/>
            <a:chExt cx="12192000" cy="6858000"/>
          </a:xfrm>
        </p:grpSpPr>
        <p:grpSp>
          <p:nvGrpSpPr>
            <p:cNvPr id="8" name="组合 7"/>
            <p:cNvGrpSpPr/>
            <p:nvPr/>
          </p:nvGrpSpPr>
          <p:grpSpPr>
            <a:xfrm rot="16200000">
              <a:off x="2667000" y="-2667000"/>
              <a:ext cx="6858000" cy="12192000"/>
              <a:chOff x="0" y="0"/>
              <a:chExt cx="12192000" cy="6858000"/>
            </a:xfrm>
          </p:grpSpPr>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9" name="矩形 8"/>
            <p:cNvSpPr/>
            <p:nvPr/>
          </p:nvSpPr>
          <p:spPr>
            <a:xfrm>
              <a:off x="50800" y="29138"/>
              <a:ext cx="12090400" cy="6800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2" name="组合 11"/>
          <p:cNvGrpSpPr/>
          <p:nvPr userDrawn="1"/>
        </p:nvGrpSpPr>
        <p:grpSpPr>
          <a:xfrm>
            <a:off x="215427" y="228549"/>
            <a:ext cx="526193" cy="526193"/>
            <a:chOff x="5643770" y="2158950"/>
            <a:chExt cx="904461" cy="904461"/>
          </a:xfrm>
        </p:grpSpPr>
        <p:sp>
          <p:nvSpPr>
            <p:cNvPr id="13" name="椭圆 12"/>
            <p:cNvSpPr/>
            <p:nvPr/>
          </p:nvSpPr>
          <p:spPr>
            <a:xfrm>
              <a:off x="5643770" y="2158950"/>
              <a:ext cx="904461" cy="904461"/>
            </a:xfrm>
            <a:prstGeom prst="ellipse">
              <a:avLst/>
            </a:prstGeom>
            <a:solidFill>
              <a:srgbClr val="006F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14" name="Oval 14"/>
            <p:cNvSpPr/>
            <p:nvPr/>
          </p:nvSpPr>
          <p:spPr>
            <a:xfrm>
              <a:off x="5825435" y="2359230"/>
              <a:ext cx="541130" cy="503901"/>
            </a:xfrm>
            <a:custGeom>
              <a:avLst/>
              <a:gdLst>
                <a:gd name="T0" fmla="*/ 8052 w 11204"/>
                <a:gd name="T1" fmla="*/ 701 h 10433"/>
                <a:gd name="T2" fmla="*/ 7702 w 11204"/>
                <a:gd name="T3" fmla="*/ 6 h 10433"/>
                <a:gd name="T4" fmla="*/ 7352 w 11204"/>
                <a:gd name="T5" fmla="*/ 701 h 10433"/>
                <a:gd name="T6" fmla="*/ 3854 w 11204"/>
                <a:gd name="T7" fmla="*/ 353 h 10433"/>
                <a:gd name="T8" fmla="*/ 3504 w 11204"/>
                <a:gd name="T9" fmla="*/ 6 h 10433"/>
                <a:gd name="T10" fmla="*/ 3154 w 11204"/>
                <a:gd name="T11" fmla="*/ 353 h 10433"/>
                <a:gd name="T12" fmla="*/ 1755 w 11204"/>
                <a:gd name="T13" fmla="*/ 701 h 10433"/>
                <a:gd name="T14" fmla="*/ 5 w 11204"/>
                <a:gd name="T15" fmla="*/ 2438 h 10433"/>
                <a:gd name="T16" fmla="*/ 513 w 11204"/>
                <a:gd name="T17" fmla="*/ 9925 h 10433"/>
                <a:gd name="T18" fmla="*/ 9450 w 11204"/>
                <a:gd name="T19" fmla="*/ 10428 h 10433"/>
                <a:gd name="T20" fmla="*/ 11200 w 11204"/>
                <a:gd name="T21" fmla="*/ 8691 h 10433"/>
                <a:gd name="T22" fmla="*/ 10693 w 11204"/>
                <a:gd name="T23" fmla="*/ 1205 h 10433"/>
                <a:gd name="T24" fmla="*/ 707 w 11204"/>
                <a:gd name="T25" fmla="*/ 2438 h 10433"/>
                <a:gd name="T26" fmla="*/ 3155 w 11204"/>
                <a:gd name="T27" fmla="*/ 1396 h 10433"/>
                <a:gd name="T28" fmla="*/ 3252 w 11204"/>
                <a:gd name="T29" fmla="*/ 1996 h 10433"/>
                <a:gd name="T30" fmla="*/ 3759 w 11204"/>
                <a:gd name="T31" fmla="*/ 1996 h 10433"/>
                <a:gd name="T32" fmla="*/ 3855 w 11204"/>
                <a:gd name="T33" fmla="*/ 1396 h 10433"/>
                <a:gd name="T34" fmla="*/ 7353 w 11204"/>
                <a:gd name="T35" fmla="*/ 1743 h 10433"/>
                <a:gd name="T36" fmla="*/ 7950 w 11204"/>
                <a:gd name="T37" fmla="*/ 1990 h 10433"/>
                <a:gd name="T38" fmla="*/ 8053 w 11204"/>
                <a:gd name="T39" fmla="*/ 1396 h 10433"/>
                <a:gd name="T40" fmla="*/ 10500 w 11204"/>
                <a:gd name="T41" fmla="*/ 2438 h 10433"/>
                <a:gd name="T42" fmla="*/ 707 w 11204"/>
                <a:gd name="T43" fmla="*/ 3480 h 10433"/>
                <a:gd name="T44" fmla="*/ 10499 w 11204"/>
                <a:gd name="T45" fmla="*/ 8691 h 10433"/>
                <a:gd name="T46" fmla="*/ 1757 w 11204"/>
                <a:gd name="T47" fmla="*/ 9733 h 10433"/>
                <a:gd name="T48" fmla="*/ 707 w 11204"/>
                <a:gd name="T49" fmla="*/ 4175 h 10433"/>
                <a:gd name="T50" fmla="*/ 10499 w 11204"/>
                <a:gd name="T51" fmla="*/ 8691 h 10433"/>
                <a:gd name="T52" fmla="*/ 2504 w 11204"/>
                <a:gd name="T53" fmla="*/ 8691 h 10433"/>
                <a:gd name="T54" fmla="*/ 3202 w 11204"/>
                <a:gd name="T55" fmla="*/ 7996 h 10433"/>
                <a:gd name="T56" fmla="*/ 2502 w 11204"/>
                <a:gd name="T57" fmla="*/ 7301 h 10433"/>
                <a:gd name="T58" fmla="*/ 1802 w 11204"/>
                <a:gd name="T59" fmla="*/ 7996 h 10433"/>
                <a:gd name="T60" fmla="*/ 2504 w 11204"/>
                <a:gd name="T61" fmla="*/ 8691 h 10433"/>
                <a:gd name="T62" fmla="*/ 2991 w 11204"/>
                <a:gd name="T63" fmla="*/ 6398 h 10433"/>
                <a:gd name="T64" fmla="*/ 2991 w 11204"/>
                <a:gd name="T65" fmla="*/ 5426 h 10433"/>
                <a:gd name="T66" fmla="*/ 2012 w 11204"/>
                <a:gd name="T67" fmla="*/ 5426 h 10433"/>
                <a:gd name="T68" fmla="*/ 2012 w 11204"/>
                <a:gd name="T69" fmla="*/ 6398 h 10433"/>
                <a:gd name="T70" fmla="*/ 5646 w 11204"/>
                <a:gd name="T71" fmla="*/ 8691 h 10433"/>
                <a:gd name="T72" fmla="*/ 6136 w 11204"/>
                <a:gd name="T73" fmla="*/ 7510 h 10433"/>
                <a:gd name="T74" fmla="*/ 5156 w 11204"/>
                <a:gd name="T75" fmla="*/ 7510 h 10433"/>
                <a:gd name="T76" fmla="*/ 5156 w 11204"/>
                <a:gd name="T77" fmla="*/ 8482 h 10433"/>
                <a:gd name="T78" fmla="*/ 5646 w 11204"/>
                <a:gd name="T79" fmla="*/ 6606 h 10433"/>
                <a:gd name="T80" fmla="*/ 6139 w 11204"/>
                <a:gd name="T81" fmla="*/ 5426 h 10433"/>
                <a:gd name="T82" fmla="*/ 5159 w 11204"/>
                <a:gd name="T83" fmla="*/ 5426 h 10433"/>
                <a:gd name="T84" fmla="*/ 5154 w 11204"/>
                <a:gd name="T85" fmla="*/ 6398 h 10433"/>
                <a:gd name="T86" fmla="*/ 8630 w 11204"/>
                <a:gd name="T87" fmla="*/ 8691 h 10433"/>
                <a:gd name="T88" fmla="*/ 9330 w 11204"/>
                <a:gd name="T89" fmla="*/ 7996 h 10433"/>
                <a:gd name="T90" fmla="*/ 8630 w 11204"/>
                <a:gd name="T91" fmla="*/ 7301 h 10433"/>
                <a:gd name="T92" fmla="*/ 7930 w 11204"/>
                <a:gd name="T93" fmla="*/ 7996 h 10433"/>
                <a:gd name="T94" fmla="*/ 8630 w 11204"/>
                <a:gd name="T95" fmla="*/ 8691 h 10433"/>
                <a:gd name="T96" fmla="*/ 9329 w 11204"/>
                <a:gd name="T97" fmla="*/ 5912 h 10433"/>
                <a:gd name="T98" fmla="*/ 8629 w 11204"/>
                <a:gd name="T99" fmla="*/ 5217 h 10433"/>
                <a:gd name="T100" fmla="*/ 7929 w 11204"/>
                <a:gd name="T101" fmla="*/ 5912 h 10433"/>
                <a:gd name="T102" fmla="*/ 8630 w 11204"/>
                <a:gd name="T103" fmla="*/ 6606 h 10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4" h="10433">
                  <a:moveTo>
                    <a:pt x="9450" y="701"/>
                  </a:moveTo>
                  <a:lnTo>
                    <a:pt x="8052" y="701"/>
                  </a:lnTo>
                  <a:lnTo>
                    <a:pt x="8052" y="353"/>
                  </a:lnTo>
                  <a:cubicBezTo>
                    <a:pt x="8052" y="161"/>
                    <a:pt x="7895" y="6"/>
                    <a:pt x="7702" y="6"/>
                  </a:cubicBezTo>
                  <a:cubicBezTo>
                    <a:pt x="7509" y="6"/>
                    <a:pt x="7353" y="161"/>
                    <a:pt x="7352" y="353"/>
                  </a:cubicBezTo>
                  <a:lnTo>
                    <a:pt x="7352" y="701"/>
                  </a:lnTo>
                  <a:lnTo>
                    <a:pt x="3854" y="701"/>
                  </a:lnTo>
                  <a:lnTo>
                    <a:pt x="3854" y="353"/>
                  </a:lnTo>
                  <a:cubicBezTo>
                    <a:pt x="3860" y="260"/>
                    <a:pt x="3825" y="167"/>
                    <a:pt x="3758" y="101"/>
                  </a:cubicBezTo>
                  <a:cubicBezTo>
                    <a:pt x="3690" y="35"/>
                    <a:pt x="3598" y="0"/>
                    <a:pt x="3504" y="6"/>
                  </a:cubicBezTo>
                  <a:cubicBezTo>
                    <a:pt x="3410" y="0"/>
                    <a:pt x="3318" y="35"/>
                    <a:pt x="3250" y="101"/>
                  </a:cubicBezTo>
                  <a:cubicBezTo>
                    <a:pt x="3184" y="167"/>
                    <a:pt x="3149" y="260"/>
                    <a:pt x="3154" y="353"/>
                  </a:cubicBezTo>
                  <a:lnTo>
                    <a:pt x="3154" y="701"/>
                  </a:lnTo>
                  <a:lnTo>
                    <a:pt x="1755" y="701"/>
                  </a:lnTo>
                  <a:cubicBezTo>
                    <a:pt x="1290" y="696"/>
                    <a:pt x="843" y="877"/>
                    <a:pt x="513" y="1205"/>
                  </a:cubicBezTo>
                  <a:cubicBezTo>
                    <a:pt x="184" y="1531"/>
                    <a:pt x="2" y="1975"/>
                    <a:pt x="5" y="2438"/>
                  </a:cubicBezTo>
                  <a:lnTo>
                    <a:pt x="5" y="8691"/>
                  </a:lnTo>
                  <a:cubicBezTo>
                    <a:pt x="0" y="9153"/>
                    <a:pt x="184" y="9598"/>
                    <a:pt x="513" y="9925"/>
                  </a:cubicBezTo>
                  <a:cubicBezTo>
                    <a:pt x="843" y="10252"/>
                    <a:pt x="1290" y="10433"/>
                    <a:pt x="1755" y="10428"/>
                  </a:cubicBezTo>
                  <a:lnTo>
                    <a:pt x="9450" y="10428"/>
                  </a:lnTo>
                  <a:cubicBezTo>
                    <a:pt x="9915" y="10433"/>
                    <a:pt x="10363" y="10252"/>
                    <a:pt x="10693" y="9925"/>
                  </a:cubicBezTo>
                  <a:cubicBezTo>
                    <a:pt x="11022" y="9598"/>
                    <a:pt x="11204" y="9155"/>
                    <a:pt x="11200" y="8691"/>
                  </a:cubicBezTo>
                  <a:lnTo>
                    <a:pt x="11200" y="2438"/>
                  </a:lnTo>
                  <a:cubicBezTo>
                    <a:pt x="11204" y="1976"/>
                    <a:pt x="11022" y="1531"/>
                    <a:pt x="10693" y="1205"/>
                  </a:cubicBezTo>
                  <a:cubicBezTo>
                    <a:pt x="10362" y="878"/>
                    <a:pt x="9915" y="697"/>
                    <a:pt x="9450" y="701"/>
                  </a:cubicBezTo>
                  <a:close/>
                  <a:moveTo>
                    <a:pt x="707" y="2438"/>
                  </a:moveTo>
                  <a:cubicBezTo>
                    <a:pt x="720" y="1868"/>
                    <a:pt x="1183" y="1410"/>
                    <a:pt x="1757" y="1396"/>
                  </a:cubicBezTo>
                  <a:lnTo>
                    <a:pt x="3155" y="1396"/>
                  </a:lnTo>
                  <a:lnTo>
                    <a:pt x="3155" y="1743"/>
                  </a:lnTo>
                  <a:cubicBezTo>
                    <a:pt x="3149" y="1837"/>
                    <a:pt x="3184" y="1930"/>
                    <a:pt x="3252" y="1996"/>
                  </a:cubicBezTo>
                  <a:cubicBezTo>
                    <a:pt x="3319" y="2062"/>
                    <a:pt x="3410" y="2097"/>
                    <a:pt x="3505" y="2091"/>
                  </a:cubicBezTo>
                  <a:cubicBezTo>
                    <a:pt x="3599" y="2097"/>
                    <a:pt x="3692" y="2062"/>
                    <a:pt x="3759" y="1996"/>
                  </a:cubicBezTo>
                  <a:cubicBezTo>
                    <a:pt x="3827" y="1930"/>
                    <a:pt x="3862" y="1837"/>
                    <a:pt x="3855" y="1743"/>
                  </a:cubicBezTo>
                  <a:lnTo>
                    <a:pt x="3855" y="1396"/>
                  </a:lnTo>
                  <a:lnTo>
                    <a:pt x="7353" y="1396"/>
                  </a:lnTo>
                  <a:lnTo>
                    <a:pt x="7353" y="1743"/>
                  </a:lnTo>
                  <a:cubicBezTo>
                    <a:pt x="7353" y="1936"/>
                    <a:pt x="7509" y="2091"/>
                    <a:pt x="7703" y="2091"/>
                  </a:cubicBezTo>
                  <a:cubicBezTo>
                    <a:pt x="7795" y="2091"/>
                    <a:pt x="7884" y="2055"/>
                    <a:pt x="7950" y="1990"/>
                  </a:cubicBezTo>
                  <a:cubicBezTo>
                    <a:pt x="8015" y="1925"/>
                    <a:pt x="8053" y="1836"/>
                    <a:pt x="8053" y="1743"/>
                  </a:cubicBezTo>
                  <a:lnTo>
                    <a:pt x="8053" y="1396"/>
                  </a:lnTo>
                  <a:lnTo>
                    <a:pt x="9452" y="1396"/>
                  </a:lnTo>
                  <a:cubicBezTo>
                    <a:pt x="10025" y="1410"/>
                    <a:pt x="10486" y="1868"/>
                    <a:pt x="10500" y="2438"/>
                  </a:cubicBezTo>
                  <a:lnTo>
                    <a:pt x="10500" y="3480"/>
                  </a:lnTo>
                  <a:lnTo>
                    <a:pt x="707" y="3480"/>
                  </a:lnTo>
                  <a:lnTo>
                    <a:pt x="707" y="2438"/>
                  </a:lnTo>
                  <a:close/>
                  <a:moveTo>
                    <a:pt x="10499" y="8691"/>
                  </a:moveTo>
                  <a:cubicBezTo>
                    <a:pt x="10485" y="9261"/>
                    <a:pt x="10023" y="9718"/>
                    <a:pt x="9450" y="9733"/>
                  </a:cubicBezTo>
                  <a:lnTo>
                    <a:pt x="1757" y="9733"/>
                  </a:lnTo>
                  <a:cubicBezTo>
                    <a:pt x="1183" y="9720"/>
                    <a:pt x="720" y="9261"/>
                    <a:pt x="707" y="8691"/>
                  </a:cubicBezTo>
                  <a:lnTo>
                    <a:pt x="707" y="4175"/>
                  </a:lnTo>
                  <a:lnTo>
                    <a:pt x="10500" y="4175"/>
                  </a:lnTo>
                  <a:lnTo>
                    <a:pt x="10499" y="8691"/>
                  </a:lnTo>
                  <a:close/>
                  <a:moveTo>
                    <a:pt x="10499" y="8691"/>
                  </a:moveTo>
                  <a:close/>
                  <a:moveTo>
                    <a:pt x="2504" y="8691"/>
                  </a:moveTo>
                  <a:cubicBezTo>
                    <a:pt x="2689" y="8696"/>
                    <a:pt x="2868" y="8620"/>
                    <a:pt x="2991" y="8482"/>
                  </a:cubicBezTo>
                  <a:cubicBezTo>
                    <a:pt x="3125" y="8356"/>
                    <a:pt x="3202" y="8179"/>
                    <a:pt x="3202" y="7996"/>
                  </a:cubicBezTo>
                  <a:cubicBezTo>
                    <a:pt x="3202" y="7812"/>
                    <a:pt x="3125" y="7636"/>
                    <a:pt x="2991" y="7510"/>
                  </a:cubicBezTo>
                  <a:cubicBezTo>
                    <a:pt x="2864" y="7376"/>
                    <a:pt x="2687" y="7301"/>
                    <a:pt x="2502" y="7301"/>
                  </a:cubicBezTo>
                  <a:cubicBezTo>
                    <a:pt x="2316" y="7301"/>
                    <a:pt x="2140" y="7376"/>
                    <a:pt x="2012" y="7510"/>
                  </a:cubicBezTo>
                  <a:cubicBezTo>
                    <a:pt x="1878" y="7636"/>
                    <a:pt x="1802" y="7812"/>
                    <a:pt x="1802" y="7996"/>
                  </a:cubicBezTo>
                  <a:cubicBezTo>
                    <a:pt x="1802" y="8179"/>
                    <a:pt x="1878" y="8356"/>
                    <a:pt x="2012" y="8482"/>
                  </a:cubicBezTo>
                  <a:cubicBezTo>
                    <a:pt x="2137" y="8621"/>
                    <a:pt x="2317" y="8697"/>
                    <a:pt x="2504" y="8691"/>
                  </a:cubicBezTo>
                  <a:close/>
                  <a:moveTo>
                    <a:pt x="2504" y="6606"/>
                  </a:moveTo>
                  <a:cubicBezTo>
                    <a:pt x="2689" y="6611"/>
                    <a:pt x="2868" y="6535"/>
                    <a:pt x="2991" y="6398"/>
                  </a:cubicBezTo>
                  <a:cubicBezTo>
                    <a:pt x="3118" y="6267"/>
                    <a:pt x="3193" y="6095"/>
                    <a:pt x="3202" y="5912"/>
                  </a:cubicBezTo>
                  <a:cubicBezTo>
                    <a:pt x="3194" y="5730"/>
                    <a:pt x="3119" y="5557"/>
                    <a:pt x="2991" y="5426"/>
                  </a:cubicBezTo>
                  <a:cubicBezTo>
                    <a:pt x="2864" y="5292"/>
                    <a:pt x="2687" y="5217"/>
                    <a:pt x="2502" y="5217"/>
                  </a:cubicBezTo>
                  <a:cubicBezTo>
                    <a:pt x="2316" y="5217"/>
                    <a:pt x="2139" y="5292"/>
                    <a:pt x="2012" y="5426"/>
                  </a:cubicBezTo>
                  <a:cubicBezTo>
                    <a:pt x="1885" y="5557"/>
                    <a:pt x="1810" y="5730"/>
                    <a:pt x="1802" y="5912"/>
                  </a:cubicBezTo>
                  <a:cubicBezTo>
                    <a:pt x="1810" y="6095"/>
                    <a:pt x="1884" y="6267"/>
                    <a:pt x="2012" y="6398"/>
                  </a:cubicBezTo>
                  <a:cubicBezTo>
                    <a:pt x="2137" y="6536"/>
                    <a:pt x="2317" y="6612"/>
                    <a:pt x="2504" y="6606"/>
                  </a:cubicBezTo>
                  <a:close/>
                  <a:moveTo>
                    <a:pt x="5646" y="8691"/>
                  </a:moveTo>
                  <a:cubicBezTo>
                    <a:pt x="5929" y="8695"/>
                    <a:pt x="6185" y="8526"/>
                    <a:pt x="6294" y="8265"/>
                  </a:cubicBezTo>
                  <a:cubicBezTo>
                    <a:pt x="6401" y="8005"/>
                    <a:pt x="6339" y="7705"/>
                    <a:pt x="6136" y="7510"/>
                  </a:cubicBezTo>
                  <a:cubicBezTo>
                    <a:pt x="6009" y="7376"/>
                    <a:pt x="5831" y="7301"/>
                    <a:pt x="5646" y="7301"/>
                  </a:cubicBezTo>
                  <a:cubicBezTo>
                    <a:pt x="5461" y="7301"/>
                    <a:pt x="5284" y="7376"/>
                    <a:pt x="5156" y="7510"/>
                  </a:cubicBezTo>
                  <a:cubicBezTo>
                    <a:pt x="5023" y="7636"/>
                    <a:pt x="4946" y="7812"/>
                    <a:pt x="4946" y="7996"/>
                  </a:cubicBezTo>
                  <a:cubicBezTo>
                    <a:pt x="4946" y="8179"/>
                    <a:pt x="5023" y="8356"/>
                    <a:pt x="5156" y="8482"/>
                  </a:cubicBezTo>
                  <a:cubicBezTo>
                    <a:pt x="5281" y="8621"/>
                    <a:pt x="5461" y="8696"/>
                    <a:pt x="5646" y="8691"/>
                  </a:cubicBezTo>
                  <a:close/>
                  <a:moveTo>
                    <a:pt x="5646" y="6606"/>
                  </a:moveTo>
                  <a:cubicBezTo>
                    <a:pt x="6030" y="6598"/>
                    <a:pt x="6339" y="6292"/>
                    <a:pt x="6349" y="5912"/>
                  </a:cubicBezTo>
                  <a:cubicBezTo>
                    <a:pt x="6340" y="5730"/>
                    <a:pt x="6267" y="5557"/>
                    <a:pt x="6139" y="5426"/>
                  </a:cubicBezTo>
                  <a:cubicBezTo>
                    <a:pt x="6012" y="5292"/>
                    <a:pt x="5834" y="5217"/>
                    <a:pt x="5649" y="5217"/>
                  </a:cubicBezTo>
                  <a:cubicBezTo>
                    <a:pt x="5464" y="5217"/>
                    <a:pt x="5288" y="5292"/>
                    <a:pt x="5159" y="5426"/>
                  </a:cubicBezTo>
                  <a:cubicBezTo>
                    <a:pt x="5032" y="5557"/>
                    <a:pt x="4958" y="5730"/>
                    <a:pt x="4949" y="5912"/>
                  </a:cubicBezTo>
                  <a:cubicBezTo>
                    <a:pt x="4957" y="6093"/>
                    <a:pt x="5029" y="6266"/>
                    <a:pt x="5154" y="6398"/>
                  </a:cubicBezTo>
                  <a:cubicBezTo>
                    <a:pt x="5280" y="6536"/>
                    <a:pt x="5460" y="6612"/>
                    <a:pt x="5646" y="6606"/>
                  </a:cubicBezTo>
                  <a:close/>
                  <a:moveTo>
                    <a:pt x="8630" y="8691"/>
                  </a:moveTo>
                  <a:cubicBezTo>
                    <a:pt x="8817" y="8696"/>
                    <a:pt x="8995" y="8620"/>
                    <a:pt x="9120" y="8482"/>
                  </a:cubicBezTo>
                  <a:cubicBezTo>
                    <a:pt x="9254" y="8356"/>
                    <a:pt x="9330" y="8179"/>
                    <a:pt x="9330" y="7996"/>
                  </a:cubicBezTo>
                  <a:cubicBezTo>
                    <a:pt x="9330" y="7812"/>
                    <a:pt x="9254" y="7636"/>
                    <a:pt x="9120" y="7510"/>
                  </a:cubicBezTo>
                  <a:cubicBezTo>
                    <a:pt x="8993" y="7376"/>
                    <a:pt x="8815" y="7301"/>
                    <a:pt x="8630" y="7301"/>
                  </a:cubicBezTo>
                  <a:cubicBezTo>
                    <a:pt x="8445" y="7301"/>
                    <a:pt x="8268" y="7376"/>
                    <a:pt x="8140" y="7510"/>
                  </a:cubicBezTo>
                  <a:cubicBezTo>
                    <a:pt x="8003" y="7633"/>
                    <a:pt x="7925" y="7811"/>
                    <a:pt x="7930" y="7996"/>
                  </a:cubicBezTo>
                  <a:cubicBezTo>
                    <a:pt x="7939" y="8178"/>
                    <a:pt x="8013" y="8351"/>
                    <a:pt x="8140" y="8482"/>
                  </a:cubicBezTo>
                  <a:cubicBezTo>
                    <a:pt x="8265" y="8620"/>
                    <a:pt x="8444" y="8696"/>
                    <a:pt x="8630" y="8691"/>
                  </a:cubicBezTo>
                  <a:close/>
                  <a:moveTo>
                    <a:pt x="8630" y="6606"/>
                  </a:moveTo>
                  <a:cubicBezTo>
                    <a:pt x="9013" y="6597"/>
                    <a:pt x="9320" y="6291"/>
                    <a:pt x="9329" y="5912"/>
                  </a:cubicBezTo>
                  <a:cubicBezTo>
                    <a:pt x="9320" y="5730"/>
                    <a:pt x="9247" y="5557"/>
                    <a:pt x="9119" y="5426"/>
                  </a:cubicBezTo>
                  <a:cubicBezTo>
                    <a:pt x="8992" y="5292"/>
                    <a:pt x="8814" y="5217"/>
                    <a:pt x="8629" y="5217"/>
                  </a:cubicBezTo>
                  <a:cubicBezTo>
                    <a:pt x="8444" y="5217"/>
                    <a:pt x="8267" y="5292"/>
                    <a:pt x="8139" y="5426"/>
                  </a:cubicBezTo>
                  <a:cubicBezTo>
                    <a:pt x="8013" y="5557"/>
                    <a:pt x="7938" y="5730"/>
                    <a:pt x="7929" y="5912"/>
                  </a:cubicBezTo>
                  <a:cubicBezTo>
                    <a:pt x="7938" y="6095"/>
                    <a:pt x="8012" y="6267"/>
                    <a:pt x="8139" y="6398"/>
                  </a:cubicBezTo>
                  <a:cubicBezTo>
                    <a:pt x="8265" y="6536"/>
                    <a:pt x="8444" y="6612"/>
                    <a:pt x="8630" y="6606"/>
                  </a:cubicBezTo>
                  <a:close/>
                  <a:moveTo>
                    <a:pt x="8630" y="660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5" Type="http://schemas.openxmlformats.org/officeDocument/2006/relationships/notesSlide" Target="../notesSlides/notesSlide2.xml"/><Relationship Id="rId24" Type="http://schemas.openxmlformats.org/officeDocument/2006/relationships/slideLayout" Target="../slideLayouts/slideLayout1.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tags" Target="../tags/tag25.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tags" Target="../tags/tag28.xml"/><Relationship Id="rId2" Type="http://schemas.openxmlformats.org/officeDocument/2006/relationships/image" Target="../media/image5.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tags" Target="../tags/tag37.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tags" Target="../tags/tag40.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41.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tags" Target="../tags/tag42.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tags" Target="../tags/tag43.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tags" Target="../tags/tag44.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tags" Target="../tags/tag45.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46.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tags" Target="../tags/tag47.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tags" Target="../tags/tag48.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tags" Target="../tags/tag49.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50.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tags" Target="../tags/tag51.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tags" Target="../tags/tag52.xml"/><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tags" Target="../tags/tag53.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54.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tags" Target="../tags/tag55.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tags" Target="../tags/tag56.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ags" Target="../tags/tag57.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1.xml"/><Relationship Id="rId4" Type="http://schemas.openxmlformats.org/officeDocument/2006/relationships/tags" Target="../tags/tag59.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tags" Target="../tags/tag58.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tags" Target="../tags/tag60.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tags" Target="../tags/tag61.xml"/><Relationship Id="rId1"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矩形 16"/>
          <p:cNvSpPr/>
          <p:nvPr/>
        </p:nvSpPr>
        <p:spPr>
          <a:xfrm>
            <a:off x="1621753" y="3328538"/>
            <a:ext cx="8948494" cy="737235"/>
          </a:xfrm>
          <a:prstGeom prst="rect">
            <a:avLst/>
          </a:prstGeom>
        </p:spPr>
        <p:txBody>
          <a:bodyPr wrap="square">
            <a:spAutoFit/>
          </a:bodyPr>
          <a:lstStyle/>
          <a:p>
            <a:pPr algn="ctr">
              <a:lnSpc>
                <a:spcPct val="150000"/>
              </a:lnSpc>
              <a:defRPr/>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第</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9</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章</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频繁模式挖掘</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9" name="矩形 18"/>
          <p:cNvSpPr/>
          <p:nvPr/>
        </p:nvSpPr>
        <p:spPr>
          <a:xfrm>
            <a:off x="2912110" y="2776220"/>
            <a:ext cx="6367780" cy="368300"/>
          </a:xfrm>
          <a:prstGeom prst="rect">
            <a:avLst/>
          </a:prstGeom>
        </p:spPr>
        <p:txBody>
          <a:bodyPr wrap="square">
            <a:spAutoFit/>
          </a:bodyPr>
          <a:lstStyle/>
          <a:p>
            <a:pPr algn="dist"/>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Pattern </a:t>
            </a:r>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Recognition and </a:t>
            </a:r>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Data Mining</a:t>
            </a:r>
            <a:endPar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8" name="矩形 27"/>
          <p:cNvSpPr/>
          <p:nvPr/>
        </p:nvSpPr>
        <p:spPr>
          <a:xfrm>
            <a:off x="1520327" y="1743492"/>
            <a:ext cx="9151347" cy="1106805"/>
          </a:xfrm>
          <a:prstGeom prst="rect">
            <a:avLst/>
          </a:prstGeom>
        </p:spPr>
        <p:txBody>
          <a:bodyPr wrap="square">
            <a:spAutoFit/>
          </a:bodyPr>
          <a:lstStyle/>
          <a:p>
            <a:pPr algn="ctr"/>
            <a:r>
              <a:rPr lang="zh-CN" altLang="en-US" sz="6600" dirty="0">
                <a:solidFill>
                  <a:srgbClr val="00568A"/>
                </a:solidFill>
                <a:latin typeface="思源黑体 CN Regular" panose="020B0500000000000000" charset="-122"/>
                <a:ea typeface="思源黑体 CN Regular" panose="020B0500000000000000" charset="-122"/>
                <a:cs typeface="+mn-ea"/>
                <a:sym typeface="+mn-lt"/>
              </a:rPr>
              <a:t>模式识别与数据挖掘</a:t>
            </a:r>
            <a:endParaRPr lang="zh-CN" altLang="en-US" sz="6600" dirty="0">
              <a:solidFill>
                <a:srgbClr val="00568A"/>
              </a:solidFill>
              <a:latin typeface="思源黑体 CN Regular" panose="020B0500000000000000" charset="-122"/>
              <a:ea typeface="思源黑体 CN Regular" panose="020B0500000000000000" charset="-122"/>
              <a:cs typeface="+mn-ea"/>
              <a:sym typeface="+mn-l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12192000" cy="6858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grpSp>
        <p:nvGrpSpPr>
          <p:cNvPr id="29" name="组合 28"/>
          <p:cNvGrpSpPr/>
          <p:nvPr/>
        </p:nvGrpSpPr>
        <p:grpSpPr>
          <a:xfrm>
            <a:off x="1001337" y="2483266"/>
            <a:ext cx="2462530" cy="1322704"/>
            <a:chOff x="1873898" y="1323128"/>
            <a:chExt cx="1670063" cy="897045"/>
          </a:xfrm>
        </p:grpSpPr>
        <p:sp>
          <p:nvSpPr>
            <p:cNvPr id="30" name="椭圆 29"/>
            <p:cNvSpPr/>
            <p:nvPr/>
          </p:nvSpPr>
          <p:spPr>
            <a:xfrm>
              <a:off x="2123668"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目</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1" name="椭圆 30"/>
            <p:cNvSpPr/>
            <p:nvPr/>
          </p:nvSpPr>
          <p:spPr>
            <a:xfrm>
              <a:off x="2636020"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录</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2" name="矩形 31"/>
            <p:cNvSpPr/>
            <p:nvPr/>
          </p:nvSpPr>
          <p:spPr>
            <a:xfrm>
              <a:off x="1873898" y="1740859"/>
              <a:ext cx="1670063" cy="479314"/>
            </a:xfrm>
            <a:prstGeom prst="rect">
              <a:avLst/>
            </a:prstGeom>
          </p:spPr>
          <p:txBody>
            <a:bodyPr vert="horz" wrap="square">
              <a:spAutoFit/>
            </a:bodyPr>
            <a:lstStyle/>
            <a:p>
              <a:r>
                <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Contents</a:t>
              </a:r>
              <a:endPar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grpSp>
      <p:sp>
        <p:nvSpPr>
          <p:cNvPr id="33" name="文本框"/>
          <p:cNvSpPr/>
          <p:nvPr>
            <p:custDataLst>
              <p:tags r:id="rId2"/>
            </p:custDataLst>
          </p:nvPr>
        </p:nvSpPr>
        <p:spPr>
          <a:xfrm>
            <a:off x="4766945" y="1414780"/>
            <a:ext cx="3765608" cy="521970"/>
          </a:xfrm>
          <a:prstGeom prst="rect">
            <a:avLst/>
          </a:prstGeom>
        </p:spPr>
        <p:txBody>
          <a:bodyPr wrap="square">
            <a:spAutoFit/>
          </a:bodyPr>
          <a:lstStyle/>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4" name="矩形 33"/>
          <p:cNvSpPr/>
          <p:nvPr>
            <p:custDataLst>
              <p:tags r:id="rId3"/>
            </p:custDataLst>
          </p:nvPr>
        </p:nvSpPr>
        <p:spPr>
          <a:xfrm flipH="1">
            <a:off x="4766945" y="1845648"/>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Introduction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5" name="文本框"/>
          <p:cNvSpPr/>
          <p:nvPr>
            <p:custDataLst>
              <p:tags r:id="rId4"/>
            </p:custDataLst>
          </p:nvPr>
        </p:nvSpPr>
        <p:spPr>
          <a:xfrm>
            <a:off x="4766945" y="2515891"/>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基本</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概念</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6" name="矩形 35"/>
          <p:cNvSpPr/>
          <p:nvPr>
            <p:custDataLst>
              <p:tags r:id="rId5"/>
            </p:custDataLst>
          </p:nvPr>
        </p:nvSpPr>
        <p:spPr>
          <a:xfrm flipH="1">
            <a:off x="4766945" y="2946759"/>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Basic </a:t>
            </a: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Concepts</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7" name="文本框"/>
          <p:cNvSpPr/>
          <p:nvPr>
            <p:custDataLst>
              <p:tags r:id="rId6"/>
            </p:custDataLst>
          </p:nvPr>
        </p:nvSpPr>
        <p:spPr>
          <a:xfrm>
            <a:off x="4766945" y="3617002"/>
            <a:ext cx="3765608" cy="521970"/>
          </a:xfrm>
          <a:prstGeom prst="rect">
            <a:avLst/>
          </a:prstGeom>
        </p:spPr>
        <p:txBody>
          <a:bodyPr wrap="square">
            <a:spAutoFit/>
          </a:bodyPr>
          <a:lstStyle/>
          <a:p>
            <a:pPr lvl="0"/>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Apriori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算法</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8" name="矩形 37"/>
          <p:cNvSpPr/>
          <p:nvPr>
            <p:custDataLst>
              <p:tags r:id="rId7"/>
            </p:custDataLst>
          </p:nvPr>
        </p:nvSpPr>
        <p:spPr>
          <a:xfrm flipH="1">
            <a:off x="4766945" y="4047870"/>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Apriori Algorithm</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9" name="文本框"/>
          <p:cNvSpPr/>
          <p:nvPr>
            <p:custDataLst>
              <p:tags r:id="rId8"/>
            </p:custDataLst>
          </p:nvPr>
        </p:nvSpPr>
        <p:spPr>
          <a:xfrm>
            <a:off x="4766945" y="4718112"/>
            <a:ext cx="3765608" cy="521970"/>
          </a:xfrm>
          <a:prstGeom prst="rect">
            <a:avLst/>
          </a:prstGeom>
        </p:spPr>
        <p:txBody>
          <a:bodyPr wrap="square">
            <a:spAutoFit/>
          </a:bodyPr>
          <a:lstStyle/>
          <a:p>
            <a:pPr lvl="0"/>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Eclat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算法</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0" name="矩形 39"/>
          <p:cNvSpPr/>
          <p:nvPr>
            <p:custDataLst>
              <p:tags r:id="rId9"/>
            </p:custDataLst>
          </p:nvPr>
        </p:nvSpPr>
        <p:spPr>
          <a:xfrm flipH="1">
            <a:off x="4766945" y="5148980"/>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Eclat Algorithm</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1" name="椭圆 40"/>
          <p:cNvSpPr/>
          <p:nvPr>
            <p:custDataLst>
              <p:tags r:id="rId10"/>
            </p:custDataLst>
          </p:nvPr>
        </p:nvSpPr>
        <p:spPr>
          <a:xfrm>
            <a:off x="3970914" y="141478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2" name="椭圆 41"/>
          <p:cNvSpPr/>
          <p:nvPr>
            <p:custDataLst>
              <p:tags r:id="rId11"/>
            </p:custDataLst>
          </p:nvPr>
        </p:nvSpPr>
        <p:spPr>
          <a:xfrm>
            <a:off x="3970914" y="251589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3" name="椭圆 42"/>
          <p:cNvSpPr/>
          <p:nvPr>
            <p:custDataLst>
              <p:tags r:id="rId12"/>
            </p:custDataLst>
          </p:nvPr>
        </p:nvSpPr>
        <p:spPr>
          <a:xfrm>
            <a:off x="3970914" y="361700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4" name="椭圆 43"/>
          <p:cNvSpPr/>
          <p:nvPr>
            <p:custDataLst>
              <p:tags r:id="rId13"/>
            </p:custDataLst>
          </p:nvPr>
        </p:nvSpPr>
        <p:spPr>
          <a:xfrm>
            <a:off x="3970914" y="471811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custDataLst>
              <p:tags r:id="rId14"/>
            </p:custDataLst>
          </p:nvPr>
        </p:nvSpPr>
        <p:spPr>
          <a:xfrm>
            <a:off x="8317230" y="2513330"/>
            <a:ext cx="3765608" cy="521970"/>
          </a:xfrm>
          <a:prstGeom prst="rect">
            <a:avLst/>
          </a:prstGeom>
        </p:spPr>
        <p:txBody>
          <a:bodyPr wrap="square">
            <a:spAutoFit/>
          </a:bodyPr>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关联规则发现</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矩形 2"/>
          <p:cNvSpPr/>
          <p:nvPr>
            <p:custDataLst>
              <p:tags r:id="rId15"/>
            </p:custDataLst>
          </p:nvPr>
        </p:nvSpPr>
        <p:spPr>
          <a:xfrm flipH="1">
            <a:off x="8317230" y="2944198"/>
            <a:ext cx="3550472" cy="300990"/>
          </a:xfrm>
          <a:prstGeom prst="rect">
            <a:avLst/>
          </a:prstGeom>
        </p:spPr>
        <p:txBody>
          <a:bodyPr wrap="square">
            <a:spAutoFit/>
          </a:bodyPr>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Discovery of Association Rules</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p:cNvSpPr/>
          <p:nvPr>
            <p:custDataLst>
              <p:tags r:id="rId16"/>
            </p:custDataLst>
          </p:nvPr>
        </p:nvSpPr>
        <p:spPr>
          <a:xfrm>
            <a:off x="8317230" y="3614441"/>
            <a:ext cx="3765608" cy="521970"/>
          </a:xfrm>
          <a:prstGeom prst="rect">
            <a:avLst/>
          </a:prstGeom>
        </p:spPr>
        <p:txBody>
          <a:bodyPr wrap="square">
            <a:spAutoFit/>
          </a:bodyPr>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小结与讨论</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7" name="矩形 6"/>
          <p:cNvSpPr/>
          <p:nvPr>
            <p:custDataLst>
              <p:tags r:id="rId17"/>
            </p:custDataLst>
          </p:nvPr>
        </p:nvSpPr>
        <p:spPr>
          <a:xfrm flipH="1">
            <a:off x="8317230" y="4045309"/>
            <a:ext cx="3550472" cy="300990"/>
          </a:xfrm>
          <a:prstGeom prst="rect">
            <a:avLst/>
          </a:prstGeom>
        </p:spPr>
        <p:txBody>
          <a:bodyPr wrap="square">
            <a:spAutoFit/>
          </a:bodyPr>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Summary and Discussion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2" name="椭圆 11"/>
          <p:cNvSpPr/>
          <p:nvPr>
            <p:custDataLst>
              <p:tags r:id="rId18"/>
            </p:custDataLst>
          </p:nvPr>
        </p:nvSpPr>
        <p:spPr>
          <a:xfrm>
            <a:off x="7521199" y="251333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06</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椭圆 12"/>
          <p:cNvSpPr/>
          <p:nvPr>
            <p:custDataLst>
              <p:tags r:id="rId19"/>
            </p:custDataLst>
          </p:nvPr>
        </p:nvSpPr>
        <p:spPr>
          <a:xfrm>
            <a:off x="7521199" y="361444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07</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6" name="文本框"/>
          <p:cNvSpPr/>
          <p:nvPr>
            <p:custDataLst>
              <p:tags r:id="rId20"/>
            </p:custDataLst>
          </p:nvPr>
        </p:nvSpPr>
        <p:spPr>
          <a:xfrm>
            <a:off x="8317230" y="1417320"/>
            <a:ext cx="3765608" cy="521970"/>
          </a:xfrm>
          <a:prstGeom prst="rect">
            <a:avLst/>
          </a:prstGeom>
        </p:spPr>
        <p:txBody>
          <a:bodyPr wrap="square">
            <a:spAutoFit/>
          </a:bodyPr>
          <a:p>
            <a:pPr lvl="0" algn="l">
              <a:buClrTx/>
              <a:buSzTx/>
              <a:buFontTx/>
            </a:pP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FP- Growth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算法</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7" name="矩形 16"/>
          <p:cNvSpPr/>
          <p:nvPr>
            <p:custDataLst>
              <p:tags r:id="rId21"/>
            </p:custDataLst>
          </p:nvPr>
        </p:nvSpPr>
        <p:spPr>
          <a:xfrm flipH="1">
            <a:off x="8317230" y="1848188"/>
            <a:ext cx="3550472" cy="300990"/>
          </a:xfrm>
          <a:prstGeom prst="rect">
            <a:avLst/>
          </a:prstGeom>
        </p:spPr>
        <p:txBody>
          <a:bodyPr wrap="square">
            <a:spAutoFit/>
          </a:bodyPr>
          <a:p>
            <a:pPr lvl="0">
              <a:lnSpc>
                <a:spcPct val="130000"/>
              </a:lnSpc>
              <a:defRPr/>
            </a:pPr>
            <a:r>
              <a:rPr lang="en-US" altLang="zh-CN" sz="105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FP- Growth Algorithm</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8" name="椭圆 17"/>
          <p:cNvSpPr/>
          <p:nvPr>
            <p:custDataLst>
              <p:tags r:id="rId22"/>
            </p:custDataLst>
          </p:nvPr>
        </p:nvSpPr>
        <p:spPr>
          <a:xfrm>
            <a:off x="7521199" y="141732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3138170"/>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66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2" name="矩形 21"/>
          <p:cNvSpPr/>
          <p:nvPr/>
        </p:nvSpPr>
        <p:spPr>
          <a:xfrm>
            <a:off x="2622923" y="4107543"/>
            <a:ext cx="6946156" cy="506730"/>
          </a:xfrm>
          <a:prstGeom prst="rect">
            <a:avLst/>
          </a:prstGeom>
        </p:spPr>
        <p:txBody>
          <a:bodyPr wrap="square">
            <a:spAutoFit/>
          </a:bodyPr>
          <a:lstStyle/>
          <a:p>
            <a:pPr algn="ctr">
              <a:lnSpc>
                <a:spcPct val="150000"/>
              </a:lnSpc>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Introduction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1"/>
          <p:cNvSpPr/>
          <p:nvPr/>
        </p:nvSpPr>
        <p:spPr>
          <a:xfrm>
            <a:off x="633095" y="10096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频繁模式挖掘</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圆角矩形 2"/>
          <p:cNvSpPr/>
          <p:nvPr/>
        </p:nvSpPr>
        <p:spPr>
          <a:xfrm>
            <a:off x="609600" y="1659255"/>
            <a:ext cx="10825480" cy="1424940"/>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787400" y="1659255"/>
            <a:ext cx="10350500" cy="1421130"/>
          </a:xfrm>
          <a:prstGeom prst="rect">
            <a:avLst/>
          </a:prstGeom>
          <a:noFill/>
        </p:spPr>
        <p:txBody>
          <a:bodyPr wrap="square" rtlCol="0">
            <a:noAutofit/>
          </a:bodyPr>
          <a:p>
            <a:pPr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频繁模式挖掘是数据挖掘的一项重要任务</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旨在</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从大规模数据集中识别出频繁出现的模式、项集、子序列或结构</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。这些模式可以反映</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数据中隐含的关联关系</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有助于企业和研究人员更好地理解数据特性和发现价值洞见</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为精准决策提供数据支撑</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sp>
        <p:nvSpPr>
          <p:cNvPr id="6" name="圆角矩形 5"/>
          <p:cNvSpPr/>
          <p:nvPr/>
        </p:nvSpPr>
        <p:spPr>
          <a:xfrm>
            <a:off x="634365" y="326390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经典案例</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圆角矩形 7"/>
          <p:cNvSpPr/>
          <p:nvPr/>
        </p:nvSpPr>
        <p:spPr>
          <a:xfrm>
            <a:off x="633095" y="3909695"/>
            <a:ext cx="7969250" cy="2294890"/>
          </a:xfrm>
          <a:prstGeom prst="roundRect">
            <a:avLst>
              <a:gd name="adj" fmla="val 8633"/>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698500" y="3953510"/>
            <a:ext cx="7738745" cy="2186940"/>
          </a:xfrm>
          <a:prstGeom prst="rect">
            <a:avLst/>
          </a:prstGeom>
          <a:noFill/>
        </p:spPr>
        <p:txBody>
          <a:bodyPr wrap="square" rtlCol="0">
            <a:noAutofit/>
          </a:bodyPr>
          <a:p>
            <a:pPr indent="0" fontAlgn="auto">
              <a:lnSpc>
                <a:spcPct val="150000"/>
              </a:lnSpc>
            </a:pP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20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世纪</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90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年代的美国沃尔玛超市，</a:t>
            </a:r>
            <a:r>
              <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在某些特定情况下</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啤酒</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尿布</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两件看上去毫无关系的商品会经常出现在同一张购物清单中</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后续调查发现</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这种现象出现在年轻的父亲身上</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他们在超市里购买尿布时</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为了犒劳自己</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往往顺手还会购买啤酒。把啤酒和尿布摆放在更靠近的货架上，这一简单的调整居然让啤酒的销量大幅增长。</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pic>
        <p:nvPicPr>
          <p:cNvPr id="12" name="图片 11"/>
          <p:cNvPicPr>
            <a:picLocks noChangeAspect="1"/>
          </p:cNvPicPr>
          <p:nvPr/>
        </p:nvPicPr>
        <p:blipFill>
          <a:blip r:embed="rId1"/>
          <a:srcRect l="9607" r="6439"/>
          <a:stretch>
            <a:fillRect/>
          </a:stretch>
        </p:blipFill>
        <p:spPr>
          <a:xfrm>
            <a:off x="8671560" y="3605530"/>
            <a:ext cx="1460500" cy="2712085"/>
          </a:xfrm>
          <a:prstGeom prst="rect">
            <a:avLst/>
          </a:prstGeom>
        </p:spPr>
      </p:pic>
      <p:pic>
        <p:nvPicPr>
          <p:cNvPr id="14" name="图片 13"/>
          <p:cNvPicPr>
            <a:picLocks noChangeAspect="1"/>
          </p:cNvPicPr>
          <p:nvPr/>
        </p:nvPicPr>
        <p:blipFill>
          <a:blip r:embed="rId2"/>
          <a:stretch>
            <a:fillRect/>
          </a:stretch>
        </p:blipFill>
        <p:spPr>
          <a:xfrm>
            <a:off x="9737725" y="3448050"/>
            <a:ext cx="1562100" cy="1388745"/>
          </a:xfrm>
          <a:prstGeom prst="rect">
            <a:avLst/>
          </a:prstGeom>
        </p:spPr>
      </p:pic>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3138170"/>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endParaRPr lang="zh-CN" altLang="en-US" sz="66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Basic Concepts</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609600" y="4142740"/>
            <a:ext cx="10801985" cy="258889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TextBox 8"/>
          <p:cNvSpPr txBox="1"/>
          <p:nvPr/>
        </p:nvSpPr>
        <p:spPr>
          <a:xfrm>
            <a:off x="787400" y="4158615"/>
            <a:ext cx="7021830" cy="2444115"/>
          </a:xfrm>
          <a:prstGeom prst="rect">
            <a:avLst/>
          </a:prstGeom>
          <a:noFill/>
        </p:spPr>
        <p:txBody>
          <a:bodyPr wrap="square" lIns="0" tIns="0" rIns="0" bIns="0" rtlCol="0" anchor="t">
            <a:noAutofit/>
          </a:bodyPr>
          <a:lstStyle/>
          <a:p>
            <a:pPr indent="457200" algn="l" defTabSz="1219200">
              <a:lnSpc>
                <a:spcPct val="150000"/>
              </a:lnSpc>
              <a:spcBef>
                <a:spcPct val="20000"/>
              </a:spcBef>
              <a:buClrTx/>
              <a:buSzTx/>
              <a:buFont typeface="Arial" panose="020B0604020202020204" pitchFamily="34" charset="0"/>
              <a:defRPr/>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每条游记对应一个事务, 包含不同用户到某个旅游城市的游玩景点集合。这个数据集共包含6条游记, 涵盖a, b, c, d, e 这5个景点, 每个景点对应一个项。</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457200" algn="l" defTabSz="1219200">
              <a:lnSpc>
                <a:spcPct val="150000"/>
              </a:lnSpc>
              <a:spcBef>
                <a:spcPct val="20000"/>
              </a:spcBef>
              <a:buClrTx/>
              <a:buSzTx/>
              <a:buFont typeface="Arial" panose="020B0604020202020204" pitchFamily="34" charset="0"/>
              <a:defRPr/>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项集对应一个或者多个景点的组合, 由于该数据集共包含5个不同景点, 可产生25=32种项集, 例如{a, b, c, e} 是一个项集, 但它没有对应数据集中任何一个事务。</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6" name="图片 5" descr="截屏2025-12-25 18.10.09"/>
          <p:cNvPicPr>
            <a:picLocks noChangeAspect="1"/>
          </p:cNvPicPr>
          <p:nvPr/>
        </p:nvPicPr>
        <p:blipFill>
          <a:blip r:embed="rId1"/>
          <a:stretch>
            <a:fillRect/>
          </a:stretch>
        </p:blipFill>
        <p:spPr>
          <a:xfrm>
            <a:off x="7809230" y="4405630"/>
            <a:ext cx="3528695" cy="1862455"/>
          </a:xfrm>
          <a:prstGeom prst="rect">
            <a:avLst/>
          </a:prstGeom>
        </p:spPr>
      </p:pic>
      <p:sp>
        <p:nvSpPr>
          <p:cNvPr id="2" name="圆角矩形 1"/>
          <p:cNvSpPr/>
          <p:nvPr/>
        </p:nvSpPr>
        <p:spPr>
          <a:xfrm>
            <a:off x="633095" y="10096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基础术语定义</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0" name="组合 9"/>
          <p:cNvGrpSpPr/>
          <p:nvPr/>
        </p:nvGrpSpPr>
        <p:grpSpPr>
          <a:xfrm>
            <a:off x="609600" y="1576705"/>
            <a:ext cx="10825480" cy="920115"/>
            <a:chOff x="960" y="2543"/>
            <a:chExt cx="17048" cy="1449"/>
          </a:xfrm>
        </p:grpSpPr>
        <p:sp>
          <p:nvSpPr>
            <p:cNvPr id="4" name="圆角矩形 3"/>
            <p:cNvSpPr/>
            <p:nvPr/>
          </p:nvSpPr>
          <p:spPr>
            <a:xfrm>
              <a:off x="960" y="2543"/>
              <a:ext cx="17048" cy="1449"/>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997" y="2544"/>
              <a:ext cx="17011" cy="1448"/>
            </a:xfrm>
            <a:prstGeom prst="rect">
              <a:avLst/>
            </a:prstGeom>
            <a:noFill/>
          </p:spPr>
          <p:txBody>
            <a:bodyPr wrap="square" rtlCol="0">
              <a:noAutofit/>
            </a:bodyPr>
            <a:p>
              <a:pPr indent="0" fontAlgn="auto">
                <a:lnSpc>
                  <a:spcPct val="150000"/>
                </a:lnSpc>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事务数据集</a:t>
              </a:r>
              <a:r>
                <a:rPr lang="zh-CN" altLang="en-US"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事务数据集是一个包含多个</a:t>
              </a:r>
              <a:r>
                <a:rPr lang="zh-CN" altLang="en-US"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事务</a:t>
              </a:r>
              <a:r>
                <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(Transaction)</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的集合</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用字母</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D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每个事务由若干个项组成</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可形式化表示为</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D = {t</a:t>
              </a:r>
              <a:r>
                <a:rPr lang="en-US" altLang="zh-CN"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t</a:t>
              </a:r>
              <a:r>
                <a:rPr lang="en-US" altLang="zh-CN"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 . , t</a:t>
              </a:r>
              <a:r>
                <a:rPr lang="en-US" altLang="zh-CN"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n</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t</a:t>
              </a:r>
              <a:r>
                <a:rPr lang="en-US" altLang="zh-CN"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表示第</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个事务。</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grpSp>
      <p:grpSp>
        <p:nvGrpSpPr>
          <p:cNvPr id="11" name="组合 10"/>
          <p:cNvGrpSpPr/>
          <p:nvPr/>
        </p:nvGrpSpPr>
        <p:grpSpPr>
          <a:xfrm>
            <a:off x="609600" y="2606675"/>
            <a:ext cx="10825480" cy="920115"/>
            <a:chOff x="960" y="2543"/>
            <a:chExt cx="17048" cy="1449"/>
          </a:xfrm>
        </p:grpSpPr>
        <p:sp>
          <p:nvSpPr>
            <p:cNvPr id="12" name="圆角矩形 11"/>
            <p:cNvSpPr/>
            <p:nvPr/>
          </p:nvSpPr>
          <p:spPr>
            <a:xfrm>
              <a:off x="960" y="2543"/>
              <a:ext cx="17048" cy="1449"/>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997" y="2544"/>
              <a:ext cx="17011" cy="1448"/>
            </a:xfrm>
            <a:prstGeom prst="rect">
              <a:avLst/>
            </a:prstGeom>
            <a:noFill/>
          </p:spPr>
          <p:txBody>
            <a:bodyPr wrap="square" rtlCol="0">
              <a:noAutofit/>
            </a:bodyPr>
            <a:p>
              <a:pPr indent="0" fontAlgn="auto">
                <a:lnSpc>
                  <a:spcPct val="150000"/>
                </a:lnSpc>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项与项集</a:t>
              </a:r>
              <a:r>
                <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项</a:t>
              </a:r>
              <a:r>
                <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(Item)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指的是在某个事务中的单个元素</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(Itemset)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是项的集合。本章用小写字母</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 b, c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等表示项</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用</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表示项集。将包含</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k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个元素的项集称为</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k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项集。</a:t>
              </a:r>
              <a:endParaRPr lang="zh-CN" altLang="en-US"/>
            </a:p>
          </p:txBody>
        </p:sp>
      </p:grpSp>
      <p:sp>
        <p:nvSpPr>
          <p:cNvPr id="16" name="圆角矩形 15"/>
          <p:cNvSpPr/>
          <p:nvPr/>
        </p:nvSpPr>
        <p:spPr>
          <a:xfrm>
            <a:off x="633095" y="3623945"/>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示</a:t>
            </a: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例</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2" name="组合 1"/>
          <p:cNvGrpSpPr/>
          <p:nvPr/>
        </p:nvGrpSpPr>
        <p:grpSpPr>
          <a:xfrm>
            <a:off x="609600" y="1549400"/>
            <a:ext cx="10825480" cy="1827530"/>
            <a:chOff x="960" y="2543"/>
            <a:chExt cx="17048" cy="2878"/>
          </a:xfrm>
        </p:grpSpPr>
        <p:sp>
          <p:nvSpPr>
            <p:cNvPr id="3" name="圆角矩形 2"/>
            <p:cNvSpPr/>
            <p:nvPr/>
          </p:nvSpPr>
          <p:spPr>
            <a:xfrm>
              <a:off x="960" y="2543"/>
              <a:ext cx="17048" cy="2878"/>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997" y="2544"/>
              <a:ext cx="17011" cy="2877"/>
            </a:xfrm>
            <a:prstGeom prst="rect">
              <a:avLst/>
            </a:prstGeom>
            <a:noFill/>
          </p:spPr>
          <p:txBody>
            <a:bodyPr wrap="square" rtlCol="0">
              <a:noAutofit/>
            </a:bodyPr>
            <a:p>
              <a:pPr indent="0" fontAlgn="auto">
                <a:lnSpc>
                  <a:spcPct val="150000"/>
                </a:lnSpc>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支持度</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的支持度</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sup(X)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是指包含项集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的事务在数据库</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D</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中的比例</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其数学表达式为</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|D|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是数据库中的总事务数</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|{t</a:t>
              </a:r>
              <a:r>
                <a:rPr lang="en-US" altLang="zh-CN"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D : X ⊆ t</a:t>
              </a:r>
              <a:r>
                <a:rPr lang="en-US" altLang="zh-CN"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是包含项集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的事务数。</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grpSp>
      <p:pic>
        <p:nvPicPr>
          <p:cNvPr id="11" name="图片 10" descr="截屏2025-12-25 20.17.39"/>
          <p:cNvPicPr>
            <a:picLocks noChangeAspect="1"/>
          </p:cNvPicPr>
          <p:nvPr/>
        </p:nvPicPr>
        <p:blipFill>
          <a:blip r:embed="rId1"/>
          <a:stretch>
            <a:fillRect/>
          </a:stretch>
        </p:blipFill>
        <p:spPr>
          <a:xfrm>
            <a:off x="4361180" y="2047875"/>
            <a:ext cx="3140075" cy="772795"/>
          </a:xfrm>
          <a:prstGeom prst="rect">
            <a:avLst/>
          </a:prstGeom>
        </p:spPr>
      </p:pic>
      <p:grpSp>
        <p:nvGrpSpPr>
          <p:cNvPr id="12" name="组合 11"/>
          <p:cNvGrpSpPr/>
          <p:nvPr/>
        </p:nvGrpSpPr>
        <p:grpSpPr>
          <a:xfrm>
            <a:off x="586105" y="3526790"/>
            <a:ext cx="10825480" cy="706180"/>
            <a:chOff x="960" y="2543"/>
            <a:chExt cx="17048" cy="3303"/>
          </a:xfrm>
        </p:grpSpPr>
        <p:sp>
          <p:nvSpPr>
            <p:cNvPr id="14" name="圆角矩形 13"/>
            <p:cNvSpPr/>
            <p:nvPr/>
          </p:nvSpPr>
          <p:spPr>
            <a:xfrm>
              <a:off x="960" y="2543"/>
              <a:ext cx="17048" cy="2878"/>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997" y="2543"/>
              <a:ext cx="17011" cy="3303"/>
            </a:xfrm>
            <a:prstGeom prst="rect">
              <a:avLst/>
            </a:prstGeom>
            <a:noFill/>
          </p:spPr>
          <p:txBody>
            <a:bodyPr wrap="square" rtlCol="0">
              <a:noAutofit/>
            </a:bodyPr>
            <a:p>
              <a:pPr indent="0" fontAlgn="auto">
                <a:lnSpc>
                  <a:spcPct val="150000"/>
                </a:lnSpc>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频繁项集</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：指在数据库中满足最小支持度阈值</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min_sup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min_sup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是用户设定的参数。</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grpSp>
      <p:sp>
        <p:nvSpPr>
          <p:cNvPr id="17" name="圆角矩形 16"/>
          <p:cNvSpPr/>
          <p:nvPr/>
        </p:nvSpPr>
        <p:spPr>
          <a:xfrm>
            <a:off x="609600" y="4767580"/>
            <a:ext cx="10801985" cy="190373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TextBox 8"/>
          <p:cNvSpPr txBox="1"/>
          <p:nvPr/>
        </p:nvSpPr>
        <p:spPr>
          <a:xfrm>
            <a:off x="787400" y="4730115"/>
            <a:ext cx="7021830" cy="1838325"/>
          </a:xfrm>
          <a:prstGeom prst="rect">
            <a:avLst/>
          </a:prstGeom>
          <a:noFill/>
        </p:spPr>
        <p:txBody>
          <a:bodyPr wrap="square" lIns="0" tIns="0" rIns="0" bIns="0" rtlCol="0" anchor="t">
            <a:noAutofit/>
          </a:bodyPr>
          <a:lstStyle/>
          <a:p>
            <a:pPr indent="457200" algn="l" defTabSz="1219200">
              <a:lnSpc>
                <a:spcPct val="150000"/>
              </a:lnSpc>
              <a:spcBef>
                <a:spcPct val="20000"/>
              </a:spcBef>
              <a:buClrTx/>
              <a:buSzTx/>
              <a:buFont typeface="Arial" panose="020B0604020202020204" pitchFamily="34" charset="0"/>
              <a:defRPr/>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旅游场景数据中</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如果设置最小支持度阈值</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min_sup=3,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通过观察发现</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的出现频率为</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4,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超过了最小阈值</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因此它是一个频繁项集。类似地</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{b},{c},{a, b}</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的出现频率也都大于或等于</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。因此在该案例下</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频繁项集为</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{a},{b},{c},{a, b}</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18" name="图片 17" descr="截屏2025-12-25 18.10.09"/>
          <p:cNvPicPr>
            <a:picLocks noChangeAspect="1"/>
          </p:cNvPicPr>
          <p:nvPr/>
        </p:nvPicPr>
        <p:blipFill>
          <a:blip r:embed="rId2"/>
          <a:stretch>
            <a:fillRect/>
          </a:stretch>
        </p:blipFill>
        <p:spPr>
          <a:xfrm>
            <a:off x="7809230" y="4796155"/>
            <a:ext cx="3528695" cy="1862455"/>
          </a:xfrm>
          <a:prstGeom prst="rect">
            <a:avLst/>
          </a:prstGeom>
        </p:spPr>
      </p:pic>
      <p:sp>
        <p:nvSpPr>
          <p:cNvPr id="19" name="圆角矩形 18"/>
          <p:cNvSpPr/>
          <p:nvPr/>
        </p:nvSpPr>
        <p:spPr>
          <a:xfrm>
            <a:off x="633095" y="4233545"/>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示</a:t>
            </a: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例</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0" name="圆角矩形 19"/>
          <p:cNvSpPr/>
          <p:nvPr/>
        </p:nvSpPr>
        <p:spPr>
          <a:xfrm>
            <a:off x="633095" y="10096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基础术语定义</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2" name="组合 1"/>
          <p:cNvGrpSpPr/>
          <p:nvPr/>
        </p:nvGrpSpPr>
        <p:grpSpPr>
          <a:xfrm>
            <a:off x="609600" y="1568450"/>
            <a:ext cx="10825480" cy="1479550"/>
            <a:chOff x="960" y="2543"/>
            <a:chExt cx="17048" cy="2330"/>
          </a:xfrm>
        </p:grpSpPr>
        <p:sp>
          <p:nvSpPr>
            <p:cNvPr id="3" name="圆角矩形 2"/>
            <p:cNvSpPr/>
            <p:nvPr/>
          </p:nvSpPr>
          <p:spPr>
            <a:xfrm>
              <a:off x="960" y="2543"/>
              <a:ext cx="17048" cy="2189"/>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997" y="2544"/>
              <a:ext cx="17011" cy="2329"/>
            </a:xfrm>
            <a:prstGeom prst="rect">
              <a:avLst/>
            </a:prstGeom>
            <a:noFill/>
          </p:spPr>
          <p:txBody>
            <a:bodyPr wrap="square" rtlCol="0">
              <a:noAutofit/>
            </a:bodyPr>
            <a:p>
              <a:pPr indent="0" fontAlgn="auto">
                <a:lnSpc>
                  <a:spcPct val="150000"/>
                </a:lnSpc>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关联规则</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：数据挖掘中一种用来发现数据项间有趣关系的方法</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它从频繁项集中推导出规则</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用于描述在一组事务中某些项的出现如何影响其他项的出现。形式上</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关联规则表示为</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X </a:t>
              </a:r>
              <a:r>
                <a:rPr lang="en-US"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Y ,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我们称关联规则左侧项集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为先决条件</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右侧项集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Y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为相应的关联结果。</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grpSp>
      <p:sp>
        <p:nvSpPr>
          <p:cNvPr id="20" name="圆角矩形 19"/>
          <p:cNvSpPr/>
          <p:nvPr/>
        </p:nvSpPr>
        <p:spPr>
          <a:xfrm>
            <a:off x="633095" y="10096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基础术语定义</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4" name="组合 3"/>
          <p:cNvGrpSpPr/>
          <p:nvPr/>
        </p:nvGrpSpPr>
        <p:grpSpPr>
          <a:xfrm>
            <a:off x="609600" y="3041650"/>
            <a:ext cx="10825480" cy="1827530"/>
            <a:chOff x="960" y="2543"/>
            <a:chExt cx="17048" cy="2878"/>
          </a:xfrm>
        </p:grpSpPr>
        <p:sp>
          <p:nvSpPr>
            <p:cNvPr id="5" name="圆角矩形 4"/>
            <p:cNvSpPr/>
            <p:nvPr/>
          </p:nvSpPr>
          <p:spPr>
            <a:xfrm>
              <a:off x="960" y="2543"/>
              <a:ext cx="17048" cy="2878"/>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997" y="2544"/>
              <a:ext cx="17011" cy="2877"/>
            </a:xfrm>
            <a:prstGeom prst="rect">
              <a:avLst/>
            </a:prstGeom>
            <a:noFill/>
          </p:spPr>
          <p:txBody>
            <a:bodyPr wrap="square" rtlCol="0">
              <a:noAutofit/>
            </a:bodyPr>
            <a:p>
              <a:pPr indent="0" fontAlgn="auto">
                <a:lnSpc>
                  <a:spcPct val="150000"/>
                </a:lnSpc>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置信度</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：关联规则使用置信度</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(confidence)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来衡量规则的可靠性。置信度是指在事务包含项集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的条件下</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同时包含项集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Y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的条件概率</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即：</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grpSp>
      <p:pic>
        <p:nvPicPr>
          <p:cNvPr id="8" name="图片 7" descr="截屏2025-12-25 20.17.49"/>
          <p:cNvPicPr>
            <a:picLocks noChangeAspect="1"/>
          </p:cNvPicPr>
          <p:nvPr/>
        </p:nvPicPr>
        <p:blipFill>
          <a:blip r:embed="rId1"/>
          <a:stretch>
            <a:fillRect/>
          </a:stretch>
        </p:blipFill>
        <p:spPr>
          <a:xfrm>
            <a:off x="3954780" y="4015740"/>
            <a:ext cx="3269615" cy="713740"/>
          </a:xfrm>
          <a:prstGeom prst="rect">
            <a:avLst/>
          </a:prstGeom>
        </p:spPr>
      </p:pic>
      <p:sp>
        <p:nvSpPr>
          <p:cNvPr id="9" name="圆角矩形 8"/>
          <p:cNvSpPr/>
          <p:nvPr/>
        </p:nvSpPr>
        <p:spPr>
          <a:xfrm>
            <a:off x="609600" y="5525135"/>
            <a:ext cx="10801985" cy="86360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TextBox 8"/>
          <p:cNvSpPr txBox="1"/>
          <p:nvPr/>
        </p:nvSpPr>
        <p:spPr>
          <a:xfrm>
            <a:off x="787400" y="5494655"/>
            <a:ext cx="10384790" cy="929640"/>
          </a:xfrm>
          <a:prstGeom prst="rect">
            <a:avLst/>
          </a:prstGeom>
          <a:noFill/>
        </p:spPr>
        <p:txBody>
          <a:bodyPr wrap="square" lIns="0" tIns="0" rIns="0" bIns="0" rtlCol="0" anchor="t">
            <a:noAutofit/>
          </a:bodyPr>
          <a:lstStyle/>
          <a:p>
            <a:pPr indent="457200" algn="l" defTabSz="1219200">
              <a:lnSpc>
                <a:spcPct val="150000"/>
              </a:lnSpc>
              <a:spcBef>
                <a:spcPct val="20000"/>
              </a:spcBef>
              <a:buClrTx/>
              <a:buSzTx/>
              <a:buFont typeface="Arial" panose="020B0604020202020204" pitchFamily="34" charset="0"/>
              <a:defRPr/>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关联规则“雷峰塔 ⇒ 飞来峰”的置信度为3/4=0.75, 说明雷峰塔与飞来峰比较适合成为联票的景点组合。频繁项集和关联规则均是在大规模数据集中寻找某种关联关系的任务。</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sp>
        <p:nvSpPr>
          <p:cNvPr id="23" name="圆角矩形 22"/>
          <p:cNvSpPr/>
          <p:nvPr/>
        </p:nvSpPr>
        <p:spPr>
          <a:xfrm>
            <a:off x="609600" y="4953635"/>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示</a:t>
            </a: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例</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2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Apriori 算法</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Apriori Algorithm</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Apriori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2" name="图片 1" descr="截屏2025-12-25 20.20.54"/>
          <p:cNvPicPr>
            <a:picLocks noChangeAspect="1"/>
          </p:cNvPicPr>
          <p:nvPr/>
        </p:nvPicPr>
        <p:blipFill>
          <a:blip r:embed="rId1"/>
          <a:srcRect r="3742"/>
          <a:stretch>
            <a:fillRect/>
          </a:stretch>
        </p:blipFill>
        <p:spPr>
          <a:xfrm>
            <a:off x="163195" y="2965450"/>
            <a:ext cx="4412615" cy="3235960"/>
          </a:xfrm>
          <a:prstGeom prst="rect">
            <a:avLst/>
          </a:prstGeom>
        </p:spPr>
      </p:pic>
      <p:sp>
        <p:nvSpPr>
          <p:cNvPr id="4" name="TextBox 8"/>
          <p:cNvSpPr txBox="1"/>
          <p:nvPr/>
        </p:nvSpPr>
        <p:spPr>
          <a:xfrm>
            <a:off x="545465" y="937895"/>
            <a:ext cx="10972165" cy="1336040"/>
          </a:xfrm>
          <a:prstGeom prst="rect">
            <a:avLst/>
          </a:prstGeom>
          <a:noFill/>
        </p:spPr>
        <p:txBody>
          <a:bodyPr wrap="square" lIns="0" tIns="0" rIns="0" bIns="0" rtlCol="0" anchor="t">
            <a:noAutofit/>
          </a:bodyPr>
          <a:p>
            <a:pPr indent="457200" algn="l" defTabSz="1219200">
              <a:lnSpc>
                <a:spcPct val="150000"/>
              </a:lnSpc>
              <a:spcBef>
                <a:spcPct val="20000"/>
              </a:spcBef>
              <a:buFont typeface="Arial" panose="020B0604020202020204" pitchFamily="34" charset="0"/>
              <a:buNone/>
              <a:defRPr/>
            </a:pP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Apriori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算法是数据挖掘中最经典的频繁项集挖掘算法之一</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由拉凯什</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阿格拉沃尔</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(Rakesh Agrawal)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和拉马克里希南</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斯里坎特</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(Ramakrishnan Srikant)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于</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1994</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年在</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IBMAlmaden</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研究中心提出</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专门用于发现事务数据中的频繁项集和关联规则。</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0" name="圆角矩形 19"/>
          <p:cNvSpPr/>
          <p:nvPr/>
        </p:nvSpPr>
        <p:spPr>
          <a:xfrm>
            <a:off x="431165" y="249047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算法思想</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0" name="组合 9"/>
          <p:cNvGrpSpPr/>
          <p:nvPr/>
        </p:nvGrpSpPr>
        <p:grpSpPr>
          <a:xfrm>
            <a:off x="4550410" y="3797300"/>
            <a:ext cx="7396480" cy="1183640"/>
            <a:chOff x="960" y="2543"/>
            <a:chExt cx="17048" cy="1864"/>
          </a:xfrm>
        </p:grpSpPr>
        <p:sp>
          <p:nvSpPr>
            <p:cNvPr id="3" name="圆角矩形 2"/>
            <p:cNvSpPr/>
            <p:nvPr/>
          </p:nvSpPr>
          <p:spPr>
            <a:xfrm>
              <a:off x="960" y="2543"/>
              <a:ext cx="17048" cy="1848"/>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997" y="2544"/>
              <a:ext cx="17011" cy="1863"/>
            </a:xfrm>
            <a:prstGeom prst="rect">
              <a:avLst/>
            </a:prstGeom>
            <a:noFill/>
          </p:spPr>
          <p:txBody>
            <a:bodyPr wrap="square" rtlCol="0">
              <a:noAutofit/>
            </a:bodyPr>
            <a:p>
              <a:pPr indent="0" fontAlgn="auto">
                <a:lnSpc>
                  <a:spcPct val="150000"/>
                </a:lnSpc>
              </a:pP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项集剪枝</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：在每一轮迭代中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Apriori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算法都会扫描整个数据库的所有事务</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并统计每个候选项集的支持度。对于那些支持度大于或等于设定的最小支持度阈值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min_sup</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的项集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它们将被保留为频繁项集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否则就会被剪枝</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sz="1600"/>
            </a:p>
          </p:txBody>
        </p:sp>
      </p:grpSp>
      <p:sp>
        <p:nvSpPr>
          <p:cNvPr id="6" name="圆角矩形 5"/>
          <p:cNvSpPr/>
          <p:nvPr/>
        </p:nvSpPr>
        <p:spPr>
          <a:xfrm>
            <a:off x="431165" y="937260"/>
            <a:ext cx="11541125" cy="1336675"/>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7" name="组合 6"/>
          <p:cNvGrpSpPr/>
          <p:nvPr/>
        </p:nvGrpSpPr>
        <p:grpSpPr>
          <a:xfrm>
            <a:off x="4550410" y="2490470"/>
            <a:ext cx="7396480" cy="1173480"/>
            <a:chOff x="960" y="2543"/>
            <a:chExt cx="17048" cy="1848"/>
          </a:xfrm>
        </p:grpSpPr>
        <p:sp>
          <p:nvSpPr>
            <p:cNvPr id="8" name="圆角矩形 7"/>
            <p:cNvSpPr/>
            <p:nvPr/>
          </p:nvSpPr>
          <p:spPr>
            <a:xfrm>
              <a:off x="960" y="2543"/>
              <a:ext cx="17048" cy="1848"/>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997" y="2544"/>
              <a:ext cx="17011" cy="1846"/>
            </a:xfrm>
            <a:prstGeom prst="rect">
              <a:avLst/>
            </a:prstGeom>
            <a:noFill/>
          </p:spPr>
          <p:txBody>
            <a:bodyPr wrap="square" rtlCol="0">
              <a:noAutofit/>
            </a:bodyPr>
            <a:p>
              <a:pPr indent="0" fontAlgn="auto">
                <a:lnSpc>
                  <a:spcPct val="150000"/>
                </a:lnSpc>
              </a:pP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逐层搜索</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Apriori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算法采用逐层搜索的方式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即从第一层的所有</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项集开始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逐步生成第二层、第三层等包含更多元素的项集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而且每一层是基于前一层的频繁项集扩展生成候选项集。</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grpSp>
      <p:grpSp>
        <p:nvGrpSpPr>
          <p:cNvPr id="12" name="组合 11"/>
          <p:cNvGrpSpPr/>
          <p:nvPr/>
        </p:nvGrpSpPr>
        <p:grpSpPr>
          <a:xfrm>
            <a:off x="4550410" y="5104130"/>
            <a:ext cx="7396480" cy="1173480"/>
            <a:chOff x="960" y="2543"/>
            <a:chExt cx="17048" cy="1848"/>
          </a:xfrm>
        </p:grpSpPr>
        <p:sp>
          <p:nvSpPr>
            <p:cNvPr id="14" name="圆角矩形 13"/>
            <p:cNvSpPr/>
            <p:nvPr/>
          </p:nvSpPr>
          <p:spPr>
            <a:xfrm>
              <a:off x="960" y="2543"/>
              <a:ext cx="17048" cy="1848"/>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997" y="2544"/>
              <a:ext cx="17011" cy="1750"/>
            </a:xfrm>
            <a:prstGeom prst="rect">
              <a:avLst/>
            </a:prstGeom>
            <a:noFill/>
          </p:spPr>
          <p:txBody>
            <a:bodyPr wrap="square" rtlCol="0">
              <a:noAutofit/>
            </a:bodyPr>
            <a:p>
              <a:pPr indent="0" fontAlgn="auto">
                <a:lnSpc>
                  <a:spcPct val="150000"/>
                </a:lnSpc>
              </a:pP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扩展项集</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：在每一轮迭代中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算法将根据上一层保留的候选项集来生成更大的候选项集。扩展规则是对于两个</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项集</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如果它们的前</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 − 1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个元素是一样的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则这两个集合可以合并成一个</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 + 1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项集。</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sz="1600"/>
            </a:p>
          </p:txBody>
        </p:sp>
      </p:gr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28930" y="2568575"/>
            <a:ext cx="6711950" cy="459740"/>
          </a:xfrm>
          <a:prstGeom prst="rect">
            <a:avLst/>
          </a:prstGeom>
          <a:noFill/>
        </p:spPr>
        <p:txBody>
          <a:bodyPr wrap="square" lIns="0" tIns="0" rIns="0" bIns="0" rtlCol="0" anchor="t">
            <a:noAutofit/>
          </a:bodyPr>
          <a:p>
            <a:pPr algn="l" defTabSz="1219200">
              <a:spcBef>
                <a:spcPct val="20000"/>
              </a:spcBef>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Apriori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descr="截屏2025-12-25 20.30.16"/>
          <p:cNvPicPr>
            <a:picLocks noChangeAspect="1"/>
          </p:cNvPicPr>
          <p:nvPr/>
        </p:nvPicPr>
        <p:blipFill>
          <a:blip r:embed="rId1"/>
          <a:stretch>
            <a:fillRect/>
          </a:stretch>
        </p:blipFill>
        <p:spPr>
          <a:xfrm>
            <a:off x="2943225" y="946150"/>
            <a:ext cx="6786245" cy="5535295"/>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46100" y="1567815"/>
            <a:ext cx="11012170" cy="2108200"/>
            <a:chOff x="860" y="2469"/>
            <a:chExt cx="17342" cy="3320"/>
          </a:xfrm>
        </p:grpSpPr>
        <p:sp>
          <p:nvSpPr>
            <p:cNvPr id="17" name="圆角矩形 16"/>
            <p:cNvSpPr/>
            <p:nvPr/>
          </p:nvSpPr>
          <p:spPr>
            <a:xfrm>
              <a:off x="860" y="2469"/>
              <a:ext cx="17342" cy="3321"/>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TextBox 8"/>
            <p:cNvSpPr txBox="1"/>
            <p:nvPr/>
          </p:nvSpPr>
          <p:spPr>
            <a:xfrm>
              <a:off x="1026" y="2745"/>
              <a:ext cx="17074" cy="2769"/>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对数据库</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的所有事务进行第一轮扫描</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计算每一项出现的次数并生成候选项集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lt"/>
                <a:buAutoNum type="circleNumDbPlain"/>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已知最小支持度计数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min_sup = 2,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将候选项集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中所有支持度计数</a:t>
              </a:r>
              <a:r>
                <a:rPr lang="en-US"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的候选项筛选出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生成频繁项集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L</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。由于在</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中所有候选项的支持度计数均不小于最小支持度</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min_sup,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因此在生成</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L</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时没有候选项集被删除。</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Apriori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5" name="图片 4" descr="截屏2025-12-25 20.28.39"/>
          <p:cNvPicPr>
            <a:picLocks noChangeAspect="1"/>
          </p:cNvPicPr>
          <p:nvPr/>
        </p:nvPicPr>
        <p:blipFill>
          <a:blip r:embed="rId1"/>
          <a:srcRect b="68442"/>
          <a:stretch>
            <a:fillRect/>
          </a:stretch>
        </p:blipFill>
        <p:spPr>
          <a:xfrm>
            <a:off x="1968500" y="3749675"/>
            <a:ext cx="8255635" cy="2564765"/>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Apriori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descr="截屏2025-12-25 20.28.39"/>
          <p:cNvPicPr>
            <a:picLocks noChangeAspect="1"/>
          </p:cNvPicPr>
          <p:nvPr/>
        </p:nvPicPr>
        <p:blipFill>
          <a:blip r:embed="rId1"/>
          <a:srcRect t="31787" b="18238"/>
          <a:stretch>
            <a:fillRect/>
          </a:stretch>
        </p:blipFill>
        <p:spPr>
          <a:xfrm>
            <a:off x="2873375" y="3258820"/>
            <a:ext cx="6614795" cy="3253740"/>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7" name="组合 6"/>
          <p:cNvGrpSpPr/>
          <p:nvPr/>
        </p:nvGrpSpPr>
        <p:grpSpPr>
          <a:xfrm>
            <a:off x="546100" y="1567815"/>
            <a:ext cx="11012170" cy="1691005"/>
            <a:chOff x="860" y="2469"/>
            <a:chExt cx="17342" cy="2663"/>
          </a:xfrm>
        </p:grpSpPr>
        <p:sp>
          <p:nvSpPr>
            <p:cNvPr id="8" name="圆角矩形 7"/>
            <p:cNvSpPr/>
            <p:nvPr/>
          </p:nvSpPr>
          <p:spPr>
            <a:xfrm>
              <a:off x="860" y="2469"/>
              <a:ext cx="17342" cy="262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TextBox 8"/>
            <p:cNvSpPr txBox="1"/>
            <p:nvPr/>
          </p:nvSpPr>
          <p:spPr>
            <a:xfrm>
              <a:off x="1026" y="2580"/>
              <a:ext cx="17074" cy="2552"/>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startAt="3"/>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L</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与自身连接</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生成候选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lt"/>
                <a:buAutoNum type="circleNumDbPlain" startAt="3"/>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再次扫描数据集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中所有事务</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对候选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中所有项集进行计数。</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lt"/>
                <a:buAutoNum type="circleNumDbPlain" startAt="3"/>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将候选项集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中所有支持度计数</a:t>
              </a:r>
              <a:r>
                <a:rPr lang="en-US"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的候选项筛选出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生成频繁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L</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包含</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6</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个符合条件的项集。</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Apriori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descr="截屏2025-12-25 20.28.39"/>
          <p:cNvPicPr>
            <a:picLocks noChangeAspect="1"/>
          </p:cNvPicPr>
          <p:nvPr/>
        </p:nvPicPr>
        <p:blipFill>
          <a:blip r:embed="rId1"/>
          <a:srcRect t="83554"/>
          <a:stretch>
            <a:fillRect/>
          </a:stretch>
        </p:blipFill>
        <p:spPr>
          <a:xfrm>
            <a:off x="1567180" y="4440555"/>
            <a:ext cx="9413875" cy="1524000"/>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7" name="组合 6"/>
          <p:cNvGrpSpPr/>
          <p:nvPr/>
        </p:nvGrpSpPr>
        <p:grpSpPr>
          <a:xfrm>
            <a:off x="546100" y="1567815"/>
            <a:ext cx="11012170" cy="2647315"/>
            <a:chOff x="860" y="2469"/>
            <a:chExt cx="17342" cy="4169"/>
          </a:xfrm>
        </p:grpSpPr>
        <p:sp>
          <p:nvSpPr>
            <p:cNvPr id="8" name="圆角矩形 7"/>
            <p:cNvSpPr/>
            <p:nvPr/>
          </p:nvSpPr>
          <p:spPr>
            <a:xfrm>
              <a:off x="860" y="2469"/>
              <a:ext cx="17342" cy="416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TextBox 8"/>
            <p:cNvSpPr txBox="1"/>
            <p:nvPr/>
          </p:nvSpPr>
          <p:spPr>
            <a:xfrm>
              <a:off x="1026" y="2640"/>
              <a:ext cx="17074" cy="3937"/>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startAt="6"/>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将频繁2项集L</a:t>
              </a:r>
              <a:r>
                <a:rPr lang="zh-CN" altLang="en-US"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与自身连接, 同时, 由于所有频繁项集的非空子集必须是频繁的, 因此将不符合条件的项进行剪枝, 最终生成候选3项集C</a:t>
              </a:r>
              <a:r>
                <a:rPr lang="zh-CN" altLang="en-US"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lt"/>
                <a:buAutoNum type="circleNumDbPlain" startAt="6"/>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再次扫描数据集D中所有事务, 对候选3项集C</a:t>
              </a:r>
              <a:r>
                <a:rPr lang="zh-CN" altLang="en-US"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中所有项进行计数。</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lt"/>
                <a:buAutoNum type="circleNumDbPlain" startAt="6"/>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将候选项集C</a:t>
              </a:r>
              <a:r>
                <a:rPr lang="zh-CN" altLang="en-US"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中所有支持度计数⩾2的候选项筛选出, 生成频繁3项集L</a:t>
              </a:r>
              <a:r>
                <a:rPr lang="zh-CN" altLang="en-US"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其中仅有一个项集符合条件。</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lt"/>
                <a:buAutoNum type="circleNumDbPlain" startAt="6"/>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L</a:t>
              </a:r>
              <a:r>
                <a:rPr lang="zh-CN" altLang="en-US"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只有一个频繁项集, 无法再继续扩展生成更多的候选项集, 算法结束。</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Apriori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descr="截屏2025-12-25 20.28.39"/>
          <p:cNvPicPr>
            <a:picLocks noChangeAspect="1"/>
          </p:cNvPicPr>
          <p:nvPr/>
        </p:nvPicPr>
        <p:blipFill>
          <a:blip r:embed="rId1"/>
          <a:srcRect t="57" b="-569"/>
          <a:stretch>
            <a:fillRect/>
          </a:stretch>
        </p:blipFill>
        <p:spPr>
          <a:xfrm>
            <a:off x="5569585" y="521970"/>
            <a:ext cx="5876925" cy="5814060"/>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7" name="组合 6"/>
          <p:cNvGrpSpPr/>
          <p:nvPr/>
        </p:nvGrpSpPr>
        <p:grpSpPr>
          <a:xfrm>
            <a:off x="507365" y="2167890"/>
            <a:ext cx="4829810" cy="2948940"/>
            <a:chOff x="860" y="2469"/>
            <a:chExt cx="17343" cy="4933"/>
          </a:xfrm>
        </p:grpSpPr>
        <p:sp>
          <p:nvSpPr>
            <p:cNvPr id="8" name="圆角矩形 7"/>
            <p:cNvSpPr/>
            <p:nvPr/>
          </p:nvSpPr>
          <p:spPr>
            <a:xfrm>
              <a:off x="860" y="2469"/>
              <a:ext cx="17342" cy="480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TextBox 8"/>
            <p:cNvSpPr txBox="1"/>
            <p:nvPr/>
          </p:nvSpPr>
          <p:spPr>
            <a:xfrm>
              <a:off x="1129" y="2945"/>
              <a:ext cx="17074" cy="4457"/>
            </a:xfrm>
            <a:prstGeom prst="rect">
              <a:avLst/>
            </a:prstGeom>
            <a:noFill/>
          </p:spPr>
          <p:txBody>
            <a:bodyPr wrap="square" lIns="0" tIns="0" rIns="0" bIns="0" rtlCol="0" anchor="t">
              <a:noAutofit/>
            </a:bodyPr>
            <a:p>
              <a:pPr indent="0" algn="l" defTabSz="1219200" fontAlgn="auto">
                <a:lnSpc>
                  <a:spcPct val="150000"/>
                </a:lnSpc>
                <a:spcBef>
                  <a:spcPts val="600"/>
                </a:spcBef>
                <a:buFont typeface="Arial" panose="020B0604020202020204" pitchFamily="34" charset="0"/>
                <a:buNone/>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该数据集共有：</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5</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{a},{b},{c},{d},{e}, </a:t>
              </a:r>
              <a:endPar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6</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 b},{a, c},{a, d},{b, c}, {b, d},{b, e}, </a:t>
              </a:r>
              <a:endPar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 b, 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Eclat</a:t>
            </a:r>
            <a:r>
              <a:rPr lang="en-US" altLang="zh-CN"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算法</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Eclat Algorithm</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Eclat</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descr="截屏2025-12-25 20.58.49"/>
          <p:cNvPicPr>
            <a:picLocks noChangeAspect="1"/>
          </p:cNvPicPr>
          <p:nvPr/>
        </p:nvPicPr>
        <p:blipFill>
          <a:blip r:embed="rId1"/>
          <a:stretch>
            <a:fillRect/>
          </a:stretch>
        </p:blipFill>
        <p:spPr>
          <a:xfrm>
            <a:off x="7827645" y="3540760"/>
            <a:ext cx="4097020" cy="2025650"/>
          </a:xfrm>
          <a:prstGeom prst="rect">
            <a:avLst/>
          </a:prstGeom>
        </p:spPr>
      </p:pic>
      <p:sp>
        <p:nvSpPr>
          <p:cNvPr id="4" name="TextBox 8"/>
          <p:cNvSpPr txBox="1"/>
          <p:nvPr/>
        </p:nvSpPr>
        <p:spPr>
          <a:xfrm>
            <a:off x="545465" y="937895"/>
            <a:ext cx="10972165" cy="1336040"/>
          </a:xfrm>
          <a:prstGeom prst="rect">
            <a:avLst/>
          </a:prstGeom>
          <a:noFill/>
        </p:spPr>
        <p:txBody>
          <a:bodyPr wrap="square" lIns="0" tIns="0" rIns="0" bIns="0" rtlCol="0" anchor="t">
            <a:noAutofit/>
          </a:bodyPr>
          <a:p>
            <a:pPr indent="457200" algn="l" defTabSz="1219200">
              <a:lnSpc>
                <a:spcPct val="150000"/>
              </a:lnSpc>
              <a:spcBef>
                <a:spcPct val="20000"/>
              </a:spcBef>
              <a:buFont typeface="Arial" panose="020B0604020202020204" pitchFamily="34" charset="0"/>
              <a:buNone/>
              <a:defRPr/>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为减少数据库的扫描和计算代价</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Eclat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算法提出了全新的数据模型和候选项集生成方式, 它使用垂直数据格式, 直接维护每个项集与其对应的事务 ID集合的关联关系, 通过深度优先搜索与交集运算来便捷地生成频繁项集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其核心优势是只需扫描一次数据库</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因此可以大大降低统计候选项集出现次数的计算代价</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0" name="圆角矩形 19"/>
          <p:cNvSpPr/>
          <p:nvPr/>
        </p:nvSpPr>
        <p:spPr>
          <a:xfrm>
            <a:off x="431165" y="249047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算法思想</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0" name="组合 9"/>
          <p:cNvGrpSpPr/>
          <p:nvPr/>
        </p:nvGrpSpPr>
        <p:grpSpPr>
          <a:xfrm>
            <a:off x="431165" y="4385310"/>
            <a:ext cx="7396480" cy="1655445"/>
            <a:chOff x="960" y="2543"/>
            <a:chExt cx="17048" cy="2849"/>
          </a:xfrm>
        </p:grpSpPr>
        <p:sp>
          <p:nvSpPr>
            <p:cNvPr id="6" name="圆角矩形 5"/>
            <p:cNvSpPr/>
            <p:nvPr/>
          </p:nvSpPr>
          <p:spPr>
            <a:xfrm>
              <a:off x="960" y="2543"/>
              <a:ext cx="17048" cy="2849"/>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997" y="2544"/>
              <a:ext cx="17011" cy="2754"/>
            </a:xfrm>
            <a:prstGeom prst="rect">
              <a:avLst/>
            </a:prstGeom>
            <a:noFill/>
          </p:spPr>
          <p:txBody>
            <a:bodyPr wrap="square" rtlCol="0">
              <a:noAutofit/>
            </a:bodyPr>
            <a:p>
              <a:pPr indent="0" fontAlgn="auto">
                <a:lnSpc>
                  <a:spcPct val="150000"/>
                </a:lnSpc>
              </a:pP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深度优先搜索</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：与 Apriori 算法的广度优先搜索不同, Eclat 采用深度优先搜索策略来遍历项集的所有可能性。这种搜索方式可以快速地深入到频繁项集的层次结构中, 缩减不必要的搜索空间。另外，由于深度优先搜索是逐步构建频繁项集的，不需要同时存储所有可能的项集组合, 因此可以减少内存的占用。</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sp>
        <p:nvSpPr>
          <p:cNvPr id="8" name="圆角矩形 7"/>
          <p:cNvSpPr/>
          <p:nvPr/>
        </p:nvSpPr>
        <p:spPr>
          <a:xfrm>
            <a:off x="431165" y="937260"/>
            <a:ext cx="11541125" cy="1336675"/>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1" name="组合 10"/>
          <p:cNvGrpSpPr/>
          <p:nvPr/>
        </p:nvGrpSpPr>
        <p:grpSpPr>
          <a:xfrm>
            <a:off x="431165" y="3078480"/>
            <a:ext cx="7396480" cy="1173480"/>
            <a:chOff x="960" y="2543"/>
            <a:chExt cx="17048" cy="1848"/>
          </a:xfrm>
        </p:grpSpPr>
        <p:sp>
          <p:nvSpPr>
            <p:cNvPr id="12" name="圆角矩形 11"/>
            <p:cNvSpPr/>
            <p:nvPr/>
          </p:nvSpPr>
          <p:spPr>
            <a:xfrm>
              <a:off x="960" y="2543"/>
              <a:ext cx="17048" cy="1848"/>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997" y="2544"/>
              <a:ext cx="17011" cy="925"/>
            </a:xfrm>
            <a:prstGeom prst="rect">
              <a:avLst/>
            </a:prstGeom>
            <a:noFill/>
          </p:spPr>
          <p:txBody>
            <a:bodyPr wrap="square" rtlCol="0">
              <a:noAutofit/>
            </a:bodyPr>
            <a:p>
              <a:pPr indent="0" fontAlgn="auto">
                <a:lnSpc>
                  <a:spcPct val="150000"/>
                </a:lnSpc>
              </a:pP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垂直数据格式</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Eclat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算法使用的是垂直数据格式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每个项集被表示为一个事务</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ID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列表。这种垂直数据布局的优势在于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通过集合操作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如交集运算</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可以快速计算频繁项集的支持度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而无须多次扫描数据库。</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sz="1600"/>
            </a:p>
          </p:txBody>
        </p:sp>
      </p:gr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Eclat</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2" name="图片 1" descr="截屏2025-12-25 20.59.04"/>
          <p:cNvPicPr>
            <a:picLocks noChangeAspect="1"/>
          </p:cNvPicPr>
          <p:nvPr/>
        </p:nvPicPr>
        <p:blipFill>
          <a:blip r:embed="rId1"/>
          <a:stretch>
            <a:fillRect/>
          </a:stretch>
        </p:blipFill>
        <p:spPr>
          <a:xfrm>
            <a:off x="2969895" y="946150"/>
            <a:ext cx="6309995" cy="5788025"/>
          </a:xfrm>
          <a:prstGeom prst="rect">
            <a:avLst/>
          </a:prstGeom>
        </p:spPr>
      </p:pic>
      <p:sp>
        <p:nvSpPr>
          <p:cNvPr id="3" name="圆角矩形 2"/>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Eclat</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7" name="图片 6" descr="截屏2025-12-25 20.58.49"/>
          <p:cNvPicPr>
            <a:picLocks noChangeAspect="1"/>
          </p:cNvPicPr>
          <p:nvPr/>
        </p:nvPicPr>
        <p:blipFill>
          <a:blip r:embed="rId1"/>
          <a:stretch>
            <a:fillRect/>
          </a:stretch>
        </p:blipFill>
        <p:spPr>
          <a:xfrm>
            <a:off x="3264535" y="2717800"/>
            <a:ext cx="5574665" cy="2756535"/>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4" name="组合 3"/>
          <p:cNvGrpSpPr/>
          <p:nvPr/>
        </p:nvGrpSpPr>
        <p:grpSpPr>
          <a:xfrm>
            <a:off x="546100" y="1567815"/>
            <a:ext cx="11012170" cy="815340"/>
            <a:chOff x="860" y="2469"/>
            <a:chExt cx="17342" cy="3038"/>
          </a:xfrm>
        </p:grpSpPr>
        <p:sp>
          <p:nvSpPr>
            <p:cNvPr id="5" name="圆角矩形 4"/>
            <p:cNvSpPr/>
            <p:nvPr/>
          </p:nvSpPr>
          <p:spPr>
            <a:xfrm>
              <a:off x="860" y="2469"/>
              <a:ext cx="17342" cy="303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8"/>
            <p:cNvSpPr txBox="1"/>
            <p:nvPr/>
          </p:nvSpPr>
          <p:spPr>
            <a:xfrm>
              <a:off x="1026" y="2930"/>
              <a:ext cx="17074" cy="2236"/>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将数据集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表示成垂直格式</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筛选出支持度计数</a:t>
              </a:r>
              <a:r>
                <a:rPr lang="en-US"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的部分。</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Eclat</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4" name="组合 3"/>
          <p:cNvGrpSpPr/>
          <p:nvPr/>
        </p:nvGrpSpPr>
        <p:grpSpPr>
          <a:xfrm>
            <a:off x="546100" y="1567815"/>
            <a:ext cx="7010400" cy="4695279"/>
            <a:chOff x="860" y="2469"/>
            <a:chExt cx="17342" cy="6951"/>
          </a:xfrm>
        </p:grpSpPr>
        <p:sp>
          <p:nvSpPr>
            <p:cNvPr id="5" name="圆角矩形 4"/>
            <p:cNvSpPr/>
            <p:nvPr/>
          </p:nvSpPr>
          <p:spPr>
            <a:xfrm>
              <a:off x="860" y="2469"/>
              <a:ext cx="17342" cy="6659"/>
            </a:xfrm>
            <a:prstGeom prst="roundRect">
              <a:avLst>
                <a:gd name="adj" fmla="val 6141"/>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TextBox 8"/>
            <p:cNvSpPr txBox="1"/>
            <p:nvPr/>
          </p:nvSpPr>
          <p:spPr>
            <a:xfrm>
              <a:off x="1026" y="2692"/>
              <a:ext cx="17074" cy="6728"/>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startAt="2"/>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从第一项</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开始</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首先将它的</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TID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列表与项集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TID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列表进行交集运算</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生成</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它的支持度为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超过最小支持度计数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因此是频繁项集。</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2"/>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根据深度优先搜索策略</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我们继续对频繁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进行扩展</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与频繁项集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进行交集运算</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得到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{a,b,c}:{t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不为频繁项集。回溯至节点项</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与</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做交集运算</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生成频繁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{a,b, d}:{t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与</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求交集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为空集。回溯至</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。同理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生成</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{a,b,e}:{t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4</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由于</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不满足最小支持度计数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因此不为频繁项集。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节点下所有频繁项集已找出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回溯至</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pic>
        <p:nvPicPr>
          <p:cNvPr id="11" name="图片 10" descr="截屏2025-12-26 11.08.13"/>
          <p:cNvPicPr>
            <a:picLocks noChangeAspect="1"/>
          </p:cNvPicPr>
          <p:nvPr/>
        </p:nvPicPr>
        <p:blipFill>
          <a:blip r:embed="rId1"/>
          <a:srcRect l="7439" r="7921"/>
          <a:stretch>
            <a:fillRect/>
          </a:stretch>
        </p:blipFill>
        <p:spPr>
          <a:xfrm>
            <a:off x="7658100" y="1541145"/>
            <a:ext cx="4227195" cy="4486910"/>
          </a:xfrm>
          <a:prstGeom prst="rect">
            <a:avLst/>
          </a:prstGeom>
        </p:spPr>
      </p:pic>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Eclat</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5" name="图片 4" descr="截屏2025-12-26 11.08.34"/>
          <p:cNvPicPr>
            <a:picLocks noChangeAspect="1"/>
          </p:cNvPicPr>
          <p:nvPr/>
        </p:nvPicPr>
        <p:blipFill>
          <a:blip r:embed="rId1"/>
          <a:stretch>
            <a:fillRect/>
          </a:stretch>
        </p:blipFill>
        <p:spPr>
          <a:xfrm>
            <a:off x="5624830" y="1050925"/>
            <a:ext cx="6163945" cy="4756785"/>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4" name="组合 3"/>
          <p:cNvGrpSpPr/>
          <p:nvPr/>
        </p:nvGrpSpPr>
        <p:grpSpPr>
          <a:xfrm>
            <a:off x="546100" y="1567815"/>
            <a:ext cx="5078730" cy="3568169"/>
            <a:chOff x="860" y="2469"/>
            <a:chExt cx="17342" cy="5985"/>
          </a:xfrm>
        </p:grpSpPr>
        <p:sp>
          <p:nvSpPr>
            <p:cNvPr id="6" name="圆角矩形 5"/>
            <p:cNvSpPr/>
            <p:nvPr/>
          </p:nvSpPr>
          <p:spPr>
            <a:xfrm>
              <a:off x="860" y="2469"/>
              <a:ext cx="17342" cy="5773"/>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extBox 8"/>
            <p:cNvSpPr txBox="1"/>
            <p:nvPr/>
          </p:nvSpPr>
          <p:spPr>
            <a:xfrm>
              <a:off x="1242" y="3140"/>
              <a:ext cx="16468" cy="5314"/>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Arial" panose="020B0604020202020204" pitchFamily="34" charset="0"/>
                <a:buAutoNum type="circleNumDbPlain" startAt="4"/>
                <a:defRPr/>
              </a:pP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与</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取交集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生成频繁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{a,c}:{t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6</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。继续将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分别与</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做交集运算</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得出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{a,c,d}:{t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{a,c,e}:{ },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均不为频繁项集。同理得出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{a,d}:{t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为频繁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而</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{a,d,e}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为空集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;{a,d}:{t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4</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同样不为频繁项集。</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Eclat</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4" name="组合 3"/>
          <p:cNvGrpSpPr/>
          <p:nvPr/>
        </p:nvGrpSpPr>
        <p:grpSpPr>
          <a:xfrm>
            <a:off x="546100" y="1567815"/>
            <a:ext cx="11012170" cy="1027897"/>
            <a:chOff x="860" y="2469"/>
            <a:chExt cx="17342" cy="3830"/>
          </a:xfrm>
        </p:grpSpPr>
        <p:sp>
          <p:nvSpPr>
            <p:cNvPr id="7" name="圆角矩形 6"/>
            <p:cNvSpPr/>
            <p:nvPr/>
          </p:nvSpPr>
          <p:spPr>
            <a:xfrm>
              <a:off x="860" y="2469"/>
              <a:ext cx="17342" cy="3677"/>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TextBox 8"/>
            <p:cNvSpPr txBox="1"/>
            <p:nvPr/>
          </p:nvSpPr>
          <p:spPr>
            <a:xfrm>
              <a:off x="1026" y="2580"/>
              <a:ext cx="17074" cy="3719"/>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startAt="5"/>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回溯至根节点</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同理可以找出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下的频繁项</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{b,c} : {t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{b,d} :{t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以及</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{b, e} : {t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4</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,t</a:t>
              </a:r>
              <a:r>
                <a:rPr lang="en-US" altLang="zh-CN" baseline="-250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5</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grpSp>
        <p:nvGrpSpPr>
          <p:cNvPr id="10" name="组合 9"/>
          <p:cNvGrpSpPr/>
          <p:nvPr/>
        </p:nvGrpSpPr>
        <p:grpSpPr>
          <a:xfrm>
            <a:off x="7194570" y="2951480"/>
            <a:ext cx="4298870" cy="3053080"/>
            <a:chOff x="380" y="2469"/>
            <a:chExt cx="18157" cy="4808"/>
          </a:xfrm>
        </p:grpSpPr>
        <p:sp>
          <p:nvSpPr>
            <p:cNvPr id="11" name="圆角矩形 10"/>
            <p:cNvSpPr/>
            <p:nvPr/>
          </p:nvSpPr>
          <p:spPr>
            <a:xfrm>
              <a:off x="380" y="2469"/>
              <a:ext cx="18157" cy="480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TextBox 8"/>
            <p:cNvSpPr txBox="1"/>
            <p:nvPr/>
          </p:nvSpPr>
          <p:spPr>
            <a:xfrm>
              <a:off x="1026" y="2820"/>
              <a:ext cx="17074" cy="4457"/>
            </a:xfrm>
            <a:prstGeom prst="rect">
              <a:avLst/>
            </a:prstGeom>
            <a:noFill/>
          </p:spPr>
          <p:txBody>
            <a:bodyPr wrap="square" lIns="0" tIns="0" rIns="0" bIns="0" rtlCol="0" anchor="t">
              <a:noAutofit/>
            </a:bodyPr>
            <a:p>
              <a:pPr indent="0" algn="l" defTabSz="1219200" fontAlgn="auto">
                <a:lnSpc>
                  <a:spcPct val="150000"/>
                </a:lnSpc>
                <a:spcBef>
                  <a:spcPts val="600"/>
                </a:spcBef>
                <a:buFont typeface="Arial" panose="020B0604020202020204" pitchFamily="34" charset="0"/>
                <a:buNone/>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综上，在最小支持度计数为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的情况下</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该数据集共有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5</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6</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项集和</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r>
                <a:rPr lang="zh-CN" altLang="en-US"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且与</a:t>
              </a:r>
              <a:r>
                <a:rPr lang="en-US" altLang="zh-CN"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 Apriori</a:t>
              </a:r>
              <a:r>
                <a:rPr lang="zh-CN" altLang="en-US"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算法相比</a:t>
              </a:r>
              <a:r>
                <a:rPr lang="en-US" altLang="zh-CN"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 Eclat</a:t>
              </a:r>
              <a:r>
                <a:rPr lang="zh-CN" altLang="en-US"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算法避免了对原数据集的重复多次扫描</a:t>
              </a:r>
              <a:r>
                <a:rPr lang="en-US" altLang="zh-CN"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在数据量较小的情况下更加高效。</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pic>
        <p:nvPicPr>
          <p:cNvPr id="14" name="图片 13" descr="Eclatpng"/>
          <p:cNvPicPr>
            <a:picLocks noChangeAspect="1"/>
          </p:cNvPicPr>
          <p:nvPr/>
        </p:nvPicPr>
        <p:blipFill>
          <a:blip r:embed="rId1"/>
          <a:stretch>
            <a:fillRect/>
          </a:stretch>
        </p:blipFill>
        <p:spPr>
          <a:xfrm>
            <a:off x="407670" y="2554605"/>
            <a:ext cx="6678295" cy="4025900"/>
          </a:xfrm>
          <a:prstGeom prst="rect">
            <a:avLst/>
          </a:prstGeom>
        </p:spPr>
      </p:pic>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en-US" altLang="zh-CN"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FP- Growth</a:t>
            </a:r>
            <a:r>
              <a:rPr lang="en-US" altLang="zh-CN"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算法</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FP- Growth Algorithm</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文本框 1"/>
          <p:cNvSpPr txBox="1"/>
          <p:nvPr/>
        </p:nvSpPr>
        <p:spPr>
          <a:xfrm>
            <a:off x="304165" y="6468110"/>
            <a:ext cx="5052060" cy="368300"/>
          </a:xfrm>
          <a:prstGeom prst="rect">
            <a:avLst/>
          </a:prstGeom>
        </p:spPr>
        <p:txBody>
          <a:bodyPr wrap="square">
            <a:spAutoFit/>
          </a:bodyPr>
          <a:p>
            <a:pPr indent="0" algn="l" defTabSz="1219200">
              <a:lnSpc>
                <a:spcPct val="150000"/>
              </a:lnSpc>
              <a:spcBef>
                <a:spcPct val="20000"/>
              </a:spcBef>
              <a:buClrTx/>
              <a:buSzTx/>
              <a:buFont typeface="Arial" panose="020B0604020202020204" pitchFamily="34" charset="0"/>
              <a:defRPr/>
            </a:pPr>
            <a:r>
              <a:rPr lang="en-US" altLang="zh-CN" sz="1200" baseline="30000" dirty="0">
                <a:solidFill>
                  <a:schemeClr val="bg2">
                    <a:lumMod val="50000"/>
                  </a:schemeClr>
                </a:solidFill>
                <a:latin typeface="思源黑体 CN Regular" panose="020B0500000000000000" charset="-122"/>
                <a:ea typeface="思源黑体 CN Regular" panose="020B0500000000000000" charset="-122"/>
                <a:cs typeface="思源黑体 CN Regular" panose="020B0500000000000000" charset="-122"/>
              </a:rPr>
              <a:t>①</a:t>
            </a:r>
            <a:r>
              <a:rPr lang="en-US" altLang="zh-CN" sz="1200" dirty="0">
                <a:solidFill>
                  <a:schemeClr val="bg2">
                    <a:lumMod val="50000"/>
                  </a:schemeClr>
                </a:solidFill>
                <a:latin typeface="思源黑体 CN Regular" panose="020B0500000000000000" charset="-122"/>
                <a:ea typeface="思源黑体 CN Regular" panose="020B0500000000000000" charset="-122"/>
                <a:cs typeface="思源黑体 CN Regular" panose="020B0500000000000000" charset="-122"/>
              </a:rPr>
              <a:t> ACM SIGMOD 被认为是数据管理领域最顶级的国际学术会议。</a:t>
            </a:r>
            <a:endParaRPr lang="en-US" altLang="zh-CN" sz="1200" dirty="0">
              <a:solidFill>
                <a:schemeClr val="bg2">
                  <a:lumMod val="50000"/>
                </a:schemeClr>
              </a:solidFill>
              <a:latin typeface="思源黑体 CN Regular" panose="020B0500000000000000" charset="-122"/>
              <a:ea typeface="思源黑体 CN Regular" panose="020B0500000000000000" charset="-122"/>
              <a:cs typeface="思源黑体 CN Regular" panose="020B0500000000000000" charset="-122"/>
            </a:endParaRPr>
          </a:p>
        </p:txBody>
      </p:sp>
      <p:pic>
        <p:nvPicPr>
          <p:cNvPr id="4" name="图片 3" descr="截屏2025-12-25 21.27.32"/>
          <p:cNvPicPr>
            <a:picLocks noChangeAspect="1"/>
          </p:cNvPicPr>
          <p:nvPr/>
        </p:nvPicPr>
        <p:blipFill>
          <a:blip r:embed="rId1"/>
          <a:srcRect l="2633"/>
          <a:stretch>
            <a:fillRect/>
          </a:stretch>
        </p:blipFill>
        <p:spPr>
          <a:xfrm>
            <a:off x="7345680" y="3475355"/>
            <a:ext cx="4626610" cy="2869565"/>
          </a:xfrm>
          <a:prstGeom prst="rect">
            <a:avLst/>
          </a:prstGeom>
        </p:spPr>
      </p:pic>
      <p:cxnSp>
        <p:nvCxnSpPr>
          <p:cNvPr id="6" name="直接连接符 5"/>
          <p:cNvCxnSpPr/>
          <p:nvPr/>
        </p:nvCxnSpPr>
        <p:spPr>
          <a:xfrm>
            <a:off x="304165" y="6536055"/>
            <a:ext cx="11593195" cy="0"/>
          </a:xfrm>
          <a:prstGeom prst="line">
            <a:avLst/>
          </a:prstGeom>
        </p:spPr>
        <p:style>
          <a:lnRef idx="2">
            <a:schemeClr val="accent1"/>
          </a:lnRef>
          <a:fillRef idx="0">
            <a:srgbClr val="FFFFFF"/>
          </a:fillRef>
          <a:effectRef idx="0">
            <a:srgbClr val="FFFFFF"/>
          </a:effectRef>
          <a:fontRef idx="minor">
            <a:schemeClr val="tx1"/>
          </a:fontRef>
        </p:style>
      </p:cxnSp>
      <p:sp>
        <p:nvSpPr>
          <p:cNvPr id="20" name="圆角矩形 19"/>
          <p:cNvSpPr/>
          <p:nvPr/>
        </p:nvSpPr>
        <p:spPr>
          <a:xfrm>
            <a:off x="431165" y="2920365"/>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树的结构</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圆角矩形 7"/>
          <p:cNvSpPr/>
          <p:nvPr/>
        </p:nvSpPr>
        <p:spPr>
          <a:xfrm>
            <a:off x="431165" y="937260"/>
            <a:ext cx="11541125" cy="1856740"/>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1" name="组合 10"/>
          <p:cNvGrpSpPr/>
          <p:nvPr/>
        </p:nvGrpSpPr>
        <p:grpSpPr>
          <a:xfrm>
            <a:off x="431165" y="3513455"/>
            <a:ext cx="6812915" cy="1680845"/>
            <a:chOff x="960" y="2543"/>
            <a:chExt cx="17048" cy="2647"/>
          </a:xfrm>
        </p:grpSpPr>
        <p:sp>
          <p:nvSpPr>
            <p:cNvPr id="12" name="圆角矩形 11"/>
            <p:cNvSpPr/>
            <p:nvPr/>
          </p:nvSpPr>
          <p:spPr>
            <a:xfrm>
              <a:off x="960" y="2543"/>
              <a:ext cx="17048" cy="2647"/>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997" y="2544"/>
              <a:ext cx="17011" cy="2563"/>
            </a:xfrm>
            <a:prstGeom prst="rect">
              <a:avLst/>
            </a:prstGeom>
            <a:noFill/>
          </p:spPr>
          <p:txBody>
            <a:bodyPr wrap="square" rtlCol="0">
              <a:noAutofit/>
            </a:bodyPr>
            <a:p>
              <a:pPr indent="0" fontAlgn="auto">
                <a:lnSpc>
                  <a:spcPct val="150000"/>
                </a:lnSpc>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FP 树 (frequent pattern tree, 频繁模式树) 是一种用于存储频繁项集的数据结构, 它是一种树状的结构, 由节点和边组成。FP 树的每个节点包含一个项和一个计数, 表示该项在数据集中出现的次数。同时, 每个节点预留一个指针空间, 用于形成后面提到的链表结构。</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sp>
        <p:nvSpPr>
          <p:cNvPr id="3" name="文本框 2"/>
          <p:cNvSpPr txBox="1"/>
          <p:nvPr/>
        </p:nvSpPr>
        <p:spPr>
          <a:xfrm>
            <a:off x="431165" y="916940"/>
            <a:ext cx="11349990" cy="1876425"/>
          </a:xfrm>
          <a:prstGeom prst="rect">
            <a:avLst/>
          </a:prstGeom>
          <a:noFill/>
        </p:spPr>
        <p:txBody>
          <a:bodyPr wrap="square" rtlCol="0">
            <a:noAutofit/>
          </a:bodyPr>
          <a:p>
            <a:pPr indent="457200" algn="l" defTabSz="1219200">
              <a:lnSpc>
                <a:spcPct val="150000"/>
              </a:lnSpc>
              <a:spcBef>
                <a:spcPct val="20000"/>
              </a:spcBef>
              <a:buFont typeface="Arial" panose="020B0604020202020204" pitchFamily="34" charset="0"/>
              <a:buNone/>
              <a:defRPr/>
            </a:pPr>
            <a:r>
              <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Growth (frequent pattern growth, </a:t>
            </a:r>
            <a:r>
              <a:rPr lang="zh-CN" altLang="en-US"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频繁模式增长</a:t>
            </a:r>
            <a:r>
              <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算法是一种比</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Apriori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Eclat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算法更为高效的频繁项集挖掘方法</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它是由韩家炜</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(Jiawei Han)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等人在</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2000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年的</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ACM SIGMOD</a:t>
            </a:r>
            <a:r>
              <a:rPr lang="en-US" altLang="en-US" baseline="30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①</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论文中首次提出的。</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Growth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是一个在磁盘</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 O</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、内存使用和计算代价方面均有优势的算法</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它设计了巧妙的数据结构</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无论多少数据</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只需要扫描两次数据集</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且避免了频繁的集合交集操作</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因此很大程度地提升了挖掘效率</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sp>
        <p:nvSpPr>
          <p:cNvPr id="7" name="文本框 6"/>
          <p:cNvSpPr txBox="1"/>
          <p:nvPr/>
        </p:nvSpPr>
        <p:spPr>
          <a:xfrm>
            <a:off x="1061720" y="7067550"/>
            <a:ext cx="6883400" cy="645160"/>
          </a:xfrm>
          <a:prstGeom prst="rect">
            <a:avLst/>
          </a:prstGeom>
          <a:noFill/>
        </p:spPr>
        <p:txBody>
          <a:bodyPr wrap="square" rtlCol="0">
            <a:spAutoFit/>
          </a:bodyPr>
          <a:p>
            <a:endParaRPr lang="zh-CN" altLang="en-US"/>
          </a:p>
          <a:p>
            <a:endParaRPr lang="zh-CN" altLang="en-US"/>
          </a:p>
        </p:txBody>
      </p:sp>
      <p:grpSp>
        <p:nvGrpSpPr>
          <p:cNvPr id="10" name="组合 9"/>
          <p:cNvGrpSpPr/>
          <p:nvPr/>
        </p:nvGrpSpPr>
        <p:grpSpPr>
          <a:xfrm>
            <a:off x="431165" y="5386705"/>
            <a:ext cx="6812915" cy="897890"/>
            <a:chOff x="960" y="2543"/>
            <a:chExt cx="17048" cy="1414"/>
          </a:xfrm>
        </p:grpSpPr>
        <p:sp>
          <p:nvSpPr>
            <p:cNvPr id="15" name="圆角矩形 14"/>
            <p:cNvSpPr/>
            <p:nvPr/>
          </p:nvSpPr>
          <p:spPr>
            <a:xfrm>
              <a:off x="960" y="2543"/>
              <a:ext cx="17048" cy="1414"/>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997" y="2544"/>
              <a:ext cx="17011" cy="1339"/>
            </a:xfrm>
            <a:prstGeom prst="rect">
              <a:avLst/>
            </a:prstGeom>
            <a:noFill/>
          </p:spPr>
          <p:txBody>
            <a:bodyPr wrap="square" rtlCol="0">
              <a:noAutofit/>
            </a:bodyPr>
            <a:p>
              <a:pPr indent="0" fontAlgn="auto">
                <a:lnSpc>
                  <a:spcPct val="150000"/>
                </a:lnSpc>
              </a:pP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每个事务的项会按照出现频率进行排序 (通常采用降序排序), 然后对应一条从根节点到叶节点的路径, 其中的每个项对应一个节点</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文本框 1"/>
          <p:cNvSpPr txBox="1"/>
          <p:nvPr/>
        </p:nvSpPr>
        <p:spPr>
          <a:xfrm>
            <a:off x="304165" y="6468110"/>
            <a:ext cx="5052060" cy="368300"/>
          </a:xfrm>
          <a:prstGeom prst="rect">
            <a:avLst/>
          </a:prstGeom>
        </p:spPr>
        <p:txBody>
          <a:bodyPr wrap="square">
            <a:spAutoFit/>
          </a:bodyPr>
          <a:p>
            <a:pPr indent="0" algn="l" defTabSz="1219200">
              <a:lnSpc>
                <a:spcPct val="150000"/>
              </a:lnSpc>
              <a:spcBef>
                <a:spcPct val="20000"/>
              </a:spcBef>
              <a:buClrTx/>
              <a:buSzTx/>
              <a:buFont typeface="Arial" panose="020B0604020202020204" pitchFamily="34" charset="0"/>
              <a:defRPr/>
            </a:pPr>
            <a:r>
              <a:rPr lang="en-US" altLang="zh-CN" sz="1200" baseline="30000" dirty="0">
                <a:solidFill>
                  <a:schemeClr val="bg2">
                    <a:lumMod val="50000"/>
                  </a:schemeClr>
                </a:solidFill>
                <a:latin typeface="思源黑体 CN Regular" panose="020B0500000000000000" charset="-122"/>
                <a:ea typeface="思源黑体 CN Regular" panose="020B0500000000000000" charset="-122"/>
                <a:cs typeface="思源黑体 CN Regular" panose="020B0500000000000000" charset="-122"/>
              </a:rPr>
              <a:t>①</a:t>
            </a:r>
            <a:r>
              <a:rPr lang="en-US" altLang="zh-CN" sz="1200" dirty="0">
                <a:solidFill>
                  <a:schemeClr val="bg2">
                    <a:lumMod val="50000"/>
                  </a:schemeClr>
                </a:solidFill>
                <a:latin typeface="思源黑体 CN Regular" panose="020B0500000000000000" charset="-122"/>
                <a:ea typeface="思源黑体 CN Regular" panose="020B0500000000000000" charset="-122"/>
                <a:cs typeface="思源黑体 CN Regular" panose="020B0500000000000000" charset="-122"/>
              </a:rPr>
              <a:t> ACM SIGMOD 被认为是数据管理领域最顶级的国际学术会议。</a:t>
            </a:r>
            <a:endParaRPr lang="en-US" altLang="zh-CN" sz="1200" dirty="0">
              <a:solidFill>
                <a:schemeClr val="bg2">
                  <a:lumMod val="50000"/>
                </a:schemeClr>
              </a:solidFill>
              <a:latin typeface="思源黑体 CN Regular" panose="020B0500000000000000" charset="-122"/>
              <a:ea typeface="思源黑体 CN Regular" panose="020B0500000000000000" charset="-122"/>
              <a:cs typeface="思源黑体 CN Regular" panose="020B0500000000000000" charset="-122"/>
            </a:endParaRPr>
          </a:p>
        </p:txBody>
      </p:sp>
      <p:cxnSp>
        <p:nvCxnSpPr>
          <p:cNvPr id="6" name="直接连接符 5"/>
          <p:cNvCxnSpPr/>
          <p:nvPr/>
        </p:nvCxnSpPr>
        <p:spPr>
          <a:xfrm>
            <a:off x="304165" y="6536055"/>
            <a:ext cx="11593195" cy="0"/>
          </a:xfrm>
          <a:prstGeom prst="line">
            <a:avLst/>
          </a:prstGeom>
        </p:spPr>
        <p:style>
          <a:lnRef idx="2">
            <a:schemeClr val="accent1"/>
          </a:lnRef>
          <a:fillRef idx="0">
            <a:srgbClr val="FFFFFF"/>
          </a:fillRef>
          <a:effectRef idx="0">
            <a:srgbClr val="FFFFFF"/>
          </a:effectRef>
          <a:fontRef idx="minor">
            <a:schemeClr val="tx1"/>
          </a:fontRef>
        </p:style>
      </p:cxnSp>
      <p:sp>
        <p:nvSpPr>
          <p:cNvPr id="3" name="圆角矩形 2"/>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树的结构</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1" name="组合 10"/>
          <p:cNvGrpSpPr/>
          <p:nvPr/>
        </p:nvGrpSpPr>
        <p:grpSpPr>
          <a:xfrm>
            <a:off x="532130" y="1567815"/>
            <a:ext cx="11365230" cy="1275715"/>
            <a:chOff x="960" y="2543"/>
            <a:chExt cx="17048" cy="2647"/>
          </a:xfrm>
        </p:grpSpPr>
        <p:sp>
          <p:nvSpPr>
            <p:cNvPr id="12" name="圆角矩形 11"/>
            <p:cNvSpPr/>
            <p:nvPr/>
          </p:nvSpPr>
          <p:spPr>
            <a:xfrm>
              <a:off x="960" y="2543"/>
              <a:ext cx="17048" cy="2647"/>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997" y="2544"/>
              <a:ext cx="17011" cy="2563"/>
            </a:xfrm>
            <a:prstGeom prst="rect">
              <a:avLst/>
            </a:prstGeom>
            <a:noFill/>
          </p:spPr>
          <p:txBody>
            <a:bodyPr wrap="square" rtlCol="0">
              <a:noAutofit/>
            </a:bodyPr>
            <a:p>
              <a:pPr indent="0" fontAlgn="auto">
                <a:lnSpc>
                  <a:spcPct val="150000"/>
                </a:lnSpc>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FP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树的频繁项集挖掘算法还需要项头表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(header table)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来配合执行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利用它为挖掘频繁项集提供有效的导航工具。项头表里面记录了所有的频繁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项集出现的次数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它们按照支持度降序排列。</a:t>
              </a: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项头表中的每一项包含三个元素</a:t>
              </a:r>
              <a:r>
                <a:rPr lang="en-US" altLang="zh-CN"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项的名称</a:t>
              </a:r>
              <a:r>
                <a:rPr lang="en-US" altLang="zh-CN"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支持度计数</a:t>
              </a:r>
              <a:r>
                <a:rPr lang="en-US" altLang="zh-CN"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以及一个指向</a:t>
              </a:r>
              <a:r>
                <a:rPr lang="en-US" altLang="zh-CN"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 FP </a:t>
              </a: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树中该项第一个节点的指针</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0" fontAlgn="auto">
                <a:lnSpc>
                  <a:spcPct val="150000"/>
                </a:lnSpc>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sp>
        <p:nvSpPr>
          <p:cNvPr id="7" name="圆角矩形 6"/>
          <p:cNvSpPr/>
          <p:nvPr/>
        </p:nvSpPr>
        <p:spPr>
          <a:xfrm>
            <a:off x="556895" y="3024505"/>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树的构建</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8" name="组合 7"/>
          <p:cNvGrpSpPr/>
          <p:nvPr/>
        </p:nvGrpSpPr>
        <p:grpSpPr>
          <a:xfrm>
            <a:off x="507365" y="3660140"/>
            <a:ext cx="11365230" cy="1710644"/>
            <a:chOff x="960" y="2543"/>
            <a:chExt cx="17048" cy="2647"/>
          </a:xfrm>
        </p:grpSpPr>
        <p:sp>
          <p:nvSpPr>
            <p:cNvPr id="10" name="圆角矩形 9"/>
            <p:cNvSpPr/>
            <p:nvPr/>
          </p:nvSpPr>
          <p:spPr>
            <a:xfrm>
              <a:off x="960" y="2543"/>
              <a:ext cx="17048" cy="2647"/>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997" y="2544"/>
              <a:ext cx="17011" cy="2601"/>
            </a:xfrm>
            <a:prstGeom prst="rect">
              <a:avLst/>
            </a:prstGeom>
            <a:noFill/>
          </p:spPr>
          <p:txBody>
            <a:bodyPr wrap="square" rtlCol="0">
              <a:noAutofit/>
            </a:bodyPr>
            <a:p>
              <a:pPr indent="0" fontAlgn="auto">
                <a:lnSpc>
                  <a:spcPct val="150000"/>
                </a:lnSpc>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FP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树的构建只需要对数据集进行两次扫描。</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0" fontAlgn="auto">
                <a:lnSpc>
                  <a:spcPct val="150000"/>
                </a:lnSpc>
              </a:pP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第一次扫描统计每个项的出现频率</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并将频繁项按照支持度降序排列。</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0" fontAlgn="auto">
                <a:lnSpc>
                  <a:spcPct val="150000"/>
                </a:lnSpc>
              </a:pP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第二次扫描将事务插入到</a:t>
              </a:r>
              <a:r>
                <a:rPr lang="en-US" altLang="zh-CN"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 FP </a:t>
              </a:r>
              <a:r>
                <a:rPr lang="zh-CN" altLang="en-US" sz="1600"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树中</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。每个事务中的项按照频繁项的顺序进行排序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并过滤掉不频繁的项。</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0" fontAlgn="auto">
                <a:lnSpc>
                  <a:spcPct val="150000"/>
                </a:lnSpc>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最后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将排序后的事务插入到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FP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树中</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相同的项会共享节点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从而实现数据的压缩。</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0" fontAlgn="auto">
                <a:lnSpc>
                  <a:spcPct val="150000"/>
                </a:lnSpc>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descr="截屏2025-12-25 21.37.52"/>
          <p:cNvPicPr>
            <a:picLocks noChangeAspect="1"/>
          </p:cNvPicPr>
          <p:nvPr/>
        </p:nvPicPr>
        <p:blipFill>
          <a:blip r:embed="rId1"/>
          <a:srcRect t="4825"/>
          <a:stretch>
            <a:fillRect/>
          </a:stretch>
        </p:blipFill>
        <p:spPr>
          <a:xfrm>
            <a:off x="1530350" y="4260850"/>
            <a:ext cx="9131300" cy="2526665"/>
          </a:xfrm>
          <a:prstGeom prst="rect">
            <a:avLst/>
          </a:prstGeom>
        </p:spPr>
      </p:pic>
      <p:grpSp>
        <p:nvGrpSpPr>
          <p:cNvPr id="2" name="组合 1"/>
          <p:cNvGrpSpPr/>
          <p:nvPr/>
        </p:nvGrpSpPr>
        <p:grpSpPr>
          <a:xfrm>
            <a:off x="419100" y="1412240"/>
            <a:ext cx="11265535" cy="2809875"/>
            <a:chOff x="860" y="2469"/>
            <a:chExt cx="17342" cy="4425"/>
          </a:xfrm>
        </p:grpSpPr>
        <p:sp>
          <p:nvSpPr>
            <p:cNvPr id="17" name="圆角矩形 16"/>
            <p:cNvSpPr/>
            <p:nvPr/>
          </p:nvSpPr>
          <p:spPr>
            <a:xfrm>
              <a:off x="860" y="2469"/>
              <a:ext cx="17342" cy="442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TextBox 8"/>
            <p:cNvSpPr txBox="1"/>
            <p:nvPr/>
          </p:nvSpPr>
          <p:spPr>
            <a:xfrm>
              <a:off x="1026" y="2645"/>
              <a:ext cx="17074" cy="4248"/>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对数据集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进行一次扫描</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对每一项的出现频次进行计数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并根据频次大小降序排列。</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构建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FP</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树</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创建树的根节点</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null</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。从数据集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的第一个事务开始扫描</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第一个事务为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{a,b,d},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按照排列好的顺序</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依次链接</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即</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链接到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null</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上</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链接到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上</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链接到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上</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并更新每一个节点的计数。同时</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创建项头表</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FP</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树上的节点链接到项头表相应项的头节点上</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以便对树的遍历。</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扫描至第二个事务</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{b,c},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先按顺序依次链接。由于已存在</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链接到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null</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则直接将已有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节点计数更新为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再将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更新为已有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节点新的子树</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并将计数记为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节点链接至项头表的相应头节点上。</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
        <p:nvSpPr>
          <p:cNvPr id="20" name="圆角矩形 19"/>
          <p:cNvSpPr/>
          <p:nvPr/>
        </p:nvSpPr>
        <p:spPr>
          <a:xfrm>
            <a:off x="546735" y="946150"/>
            <a:ext cx="2351405"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树的构建</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4" name="图片 3" descr="截屏2025-12-25 21.38.05"/>
          <p:cNvPicPr>
            <a:picLocks noChangeAspect="1"/>
          </p:cNvPicPr>
          <p:nvPr/>
        </p:nvPicPr>
        <p:blipFill>
          <a:blip r:embed="rId1"/>
          <a:stretch>
            <a:fillRect/>
          </a:stretch>
        </p:blipFill>
        <p:spPr>
          <a:xfrm>
            <a:off x="1223645" y="3790950"/>
            <a:ext cx="9272270" cy="2873375"/>
          </a:xfrm>
          <a:prstGeom prst="rect">
            <a:avLst/>
          </a:prstGeom>
        </p:spPr>
      </p:pic>
      <p:grpSp>
        <p:nvGrpSpPr>
          <p:cNvPr id="3" name="组合 2"/>
          <p:cNvGrpSpPr/>
          <p:nvPr/>
        </p:nvGrpSpPr>
        <p:grpSpPr>
          <a:xfrm>
            <a:off x="419100" y="1412240"/>
            <a:ext cx="11265535" cy="2543175"/>
            <a:chOff x="860" y="2469"/>
            <a:chExt cx="17342" cy="4424"/>
          </a:xfrm>
        </p:grpSpPr>
        <p:sp>
          <p:nvSpPr>
            <p:cNvPr id="17" name="圆角矩形 16"/>
            <p:cNvSpPr/>
            <p:nvPr/>
          </p:nvSpPr>
          <p:spPr>
            <a:xfrm>
              <a:off x="860" y="2469"/>
              <a:ext cx="17342" cy="413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TextBox 8"/>
            <p:cNvSpPr txBox="1"/>
            <p:nvPr/>
          </p:nvSpPr>
          <p:spPr>
            <a:xfrm>
              <a:off x="1026" y="2645"/>
              <a:ext cx="17074" cy="4248"/>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startAt="4"/>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扫描至</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{b,a,c,d},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同理按顺序依次链接。更新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节点计数更新为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 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节点计数更新为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再将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更新为已有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节点新的子树</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更新为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节点新的子树</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并分别将计数记为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。由于在前两步中已存在</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 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两个节点</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这一步新添加的两个节点可通过与之前对应的节点相链接从而链接上项头表。</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4"/>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扫描至</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{b,a,e},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更新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节点计数更新为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4, 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节点计数更新为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再将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更新为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节点新的子树</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计数记为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。将新添加的</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同样链接到项头表的相应头节点上。</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
        <p:nvSpPr>
          <p:cNvPr id="20" name="圆角矩形 19"/>
          <p:cNvSpPr/>
          <p:nvPr/>
        </p:nvSpPr>
        <p:spPr>
          <a:xfrm>
            <a:off x="546735" y="946150"/>
            <a:ext cx="2351405"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树的构建</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5" name="图片 4" descr="截屏2025-12-25 21.38.13"/>
          <p:cNvPicPr>
            <a:picLocks noChangeAspect="1"/>
          </p:cNvPicPr>
          <p:nvPr/>
        </p:nvPicPr>
        <p:blipFill>
          <a:blip r:embed="rId1"/>
          <a:stretch>
            <a:fillRect/>
          </a:stretch>
        </p:blipFill>
        <p:spPr>
          <a:xfrm>
            <a:off x="1412875" y="3435350"/>
            <a:ext cx="9354820" cy="2898775"/>
          </a:xfrm>
          <a:prstGeom prst="rect">
            <a:avLst/>
          </a:prstGeom>
        </p:spPr>
      </p:pic>
      <p:grpSp>
        <p:nvGrpSpPr>
          <p:cNvPr id="3" name="组合 2"/>
          <p:cNvGrpSpPr/>
          <p:nvPr/>
        </p:nvGrpSpPr>
        <p:grpSpPr>
          <a:xfrm>
            <a:off x="419100" y="1412240"/>
            <a:ext cx="11265535" cy="2162810"/>
            <a:chOff x="860" y="2469"/>
            <a:chExt cx="17342" cy="4424"/>
          </a:xfrm>
        </p:grpSpPr>
        <p:sp>
          <p:nvSpPr>
            <p:cNvPr id="17" name="圆角矩形 16"/>
            <p:cNvSpPr/>
            <p:nvPr/>
          </p:nvSpPr>
          <p:spPr>
            <a:xfrm>
              <a:off x="860" y="2469"/>
              <a:ext cx="17342" cy="413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TextBox 8"/>
            <p:cNvSpPr txBox="1"/>
            <p:nvPr/>
          </p:nvSpPr>
          <p:spPr>
            <a:xfrm>
              <a:off x="1026" y="2645"/>
              <a:ext cx="17074" cy="4248"/>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startAt="6"/>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扫描至</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{b,e},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更新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节点计数更新为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5,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再将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更新为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节点新的子树</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计数记为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。将新添加的</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链接到上一个</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即</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节点到子树</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6"/>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扫描至</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{a,c},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将</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链接到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null</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上</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链接到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上</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并更新每一个节点的计数。同时</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更新该节点与项头表之间的链接。</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
        <p:nvSpPr>
          <p:cNvPr id="20" name="圆角矩形 19"/>
          <p:cNvSpPr/>
          <p:nvPr/>
        </p:nvSpPr>
        <p:spPr>
          <a:xfrm>
            <a:off x="546735" y="946150"/>
            <a:ext cx="2351405"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树的构建</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0" name="圆角矩形 19"/>
          <p:cNvSpPr/>
          <p:nvPr/>
        </p:nvSpPr>
        <p:spPr>
          <a:xfrm>
            <a:off x="546735" y="946150"/>
            <a:ext cx="2847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Growth</a:t>
            </a: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算法思想</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8" name="组合 7"/>
          <p:cNvGrpSpPr/>
          <p:nvPr/>
        </p:nvGrpSpPr>
        <p:grpSpPr>
          <a:xfrm>
            <a:off x="457835" y="1568450"/>
            <a:ext cx="11365230" cy="1025525"/>
            <a:chOff x="960" y="2543"/>
            <a:chExt cx="17048" cy="2647"/>
          </a:xfrm>
        </p:grpSpPr>
        <p:sp>
          <p:nvSpPr>
            <p:cNvPr id="10" name="圆角矩形 9"/>
            <p:cNvSpPr/>
            <p:nvPr/>
          </p:nvSpPr>
          <p:spPr>
            <a:xfrm>
              <a:off x="960" y="2543"/>
              <a:ext cx="17048" cy="2647"/>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997" y="2544"/>
              <a:ext cx="17011" cy="2601"/>
            </a:xfrm>
            <a:prstGeom prst="rect">
              <a:avLst/>
            </a:prstGeom>
            <a:noFill/>
          </p:spPr>
          <p:txBody>
            <a:bodyPr wrap="square" rtlCol="0">
              <a:noAutofit/>
            </a:bodyPr>
            <a:p>
              <a:pPr indent="0" fontAlgn="auto">
                <a:lnSpc>
                  <a:spcPct val="150000"/>
                </a:lnSpc>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在建立</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 FP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树之后</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可以通过</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 FP-Growth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rPr>
                <a:t>算法来快速寻找数据集包含的频繁项集</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。它从项头表中的最后一项开始搜索, 沿着该项在项头表中的指针, 遍历 FP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树中所有该项的节点。</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0" fontAlgn="auto">
                <a:lnSpc>
                  <a:spcPct val="150000"/>
                </a:lnSpc>
              </a:pP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5" name="组合 4"/>
          <p:cNvGrpSpPr/>
          <p:nvPr/>
        </p:nvGrpSpPr>
        <p:grpSpPr>
          <a:xfrm>
            <a:off x="457835" y="2733040"/>
            <a:ext cx="11365230" cy="1025525"/>
            <a:chOff x="960" y="2543"/>
            <a:chExt cx="17048" cy="2647"/>
          </a:xfrm>
        </p:grpSpPr>
        <p:sp>
          <p:nvSpPr>
            <p:cNvPr id="6" name="圆角矩形 5"/>
            <p:cNvSpPr/>
            <p:nvPr/>
          </p:nvSpPr>
          <p:spPr>
            <a:xfrm>
              <a:off x="960" y="2543"/>
              <a:ext cx="17048" cy="2647"/>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997" y="2544"/>
              <a:ext cx="17011" cy="2601"/>
            </a:xfrm>
            <a:prstGeom prst="rect">
              <a:avLst/>
            </a:prstGeom>
            <a:noFill/>
          </p:spPr>
          <p:txBody>
            <a:bodyPr wrap="square" rtlCol="0">
              <a:noAutofit/>
            </a:bodyPr>
            <a:p>
              <a:pPr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对于每一个频繁项</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通过它的前缀路径</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即通过反向查找项的父节点到根节点的路径</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找到它的条件模式基。统计条件模式基中每个项的支持度计数</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筛选出频繁项</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然后按照支持度计数降序排列。</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1" name="组合 10"/>
          <p:cNvGrpSpPr/>
          <p:nvPr/>
        </p:nvGrpSpPr>
        <p:grpSpPr>
          <a:xfrm>
            <a:off x="457835" y="3896995"/>
            <a:ext cx="11365230" cy="1025525"/>
            <a:chOff x="960" y="2543"/>
            <a:chExt cx="17048" cy="2647"/>
          </a:xfrm>
        </p:grpSpPr>
        <p:sp>
          <p:nvSpPr>
            <p:cNvPr id="12" name="圆角矩形 11"/>
            <p:cNvSpPr/>
            <p:nvPr/>
          </p:nvSpPr>
          <p:spPr>
            <a:xfrm>
              <a:off x="960" y="2543"/>
              <a:ext cx="17048" cy="2647"/>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997" y="2544"/>
              <a:ext cx="17011" cy="2601"/>
            </a:xfrm>
            <a:prstGeom prst="rect">
              <a:avLst/>
            </a:prstGeom>
            <a:noFill/>
          </p:spPr>
          <p:txBody>
            <a:bodyPr wrap="square" rtlCol="0">
              <a:noAutofit/>
            </a:bodyPr>
            <a:p>
              <a:pPr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条件模式基是以项</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为目标项的所有前缀项的集合</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可以把它看作是一个子数据库。通过这些前缀项</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构建项</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X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的条件</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FP</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树。对于条件</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FP</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树</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递归地执行与主</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FP</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树相同的操作</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挖掘频繁项集。</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7" name="组合 16"/>
          <p:cNvGrpSpPr/>
          <p:nvPr/>
        </p:nvGrpSpPr>
        <p:grpSpPr>
          <a:xfrm>
            <a:off x="457835" y="5078730"/>
            <a:ext cx="11365230" cy="1025525"/>
            <a:chOff x="960" y="2543"/>
            <a:chExt cx="17048" cy="2647"/>
          </a:xfrm>
        </p:grpSpPr>
        <p:sp>
          <p:nvSpPr>
            <p:cNvPr id="18" name="圆角矩形 17"/>
            <p:cNvSpPr/>
            <p:nvPr/>
          </p:nvSpPr>
          <p:spPr>
            <a:xfrm>
              <a:off x="960" y="2543"/>
              <a:ext cx="17048" cy="2647"/>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997" y="2544"/>
              <a:ext cx="17011" cy="2601"/>
            </a:xfrm>
            <a:prstGeom prst="rect">
              <a:avLst/>
            </a:prstGeom>
            <a:noFill/>
          </p:spPr>
          <p:txBody>
            <a:bodyPr wrap="square" rtlCol="0">
              <a:noAutofit/>
            </a:bodyPr>
            <a:p>
              <a:pPr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每次递归得到的结果组合起来形成更大的频繁项集。通过将项</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X</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与从条件</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FP</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树挖掘到的频繁项集进行组合</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生成新的频繁项集。当递归完成时</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所有频繁项集会被组合和输出。</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gr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descr="截屏2025-12-25 21.55.33"/>
          <p:cNvPicPr>
            <a:picLocks noChangeAspect="1"/>
          </p:cNvPicPr>
          <p:nvPr/>
        </p:nvPicPr>
        <p:blipFill>
          <a:blip r:embed="rId1"/>
          <a:stretch>
            <a:fillRect/>
          </a:stretch>
        </p:blipFill>
        <p:spPr>
          <a:xfrm>
            <a:off x="1034415" y="2865755"/>
            <a:ext cx="10035540" cy="3109595"/>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7" name="组合 6"/>
          <p:cNvGrpSpPr/>
          <p:nvPr/>
        </p:nvGrpSpPr>
        <p:grpSpPr>
          <a:xfrm>
            <a:off x="546100" y="1567815"/>
            <a:ext cx="11012170" cy="1142365"/>
            <a:chOff x="860" y="2469"/>
            <a:chExt cx="17342" cy="1799"/>
          </a:xfrm>
        </p:grpSpPr>
        <p:sp>
          <p:nvSpPr>
            <p:cNvPr id="8" name="圆角矩形 7"/>
            <p:cNvSpPr/>
            <p:nvPr/>
          </p:nvSpPr>
          <p:spPr>
            <a:xfrm>
              <a:off x="860" y="2469"/>
              <a:ext cx="17342" cy="17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TextBox 8"/>
            <p:cNvSpPr txBox="1"/>
            <p:nvPr/>
          </p:nvSpPr>
          <p:spPr>
            <a:xfrm>
              <a:off x="1026" y="2580"/>
              <a:ext cx="17074" cy="1679"/>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首先写出以</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结尾的条件模式基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,null</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的通路有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条</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分别经过</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和</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而两个节点的</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e</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计数均为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则条件模式基为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{b,a:1},{b:1}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。因此</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产生</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个频繁模式</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{b,e:2}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5" name="图片 4" descr="截屏2025-12-25 21.55.40"/>
          <p:cNvPicPr>
            <a:picLocks noChangeAspect="1"/>
          </p:cNvPicPr>
          <p:nvPr/>
        </p:nvPicPr>
        <p:blipFill>
          <a:blip r:embed="rId1"/>
          <a:stretch>
            <a:fillRect/>
          </a:stretch>
        </p:blipFill>
        <p:spPr>
          <a:xfrm>
            <a:off x="1175385" y="2930525"/>
            <a:ext cx="9794875" cy="3035935"/>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7" name="组合 6"/>
          <p:cNvGrpSpPr/>
          <p:nvPr/>
        </p:nvGrpSpPr>
        <p:grpSpPr>
          <a:xfrm>
            <a:off x="546100" y="1567815"/>
            <a:ext cx="11012170" cy="1142365"/>
            <a:chOff x="860" y="2469"/>
            <a:chExt cx="17342" cy="1799"/>
          </a:xfrm>
        </p:grpSpPr>
        <p:sp>
          <p:nvSpPr>
            <p:cNvPr id="8" name="圆角矩形 7"/>
            <p:cNvSpPr/>
            <p:nvPr/>
          </p:nvSpPr>
          <p:spPr>
            <a:xfrm>
              <a:off x="860" y="2469"/>
              <a:ext cx="17342" cy="17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TextBox 8"/>
            <p:cNvSpPr txBox="1"/>
            <p:nvPr/>
          </p:nvSpPr>
          <p:spPr>
            <a:xfrm>
              <a:off x="1026" y="2580"/>
              <a:ext cx="17074" cy="1679"/>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startAt="2"/>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以</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结尾的条件模式基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,null</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的通路有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条</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分别经过</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和</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{b,a,c},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而两个节点的</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d</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计数均为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则条件模式基为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{b,a:1}, {b,a,c:1}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。因此</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产生</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个频繁模式</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{b,d:2}, {a,d:2}, {b,a,d:2}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2"/>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7" name="图片 6" descr="截屏2025-12-25 21.55.50"/>
          <p:cNvPicPr>
            <a:picLocks noChangeAspect="1"/>
          </p:cNvPicPr>
          <p:nvPr/>
        </p:nvPicPr>
        <p:blipFill>
          <a:blip r:embed="rId1"/>
          <a:stretch>
            <a:fillRect/>
          </a:stretch>
        </p:blipFill>
        <p:spPr>
          <a:xfrm>
            <a:off x="787400" y="2789555"/>
            <a:ext cx="10362565" cy="3211830"/>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3" name="组合 2"/>
          <p:cNvGrpSpPr/>
          <p:nvPr/>
        </p:nvGrpSpPr>
        <p:grpSpPr>
          <a:xfrm>
            <a:off x="546100" y="1567815"/>
            <a:ext cx="11012170" cy="1142365"/>
            <a:chOff x="860" y="2469"/>
            <a:chExt cx="17342" cy="1799"/>
          </a:xfrm>
        </p:grpSpPr>
        <p:sp>
          <p:nvSpPr>
            <p:cNvPr id="8" name="圆角矩形 7"/>
            <p:cNvSpPr/>
            <p:nvPr/>
          </p:nvSpPr>
          <p:spPr>
            <a:xfrm>
              <a:off x="860" y="2469"/>
              <a:ext cx="17342" cy="17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TextBox 8"/>
            <p:cNvSpPr txBox="1"/>
            <p:nvPr/>
          </p:nvSpPr>
          <p:spPr>
            <a:xfrm>
              <a:off x="1026" y="2580"/>
              <a:ext cx="17074" cy="1679"/>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startAt="3"/>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以</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结尾的条件模式基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,null</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的通路有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条</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分别经过</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{b,a},{b}</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和</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而三个节点的</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c</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计数均为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则条件模式基为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{b,a:1}, {b:1}, {b,a:1}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。因此</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产生</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个频繁模式</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{b,c:2}, {a,c:2}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3"/>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8" name="图片 7" descr="截屏2025-12-25 21.55.59"/>
          <p:cNvPicPr>
            <a:picLocks noChangeAspect="1"/>
          </p:cNvPicPr>
          <p:nvPr/>
        </p:nvPicPr>
        <p:blipFill>
          <a:blip r:embed="rId1"/>
          <a:stretch>
            <a:fillRect/>
          </a:stretch>
        </p:blipFill>
        <p:spPr>
          <a:xfrm>
            <a:off x="871220" y="2865755"/>
            <a:ext cx="10362565" cy="3211195"/>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7" name="组合 6"/>
          <p:cNvGrpSpPr/>
          <p:nvPr/>
        </p:nvGrpSpPr>
        <p:grpSpPr>
          <a:xfrm>
            <a:off x="546100" y="1567815"/>
            <a:ext cx="11012170" cy="1142365"/>
            <a:chOff x="860" y="2469"/>
            <a:chExt cx="17342" cy="1799"/>
          </a:xfrm>
        </p:grpSpPr>
        <p:sp>
          <p:nvSpPr>
            <p:cNvPr id="3" name="圆角矩形 2"/>
            <p:cNvSpPr/>
            <p:nvPr/>
          </p:nvSpPr>
          <p:spPr>
            <a:xfrm>
              <a:off x="860" y="2469"/>
              <a:ext cx="17342" cy="17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TextBox 8"/>
            <p:cNvSpPr txBox="1"/>
            <p:nvPr/>
          </p:nvSpPr>
          <p:spPr>
            <a:xfrm>
              <a:off x="1026" y="2580"/>
              <a:ext cx="17074" cy="1679"/>
            </a:xfrm>
            <a:prstGeom prst="rect">
              <a:avLst/>
            </a:prstGeom>
            <a:noFill/>
          </p:spPr>
          <p:txBody>
            <a:bodyPr wrap="square" lIns="0" tIns="0" rIns="0" bIns="0" rtlCol="0" anchor="t">
              <a:noAutofit/>
            </a:bodyPr>
            <a:p>
              <a:pPr marL="342900" indent="-342900" algn="l" defTabSz="1219200" fontAlgn="auto">
                <a:lnSpc>
                  <a:spcPct val="150000"/>
                </a:lnSpc>
                <a:spcBef>
                  <a:spcPts val="600"/>
                </a:spcBef>
                <a:buFont typeface="+mj-ea"/>
                <a:buAutoNum type="circleNumDbPlain" startAt="4"/>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以</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结尾的条件模式基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,null</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的子树不计入数据</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null</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到</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的通路有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条</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即经过</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其节点计数为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则条件模式基为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{b:3}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。因此</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产生</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个频繁模式</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{b,a:3}</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4"/>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p:nvPr/>
        </p:nvSpPr>
        <p:spPr>
          <a:xfrm>
            <a:off x="787400" y="206480"/>
            <a:ext cx="5194300" cy="583565"/>
          </a:xfrm>
          <a:prstGeom prst="rect">
            <a:avLst/>
          </a:prstGeom>
        </p:spPr>
        <p:txBody>
          <a:bodyPr wrap="square">
            <a:spAutoFit/>
          </a:bodyPr>
          <a:p>
            <a:pPr lvl="0" algn="l">
              <a:buClrTx/>
              <a:buSzTx/>
              <a:buFontTx/>
            </a:pPr>
            <a:r>
              <a:rPr lang="en-US" altLang="zh-CN" sz="3200" b="1" dirty="0">
                <a:latin typeface="思源黑体 CN Regular" panose="020B0500000000000000" charset="-122"/>
                <a:ea typeface="思源黑体 CN Regular" panose="020B0500000000000000" charset="-122"/>
                <a:cs typeface="+mn-ea"/>
                <a:sym typeface="Arial" panose="020B0604020202020204" pitchFamily="34" charset="0"/>
              </a:rPr>
              <a:t>FP- Growth</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 算法</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10" name="图片 9" descr="截屏2025-12-25 21.59.57"/>
          <p:cNvPicPr>
            <a:picLocks noChangeAspect="1"/>
          </p:cNvPicPr>
          <p:nvPr/>
        </p:nvPicPr>
        <p:blipFill>
          <a:blip r:embed="rId1"/>
          <a:stretch>
            <a:fillRect/>
          </a:stretch>
        </p:blipFill>
        <p:spPr>
          <a:xfrm>
            <a:off x="2952750" y="2865755"/>
            <a:ext cx="6250305" cy="2991485"/>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算法流程示例</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7" name="组合 6"/>
          <p:cNvGrpSpPr/>
          <p:nvPr/>
        </p:nvGrpSpPr>
        <p:grpSpPr>
          <a:xfrm>
            <a:off x="546100" y="1567815"/>
            <a:ext cx="11012170" cy="1142365"/>
            <a:chOff x="860" y="2469"/>
            <a:chExt cx="17342" cy="1799"/>
          </a:xfrm>
        </p:grpSpPr>
        <p:sp>
          <p:nvSpPr>
            <p:cNvPr id="3" name="圆角矩形 2"/>
            <p:cNvSpPr/>
            <p:nvPr/>
          </p:nvSpPr>
          <p:spPr>
            <a:xfrm>
              <a:off x="860" y="2469"/>
              <a:ext cx="17342" cy="17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TextBox 8"/>
            <p:cNvSpPr txBox="1"/>
            <p:nvPr/>
          </p:nvSpPr>
          <p:spPr>
            <a:xfrm>
              <a:off x="1026" y="2580"/>
              <a:ext cx="17074" cy="1679"/>
            </a:xfrm>
            <a:prstGeom prst="rect">
              <a:avLst/>
            </a:prstGeom>
            <a:noFill/>
          </p:spPr>
          <p:txBody>
            <a:bodyPr wrap="square" lIns="0" tIns="0" rIns="0" bIns="0" rtlCol="0" anchor="t">
              <a:noAutofit/>
            </a:bodyPr>
            <a:p>
              <a:pPr indent="0" algn="l" defTabSz="1219200" fontAlgn="auto">
                <a:lnSpc>
                  <a:spcPct val="150000"/>
                </a:lnSpc>
                <a:spcBef>
                  <a:spcPts val="600"/>
                </a:spcBef>
                <a:buFont typeface="+mj-ea"/>
                <a:buNone/>
                <a:defRPr/>
              </a:pP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在</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FP-Growth</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算法下</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频繁</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项集在构建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FP</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树前即可知有</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5</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其余频繁项集通过对</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FP</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树的挖掘可知共</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7</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即在最小支持度计数为</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的条件下</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该数据集共</a:t>
              </a:r>
              <a:r>
                <a:rPr lang="en-US" altLang="zh-CN"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12</a:t>
              </a:r>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个频繁项集。</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4"/>
                <a:defRPr/>
              </a:pP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grpSp>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2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关联规则发现</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06</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Discovery of Association Rules</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关联规则</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发现</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TextBox 8"/>
          <p:cNvSpPr txBox="1"/>
          <p:nvPr/>
        </p:nvSpPr>
        <p:spPr>
          <a:xfrm>
            <a:off x="545465" y="937895"/>
            <a:ext cx="10972165" cy="1336040"/>
          </a:xfrm>
          <a:prstGeom prst="rect">
            <a:avLst/>
          </a:prstGeom>
          <a:noFill/>
        </p:spPr>
        <p:txBody>
          <a:bodyPr wrap="square" lIns="0" tIns="0" rIns="0" bIns="0" rtlCol="0" anchor="t">
            <a:noAutofit/>
          </a:bodyPr>
          <a:p>
            <a:pPr indent="457200" algn="l" defTabSz="1219200">
              <a:lnSpc>
                <a:spcPct val="150000"/>
              </a:lnSpc>
              <a:spcBef>
                <a:spcPct val="20000"/>
              </a:spcBef>
              <a:buFont typeface="Arial" panose="020B0604020202020204" pitchFamily="34" charset="0"/>
              <a:buNone/>
              <a:defRPr/>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关联规则发现是数据挖掘中的一项重要技术</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主要用于发现大数据集中不同项之间的关联关系。这些关系通常以</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的形式表示</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称为关联规则。实现关联规则发现的过程通常包括两个主要步骤。</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1" name="圆角矩形 10"/>
          <p:cNvSpPr/>
          <p:nvPr/>
        </p:nvSpPr>
        <p:spPr>
          <a:xfrm>
            <a:off x="431165" y="937260"/>
            <a:ext cx="11300460" cy="969010"/>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2" name="组合 11"/>
          <p:cNvGrpSpPr/>
          <p:nvPr/>
        </p:nvGrpSpPr>
        <p:grpSpPr>
          <a:xfrm>
            <a:off x="431165" y="2611120"/>
            <a:ext cx="11300460" cy="1351280"/>
            <a:chOff x="960" y="2543"/>
            <a:chExt cx="17048" cy="2128"/>
          </a:xfrm>
        </p:grpSpPr>
        <p:sp>
          <p:nvSpPr>
            <p:cNvPr id="14" name="圆角矩形 13"/>
            <p:cNvSpPr/>
            <p:nvPr/>
          </p:nvSpPr>
          <p:spPr>
            <a:xfrm>
              <a:off x="960" y="2543"/>
              <a:ext cx="17048" cy="2128"/>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997" y="2544"/>
              <a:ext cx="17011" cy="1096"/>
            </a:xfrm>
            <a:prstGeom prst="rect">
              <a:avLst/>
            </a:prstGeom>
            <a:noFill/>
          </p:spPr>
          <p:txBody>
            <a:bodyPr wrap="square" rtlCol="0">
              <a:noAutofit/>
            </a:bodyPr>
            <a:p>
              <a:pPr indent="0" fontAlgn="auto">
                <a:lnSpc>
                  <a:spcPct val="150000"/>
                </a:lnSpc>
              </a:pP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Step1: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发现频繁项集</a:t>
              </a:r>
              <a:endPar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lvl="1"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在关联规则发现的初始阶段</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首要任务是通过设定支持度阈值识别数据集中的频繁项集。</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lvl="1"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为了有效发现频繁项集</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常用的算法包括</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Apriori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FP- Growth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Eclat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算法等。</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grpSp>
      <p:sp>
        <p:nvSpPr>
          <p:cNvPr id="20" name="圆角矩形 19"/>
          <p:cNvSpPr/>
          <p:nvPr/>
        </p:nvSpPr>
        <p:spPr>
          <a:xfrm>
            <a:off x="546735" y="20256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主要步骤</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6" name="组合 15"/>
          <p:cNvGrpSpPr/>
          <p:nvPr/>
        </p:nvGrpSpPr>
        <p:grpSpPr>
          <a:xfrm>
            <a:off x="433705" y="4097655"/>
            <a:ext cx="11297285" cy="2214880"/>
            <a:chOff x="960" y="2543"/>
            <a:chExt cx="17048" cy="3488"/>
          </a:xfrm>
        </p:grpSpPr>
        <p:sp>
          <p:nvSpPr>
            <p:cNvPr id="17" name="圆角矩形 16"/>
            <p:cNvSpPr/>
            <p:nvPr/>
          </p:nvSpPr>
          <p:spPr>
            <a:xfrm>
              <a:off x="960" y="2543"/>
              <a:ext cx="17048" cy="3488"/>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997" y="2544"/>
              <a:ext cx="17011" cy="3410"/>
            </a:xfrm>
            <a:prstGeom prst="rect">
              <a:avLst/>
            </a:prstGeom>
            <a:noFill/>
          </p:spPr>
          <p:txBody>
            <a:bodyPr wrap="square" rtlCol="0">
              <a:noAutofit/>
            </a:bodyPr>
            <a:p>
              <a:pPr indent="0" fontAlgn="auto">
                <a:lnSpc>
                  <a:spcPct val="150000"/>
                </a:lnSpc>
              </a:pP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Step2: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生成关联规则</a:t>
              </a:r>
              <a:endPar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lvl="1"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在识别出频繁项集之后</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下一步通过设定置信度与提升度阈值进行筛选，从这些频繁项集中提取出具体的关联规则。</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lvl="1"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关联规则通常以</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的逻辑形式表达</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部分称为前件</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(antecedent),“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部分称为后件</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(consequent)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gr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关联规则</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发现</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aphicFrame>
        <p:nvGraphicFramePr>
          <p:cNvPr id="4" name="表格 3"/>
          <p:cNvGraphicFramePr/>
          <p:nvPr>
            <p:custDataLst>
              <p:tags r:id="rId1"/>
            </p:custDataLst>
          </p:nvPr>
        </p:nvGraphicFramePr>
        <p:xfrm>
          <a:off x="546735" y="2098040"/>
          <a:ext cx="10979785" cy="2072640"/>
        </p:xfrm>
        <a:graphic>
          <a:graphicData uri="http://schemas.openxmlformats.org/drawingml/2006/table">
            <a:tbl>
              <a:tblPr/>
              <a:tblGrid>
                <a:gridCol w="2274570"/>
                <a:gridCol w="3358515"/>
                <a:gridCol w="2518410"/>
                <a:gridCol w="2828290"/>
              </a:tblGrid>
              <a:tr h="441960">
                <a:tc>
                  <a:txBody>
                    <a:bodyPr/>
                    <a:p>
                      <a:pPr marL="0" indent="0" algn="ctr">
                        <a:spcBef>
                          <a:spcPct val="0"/>
                        </a:spcBef>
                        <a:spcAft>
                          <a:spcPct val="0"/>
                        </a:spcAft>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指标</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bg1">
                        <a:lumMod val="95000"/>
                      </a:schemeClr>
                    </a:solidFill>
                  </a:tcPr>
                </a:tc>
                <a:tc>
                  <a:txBody>
                    <a:bodyPr/>
                    <a:p>
                      <a:pPr marL="0" indent="0" algn="ctr">
                        <a:spcBef>
                          <a:spcPct val="0"/>
                        </a:spcBef>
                        <a:spcAft>
                          <a:spcPct val="0"/>
                        </a:spcAft>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定义</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bg1">
                        <a:lumMod val="95000"/>
                      </a:schemeClr>
                    </a:solidFill>
                  </a:tcPr>
                </a:tc>
                <a:tc>
                  <a:txBody>
                    <a:bodyPr/>
                    <a:p>
                      <a:pPr marL="0" indent="0" algn="ctr">
                        <a:spcBef>
                          <a:spcPct val="0"/>
                        </a:spcBef>
                        <a:spcAft>
                          <a:spcPct val="0"/>
                        </a:spcAft>
                        <a:buNone/>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公式</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bg1">
                        <a:lumMod val="95000"/>
                      </a:schemeClr>
                    </a:solidFill>
                  </a:tcPr>
                </a:tc>
                <a:tc>
                  <a:txBody>
                    <a:bodyPr/>
                    <a:p>
                      <a:pPr marL="0" indent="0" algn="ctr">
                        <a:spcBef>
                          <a:spcPct val="0"/>
                        </a:spcBef>
                        <a:spcAft>
                          <a:spcPct val="0"/>
                        </a:spcAft>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意义</a:t>
                      </a:r>
                      <a:endPar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bg1">
                        <a:lumMod val="95000"/>
                      </a:schemeClr>
                    </a:solidFill>
                  </a:tcPr>
                </a:tc>
              </a:tr>
              <a:tr h="629920">
                <a:tc>
                  <a:txBody>
                    <a:bodyPr/>
                    <a:p>
                      <a:pPr indent="0" algn="ctr" fontAlgn="auto">
                        <a:lnSpc>
                          <a:spcPct val="150000"/>
                        </a:lnSpc>
                        <a:spcBef>
                          <a:spcPct val="0"/>
                        </a:spcBef>
                        <a:spcAft>
                          <a:spcPct val="0"/>
                        </a:spcAft>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置信度 (Confidence)</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indent="0" fontAlgn="auto">
                        <a:lnSpc>
                          <a:spcPct val="150000"/>
                        </a:lnSpc>
                        <a:spcBef>
                          <a:spcPct val="0"/>
                        </a:spcBef>
                        <a:spcAft>
                          <a:spcPct val="0"/>
                        </a:spcAft>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在前件出现的情况下, 后件也出现的条件概率</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indent="0" fontAlgn="auto">
                        <a:lnSpc>
                          <a:spcPct val="150000"/>
                        </a:lnSpc>
                        <a:spcBef>
                          <a:spcPct val="0"/>
                        </a:spcBef>
                        <a:spcAft>
                          <a:spcPct val="0"/>
                        </a:spcAft>
                        <a:buNone/>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indent="0" fontAlgn="auto">
                        <a:lnSpc>
                          <a:spcPct val="150000"/>
                        </a:lnSpc>
                        <a:spcBef>
                          <a:spcPct val="0"/>
                        </a:spcBef>
                        <a:spcAft>
                          <a:spcPct val="0"/>
                        </a:spcAft>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衡量规则的准确率</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441960">
                <a:tc>
                  <a:txBody>
                    <a:bodyPr/>
                    <a:p>
                      <a:pPr indent="0" algn="ctr" fontAlgn="auto">
                        <a:lnSpc>
                          <a:spcPct val="150000"/>
                        </a:lnSpc>
                        <a:spcBef>
                          <a:spcPct val="0"/>
                        </a:spcBef>
                        <a:spcAft>
                          <a:spcPct val="0"/>
                        </a:spcAft>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提升度 (Lift)</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indent="0" fontAlgn="auto">
                        <a:lnSpc>
                          <a:spcPct val="150000"/>
                        </a:lnSpc>
                        <a:spcBef>
                          <a:spcPct val="0"/>
                        </a:spcBef>
                        <a:spcAft>
                          <a:spcPct val="0"/>
                        </a:spcAft>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rPr>
                        <a:t>后件在前件出现时的条件概率与后件在整个数据集中出现的无条件概率之比</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indent="0" fontAlgn="auto">
                        <a:lnSpc>
                          <a:spcPct val="150000"/>
                        </a:lnSpc>
                        <a:spcBef>
                          <a:spcPct val="0"/>
                        </a:spcBef>
                        <a:spcAft>
                          <a:spcPct val="0"/>
                        </a:spcAft>
                        <a:buNone/>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indent="0" fontAlgn="auto">
                        <a:lnSpc>
                          <a:spcPct val="150000"/>
                        </a:lnSpc>
                        <a:spcBef>
                          <a:spcPct val="0"/>
                        </a:spcBef>
                        <a:spcAft>
                          <a:spcPct val="0"/>
                        </a:spcAft>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衡量规则的有效性（是否优于随机猜测）</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txBody>
                  <a:tcPr marL="152717" marR="152717" marT="101917" marB="10191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pic>
        <p:nvPicPr>
          <p:cNvPr id="6" name="334E55B0-647D-440b-865C-3EC943EB4CBC-1" descr="wpsoffice"/>
          <p:cNvPicPr>
            <a:picLocks noChangeAspect="1"/>
          </p:cNvPicPr>
          <p:nvPr/>
        </p:nvPicPr>
        <p:blipFill>
          <a:blip r:embed="rId2"/>
          <a:stretch>
            <a:fillRect/>
          </a:stretch>
        </p:blipFill>
        <p:spPr>
          <a:xfrm>
            <a:off x="6416675" y="2773045"/>
            <a:ext cx="2050415" cy="503555"/>
          </a:xfrm>
          <a:prstGeom prst="rect">
            <a:avLst/>
          </a:prstGeom>
        </p:spPr>
      </p:pic>
      <p:pic>
        <p:nvPicPr>
          <p:cNvPr id="7" name="334E55B0-647D-440b-865C-3EC943EB4CBC-2" descr="wpsoffice"/>
          <p:cNvPicPr>
            <a:picLocks noChangeAspect="1"/>
          </p:cNvPicPr>
          <p:nvPr/>
        </p:nvPicPr>
        <p:blipFill>
          <a:blip r:embed="rId3"/>
          <a:stretch>
            <a:fillRect/>
          </a:stretch>
        </p:blipFill>
        <p:spPr>
          <a:xfrm>
            <a:off x="6992620" y="3910330"/>
            <a:ext cx="897890" cy="535305"/>
          </a:xfrm>
          <a:prstGeom prst="rect">
            <a:avLst/>
          </a:prstGeom>
        </p:spPr>
      </p:pic>
      <p:sp>
        <p:nvSpPr>
          <p:cNvPr id="20" name="圆角矩形 19"/>
          <p:cNvSpPr/>
          <p:nvPr/>
        </p:nvSpPr>
        <p:spPr>
          <a:xfrm>
            <a:off x="546735" y="1177925"/>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评估指标</a:t>
            </a:r>
            <a:endParaRPr lang="en-US" alt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4"/>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2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小结与讨论</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07</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Summary and Discussion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小结与</a:t>
            </a: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讨论</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2" name="图片 1" descr="截屏2025-12-25 22.13.09"/>
          <p:cNvPicPr>
            <a:picLocks noChangeAspect="1"/>
          </p:cNvPicPr>
          <p:nvPr/>
        </p:nvPicPr>
        <p:blipFill>
          <a:blip r:embed="rId1"/>
          <a:stretch>
            <a:fillRect/>
          </a:stretch>
        </p:blipFill>
        <p:spPr>
          <a:xfrm>
            <a:off x="1022350" y="1657350"/>
            <a:ext cx="9928860" cy="3896360"/>
          </a:xfrm>
          <a:prstGeom prst="rect">
            <a:avLst/>
          </a:prstGeom>
        </p:spPr>
      </p:pic>
      <p:sp>
        <p:nvSpPr>
          <p:cNvPr id="20" name="圆角矩形 19"/>
          <p:cNvSpPr/>
          <p:nvPr/>
        </p:nvSpPr>
        <p:spPr>
          <a:xfrm>
            <a:off x="546735" y="9461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算法对比总结</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tags/tag1.xml><?xml version="1.0" encoding="utf-8"?>
<p:tagLst xmlns:p="http://schemas.openxmlformats.org/presentationml/2006/main">
  <p:tag name="ISLIDE.ICON" val="#407207;"/>
</p:tagLst>
</file>

<file path=ppt/tags/tag2.xml><?xml version="1.0" encoding="utf-8"?>
<p:tagLst xmlns:p="http://schemas.openxmlformats.org/presentationml/2006/main">
  <p:tag name="KSO_WM_DIAGRAM_VIRTUALLY_FRAME" val="{&quot;height&quot;:317.7314960629921,&quot;left&quot;:417.32039370078735,&quot;top&quot;:94.5,&quot;width&quot;:359.1841732283465}"/>
</p:tagLst>
</file>

<file path=ppt/tags/tag3.xml><?xml version="1.0" encoding="utf-8"?>
<p:tagLst xmlns:p="http://schemas.openxmlformats.org/presentationml/2006/main">
  <p:tag name="KSO_WM_DIAGRAM_VIRTUALLY_FRAME" val="{&quot;height&quot;:317.7314960629921,&quot;left&quot;:417.32039370078735,&quot;top&quot;:94.5,&quot;width&quot;:359.1841732283465}"/>
</p:tagLst>
</file>

<file path=ppt/tags/tag4.xml><?xml version="1.0" encoding="utf-8"?>
<p:tagLst xmlns:p="http://schemas.openxmlformats.org/presentationml/2006/main">
  <p:tag name="KSO_WM_DIAGRAM_VIRTUALLY_FRAME" val="{&quot;height&quot;:317.7314960629921,&quot;left&quot;:417.32039370078735,&quot;top&quot;:94.5,&quot;width&quot;:359.1841732283465}"/>
</p:tagLst>
</file>

<file path=ppt/tags/tag5.xml><?xml version="1.0" encoding="utf-8"?>
<p:tagLst xmlns:p="http://schemas.openxmlformats.org/presentationml/2006/main">
  <p:tag name="KSO_WM_DIAGRAM_VIRTUALLY_FRAME" val="{&quot;height&quot;:317.7314960629921,&quot;left&quot;:417.32039370078735,&quot;top&quot;:94.5,&quot;width&quot;:359.1841732283465}"/>
</p:tagLst>
</file>

<file path=ppt/tags/tag6.xml><?xml version="1.0" encoding="utf-8"?>
<p:tagLst xmlns:p="http://schemas.openxmlformats.org/presentationml/2006/main">
  <p:tag name="KSO_WM_DIAGRAM_VIRTUALLY_FRAME" val="{&quot;height&quot;:317.7314960629921,&quot;left&quot;:417.32039370078735,&quot;top&quot;:94.5,&quot;width&quot;:359.1841732283465}"/>
</p:tagLst>
</file>

<file path=ppt/tags/tag7.xml><?xml version="1.0" encoding="utf-8"?>
<p:tagLst xmlns:p="http://schemas.openxmlformats.org/presentationml/2006/main">
  <p:tag name="KSO_WM_DIAGRAM_VIRTUALLY_FRAME" val="{&quot;height&quot;:317.7314960629921,&quot;left&quot;:417.32039370078735,&quot;top&quot;:94.5,&quot;width&quot;:359.1841732283465}"/>
</p:tagLst>
</file>

<file path=ppt/tags/tag8.xml><?xml version="1.0" encoding="utf-8"?>
<p:tagLst xmlns:p="http://schemas.openxmlformats.org/presentationml/2006/main">
  <p:tag name="KSO_WM_DIAGRAM_VIRTUALLY_FRAME" val="{&quot;height&quot;:317.7314960629921,&quot;left&quot;:417.32039370078735,&quot;top&quot;:94.5,&quot;width&quot;:359.1841732283465}"/>
</p:tagLst>
</file>

<file path=ppt/tags/tag9.xml><?xml version="1.0" encoding="utf-8"?>
<p:tagLst xmlns:p="http://schemas.openxmlformats.org/presentationml/2006/main">
  <p:tag name="KSO_WM_DIAGRAM_VIRTUALLY_FRAME" val="{&quot;height&quot;:317.7314960629921,&quot;left&quot;:417.32039370078735,&quot;top&quot;:94.5,&quot;width&quot;:359.1841732283465}"/>
</p:tagLst>
</file>

<file path=ppt/tags/tag10.xml><?xml version="1.0" encoding="utf-8"?>
<p:tagLst xmlns:p="http://schemas.openxmlformats.org/presentationml/2006/main">
  <p:tag name="KSO_WM_DIAGRAM_VIRTUALLY_FRAME" val="{&quot;height&quot;:317.7314960629921,&quot;left&quot;:417.32039370078735,&quot;top&quot;:94.5,&quot;width&quot;:359.1841732283465}"/>
</p:tagLst>
</file>

<file path=ppt/tags/tag11.xml><?xml version="1.0" encoding="utf-8"?>
<p:tagLst xmlns:p="http://schemas.openxmlformats.org/presentationml/2006/main">
  <p:tag name="KSO_WM_DIAGRAM_VIRTUALLY_FRAME" val="{&quot;height&quot;:317.7314960629921,&quot;left&quot;:417.32039370078735,&quot;top&quot;:94.5,&quot;width&quot;:359.1841732283465}"/>
</p:tagLst>
</file>

<file path=ppt/tags/tag12.xml><?xml version="1.0" encoding="utf-8"?>
<p:tagLst xmlns:p="http://schemas.openxmlformats.org/presentationml/2006/main">
  <p:tag name="KSO_WM_DIAGRAM_VIRTUALLY_FRAME" val="{&quot;height&quot;:317.7314960629921,&quot;left&quot;:417.32039370078735,&quot;top&quot;:94.5,&quot;width&quot;:359.1841732283465}"/>
</p:tagLst>
</file>

<file path=ppt/tags/tag13.xml><?xml version="1.0" encoding="utf-8"?>
<p:tagLst xmlns:p="http://schemas.openxmlformats.org/presentationml/2006/main">
  <p:tag name="KSO_WM_DIAGRAM_VIRTUALLY_FRAME" val="{&quot;height&quot;:317.7314960629921,&quot;left&quot;:417.32039370078735,&quot;top&quot;:94.5,&quot;width&quot;:359.1841732283465}"/>
</p:tagLst>
</file>

<file path=ppt/tags/tag14.xml><?xml version="1.0" encoding="utf-8"?>
<p:tagLst xmlns:p="http://schemas.openxmlformats.org/presentationml/2006/main">
  <p:tag name="KSO_WM_DIAGRAM_VIRTUALLY_FRAME" val="{&quot;height&quot;:317.7314960629921,&quot;left&quot;:417.32039370078735,&quot;top&quot;:94.5,&quot;width&quot;:359.1841732283465}"/>
</p:tagLst>
</file>

<file path=ppt/tags/tag15.xml><?xml version="1.0" encoding="utf-8"?>
<p:tagLst xmlns:p="http://schemas.openxmlformats.org/presentationml/2006/main">
  <p:tag name="KSO_WM_DIAGRAM_VIRTUALLY_FRAME" val="{&quot;height&quot;:317.7314960629921,&quot;left&quot;:417.32039370078735,&quot;top&quot;:94.5,&quot;width&quot;:359.1841732283465}"/>
</p:tagLst>
</file>

<file path=ppt/tags/tag16.xml><?xml version="1.0" encoding="utf-8"?>
<p:tagLst xmlns:p="http://schemas.openxmlformats.org/presentationml/2006/main">
  <p:tag name="KSO_WM_DIAGRAM_VIRTUALLY_FRAME" val="{&quot;height&quot;:317.7314960629921,&quot;left&quot;:417.32039370078735,&quot;top&quot;:94.5,&quot;width&quot;:359.1841732283465}"/>
</p:tagLst>
</file>

<file path=ppt/tags/tag17.xml><?xml version="1.0" encoding="utf-8"?>
<p:tagLst xmlns:p="http://schemas.openxmlformats.org/presentationml/2006/main">
  <p:tag name="KSO_WM_DIAGRAM_VIRTUALLY_FRAME" val="{&quot;height&quot;:317.7314960629921,&quot;left&quot;:417.32039370078735,&quot;top&quot;:94.5,&quot;width&quot;:359.1841732283465}"/>
</p:tagLst>
</file>

<file path=ppt/tags/tag18.xml><?xml version="1.0" encoding="utf-8"?>
<p:tagLst xmlns:p="http://schemas.openxmlformats.org/presentationml/2006/main">
  <p:tag name="KSO_WM_DIAGRAM_VIRTUALLY_FRAME" val="{&quot;height&quot;:317.7314960629921,&quot;left&quot;:417.32039370078735,&quot;top&quot;:94.5,&quot;width&quot;:359.1841732283465}"/>
</p:tagLst>
</file>

<file path=ppt/tags/tag19.xml><?xml version="1.0" encoding="utf-8"?>
<p:tagLst xmlns:p="http://schemas.openxmlformats.org/presentationml/2006/main">
  <p:tag name="KSO_WM_DIAGRAM_VIRTUALLY_FRAME" val="{&quot;height&quot;:317.7314960629921,&quot;left&quot;:417.32039370078735,&quot;top&quot;:94.5,&quot;width&quot;:359.1841732283465}"/>
</p:tagLst>
</file>

<file path=ppt/tags/tag20.xml><?xml version="1.0" encoding="utf-8"?>
<p:tagLst xmlns:p="http://schemas.openxmlformats.org/presentationml/2006/main">
  <p:tag name="KSO_WM_DIAGRAM_VIRTUALLY_FRAME" val="{&quot;height&quot;:317.7314960629921,&quot;left&quot;:417.32039370078735,&quot;top&quot;:94.5,&quot;width&quot;:359.1841732283465}"/>
</p:tagLst>
</file>

<file path=ppt/tags/tag21.xml><?xml version="1.0" encoding="utf-8"?>
<p:tagLst xmlns:p="http://schemas.openxmlformats.org/presentationml/2006/main">
  <p:tag name="KSO_WM_DIAGRAM_VIRTUALLY_FRAME" val="{&quot;height&quot;:317.7314960629921,&quot;left&quot;:417.32039370078735,&quot;top&quot;:94.5,&quot;width&quot;:359.1841732283465}"/>
</p:tagLst>
</file>

<file path=ppt/tags/tag22.xml><?xml version="1.0" encoding="utf-8"?>
<p:tagLst xmlns:p="http://schemas.openxmlformats.org/presentationml/2006/main">
  <p:tag name="KSO_WM_DIAGRAM_VIRTUALLY_FRAME" val="{&quot;height&quot;:317.7314960629921,&quot;left&quot;:417.32039370078735,&quot;top&quot;:94.5,&quot;width&quot;:359.1841732283465}"/>
</p:tagLst>
</file>

<file path=ppt/tags/tag23.xml><?xml version="1.0" encoding="utf-8"?>
<p:tagLst xmlns:p="http://schemas.openxmlformats.org/presentationml/2006/main">
  <p:tag name="ISLIDE.ICON" val="#407207;"/>
</p:tagLst>
</file>

<file path=ppt/tags/tag24.xml><?xml version="1.0" encoding="utf-8"?>
<p:tagLst xmlns:p="http://schemas.openxmlformats.org/presentationml/2006/main">
  <p:tag name="ISLIDE.ICON" val="#407207;"/>
</p:tagLst>
</file>

<file path=ppt/tags/tag25.xml><?xml version="1.0" encoding="utf-8"?>
<p:tagLst xmlns:p="http://schemas.openxmlformats.org/presentationml/2006/main">
  <p:tag name="ISLIDE.ICON" val="#407207;"/>
</p:tagLst>
</file>

<file path=ppt/tags/tag26.xml><?xml version="1.0" encoding="utf-8"?>
<p:tagLst xmlns:p="http://schemas.openxmlformats.org/presentationml/2006/main">
  <p:tag name="ISLIDE.ICON" val="#407207;"/>
</p:tagLst>
</file>

<file path=ppt/tags/tag27.xml><?xml version="1.0" encoding="utf-8"?>
<p:tagLst xmlns:p="http://schemas.openxmlformats.org/presentationml/2006/main">
  <p:tag name="ISLIDE.ICON" val="#407207;"/>
</p:tagLst>
</file>

<file path=ppt/tags/tag28.xml><?xml version="1.0" encoding="utf-8"?>
<p:tagLst xmlns:p="http://schemas.openxmlformats.org/presentationml/2006/main">
  <p:tag name="ISLIDE.ICON" val="#407207;"/>
</p:tagLst>
</file>

<file path=ppt/tags/tag29.xml><?xml version="1.0" encoding="utf-8"?>
<p:tagLst xmlns:p="http://schemas.openxmlformats.org/presentationml/2006/main">
  <p:tag name="ISLIDE.ICON" val="#407207;"/>
</p:tagLst>
</file>

<file path=ppt/tags/tag30.xml><?xml version="1.0" encoding="utf-8"?>
<p:tagLst xmlns:p="http://schemas.openxmlformats.org/presentationml/2006/main">
  <p:tag name="ISLIDE.ICON" val="#407207;"/>
</p:tagLst>
</file>

<file path=ppt/tags/tag31.xml><?xml version="1.0" encoding="utf-8"?>
<p:tagLst xmlns:p="http://schemas.openxmlformats.org/presentationml/2006/main">
  <p:tag name="ISLIDE.ICON" val="#407207;"/>
</p:tagLst>
</file>

<file path=ppt/tags/tag32.xml><?xml version="1.0" encoding="utf-8"?>
<p:tagLst xmlns:p="http://schemas.openxmlformats.org/presentationml/2006/main">
  <p:tag name="ISLIDE.ICON" val="#407207;"/>
</p:tagLst>
</file>

<file path=ppt/tags/tag33.xml><?xml version="1.0" encoding="utf-8"?>
<p:tagLst xmlns:p="http://schemas.openxmlformats.org/presentationml/2006/main">
  <p:tag name="ISLIDE.ICON" val="#407207;"/>
</p:tagLst>
</file>

<file path=ppt/tags/tag34.xml><?xml version="1.0" encoding="utf-8"?>
<p:tagLst xmlns:p="http://schemas.openxmlformats.org/presentationml/2006/main">
  <p:tag name="ISLIDE.ICON" val="#407207;"/>
</p:tagLst>
</file>

<file path=ppt/tags/tag35.xml><?xml version="1.0" encoding="utf-8"?>
<p:tagLst xmlns:p="http://schemas.openxmlformats.org/presentationml/2006/main">
  <p:tag name="ISLIDE.ICON" val="#407207;"/>
</p:tagLst>
</file>

<file path=ppt/tags/tag36.xml><?xml version="1.0" encoding="utf-8"?>
<p:tagLst xmlns:p="http://schemas.openxmlformats.org/presentationml/2006/main">
  <p:tag name="ISLIDE.ICON" val="#407207;"/>
</p:tagLst>
</file>

<file path=ppt/tags/tag37.xml><?xml version="1.0" encoding="utf-8"?>
<p:tagLst xmlns:p="http://schemas.openxmlformats.org/presentationml/2006/main">
  <p:tag name="ISLIDE.ICON" val="#407207;"/>
</p:tagLst>
</file>

<file path=ppt/tags/tag38.xml><?xml version="1.0" encoding="utf-8"?>
<p:tagLst xmlns:p="http://schemas.openxmlformats.org/presentationml/2006/main">
  <p:tag name="ISLIDE.ICON" val="#407207;"/>
</p:tagLst>
</file>

<file path=ppt/tags/tag39.xml><?xml version="1.0" encoding="utf-8"?>
<p:tagLst xmlns:p="http://schemas.openxmlformats.org/presentationml/2006/main">
  <p:tag name="ISLIDE.ICON" val="#407207;"/>
</p:tagLst>
</file>

<file path=ppt/tags/tag40.xml><?xml version="1.0" encoding="utf-8"?>
<p:tagLst xmlns:p="http://schemas.openxmlformats.org/presentationml/2006/main">
  <p:tag name="ISLIDE.ICON" val="#407207;"/>
</p:tagLst>
</file>

<file path=ppt/tags/tag41.xml><?xml version="1.0" encoding="utf-8"?>
<p:tagLst xmlns:p="http://schemas.openxmlformats.org/presentationml/2006/main">
  <p:tag name="ISLIDE.ICON" val="#407207;"/>
</p:tagLst>
</file>

<file path=ppt/tags/tag42.xml><?xml version="1.0" encoding="utf-8"?>
<p:tagLst xmlns:p="http://schemas.openxmlformats.org/presentationml/2006/main">
  <p:tag name="ISLIDE.ICON" val="#407207;"/>
</p:tagLst>
</file>

<file path=ppt/tags/tag43.xml><?xml version="1.0" encoding="utf-8"?>
<p:tagLst xmlns:p="http://schemas.openxmlformats.org/presentationml/2006/main">
  <p:tag name="ISLIDE.ICON" val="#407207;"/>
</p:tagLst>
</file>

<file path=ppt/tags/tag44.xml><?xml version="1.0" encoding="utf-8"?>
<p:tagLst xmlns:p="http://schemas.openxmlformats.org/presentationml/2006/main">
  <p:tag name="ISLIDE.ICON" val="#407207;"/>
</p:tagLst>
</file>

<file path=ppt/tags/tag45.xml><?xml version="1.0" encoding="utf-8"?>
<p:tagLst xmlns:p="http://schemas.openxmlformats.org/presentationml/2006/main">
  <p:tag name="ISLIDE.ICON" val="#407207;"/>
</p:tagLst>
</file>

<file path=ppt/tags/tag46.xml><?xml version="1.0" encoding="utf-8"?>
<p:tagLst xmlns:p="http://schemas.openxmlformats.org/presentationml/2006/main">
  <p:tag name="ISLIDE.ICON" val="#407207;"/>
</p:tagLst>
</file>

<file path=ppt/tags/tag47.xml><?xml version="1.0" encoding="utf-8"?>
<p:tagLst xmlns:p="http://schemas.openxmlformats.org/presentationml/2006/main">
  <p:tag name="ISLIDE.ICON" val="#407207;"/>
</p:tagLst>
</file>

<file path=ppt/tags/tag48.xml><?xml version="1.0" encoding="utf-8"?>
<p:tagLst xmlns:p="http://schemas.openxmlformats.org/presentationml/2006/main">
  <p:tag name="ISLIDE.ICON" val="#407207;"/>
</p:tagLst>
</file>

<file path=ppt/tags/tag49.xml><?xml version="1.0" encoding="utf-8"?>
<p:tagLst xmlns:p="http://schemas.openxmlformats.org/presentationml/2006/main">
  <p:tag name="ISLIDE.ICON" val="#407207;"/>
</p:tagLst>
</file>

<file path=ppt/tags/tag50.xml><?xml version="1.0" encoding="utf-8"?>
<p:tagLst xmlns:p="http://schemas.openxmlformats.org/presentationml/2006/main">
  <p:tag name="ISLIDE.ICON" val="#407207;"/>
</p:tagLst>
</file>

<file path=ppt/tags/tag51.xml><?xml version="1.0" encoding="utf-8"?>
<p:tagLst xmlns:p="http://schemas.openxmlformats.org/presentationml/2006/main">
  <p:tag name="ISLIDE.ICON" val="#407207;"/>
</p:tagLst>
</file>

<file path=ppt/tags/tag52.xml><?xml version="1.0" encoding="utf-8"?>
<p:tagLst xmlns:p="http://schemas.openxmlformats.org/presentationml/2006/main">
  <p:tag name="ISLIDE.ICON" val="#407207;"/>
</p:tagLst>
</file>

<file path=ppt/tags/tag53.xml><?xml version="1.0" encoding="utf-8"?>
<p:tagLst xmlns:p="http://schemas.openxmlformats.org/presentationml/2006/main">
  <p:tag name="ISLIDE.ICON" val="#407207;"/>
</p:tagLst>
</file>

<file path=ppt/tags/tag54.xml><?xml version="1.0" encoding="utf-8"?>
<p:tagLst xmlns:p="http://schemas.openxmlformats.org/presentationml/2006/main">
  <p:tag name="ISLIDE.ICON" val="#407207;"/>
</p:tagLst>
</file>

<file path=ppt/tags/tag55.xml><?xml version="1.0" encoding="utf-8"?>
<p:tagLst xmlns:p="http://schemas.openxmlformats.org/presentationml/2006/main">
  <p:tag name="ISLIDE.ICON" val="#407207;"/>
</p:tagLst>
</file>

<file path=ppt/tags/tag56.xml><?xml version="1.0" encoding="utf-8"?>
<p:tagLst xmlns:p="http://schemas.openxmlformats.org/presentationml/2006/main">
  <p:tag name="ISLIDE.ICON" val="#407207;"/>
</p:tagLst>
</file>

<file path=ppt/tags/tag57.xml><?xml version="1.0" encoding="utf-8"?>
<p:tagLst xmlns:p="http://schemas.openxmlformats.org/presentationml/2006/main">
  <p:tag name="ISLIDE.ICON" val="#407207;"/>
</p:tagLst>
</file>

<file path=ppt/tags/tag58.xml><?xml version="1.0" encoding="utf-8"?>
<p:tagLst xmlns:p="http://schemas.openxmlformats.org/presentationml/2006/main">
  <p:tag name="TABLE_ENDDRAG_ORIGIN_RECT" val="839*139"/>
  <p:tag name="TABLE_ENDDRAG_RECT" val="67*338*839*139"/>
</p:tagLst>
</file>

<file path=ppt/tags/tag59.xml><?xml version="1.0" encoding="utf-8"?>
<p:tagLst xmlns:p="http://schemas.openxmlformats.org/presentationml/2006/main">
  <p:tag name="ISLIDE.ICON" val="#407207;"/>
</p:tagLst>
</file>

<file path=ppt/tags/tag60.xml><?xml version="1.0" encoding="utf-8"?>
<p:tagLst xmlns:p="http://schemas.openxmlformats.org/presentationml/2006/main">
  <p:tag name="ISLIDE.ICON" val="#407207;"/>
</p:tagLst>
</file>

<file path=ppt/tags/tag61.xml><?xml version="1.0" encoding="utf-8"?>
<p:tagLst xmlns:p="http://schemas.openxmlformats.org/presentationml/2006/main">
  <p:tag name="ISLIDE.ICON" val="#407207;"/>
</p:tagLst>
</file>

<file path=ppt/tags/tag63.xml><?xml version="1.0" encoding="utf-8"?>
<p:tagLst xmlns:p="http://schemas.openxmlformats.org/presentationml/2006/main">
  <p:tag name="KSO_WPP_MARK_KEY" val="be449126-64c9-4d19-a63f-f572ce796e9d"/>
  <p:tag name="COMMONDATA" val="eyJoZGlkIjoiNTQ0MDc3NzBkNTM1ZjYzYmNhY2VjZGI2NTUwOWI0NjkifQ=="/>
</p:tagLst>
</file>

<file path=ppt/theme/theme1.xml><?xml version="1.0" encoding="utf-8"?>
<a:theme xmlns:a="http://schemas.openxmlformats.org/drawingml/2006/main" name="Office 主题​​">
  <a:themeElements>
    <a:clrScheme name="自定义 351">
      <a:dk1>
        <a:sysClr val="windowText" lastClr="000000"/>
      </a:dk1>
      <a:lt1>
        <a:sysClr val="window" lastClr="FFFFFF"/>
      </a:lt1>
      <a:dk2>
        <a:srgbClr val="44546A"/>
      </a:dk2>
      <a:lt2>
        <a:srgbClr val="E7E6E6"/>
      </a:lt2>
      <a:accent1>
        <a:srgbClr val="00568A"/>
      </a:accent1>
      <a:accent2>
        <a:srgbClr val="006FAE"/>
      </a:accent2>
      <a:accent3>
        <a:srgbClr val="3F3F3F"/>
      </a:accent3>
      <a:accent4>
        <a:srgbClr val="00568A"/>
      </a:accent4>
      <a:accent5>
        <a:srgbClr val="006FAE"/>
      </a:accent5>
      <a:accent6>
        <a:srgbClr val="3F3F3F"/>
      </a:accent6>
      <a:hlink>
        <a:srgbClr val="0563C1"/>
      </a:hlink>
      <a:folHlink>
        <a:srgbClr val="954F72"/>
      </a:folHlink>
    </a:clrScheme>
    <a:fontScheme name="4rqz4uym">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YRnNnVUNoQ0lGeHRhV1FnUVNrZ1BTQmNabkpoWTN0UUtFRWdYR05oY0NCQ0tYMTdVQ2hCS1gwZ1hGMD0iLAoJIkxhdGV4SW1nQmFzZTY0IiA6ICJpVkJPUncwS0dnb0FBQUFOU1VoRVVnQUFBeDRBQUFERUJBTUFBQURqV2VyWkFBQUFNRkJNVkVYLy8vOEFBQUFBQUFBQUFBQUFBQUFBQUFBQUFBQUFBQUFBQUFBQUFBQUFBQUFBQUFBQUFBQUFBQUFBQUFBQUFBQXYzYUI3QUFBQUQzUlNUbE1BdSsvZHpabFVFR2FKcXlKMk1rUWY3cDZUQUFBQUNYQklXWE1BQUE3RUFBQU94QUdWS3c0YkFBQWJqRWxFUVZSNEFlMDlXNGdzU1ZiVjNiZTcrdmJiMVVGWXdXcnVyQS9XUnpWN1ozR1poYzI3em95S0gvYmR4Um1ZR2RscXhnOVJQNnFkOVdOOFFEYnFmZ3grZEN0Y1JWQ3FCeHlRVWFqZUFjSEZkYXRjQlVIQmFrVHhiN3B3RUJUQjd0djNqdlBZblVuUHljeUlPQ2Z5UkZabWRqMXVaMVYrZEo1NG5ZZzRKK004SXFKT1Z5cXpSMVBnNS9zYUhCdXcrb05qNitxNmRiUjRlVEtCSVh0YkUrajBXblRaL3RBMXpQWG5YU1ZYei8veXcvMnJJeWtqaHJtZzc1cFd4MTNrYXBJNWY3WCtZNW5yVGxYRjNmZWMwNjBGQjg2eUt4ZWNQWmpDQlRKWEQraHorY1J6TmhGV2dpTVhhWmNDZDVtckRjdi9JdTA3Q0tEM0UxTytGTnd4aVdtQmZFNFJTRDA0NEhOdjNlZHBrcG9QZ21PU3pBOG1PbWU5dHo3SWovRzZ0MWkrOTlySGtDcjNuOFhuaFI4SDhQS0FUbW9qZUpjbUdkd0tnaTJXa1RmeGl5OThGM1orK1hyWSs3T1l1TnpUU0JhQ3JvYW5DV2dBRlpTVStxdGQ0STFLSUJGZWRxdUlWU0RmemxVSmRST1EzRkZJWGdIcGFaYmphdUEwN0ZTRFVyNTdRZkJ0UGJFbElBazFiSFlmNmlJYm1BTlNidHVaZWRQTGdLU3ZHNjFRN2xSNkQzVEJOQUh0SVBpV21lK2JvRUxNQWxtbVJhWlNDSjBEOFM2c3ZOekpSVUJDR3NGWWpOYVl2Nks1UVBCZUp4Qld4TFlaTHhoTndWMmQ5QW1zTTJQQWc1cHU1V0xYZHFRWHFJUkM4UmdFZTZycThsUUtMRlFEeDRvRThONE5DQm5hZ1ZrcnBBNkNhOUNPMUxSS01ma2JiLzJQczdXcTdsTmhXYW1nT3RsUlpSWFBMU3gxbmRJQktNRVB5S3g2UkdTc0IrK1FFZzc2N3dEblB1SjVKTFgrRlE4UUIwLytNOGtUd0NibjZUbzBNVnE4YWRhSzBMU2tXYWhEVDhqY2dFSmFvcytsQ0tUMnU3VWdjUHJ1WC9NQVRmaDgzeWxCbmdBYlhBZFZvWWt4TGhhb0lFMDBMV2tHZUhXWGRHcG5RSkorbkhIbVZoOGJ3UUhROG4zYWtzRC9Da2pVODJDUEZOaWdaL2t3ME1nc3lUWENHN3RoYWRNZHJsRXI1MENTZzNpMnRjRDVjUzg4cUxRbzdSaDl2Z280N3YvQnYxZXEzL2hITHdnZTlsa2hUZUI2Nk5LTU9wR1dsU3IvVW1pOThzS0hWRUxBTkZGZWRhUHBWZ08zQjlEN3NBSXRqZmRHQ1lTcS9rdHh4dXJmT2JrR05kQ2FZeXlITkZsejdTbFVJRzJxUVlGRVBjT1BOVW9iU3ZBS2ZMckh1SkprQTZqQjlxSGVEb0tmNUkxTnluSS9LbWpzRVoxMGJueDMwNmJrVUoxcjFBcndSMzJWQzI1dmNBVU00VE5MOHloQzNkQUxMTXA1S1hDZU1DNVlTd3lOUGVLY2J0S0VRbC91TjM2UlczU0t3QjlsYjUyNVA4OHpzSUo4cUVsYktyZ2RmRmFCNGJ0YUl6NEZLMEVVeHB5Q0ltQWw3WFBPdlVBNW52S2s4SXZza3VrZ2Y1VFdhTGczTEhaM0twVk5xTHBQbXNiZ2NrS3JMSkpORUY2L2FRbkxEcURjTTFXVzlWQk1Yc2toZEQrb1JrWCtxRS9XR0w0MkVaYlJKQVpMV2Ewa1duNldYQTF0YmJIUmlnQTNMR0ZaNHlvSlBnNDZOcXR4S1pNZ3dablFRWWx4RWMxMGc1ZlE2YitNdTM3WXRFOXpJM2czeVNTblkrZHhZWW5tRmxFZmxZckgxbTZ5ci9MbCtKWkc3UUJKanFKcDNuU1lUMURhd0kxRTNIQS9pS3FTdit0NmVabk1kV28wbVd5dzByaXdoTTFsS3E0cVlGeHNrZXJUQUlJRVYrSXBuRzdEcUk4YlRtMjZIbjYyS09xNkNSb3RxdVZGUzJxeVlRd3JrQXFrcWhjRS8wZWJnWXNUcjFXV1crWUUwSjl1Q3VJWHF5VEdwa1VjUTRZYm9jYkh6ZGk3SmpPRzVvVThjREwzRXhVaEF6R1EvRitGWkora0syQlNtOTFGVmxEYWhLZlZSVGhGZE5BTzRzbWVPNGx4R0xJUTNmRGp1SzU1ZGJqRWlRcDhLVE0wYjRtSHZ3Nm10dVU1YmpvRW5lbXVaQkN1aHp0a1RpQyt0SC9jY2dtTGF2MFltNkQydllNQWU4NmxwZUM0bStCVFlWbHRCY0VQTTFSb01xRGhNRVVQMHZUSXpCY0YrcDVLT3QyNHhjaUN3c09LSFZWWnZ3K3BCRks1YzVJUXErQ09pNVpIMVcvQzFwVXQxVmFtYlVjUjVWTmZVYTFTYVFYQmorcFUzV1hjZENJTEFGM0hDMTFiQVQyMmV4L25yZ2lDRFlxZ080WGc2N1VnK0NtRlE3OWhlQnFlQ29DN0gyK3p2VmhKVzRkRVFlY2NueXZ6WXhmY3Y2Znh1UTJvUHZtN0VWYjZGMVRVQ1UyWEh2YUpRMXo5YmJCMSszcks4UGwzZFlJQ1MycEZBUkdWTFdiS3hWczZqdlVCQ016ejRDLzJEWllZQW5IYVQyU1dPUVAwOXp0L0hUNXZmUVcrMXZ0azlxQkxEc1Nwenl1YnlPTzJjbFE1Qno5UVc2blBmL1UvNjhMQkZhZ29lUXppd0VxUTJURGZKMENmVnRUQm1jRk9WbCtjWVVzdENtQWdkOSt3ZWc1K2dQdEJsQTJrN3RQK0VSbXMwU044VDgzakdYNTg0ckZmWU5NRytweXlqRGl4cWtuVXB1YXFxcHFESDdCWFJzM1pjMnBNeE9na0QwZjFWTUkzdWg4WGpubUJiV04vcm1ITk9mMU5OOWpoYW93bUJ6ODJpYk1EclhGcnVSOWpVUy9KdzFGbEpYeWorN0hsbUJkc1QrMUxSVTB0bzNyOCs0NHE1K0FITEFnbCtzSzJ1MVlhTXFlTUgraCtkQ002SnY2NitGSFhER3hhZThNaGloejhhTEdicXVGVkNtVXFxTkZJSHFjcUsrRWIzWTlUeDd4Z08xMWFIemVORklQdld4MGxHaHc1K0FIclFmTVdFV3pDYVBvR0UwTDE2Ym9TNXdNRk9BRk1DclN0U1Jpb0U5eFNUNTNaUjNHVkhQeUF6cnNHY1hSNmZrd3pwbzRmVFVuaXhCUng4S01HVkNRUEp4K2tzdlBET3Yyb1ZQQkFaWnNqOUp6bUJxOVhrbFJEc2xqanVjbjgyQWcrL29aNjJrQy9FNXNTMmZsaG5YNUV4eUhXTHhpbVRGNTVaSVBWSnF5c1B4YUl4c1VMRFFudGs1MGZ3SENDRExwSDY0SVpYQ2l2ZHV4eGxUaWQ1bjZnOU5oUHpyMUhDQVlFTmJ2enFtcDJmb0Q2amphS1ZWT1VWNG4xTVUzOFNITS9aSDVVdFhNT1JJUVZGQndvWXFwM2RuNmMyNHNUK1h1aDhFVHY2ZkkvMHR3UGxCNG5uRGlRV3RIT09TU3crWkZkSlRzL1dqYjFZY0hZNHNteWlPM09TcFpPY3ovd3NrRS9NZDl6N1p4REVTcmt1M2FWN1B6WXRULytab0svSUZDUDdRNUtuUGFCQU03cGdURGJTeFI2ZDBnV2JqaHRrWFFJWnVkSGd2cHR5T0ZMY3NyMmQrR0Q1QllPSmE1MDlyREc3Q2xVUDNkb0U0UXo4d1Bkano1dGpkYUZOUnpuR1F4dFZ4NjRZVnM0ZEdwQW5vUnk4TTJQeWFBcVhtallwazBRenN5UGhQdUI1cFcrM2hDaEJZNzNJMmdxL25vSkF0QnBDOHFoL1FPMGduaWhJVE0vd0pyaXR4YlBnQi9XRnpCZDUrZXA3Z2RlWnI1RHFROHcvSWlUNVFBQkxYOGh4L3JZdEU1UHF2QjEyTnVUWU1HeERzdWRRUG1mME1kbXlyV0VNSHJab2hlMHR3Uk1EbjZjV2FmdjZNMzhpT2s5aE9ZU0hMSXFsQ3FKRXJ6cm5sRXY4ZkczcWJVTERUMkxwSWdyczd6cVdZc0xyYXRUYXpUejVOZlBWbEVKazZudWgzQ1plZG4ybm5mNWdXdElvc3o4Z01ZN2hLaDRtVHF4Mkh6aHdnUnBJNEpMbnhPekIyVCsvdDBCRlpMRmJ4NGs4NjZVNHdNSlVoQWtMalAzYklVQ24vVDdOb0tzL0VEbFJXaXc0WUgyT0xHUm5kbjdpM1lGSWQzNElTRnpZSmI5cVExc0FKZUxMZU04UTVQMEtyMmtBcVVONXRqdGozQjc1SUtXaC9LS1hoQUpDN1B5QTUzSlBZMXV0Y2JaRXhjY0psU1lidUVDVmhKQ3oxV1Q1bGNUc3BtV0V2amZqblNpNmxtMzhYVkpNUURWdVk0TUo2QzRTVzlIVlNxL1dRZDNiWi9XQzZOaTJOOTBWbjc4Qi9SK3FyQjlIWVJYSU1pWmR2N3RrdHBIQ21tZTkyckdoYmdhRVBSdmtraGhlVG9UNmxaZmZlRTFJQUZRK0kzbi8wRW94eXh3amcyeC8vczd3K29QbjFPVlg3a1hSbDRNSHI3K3ZDWXJsbVhoeC9LOU4ycUk3c25uL3dpZk1HNWo4Qk1LTTNuWExRT2JGRG5BRzdsYmhJaXk4bU11ZU05MHZNNUM2Wm44QWhCdXphcUg5TUF4VVlHaUt1djkzWmJLc1d6bUxQdzRORzBWOU9CTHZPOHdCUnNBK3l3NytnUlVtK0R4Wi9nVlBxamJaZ3B0RWRZMGZSNS81cGNaUHAzSXlvOG1VNWhON3RCcWJQbUJ0ZUR5MXUwbjRHTDVwMjY1bVV5bHhlN2w0MDg4ZmZ1V3NUOFBnMXVQM3dZRXQ2eHYrTkR5VWNLeExWTFZYYW04UkdrRThPWG5mODZzUkRLWk5jdURSeHZBZWo1RHFnTjRrenRVbTFadFNGb040dVpaK1ZGbk92Vm1mbkhLaDVzdmRSNXM1MnVBdGM4bHErT212UkdTRFMrVER0amsxUmUrSS96aUh3c2p4UDRwd3Z3ZklWaS96bHE2OTlvdXN1U1RVVVRaTDJEaSs2VytNL0lEUERZMlBZOGZjRXFZaDVnM1Q1VlhWcnczcFBtdTNoYS8vMEU0ZmNIcVFVbXJkdEZXZndjUzMwMndWT3RKNGRzaSsyVFYzNElHVzZTQkFqUHlvMk5acEIxamtpaE1JM3pmWkl0emhCMjVVUGU0bUF1cjRhOUl1N29CU0Q1cTVOeXdQU1NvZU1nMkVkcUVPeG9MWHFUL0ZrazV3WnAxNDJ5TnViVE9aa01xQUhFOUpFd0YwWGpDNTRlNzhtYXhyZFpadk9CRFVxVDZiTEJqWVd4K3JJck1PeHMvOE1pR2s2VE96QWVEYnpUUWhPT0JyVnJxUEp6a1BQOUVtL1FuZGxWamJoaUNlRXhDVllHQjFpNGNWczNHRDl4ZzRoYmZvZkRGbUs2SERYV0U1VC9zUGxMd0xVcjZxOE12MWVPZGxGT0ZZMFhRTjJpVGRWVUZlTGNzRlJBVlplTkhEM0NaM3JEbHdsZ3B0SmpjNFl1R1A1Ni92cVI2RC9rZUpxcVRZeldjTTBIZjRDNkVaaGhVUExQU1VkdE0vS2dHUHd1Tis2bzNmQzlKaTQxV0dDcGM1ZGJkVUhGblFOWmloSXdidFBrZFJpVDNoY0pWNDhJa3pFWjdUSlhqMjRkMGwyYUVjQ1orckFTL0FvMFBXR05QTzhnc2UwUUprU0lqNml1QnRpcWFkeUQvdDBsVlBNTlhXMHBpK0dhUStjeGwySVFHZHdtQ0NNekVqL1Aza0xsSHJIRlBZQzZyTU5URWdwRUZROFdiQ2RsTlFSdUVFUyszU0hNMGVaVFBNU2VKVjkrNnN3SDJnRENwVFB6d2RwSTN6bnoyZFpDQmpRVGMwTi9lU05DbkkrMVlvaUdzamR2MFhkSU81WlZ5a24zSkcyaGF4MXk0UHZnbmp0aXk4QU11T3lWdm5LMk1WWUZVR21NVmo0VE9BSXIvZXdUOWgxTlNEL1c1NGtkUElIU2xRZlFMdHV0QWd3T0NJQUt6OE1QL0FMZThMWU5xUTdMSkUraUhsckVneU5xaElVOUh0S3kzUldnOUZEYzBqZnhSL29RbmVJTVZqN2tmb2JzdVZNdkNqL2E3MG8wejZwM1NnWTBHbnVBL0RmSzVaUm5QcjJPcForUlB2Tld4TG4ycXR2dUIvMDlEMkNYUHdBOE1pb2ZZTGppbGE5S2k1RldHbVdyUzdhRmhJaDZJcTZiRUVLdDVhTVJUbUEvOFVWcGpNWGlmVlEwVHR2dUJkL2pVZWlLMU0vQWpESW9IcmEwYlo0ZXFlNEp0aE9DYUpTOUgyQlZIYlIyWnFNSzJwWjZCUDBxL2IwckdoKzErNEMydk93cVplV2ZneHlHYTFYVzlHbFhiam1UVXFjSVJ2RnNmakFCcEJwUTk1alhvQnA0bE1IYUJ2bkhodVMxS01OOTJQNXBRLzBSajA4Qmdma1JCOGFCNzVlM0ViUmUwT2FHUmpSUW9lSlIwMVRFdENVNEM0RVFCdmtWd28vaFJVcW9sZmZnK2wyKzRIeXlJcXd6MjdtTG8rOWVNdHhPUFlvVzdtMlJzSXdKN3l0MGFFWDRaN1JtN1NhL3JvRHJvNmxUMEU2MmRPTDByYWRaekx0KytETzMzU0hzRkRsNGZaNkU2YTNQMlFuTndTUlNTOGJ5WG1MMC9uajVoSFhURm5sQWQ5RW1KRDJrbGZrUkt0NWg4cSs0bTVFMkViREEvb3FCNGdNNzZVR0RENXBRTWFBemdYNm9KajZFdjFVWDF6eFhFMzNnQ1FYTWFSbjZBcnlZUUJoaXdaUnI4Q3hpNyt5WnBvSUg4Q0NQV3cyMG12dHVQQ0NUMzBpQXVPZVJ6N3dIRjEwRThaZGhiU2s2ZXV4Ky9CbWRaM1dRbHlCbklqekJpZlJqeXh2WmVQRm5UaWQyVUxyTnAxRGZPN1p4b1ovRzNDYmpCb1ZjTjNyRDhRNWtrQS9uUmlKek9zK1JwVm51c080cnk4Q2VXMjJEeUg1YkVaVitOWlY0eWRIQkROcTZ3K3Jld3RnNVViZXM5aUIrcnNUN3JHSHdLUTBNeXMxVmgyZDhlVmM4YmtMcXJaN3hwYTFvc3dlUGNNS0xzVTFEMzhzOU9kRzBMR01TUEtHSjlGQkxLYXRwVCt6VTB2L3JXLzdvZTV4aG8rMnNDb3pxNG84YjZDcEQ0Y3lxQkc3ZkNCc3NtTkREUGs2NnJ5Z1AxUnpQMkFoR2ZSZENtN1NIaWtGNDJuZHFRTUVvemlXc0dvZjUrTVF4UCt6Zi9oV2ZaMzB2R2Y2N1BwVmltK1hxLzhjVWcrQmxTUnNGQjYwTUZ4VVA3cms4YjRvRzg0S0NCWW5NOThyNER4M2xkVXVoK21PZkJpM1RjaDlKMzJncW90b1hVOTlBbUJoN0FEeDBVRCtYZm5tbUdVRWR2RUpEOEZUQWRIQTlaMHFUQjlRVHg4NHlmeTg4L3Q4OG0wWkkyOW5iWjRTeFlXMGIvczhZRCtORlJleko0M05KbExTSEs0SVIyK1Bnd0pwTHlnUnl1amh0R01wa3FVUC9BcEt5N282UmdBRDlxMjNGZFhLQkhwQjJBbTlKNUNxOVMybFRUT28yaUUyM2JKeE5RaU80SFZiOG9ibWhhdDAvbng1S1dVZXk2VjlSNm12blJTR3puYVlyQy8vNnlUb3FnQ0IwVVV5UDZGekpiTkVQQjZmelFFZXZoL2h2YmY4SG1tMVAxRzNsRnNPanQ4ZDFhVmxnVCtBSHJnWnN6UU02UFdLczRrYzZQVnVTY1ExMWNjRHNjd1R4bk9TL01tQUtzMStxSnB5VWNYNXNKN3dwKzhxYTlua0MvaTlvM2xSK3I4R015OVFEWnRrMmZDRTB4UHdScFlXZ2o4ZVBjWGs5dFM0Q3A1cW44d0ROZThseW9SdEViYkQ2ZVVTQkZzRjhMTUo0aVdqZGQxM1FsZnJUbzlnbzJoQXpoanUrQS9kM3oreXJDN1J0dlFIc3R2S0tSVFBINlFQZmoxTVVQU1grQWVPTHF1d0VZVGdRTXFldkRJempxOW9vRGVTWDlnbFhvbzN4WlBsRFRPU3ZKdm9MNlhkWUE1Rlh1OWJGR09RZ2N0czdmcDVnZlRkdGNvclFXK01GT1A4SzZRRTZSbzJucncxZk9PV0tvbVFQSnVQTXA5ajhhdHJrVWt5UjhDZjQ1T2YySWF3STdST21TeG8vMk51a0doa0RaQXlXYmxrbE5LcGNkOUJMQ204eTRsZlFzd1AzZ3A2dG9vRm5rakRDazhHTkRPK2RZdFpXNDBPQ0xGdlEwbkgra3VoL3dQNHN0d1I2ZUhuSHE0M2FnWlI0TjVNY0NZK2xoUW1TSys3dFRjZjZSNm41STV4RG50amZ1QXorSXNSVHhBdittckkvZWg2YWFkS0hCZGU0Q1hZa1AzekNndUs4Ym5PcCtWUHlrSkdyWjdrY2JLSFFxVGR2Tmp5bzVFb2FXWndtSFVqd2ZuSXJ6ajFUM0EvU3FkVk1OZnRGRFRuZVJDL2hqUXk3QUZHL2MvRmpoSWNJNmdFSTFpdDdpK1RtdlV0S1VuNkFGbmVpQ3BidWhET29mMFNwNFczU0habWpZelk5emZocTdDU2oyZFRNRXB2ZCtTVE9oU3lsaDVoTDdyTGdjK3JSS0RZU05LSzdjK3FOYTV3eEVmbkFVTlFlTGFjZmxoRnRwN2tjRmpvcjRoNHM1TEF1dEs2YWNEWm1jNjJPRldidmg3eGM0aitFbklYY05ucW1DUENjNWtRekppODNnZmxEbkR5OVRXOSsySnArVEg0ZVd0Z0NjN0FRWWZ3R3hwOUZNRlpEdWZnZ1htMzN1dTcwTnBQeXNnMkl1ZnRnUjZzTC9BWGRFa2NCbmNFTFQwd09qK05sSm1XN052dGg4eVBiK3Znck5FeGFZUXVmaVI4TzJwdERHTzFhdDhMMmNVRnUwZElKd3ByalFieDRVSHlHb2MvRW4wQXBqeXpxNTI2Z1QrYmI2OTlENlFWL1Z0ZDh5UDZyZmhFWTAvbHhsSFdVZTgvQlh4TzBTRy84RTBwbmlRaGVONmZ4S0hDRTIrUGpyZjd6dm1OdzVKVlFjei9iQjYyRkUyWHRocU1XSGU0NldzbisrOFhzZUVEOElubEhOcXE5K0FWZ016MDgvK3ljYTA3eDBQVkdYVGc1SWlRczloSmpPalpBTzBaOER4eVEzeVFZV0JyYXduMC8zSFEwaFcxb2Ztd3JCZHR3T3Q0dmp4Mng2bkFuWEtOejlqSytrSnQ3YndQNkhFZE81RjBXWGZRckN5enAvRUU4bHgxTDBJU3Z5QmNFbkh2dW5ORnBJL0xnUjNMcjk5Rk9mTXZZc3FBb01rdnNVeE1nMVRtSWlxSDFhTitNclM0a0x6YUsyRGpHbXN6MjVqU3RvVm9rZk5uNDVYZVBtcjF4cDJMa2ZNeDhhUWdQalFyUCtSeFhUbVhXQ2licmxxU1VxdURNSzh3T01jSmMrYy9kMjFSSzAvSzNuTXh5bkZSZWFGWTR0cG5PTFc2SnNFQU1TaGZteDVyYWhCM1I1bGVLOGNhRnBYNkFGamZhREF1L2J0SFNZc0MvY2lNdUl2ekEvRmx3N01CazdMbHdORHg5eXhZVldQWFg0cmdYOFh1SlVGUTM1ZllYWVlJWDUwVEcvMXhyeWJBYWdRKys0cSt1OEJFUW1jbE9LQzYzcTFxd1RuTkhGZEJiajlhcGhwTDhMODZOUlhHZWxqMmhRS1c2T251aEtHZUpDeDNYeHpnM2ZreHRkVE9kRzRhVlhsQitUaThBNnp6L3pKdDBNRXVOQ3gvekFEUjl1Z293dXByTXZINDdycjhnTkZPWEh6VW1wRHhEN2JLTUc5NTIxSHBEaVFxdTU5NUFmdWlibWppNm1jM0hxRk9XSFg5eWtVd1FxK0Q3a0YvTlFuUndyVkZKYzZMaHN2REdkdlEvVWtISytpL0tqeFpkK3psNnZVcjNOOXpYeDdzMkZ3bGR6ajJxOE1aM1BpMnJYZ3Z4WUpSc25paGhqZXRmNUQxSHdiRnJ0V0lseG9lTmhqVGVtODZLMTVaNlpOZ1g1a1daWFp1NjdVRVVNeExaRldxTFo5RjZjRnVOQ3gyVmpqdW5zT1UrY3lOZ0ZzQ0EvRHZsbElBSHhxTEp3QTd0TGtLTzhVbzYyN3o2MkczZE01NkxPWmpGK1ZMV0lJSlFaRDRqdUI3V1NVSjhyZm9oeG9hTmgrV09PNmJ6ay9tOXhxWFFxeG84NTlvbW1kakRzUW5BL21GZUgvRkgzbHozaUtGcjlqajJtYzQvZGZyWkc0MDRXNDBlam9IUjBqeU56U2NmYUZVVCt4T2ZJWWx6b0NQSDRZem9YL0plQWhmaXh4alJxWmxJT3BTSzRIMG84aGZpQVAwcHJpSEdobzA0bkVOTzVKVi9RSFVDRVF2eG9GdlYyQmd3bVN6RzRIK3hxSC9CSENVOHhMblNFY3dJeG5kY0tuZGRsL3YvT2hGYnJrN3lZNkJIM0Q4ZTBDL3lJeHliR2hRN0xKaExUdWNtK20zaU1BMS9HdVIxWVZWWHdtY0JRdWVONTR3a2hkVDhHeG9VT2h6V1JtTTZyTHhZaHlTL3Q1VzcxNnllNW13eXRBYm9iWFlJTlQ2ZDI0clFZRnpvc093dS9JQkIxMXBjMDlwak9aT1RsQUpIK2ZUSVZIOUxxOHdpQ1BWSkN3VWNucGpNZFZSbGdQTVdnODJpWTNSTFlPVG1sUlFhZXhYUTJ0Qmd5Qk91Qk9sb292ZzdpTHVDK2dxT3pXVXhuQjJHdW50M2tQN3c3Tjg1NVJZd0xIZmJZaUJ6R00rdENBNVJOZFV6bnEzTURmeVJIdDg1Z1NWejJGVm94TGpRV3ptSTZLeElOLysxUjl5TkRYR2djUWQ2WXpzTWZkV2t4b3Z0eFI4MHVTMXhvckpzM3ByUENQM3NQcEFEcTcxeHhvUkZqM3BqT0EwY3hxNkFvZ082SGVUTEVoWWFHdVdNNnE4NW03NEVVQ0M5UlJRekpGaGNhTUhiVVJpc2VsWFI1RjlNYzA1bFRvbGpLQjVLNldqYlVPWWhWb2JZZForRGlPdUtGVXh6RGl4T2lZQXJjRDNaSG5hSVI0ckpoOFN5bU15WFNrT0ZHWWt2UWRPRGd4eXltc3lIUjBDSFBPbzJpSFVoeFBhRzhGVG5uQU9IVklMVVhIRGNjUm94VU9vWXBnOUg5dUhETldZcDdpODc1cUdNNnU4WXpCZm5vZm15NTVpbnpZL1F4blYzam1ZSjh0SkM2cm5uSy9CaDlUR2ZYZUtZZ0g5MlBVOWM4WmYzaGtmVlVUMmlmS1k0aDdDSmpubndmK09Hc0w5cFhzNWpPVG5vTm9TRE4vUkQvRDByRlY4NDU5bDR6aDRueFlHYis0Slc0MGtoeFArQm9SRnUycHBOWlRHZERpK0ZEWGtJQmtENkV1TkRnY3V5eEd2YVA1dVdZenFUSkRFeWhRS3I3SWNXRnJoU0s2Wnd5Z2xrUnBVQ3EreUhGaGE0VWl1bE11NXpCS1JSSWRUOHFRbHpvWWpHZFUwWXdLNklVU0hVL3BMalFzNWpPbEh4RGgvMGd4ZjJBbjVQVG0xbGg1N09ZemtQbkFVV1k2bjdBL1N2Mkx4ZWg0U3ltTTZYZThPRldtdnNoeElXZXhYUWVQZzhveGxUM1E0Z0xQWXZwVEtrM2REamQvVWpHaFo3RmRCNDZDeGpDdkhHaEc3YjJSL3ZzbUtKOFpHTTYwMEUrc2pDb2N4MFpUaHBraXdXcHVOWXhuYVhwUFZKNWVlTkNYKytZem84VTZjWEJnT3pSejRGWUEvK0xtUW9NRVA1SHM2aitkbHo1V3NWMGRrendFY3JPR3hmNldzZDBmb1RvZnBXaDVJOExYZE0vcnJwS3Y3TzJEZ3JralFzTkJ2UytBOVVzZXdnVWFIRnJkaURHeWNSMEhqaXMwbFR3M1pmbHhEbE9MS2F6T0pyeVplYU5DejJ4bU03bEk3MDRvN3h4b1NjVzAxa2NmUWt6Rys3YmNzSnNKeGZUV1JoTUtiUHl4WVV1SHJXNGxNUWJ3YVR5VWRqUGFZNk5ZTUJsUitubGlaUTJ1WmpPWldlRG5sK2V1TkFUak9tc3gxdDJJRTljNk1uRmRDNDdGOGo4Y3NTRm5seE1aekxlc29PZHpCYnZCR002bDUwSlpIN1o0MEpQTUtZekdXL3B3Y3h4b1NjWTA3bjBUQ0FUekJvWGVwSXhuY2x3eXcrMjZDK2kzTk9kWkV4bjk2aEtXSkl0THZSRVl6cVhrT29wVThvVUYzcVNNWjFUeGw3R29reHhvUXZHZFA1L3dZS3JJbzlBRFlvQUFBQUFTVVZPUks1Q1lJST0iCn0K"/>
    </extobj>
    <extobj name="334E55B0-647D-440b-865C-3EC943EB4CBC-2">
      <extobjdata type="334E55B0-647D-440b-865C-3EC943EB4CBC" data="ewoJIkltZ1NldHRpbmdKc29uIiA6ICJ7XCJkcGlcIjpcIjYwMFwiLFwiZm9ybWF0XCI6XCJQTkdcIixcInRyYW5zcGFyZW50XCI6dHJ1ZSxcImF1dG9cIjpmYWxzZX0iLAoJIkxhdGV4IiA6ICJYRnNnWEdaeVlXTjdVQ2hDSUZ4dGFXUWdRU2w5ZTFBb1FpbDlJRnhkIiwKCSJMYXRleEltZ0Jhc2U2NCIgOiAiaVZCT1J3MEtHZ29BQUFBTlNVaEVVZ0FBQVVrQUFBREVCQU1BQUFEZy9jNHBBQUFBTUZCTVZFWC8vLzhBQUFBQUFBQUFBQUFBQUFBQUFBQUFBQUFBQUFBQUFBQUFBQUFBQUFBQUFBQUFBQUFBQUFBQUFBQUFBQUF2M2FCN0FBQUFEM1JTVGxNQXUrL2R6WmxVRUdhSnF5SjJNa1FmN3A2VEFBQUFDWEJJV1hNQUFBN0VBQUFPeEFHVkt3NGJBQUFQNEVsRVFWUjRBZTFjVFlna1NSWE83cDdwNnY5dS9MbDRxV1pXVVVTdHdSa1JQRml0TEs2M0hvUmRtRUdzeGoySXAyNUdENHNJV1NBZXhFUDNaUTZlcXZld0hrYWhtZ0ZCY0tFS0x4NnJENTZ0d3NXRHArN3BubkYzWFhmQzl6SXpJdDU3R2ZrWGxUMnpBNVdIeWhjUjc3MzRJdUxGaThqSXJCY0VWYTQzSjFXNEU5N2xMMVFXV3YxU1pSRXJjUDNpeENaS1U1dXFOS3RoYkc4WnNqTFIvN2l5Q0FpRTZxQ1UyUHBkeS9hekorVmtySVNoNXRURTBCV0lnU28zQWdPaWZyWDF6UW8xTU5iZEQxaXliS0lzeXFicVdwWGpTMmRuenJVVXZTNXV2eUhaVnRTUjFSSUVQNkRzU29GQVJwZVZSTG1vcVA1RnRVTXIwM1RJSzRYVVpWZVh4ZmZlWTVaTzhhY0VFdmFTS09lVk9pWVY5UDVMRW9aY2V2RDJwN0RpeDYvamRlKzdRRjUwVFNrUUcrcDltZ3grZXU4enlIL3hUaVR3T2lZdTloaEhraWlKc3FmVUZoRmZVRU9Tb21RSEt0TGovT2RkUUt3VHlIU2ZtazBzdFF6SWRtSXlDTjRDaytHOW5aU1VRN2tLdW01cVhYQmZWVmtPWmFUVS93empJdFJLSjlydUUxT2tpU1hRUE5HSllJVmlOcmxCVUE3bEhFaHZFNmxnZEVsVGhPNHI5WkZOUGdMVHRKMjVSSXNTcHV1ZzJmSUhJTzR5cG5Jb3owRFhPVkVXek5QSlJBdWc5N1p0R2lhZHVtT1NJYUYxNWdJZjQvc2dzS2ZMN0wwY3lqWUlNOE5meWhoeU5JMWpxejNZVllTeDcxaEJRbW9oUVlCbVNrMHJVVlVLNVJySWt0cFF0SjAyTWN4R00rc2lrVndqTW9McjZxbk90dmQ5cm5nOVZWSEVXZ3BsK0JUNjVKbFZEZFMrYTJDQ3lQeFBDQ09BTUdZM3g0Y2o1dXB3VTJvQXY1MTlSbEVwbFAzM20wcnh0VzJCbXAvUkJ2YXFMbXdxQ01aUTZ5VEpHRHZNTW1oekZ4Y0F2NlBIeTZEY1VOMk9VaC9TMm9NMVY1UFJaWENIZHdhMWRoUEJwanBsS2pDQmZUZWt1UzFpSWphL0RNcUZ5NkFubTlqZ2ZhWVZIb29Cd3hGUFVEU1V3M3VoRTJEWUljMjdJOUpjQnVYbzR3QnFGNHRDMzJtWWZUNFpncEZGdWVhcVhyaExXQzZrYVpWRjJRRGZjcWFVbU5SbmRtSFRIUW4zRnA4TTZLVjFheFljUGowUTdqTHlFV1JWMEpwTDlPVUt1TG14bUJWQnNPbXFGTHRpUzZ2R082RFdHOWl4cTFtaHNKQnJ3TDlERmNSMENaUmpjQTJnelhpVVdIRE9OWURvTG9la0VrU3RyYkhqV3E3MmhZVU1RR0NQS0VqSUVpaDNiMkxQS2JGd0xKbnFpVkxjTGRESmdLaWhqZEZsWFJJUjZBZ0xhYVlzSzJJdVJybUVEZy84b0I2NXBBN29Kb29uemdVelkxMk9BM2dlRjIzd2trUkxtMXNJVG5tSFdaYllFOTNIVFFwV1AwazBtd3FHUEFOU29YQUZBeEE3aXJtVzVmVERiT2t1WVEvbEd2QVNLRHU0emNDdFd4ZjEycXZQNTBsVUFHYW1CemhLZDZ4WlhuUFpNWFF3SFpGR1c2bi8yQm9zVlRqaTY5RjBRSU1iV2lta0R2VllrbXhBUlpkNzdDbzlnSnV1K25FTFJNUi9Ec2tKU1J1eUVPVzFhSTZpdWp0R0tDTEdZcGVFbVcxamhoRUwrdXh1UkFYZ2NSM2JlN0Jic2xpc2c5OTZMV0hudDBLVWgxSG40Tjd0bUV0dXFnOTRSbXhtT3lRVERNRHc5QnhkajNac0xhVFJVK29yUkpxUVJTZ2JyV1BreHNtM2c0UzlGdEo3ZitSS0pndnlvZFh0YVlHbWEzZDdSdHhsNDYrd2hCOW9kbjR2UW5rOWRrQzRPNzNKSlZmUyt3MGM0WW5sNmluMU5aTnFPU1liYm1MT0U0NTNtMHA5MzNBTG9namxJQjRSWEVTMHZrUURRQks2SW45bDg5NWorNmlVWFNQakxqanhWL0c2QmZxLy9Gc3JLNmdpbExqdzRKVkdDYVo2RXBlWjM1Q3NISTFmZ1JlYW1DSm81dEFrREFGYTdYWDV4d05USUlnQ2xJdDZCRUdaOWltSkJqRENpVkFHcytYcFg2THJINytHYm5wTXlzRkd1NEk3Tmx6ZDB0Vi90ZFFUSXNDWUMxRE9hMGZSNXA0UWRJQ3BkcG1xSU9qWWpnSHFHeG9BY3NHS1BoSGMwUk1qZWY0QWIvZVlpaEQyQXBROTNZSFFOV0pWZ0RFOElvcVFoS2JvNi9PZi9Ra3JCQWluTEFNVDRDNXgrZFhYR1oxdE9qTzY1Nk5jTlVENjFMUEZHbEllRkplYWM2YmRKbUN1cGZ0cGsvaFRZTVVkMU1TS0VDb2Y1Wndaa0U3NmVTVGxRZEZkYmhIZGxJUWw5b0NtSXhvNlQ0OVZsTjRWYVNPUWozTGZqUEtJRHc3S3AxQ2l1eHdhelp4d291eXg0eHA4eUtjTEpsR1FqN0psdXNhaElPWG5jWHQzU25SVEVqWlY2YjZFdmpNVklQTW1LSmhRS1Uzbm9seTJ0blJtOTJCYXRDVVBEa0tvUkJmS08wd1VtUlU1NFNITkJTYTVXNGlMYzFFTzFBMTl0VktQWi9Ea3RVMnJ5Qmt3WUhPaEZMdkwrUHhHNkl4cnlFWFpoTGFSaTJNQ3YzUE9jenBwUDJBWVhDakY3akkrY1dOSGUxbzhEK1dHK3R4RGZmVUI3WWtXaXUrcHZteVRIUTVualRiN0tic0U1SHJSaU5seCtyRkpyN1hrb1Z3Z092RHg3RlFMeGZlVzJDWGx1VXM4akV1aGhNbGlkNWVvRTU4SUt2ZmxpTFFMRFhzdlJxZC9KY284ZCtsRUNUT1M3OSt4a25PdG50NXorckpoRmg0UWNEeWVTWCtaNXk0RDE5clRrNWlnYzhYNEpGQnpVSzZZaFFkNEVjSVJiUjc2a1MyV2tlY3U4U2g2d3JnaHNTdmJ1Wit1SkpiSlFYbG1GaDVneGZsNGgxVURabmpNTWtKZ1lSazBBZWF3UjlOSXB6RDFJZWRFY21FNkIyVjdod2pnVG9CM1hXcFBCRDFCcGh1UlJkS3h6ME4zT2FGc09QM2NHckpScnJFNWpWTmpoNnJFWjY4dXkraklLVXRMQWNFUlRRT2RjcGM0eGZsMDBoTFpLRU4ydm8yUFo5dGFLTG9EN2duTGFHZlZFWEZKZzRtV0kzNG1Pb1k2WkZQaUdySlI5cjlJTWFRZnorUnpUNjY3eEIzeUR0VUg5S2JZRE9MNWl6NUdGS3laS09ISW43RkNPN25EaFZuUEdOQW11T1d5NHFZWWl1ajl4VFBLZ3M3dXF6VEQwcGtvNzR0bWdRcHVNM09pNFdobVE2dFlVaVBSeUFEUDNGbTdjWWFmU3JFNG5ZbXlULzBROExibDQ5bThlREdUNnk2eDUzZ2pJM2Q1azREQ295ekpvb3V6VUM3SnBXcVhQNlBnV1NWdlJ3aTFhSzJPZStwWUNlMzRqbVhjYUlOVm50ZzBvN0pRanFTeHczaDh5Q1RIWXZzQ0F5aU1oTEhQc2NkRktFSVB2R2RZVnBzY3RDbUlpQXlVTURYT09TTTBsVDZWNHZubE51WEF5V08rTXFBRkNiMHNqNVgrQ1FLbm12RmRHQ3IxYloxSzNkMG9mOW1DVmVDQU12OGR0UERWcTI4WHlNWnY3cjJONWVyeHc3dC9vMUtFaGtYQWp1ZlNnNGRONVAvVzNkL2hGWDNpb2I1SHVBWHBRdm52VDZNRzllUU56ZnZXZytpckVmWGtuYnVtOWZCQTBkWGx1QlhSMXdjNlU5N3ArQjVxYm51Ly9KRVVJR2tYU2kxcTlrUTluVU04SWl4R3ByUFgxTVdOVzdmaDVPenJOOWgzR3FTZUFGNmpIWnYwajYzQ2lMcjR6Zzl0UnhzdVM3aFE3bDY4Y3Z2Vld6ZXNwemxVTjE2NUJTQnVrUDViYzcxenNIclQxQm0zNHpSRFRvNExaUTY3TFpwVG1XTnJtU2cxejE0TTBKSmkyaHRseUJlTzRwcVdoWThvbHJBYzNpaEgxQ1ZiZmRrVWVQSHN3b0lTYjVSdDYrd0txdERGN2pmcXVqVDM3b3R5dGVya3djZUNuVndvT1lXK0tLOVhud3ZYTXpjVE9mamlJbCtVWWQ1ZTBsMXJJK09oeHMzTmNuMVI5aXFiWlJENHlFelZsdzBmdDdKQVZoL1dWWVVKejc1Y3J1b3RFY2hHZFZ0TzhIdWlITml0Um1GSFdJYU8yUm5ZdkZLVUowckg5NTRscWx1b3VoSm9uWDRvbHhSN0ROYktpdTdabjhBV1NQcWhETVdCUVVFbHBuaWZmTmxxTWtzUWZpaWIvSFMwUkQweHk1cm44dU9GOHJxdmZRVTkvdXhVdG5sZUtFZnVrN0VTZFM1bkhBUVZpUHFnWFBUMnpuQ2dVWEh2SE1NUDdkTkxRWHRzOFppZHh0bjhNdFNpeDhxS0IxOWxkRE9lUnQ1eEVPTjBKZjZVK3hqbWtvQzh4ZDluRkdSbk4vNlFYVFlybWZYQXJBZG1QVERyZ1ZrUHpIcmdKZXNCY2JEN2lVeWU0M3Z1VC93MVExbmZFSjIvWkxOb0JuZldBN01lbVBYQXJBZG1QVERyZ1ZrUHZBdzlVRExNMHFQdWkyeE0yVEJMOUFQdzU0KzNiSmlsUnZ1MTV3OU8xMWcrek5JanozZEh1cVpwN3VYRExLMW5mN28wRFFENDZCMCtUQ1BYbEdHVzl2bjN1dE5CSTlJaGdSaVRsMTFTREdTUHYwbEs4U3Npc0R6RkN4MWVLMC9WSEdhcDdmbWVrWU55cGpya0E4Z3B3eXdOdk40ZE9WSEp6Qkg5cW4yNk1FdHI3ajlkeUJwOTBuMzJGNTdwd2l5MStOZTFQbkF5WkdDYWI5c2kvQUwyamttR2hOYVo4RkUwblZFc3pOTGhWUTA1ZnAxL3JCSEFmWmQrV0YwMXpOS0M1K3QyVXIrYnhHK1d1NlFJek5TOE1xOGNabWxSZk9aTjlFNUg0ajg2NlB2U2ZVaHJqZFhETExWOVA2clJWV2JjNThVL0ZzZUFjcEx3amgxbWlWL3piMUZkd0c5ZmZJK21lcjFNMVhKNndDY0RCdXN4RnRCMFRBYjg5bjVJVmJTSWljQ1gvZHUwckRiNmtMcEwwSW9qUG95MWU0UlpXcmtpdyt6VE9RM29SaGFsUjVpbGplcGZnY1k5VXZEYkVuOHFBTlQ2ZndvK1laYjRWQ3lvdTNReHVrczJHUUMxbnZOamwvY0xoWVhnWHlaM2JIVk52MjlxckFJbmhlNXlTRW9RdGY2UFNNZFY0NzZ3a0FFSTdGa0ZoMWV5bEtPN1BMV1ZSSDlNMGZzdjY1SUlRMGRZU0pNRXl3QzJnZjlYdktRU1NlSmZsV2dlK2M4ci9CMkVsaVIwbTFzSXJ2c2ZFYllGcGR0SU1xY21RK0V1QjFEclVhelZLOHpTQ3R1S1RBMHZVUUJteGhyZnNXYnBGV1lKN0x3dWFFUVBvSHBHa3JpeTZBSDBDck1FLzR5aFprNVVUME8yK1dUQVB3WjFFMzErWVphcy9EU3d1Q3oyM1E3SkFnTXdYK2YxNUgvSWtDK2tGdExvcGNNc3RkbHVsYWllZ3NRcG1rd1cxSUwvSjk3VDZ2ekNMUFd2WUwrQkl6elJzUEF6KzZuRExIVmNJMkJyOEtLNHUzeVBiaFhoTGZ1ZHRNN2RvakJMSXpQNzBzSytPU0ZaT2VvSnM3VFBmSVl2TGk0SHM2WG1NRXRqTy8xNFZWT2tPbUNYOXFvanpOSkEvT04xQ25CR3RHMGgxaFJtYWRNK2dwcGFwaVRRWFo1bjZJRHBmNUlxMmlUK0ZBcHgzemZoVEp2MTc5YlJYVzd4V2t3SzluUUhKcUdKTTd1QVJsa3c1ZldDbXJCY0FVcDBsME9OUU55ZEtIdnN1TVlWdFdmVGJLS0ZQdjhrdXN2VERIR0lGNUR1UytnNzF2ZGdBV0xJNStWZnFUUFVWOGdPb1pJc2R0Z1BwNHVBZjBoemNkTjhURE1neUdudHh4djdZZzlNNjNPaHhIV2U5VDAra0d4VEtRd2F5TkkxSkRwMGh5UDB1VkNtNG9aZ0JvdlljQlY5MlJZUGhCU295eTRCT1QyN2pHUG04RWsrWC92c3lYT1h6Z0JHTUZuWTg0Y2p6Rkw5S1BQY3BSUGxtZXg3bkQzbmRBVGdmeUIxdi9YSmM1ZStZWlkyaFUyd0puZ2w4dHlsYjVpbHNQWjFQSVR4eW13ZW1NT2VMQVQrSTViWGg1d1RsbFAvbmlqUFhmcUdXVHFyZlgvWmtWT1c5Z280QU41djVjSXMxYjlYYjhzcFMxRTZubnRnUnZNSlBJWUJGMDJwL2JrbjExMzZobG1xL1JreTExMEdRVk9zME9YQ0xEbWY0dGtZVlV4Y1NaaWxsdXY1dUNJd3hwN3JMajNETElFVjdiRktwazZFWVBzNVNyekNMTUdaRy9lZk9SV1VLeHJaczBxWGdGZVlwYVc2TjhFNGVXb1BzN1JTNXdKNVpXR1c1dXRjZW5BM3BDOXpZQ21IblU2RVE4MXQ3ODR3UzJPeGRaYzZLNld2TE14U0tnaFpKVmcrekQ1aGxwcm13TnVuUmg4Wmp6Qkw0QzRQZktxYVFzWWp6TklhZWFNL1JjMVZSS0ZqcXJBajc4S1Z2T0RMUjFFOXpOS0F2ZkhJMTE1WGFmVTZPK0xVcUM0a2VYb3FoMW1hSXVKUkhvNzhzc3FWTHI4QXM4VDNQNmY1N1JDbG9UaUFFOFZYbEt3YVpxbjMzTDBsTnJ4aW1LWFZPcmNhRlRxK1Urbkk5Tm9MOEVQWW1HcGhsZzd6dHFzVitxWXFhNlV3UzQwcmVMbFhEbkNWTUV0ei9NeTlYQVcxY0ZVSnM5U3gzdzdXVW5jRkpUM3p6V2lSMEJwL3lWTEVYbXQ1K1RCTCs2WGJVeXZBV0ZuWk1FdnJkUjlxVkdwTDJUQkxJWDh2VUttT0dwaExobG42UmNVempmOERjbmJKcWFWOHdoNEFBQUFBU1VWT1JLNUNZSUk9Igp9Cg=="/>
    </extobj>
  </extobjs>
</s:customData>
</file>

<file path=customXml/itemProps62.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7082</Words>
  <Application>WPS 演示</Application>
  <PresentationFormat>宽屏</PresentationFormat>
  <Paragraphs>420</Paragraphs>
  <Slides>39</Slides>
  <Notes>20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39</vt:i4>
      </vt:variant>
    </vt:vector>
  </HeadingPairs>
  <TitlesOfParts>
    <vt:vector size="47" baseType="lpstr">
      <vt:lpstr>Arial</vt:lpstr>
      <vt:lpstr>宋体</vt:lpstr>
      <vt:lpstr>Wingdings</vt:lpstr>
      <vt:lpstr>思源黑体 CN Regular</vt:lpstr>
      <vt:lpstr>楷体</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张海波</cp:lastModifiedBy>
  <cp:revision>105</cp:revision>
  <dcterms:created xsi:type="dcterms:W3CDTF">2025-12-27T06:12:00Z</dcterms:created>
  <dcterms:modified xsi:type="dcterms:W3CDTF">2026-03-05T06:33:33Z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CE885E7CB2AF40D1AD487642EBB9291E_13</vt:lpwstr>
  </property>
  <property fmtid="{D5CDD505-2E9C-101B-9397-08002B2CF9AE}" pid="4" name="KSOTemplateUUID">
    <vt:lpwstr>v1.0_mb_8FD/Rqav6PdV2YvimblSqQ==</vt:lpwstr>
  </property>
</Properties>
</file>