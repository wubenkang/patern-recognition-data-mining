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52"/>
  </p:handoutMasterIdLst>
  <p:sldIdLst>
    <p:sldId id="256" r:id="rId3"/>
    <p:sldId id="257" r:id="rId5"/>
    <p:sldId id="283" r:id="rId6"/>
    <p:sldId id="266" r:id="rId7"/>
    <p:sldId id="287"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28" r:id="rId34"/>
    <p:sldId id="329" r:id="rId35"/>
    <p:sldId id="330" r:id="rId36"/>
    <p:sldId id="331" r:id="rId37"/>
    <p:sldId id="332" r:id="rId38"/>
    <p:sldId id="333" r:id="rId39"/>
    <p:sldId id="334" r:id="rId40"/>
    <p:sldId id="335" r:id="rId41"/>
    <p:sldId id="336" r:id="rId42"/>
    <p:sldId id="337" r:id="rId43"/>
    <p:sldId id="338" r:id="rId44"/>
    <p:sldId id="339" r:id="rId45"/>
    <p:sldId id="340" r:id="rId46"/>
    <p:sldId id="341" r:id="rId47"/>
    <p:sldId id="342" r:id="rId48"/>
    <p:sldId id="343" r:id="rId49"/>
    <p:sldId id="344" r:id="rId50"/>
    <p:sldId id="345" r:id="rId51"/>
  </p:sldIdLst>
  <p:sldSz cx="12192000" cy="6858000"/>
  <p:notesSz cx="6858000" cy="9144000"/>
  <p:embeddedFontLst>
    <p:embeddedFont>
      <p:font typeface="思源黑体 CN Regular" panose="020B0500000000000000" charset="-122"/>
      <p:regular r:id="rId56"/>
    </p:embeddedFont>
    <p:embeddedFont>
      <p:font typeface="Impact" panose="020B0806030902050204" pitchFamily="34" charset="0"/>
      <p:regular r:id="rId57"/>
    </p:embeddedFont>
  </p:embeddedFontLst>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FAE"/>
    <a:srgbClr val="05B0F0"/>
    <a:srgbClr val="0056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93" autoAdjust="0"/>
    <p:restoredTop sz="89407" autoAdjust="0"/>
  </p:normalViewPr>
  <p:slideViewPr>
    <p:cSldViewPr snapToGrid="0">
      <p:cViewPr varScale="1">
        <p:scale>
          <a:sx n="93" d="100"/>
          <a:sy n="93" d="100"/>
        </p:scale>
        <p:origin x="201" y="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64.xml"/><Relationship Id="rId57" Type="http://schemas.openxmlformats.org/officeDocument/2006/relationships/font" Target="fonts/font2.fntdata"/><Relationship Id="rId56" Type="http://schemas.openxmlformats.org/officeDocument/2006/relationships/font" Target="fonts/font1.fntdata"/><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fld>
            <a:endParaRPr lang="zh-CN" altLang="en-US">
              <a:cs typeface="思源黑体 CN Regular" panose="020B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2.xml"/><Relationship Id="rId18" Type="http://schemas.openxmlformats.org/officeDocument/2006/relationships/slideLayout" Target="../slideLayouts/slideLayout1.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tags" Target="../tags/tag18.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tags" Target="../tags/tag20.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tags" Target="../tags/tag2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tags" Target="../tags/tag25.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tags" Target="../tags/tag27.xml"/><Relationship Id="rId2" Type="http://schemas.openxmlformats.org/officeDocument/2006/relationships/image" Target="../media/image5.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tags" Target="../tags/tag28.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tags" Target="../tags/tag29.xml"/><Relationship Id="rId2" Type="http://schemas.openxmlformats.org/officeDocument/2006/relationships/image" Target="../media/image18.png"/><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tags" Target="../tags/tag30.xml"/><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tags" Target="../tags/tag31.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tags" Target="../tags/tag3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tags" Target="../tags/tag34.xml"/><Relationship Id="rId2" Type="http://schemas.openxmlformats.org/officeDocument/2006/relationships/image" Target="../media/image5.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tags" Target="../tags/tag36.xml"/><Relationship Id="rId2" Type="http://schemas.openxmlformats.org/officeDocument/2006/relationships/image" Target="../media/image26.pn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tags" Target="../tags/tag38.xml"/><Relationship Id="rId2" Type="http://schemas.openxmlformats.org/officeDocument/2006/relationships/image" Target="../media/image29.png"/><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tags" Target="../tags/tag40.xml"/><Relationship Id="rId2" Type="http://schemas.openxmlformats.org/officeDocument/2006/relationships/image" Target="../media/image31.png"/><Relationship Id="rId1" Type="http://schemas.openxmlformats.org/officeDocument/2006/relationships/image" Target="../media/image30.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tags" Target="../tags/tag41.xml"/><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tags" Target="../tags/tag42.xml"/><Relationship Id="rId1" Type="http://schemas.openxmlformats.org/officeDocument/2006/relationships/image" Target="../media/image33.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tags" Target="../tags/tag43.xml"/><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tags" Target="../tags/tag44.xml"/><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tags" Target="../tags/tag45.xml"/><Relationship Id="rId2" Type="http://schemas.openxmlformats.org/officeDocument/2006/relationships/image" Target="../media/image37.png"/><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tags" Target="../tags/tag46.xml"/><Relationship Id="rId2" Type="http://schemas.openxmlformats.org/officeDocument/2006/relationships/image" Target="../media/image37.png"/><Relationship Id="rId1" Type="http://schemas.openxmlformats.org/officeDocument/2006/relationships/image" Target="../media/image38.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xml"/><Relationship Id="rId3" Type="http://schemas.openxmlformats.org/officeDocument/2006/relationships/tags" Target="../tags/tag47.xml"/><Relationship Id="rId2" Type="http://schemas.openxmlformats.org/officeDocument/2006/relationships/image" Target="../media/image37.png"/><Relationship Id="rId1" Type="http://schemas.openxmlformats.org/officeDocument/2006/relationships/image" Target="../media/image39.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48.xml"/><Relationship Id="rId1" Type="http://schemas.openxmlformats.org/officeDocument/2006/relationships/image" Target="../media/image40.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tags" Target="../tags/tag49.xml"/><Relationship Id="rId1" Type="http://schemas.openxmlformats.org/officeDocument/2006/relationships/image" Target="../media/image41.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tags" Target="../tags/tag50.xml"/><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tags" Target="../tags/tag51.xml"/><Relationship Id="rId2" Type="http://schemas.openxmlformats.org/officeDocument/2006/relationships/image" Target="../media/image44.png"/><Relationship Id="rId1" Type="http://schemas.openxmlformats.org/officeDocument/2006/relationships/image" Target="../media/image43.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tags" Target="../tags/tag52.xml"/><Relationship Id="rId1" Type="http://schemas.openxmlformats.org/officeDocument/2006/relationships/image" Target="../media/image45.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tags" Target="../tags/tag53.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tags" Target="../tags/tag54.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tags" Target="../tags/tag55.xml"/><Relationship Id="rId1" Type="http://schemas.openxmlformats.org/officeDocument/2006/relationships/image" Target="../media/image46.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1.xml"/><Relationship Id="rId3" Type="http://schemas.openxmlformats.org/officeDocument/2006/relationships/tags" Target="../tags/tag56.xml"/><Relationship Id="rId2" Type="http://schemas.openxmlformats.org/officeDocument/2006/relationships/image" Target="../media/image48.png"/><Relationship Id="rId1" Type="http://schemas.openxmlformats.org/officeDocument/2006/relationships/image" Target="../media/image47.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image" Target="../media/image49.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tags" Target="../tags/tag58.xml"/><Relationship Id="rId1" Type="http://schemas.openxmlformats.org/officeDocument/2006/relationships/image" Target="../media/image50.png"/></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44.xml"/><Relationship Id="rId6" Type="http://schemas.openxmlformats.org/officeDocument/2006/relationships/slideLayout" Target="../slideLayouts/slideLayout1.xml"/><Relationship Id="rId5" Type="http://schemas.openxmlformats.org/officeDocument/2006/relationships/tags" Target="../tags/tag59.xml"/><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tags" Target="../tags/tag60.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1.xml"/><Relationship Id="rId4" Type="http://schemas.openxmlformats.org/officeDocument/2006/relationships/tags" Target="../tags/tag61.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tags" Target="../tags/tag62.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8</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异常检测</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Recognition and Data Mining</a:t>
            </a:r>
            <a:endPar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endParaRPr lang="zh-CN" altLang="en-US" sz="6600" dirty="0">
              <a:solidFill>
                <a:srgbClr val="00568A"/>
              </a:solidFill>
              <a:latin typeface="思源黑体 CN Regular" panose="020B0500000000000000" charset="-122"/>
              <a:ea typeface="思源黑体 CN Regular" panose="020B0500000000000000" charset="-122"/>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endPar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grpSp>
      <p:sp>
        <p:nvSpPr>
          <p:cNvPr id="33" name="文本框"/>
          <p:cNvSpPr/>
          <p:nvPr>
            <p:custDataLst>
              <p:tags r:id="rId2"/>
            </p:custDataLst>
          </p:nvPr>
        </p:nvSpPr>
        <p:spPr>
          <a:xfrm>
            <a:off x="4751534" y="1481477"/>
            <a:ext cx="3765608" cy="707886"/>
          </a:xfrm>
          <a:prstGeom prst="rect">
            <a:avLst/>
          </a:prstGeom>
        </p:spPr>
        <p:txBody>
          <a:bodyPr wrap="square">
            <a:spAutoFit/>
          </a:bodyPr>
          <a:lstStyle/>
          <a:p>
            <a:pPr lvl="0" algn="l">
              <a:buClrTx/>
              <a:buSzTx/>
              <a:buFontTx/>
            </a:pPr>
            <a:r>
              <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4" name="矩形 33"/>
          <p:cNvSpPr/>
          <p:nvPr>
            <p:custDataLst>
              <p:tags r:id="rId3"/>
            </p:custDataLst>
          </p:nvPr>
        </p:nvSpPr>
        <p:spPr>
          <a:xfrm flipH="1">
            <a:off x="4766945" y="1845648"/>
            <a:ext cx="3550472" cy="495328"/>
          </a:xfrm>
          <a:prstGeom prst="rect">
            <a:avLst/>
          </a:prstGeom>
        </p:spPr>
        <p:txBody>
          <a:bodyPr wrap="square">
            <a:spAutoFit/>
          </a:bodyPr>
          <a:lstStyle/>
          <a:p>
            <a:pPr>
              <a:lnSpc>
                <a:spcPct val="130000"/>
              </a:lnSpc>
              <a:defRPr/>
            </a:pPr>
            <a:r>
              <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Statistics-based Anomaly Detection</a:t>
            </a:r>
            <a:endPar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nSpc>
                <a:spcPct val="130000"/>
              </a:lnSpc>
              <a:defRPr/>
            </a:pP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5" name="文本框"/>
          <p:cNvSpPr/>
          <p:nvPr>
            <p:custDataLst>
              <p:tags r:id="rId4"/>
            </p:custDataLst>
          </p:nvPr>
        </p:nvSpPr>
        <p:spPr>
          <a:xfrm>
            <a:off x="4766945" y="2603220"/>
            <a:ext cx="3765608" cy="1015663"/>
          </a:xfrm>
          <a:prstGeom prst="rect">
            <a:avLst/>
          </a:prstGeom>
        </p:spPr>
        <p:txBody>
          <a:bodyPr wrap="square">
            <a:spAutoFit/>
          </a:bodyPr>
          <a:lstStyle/>
          <a:p>
            <a:pPr lvl="0"/>
            <a:r>
              <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6" name="矩形 35"/>
          <p:cNvSpPr/>
          <p:nvPr>
            <p:custDataLst>
              <p:tags r:id="rId5"/>
            </p:custDataLst>
          </p:nvPr>
        </p:nvSpPr>
        <p:spPr>
          <a:xfrm flipH="1">
            <a:off x="4766945" y="2946759"/>
            <a:ext cx="3550472" cy="309508"/>
          </a:xfrm>
          <a:prstGeom prst="rect">
            <a:avLst/>
          </a:prstGeom>
        </p:spPr>
        <p:txBody>
          <a:bodyPr wrap="square">
            <a:spAutoFit/>
          </a:bodyPr>
          <a:lstStyle/>
          <a:p>
            <a:pPr>
              <a:lnSpc>
                <a:spcPct val="150000"/>
              </a:lnSpc>
              <a:buClrTx/>
              <a:buSzTx/>
              <a:buFontTx/>
              <a:defRPr/>
            </a:pPr>
            <a:r>
              <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Distance-based Anomaly Detection</a:t>
            </a:r>
            <a:endPar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7" name="文本框"/>
          <p:cNvSpPr/>
          <p:nvPr>
            <p:custDataLst>
              <p:tags r:id="rId6"/>
            </p:custDataLst>
          </p:nvPr>
        </p:nvSpPr>
        <p:spPr>
          <a:xfrm>
            <a:off x="4766945" y="3673509"/>
            <a:ext cx="3765608" cy="707886"/>
          </a:xfrm>
          <a:prstGeom prst="rect">
            <a:avLst/>
          </a:prstGeom>
        </p:spPr>
        <p:txBody>
          <a:bodyPr wrap="square">
            <a:spAutoFit/>
          </a:bodyPr>
          <a:lstStyle/>
          <a:p>
            <a:pPr lvl="0"/>
            <a:r>
              <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基于聚类的异常检测</a:t>
            </a: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8" name="矩形 37"/>
          <p:cNvSpPr/>
          <p:nvPr>
            <p:custDataLst>
              <p:tags r:id="rId7"/>
            </p:custDataLst>
          </p:nvPr>
        </p:nvSpPr>
        <p:spPr>
          <a:xfrm flipH="1">
            <a:off x="4766945" y="4047870"/>
            <a:ext cx="3550472" cy="495328"/>
          </a:xfrm>
          <a:prstGeom prst="rect">
            <a:avLst/>
          </a:prstGeom>
        </p:spPr>
        <p:txBody>
          <a:bodyPr wrap="square">
            <a:spAutoFit/>
          </a:bodyPr>
          <a:lstStyle/>
          <a:p>
            <a:pPr>
              <a:lnSpc>
                <a:spcPct val="130000"/>
              </a:lnSpc>
              <a:defRPr/>
            </a:pPr>
            <a:r>
              <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Clustering-based Anomaly Detection</a:t>
            </a:r>
            <a:endPar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nSpc>
                <a:spcPct val="130000"/>
              </a:lnSpc>
              <a:defRPr/>
            </a:pP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1" name="椭圆 40"/>
          <p:cNvSpPr/>
          <p:nvPr>
            <p:custDataLst>
              <p:tags r:id="rId8"/>
            </p:custDataLst>
          </p:nvPr>
        </p:nvSpPr>
        <p:spPr>
          <a:xfrm>
            <a:off x="3970914" y="1414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9"/>
            </p:custDataLst>
          </p:nvPr>
        </p:nvSpPr>
        <p:spPr>
          <a:xfrm>
            <a:off x="3970914" y="251589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0"/>
            </p:custDataLst>
          </p:nvPr>
        </p:nvSpPr>
        <p:spPr>
          <a:xfrm>
            <a:off x="3970914" y="361700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custDataLst>
              <p:tags r:id="rId11"/>
            </p:custDataLst>
          </p:nvPr>
        </p:nvSpPr>
        <p:spPr>
          <a:xfrm>
            <a:off x="8296682" y="2574974"/>
            <a:ext cx="3765608" cy="1323439"/>
          </a:xfrm>
          <a:prstGeom prst="rect">
            <a:avLst/>
          </a:prstGeom>
        </p:spPr>
        <p:txBody>
          <a:bodyPr wrap="square">
            <a:spAutoFit/>
          </a:bodyPr>
          <a:lstStyle/>
          <a:p>
            <a:pPr lvl="0" algn="l">
              <a:buClrTx/>
              <a:buSzTx/>
              <a:buFontTx/>
            </a:pPr>
            <a:r>
              <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矩形 2"/>
          <p:cNvSpPr/>
          <p:nvPr>
            <p:custDataLst>
              <p:tags r:id="rId12"/>
            </p:custDataLst>
          </p:nvPr>
        </p:nvSpPr>
        <p:spPr>
          <a:xfrm flipH="1">
            <a:off x="8317230" y="2944198"/>
            <a:ext cx="3550472" cy="309508"/>
          </a:xfrm>
          <a:prstGeom prst="rect">
            <a:avLst/>
          </a:prstGeom>
        </p:spPr>
        <p:txBody>
          <a:bodyPr wrap="square">
            <a:spAutoFit/>
          </a:bodyPr>
          <a:lstStyle/>
          <a:p>
            <a:pPr>
              <a:lnSpc>
                <a:spcPct val="150000"/>
              </a:lnSpc>
              <a:buClrTx/>
              <a:buSzTx/>
              <a:buFontTx/>
              <a:defRPr/>
            </a:pPr>
            <a:r>
              <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Anomaly Detection Based on Deep Learning</a:t>
            </a:r>
            <a:endPar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2" name="椭圆 11"/>
          <p:cNvSpPr/>
          <p:nvPr>
            <p:custDataLst>
              <p:tags r:id="rId13"/>
            </p:custDataLst>
          </p:nvPr>
        </p:nvSpPr>
        <p:spPr>
          <a:xfrm>
            <a:off x="7521199" y="251333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文本框"/>
          <p:cNvSpPr/>
          <p:nvPr>
            <p:custDataLst>
              <p:tags r:id="rId14"/>
            </p:custDataLst>
          </p:nvPr>
        </p:nvSpPr>
        <p:spPr>
          <a:xfrm>
            <a:off x="8281271" y="1504167"/>
            <a:ext cx="3765608" cy="1015663"/>
          </a:xfrm>
          <a:prstGeom prst="rect">
            <a:avLst/>
          </a:prstGeom>
        </p:spPr>
        <p:txBody>
          <a:bodyPr wrap="square">
            <a:spAutoFit/>
          </a:bodyPr>
          <a:lstStyle/>
          <a:p>
            <a:pPr lvl="0" algn="l">
              <a:buClrTx/>
              <a:buSzTx/>
              <a:buFontTx/>
            </a:pPr>
            <a:r>
              <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基于密度的异常检测</a:t>
            </a: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20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7" name="矩形 16"/>
          <p:cNvSpPr/>
          <p:nvPr>
            <p:custDataLst>
              <p:tags r:id="rId15"/>
            </p:custDataLst>
          </p:nvPr>
        </p:nvSpPr>
        <p:spPr>
          <a:xfrm flipH="1">
            <a:off x="8317230" y="1848188"/>
            <a:ext cx="3550472" cy="309508"/>
          </a:xfrm>
          <a:prstGeom prst="rect">
            <a:avLst/>
          </a:prstGeom>
        </p:spPr>
        <p:txBody>
          <a:bodyPr wrap="square">
            <a:spAutoFit/>
          </a:bodyPr>
          <a:lstStyle/>
          <a:p>
            <a:pPr>
              <a:lnSpc>
                <a:spcPct val="150000"/>
              </a:lnSpc>
              <a:buClrTx/>
              <a:buSzTx/>
              <a:buFontTx/>
              <a:defRPr/>
            </a:pPr>
            <a:r>
              <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Density-based anomaly detection</a:t>
            </a:r>
            <a:endParaRPr lang="en-US" altLang="zh-CN" sz="1050"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8" name="椭圆 17"/>
          <p:cNvSpPr/>
          <p:nvPr>
            <p:custDataLst>
              <p:tags r:id="rId16"/>
            </p:custDataLst>
          </p:nvPr>
        </p:nvSpPr>
        <p:spPr>
          <a:xfrm>
            <a:off x="7521199" y="141732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545465" y="872999"/>
                <a:ext cx="10951210" cy="2200910"/>
              </a:xfrm>
              <a:prstGeom prst="rect">
                <a:avLst/>
              </a:prstGeom>
              <a:noFill/>
            </p:spPr>
            <p:txBody>
              <a:bodyPr wrap="square" lIns="0" tIns="0" rIns="0" bIns="0" rtlCol="0" anchor="t">
                <a:noAutofit/>
              </a:bodyPr>
              <a:lstStyle/>
              <a:p>
                <a:pPr algn="l" defTabSz="1219200">
                  <a:lnSpc>
                    <a:spcPct val="200000"/>
                  </a:lnSpc>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基础定义</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nSpc>
                    <a:spcPct val="110000"/>
                  </a:lnSpc>
                </a:pPr>
                <a:r>
                  <a:rPr lang="en-US" altLang="zh-CN" dirty="0"/>
                  <a:t>         </a:t>
                </a:r>
                <a:r>
                  <a:rPr lang="zh-CN" altLang="en-US" dirty="0"/>
                  <a:t>现有数据集 </a:t>
                </a:r>
                <a14:m>
                  <m:oMath xmlns:m="http://schemas.openxmlformats.org/officeDocument/2006/math">
                    <m:r>
                      <a:rPr lang="en-US" altLang="zh-CN" i="1" dirty="0" smtClean="0">
                        <a:latin typeface="Cambria Math" panose="02040503050406030204" pitchFamily="18" charset="0"/>
                      </a:rPr>
                      <m:t>𝐷</m:t>
                    </m:r>
                    <m:r>
                      <a:rPr lang="en-US" altLang="zh-CN" i="1" dirty="0" smtClean="0">
                        <a:latin typeface="Cambria Math" panose="02040503050406030204" pitchFamily="18" charset="0"/>
                      </a:rPr>
                      <m:t> = </m:t>
                    </m:r>
                    <m:sSubSup>
                      <m:sSubSupPr>
                        <m:ctrlPr>
                          <a:rPr lang="en-US" altLang="zh-CN" b="0" i="1" dirty="0" smtClean="0">
                            <a:latin typeface="Cambria Math" panose="02040503050406030204" pitchFamily="18" charset="0"/>
                          </a:rPr>
                        </m:ctrlPr>
                      </m:sSubSupPr>
                      <m:e>
                        <m:d>
                          <m:dPr>
                            <m:begChr m:val="{"/>
                            <m:endChr m:val="}"/>
                            <m:ctrlPr>
                              <a:rPr lang="en-US" altLang="zh-CN" i="1" dirty="0" smtClean="0">
                                <a:latin typeface="Cambria Math" panose="02040503050406030204" pitchFamily="18" charset="0"/>
                              </a:rPr>
                            </m:ctrlPr>
                          </m:dPr>
                          <m:e>
                            <m:sSub>
                              <m:sSubPr>
                                <m:ctrlPr>
                                  <a:rPr lang="en-US" altLang="zh-CN" i="1" dirty="0" err="1" smtClean="0">
                                    <a:latin typeface="Cambria Math" panose="02040503050406030204" pitchFamily="18" charset="0"/>
                                  </a:rPr>
                                </m:ctrlPr>
                              </m:sSubPr>
                              <m:e>
                                <m:r>
                                  <a:rPr lang="en-US" altLang="zh-CN" i="1" dirty="0" err="1" smtClean="0">
                                    <a:latin typeface="Cambria Math" panose="02040503050406030204" pitchFamily="18" charset="0"/>
                                  </a:rPr>
                                  <m:t>𝑥</m:t>
                                </m:r>
                              </m:e>
                              <m:sub>
                                <m:r>
                                  <a:rPr lang="en-US" altLang="zh-CN" i="1" dirty="0" err="1" smtClean="0">
                                    <a:latin typeface="Cambria Math" panose="02040503050406030204" pitchFamily="18" charset="0"/>
                                  </a:rPr>
                                  <m:t>𝑖</m:t>
                                </m:r>
                              </m:sub>
                            </m:sSub>
                          </m:e>
                        </m:d>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𝑁</m:t>
                        </m:r>
                      </m:sup>
                    </m:sSubSup>
                  </m:oMath>
                </a14:m>
                <a:r>
                  <a:rPr lang="en-US" altLang="zh-CN" dirty="0"/>
                  <a:t>,  </a:t>
                </a:r>
                <a:r>
                  <a:rPr lang="zh-CN" altLang="en-US" dirty="0"/>
                  <a:t>其中有部分数据点 </a:t>
                </a:r>
                <a:endParaRPr lang="en-US" altLang="zh-CN" dirty="0"/>
              </a:p>
              <a:p>
                <a:pPr algn="ctr">
                  <a:lnSpc>
                    <a:spcPct val="110000"/>
                  </a:lnSpc>
                </a:pP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𝑥</m:t>
                        </m:r>
                      </m:e>
                      <m:sub>
                        <m:sSub>
                          <m:sSubPr>
                            <m:ctrlPr>
                              <a:rPr lang="en-US" altLang="zh-CN" i="1" dirty="0" err="1" smtClean="0">
                                <a:latin typeface="Cambria Math" panose="02040503050406030204" pitchFamily="18" charset="0"/>
                              </a:rPr>
                            </m:ctrlPr>
                          </m:sSubPr>
                          <m:e>
                            <m:r>
                              <a:rPr lang="en-US" altLang="zh-CN" i="1" dirty="0" err="1" smtClean="0">
                                <a:latin typeface="Cambria Math" panose="02040503050406030204" pitchFamily="18" charset="0"/>
                              </a:rPr>
                              <m:t>𝑖</m:t>
                            </m:r>
                          </m:e>
                          <m:sub>
                            <m:r>
                              <a:rPr lang="en-US" altLang="zh-CN" i="1" dirty="0" err="1" smtClean="0">
                                <a:latin typeface="Cambria Math" panose="02040503050406030204" pitchFamily="18" charset="0"/>
                              </a:rPr>
                              <m:t>𝑗</m:t>
                            </m:r>
                          </m:sub>
                        </m:sSub>
                      </m:sub>
                    </m:sSub>
                    <m:r>
                      <a:rPr lang="en-US" altLang="zh-CN" b="0" i="1" dirty="0" smtClean="0">
                        <a:latin typeface="Cambria Math" panose="02040503050406030204" pitchFamily="18" charset="0"/>
                      </a:rPr>
                      <m:t>∈</m:t>
                    </m:r>
                    <m:r>
                      <a:rPr lang="en-US" altLang="zh-CN" i="1" dirty="0">
                        <a:latin typeface="Cambria Math" panose="02040503050406030204" pitchFamily="18" charset="0"/>
                      </a:rPr>
                      <m:t>𝐷</m:t>
                    </m:r>
                  </m:oMath>
                </a14:m>
                <a:r>
                  <a:rPr lang="en-US" altLang="zh-CN" i="1" dirty="0"/>
                  <a:t>, </a:t>
                </a:r>
                <a14:m>
                  <m:oMath xmlns:m="http://schemas.openxmlformats.org/officeDocument/2006/math">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𝑀</m:t>
                    </m:r>
                  </m:oMath>
                </a14:m>
                <a:r>
                  <a:rPr lang="en-US" altLang="zh-CN" i="1"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𝑖</m:t>
                        </m:r>
                      </m:e>
                      <m:sub>
                        <m:r>
                          <a:rPr lang="en-US" altLang="zh-CN" i="1" dirty="0" smtClean="0">
                            <a:latin typeface="Cambria Math" panose="02040503050406030204" pitchFamily="18" charset="0"/>
                          </a:rPr>
                          <m:t>𝑗</m:t>
                        </m:r>
                      </m:sub>
                    </m:sSub>
                    <m:r>
                      <a:rPr lang="zh-CN" altLang="en-US" i="1" dirty="0">
                        <a:latin typeface="Cambria Math" panose="02040503050406030204" pitchFamily="18" charset="0"/>
                      </a:rPr>
                      <m:t>∈</m:t>
                    </m:r>
                    <m:r>
                      <a:rPr lang="en-US" altLang="zh-CN" i="1" dirty="0">
                        <a:latin typeface="Cambria Math" panose="02040503050406030204" pitchFamily="18" charset="0"/>
                      </a:rPr>
                      <m:t>{</m:t>
                    </m:r>
                    <m:r>
                      <a:rPr lang="en-US" altLang="zh-CN" i="1" dirty="0">
                        <a:latin typeface="Cambria Math" panose="02040503050406030204" pitchFamily="18" charset="0"/>
                      </a:rPr>
                      <m:t>1</m:t>
                    </m:r>
                    <m:r>
                      <a:rPr lang="en-US" altLang="zh-CN" i="1" dirty="0">
                        <a:latin typeface="Cambria Math" panose="02040503050406030204" pitchFamily="18" charset="0"/>
                      </a:rPr>
                      <m:t>, </m:t>
                    </m:r>
                    <m:r>
                      <a:rPr lang="en-US" altLang="zh-CN" i="1" dirty="0">
                        <a:latin typeface="Cambria Math" panose="02040503050406030204" pitchFamily="18" charset="0"/>
                      </a:rPr>
                      <m:t>2</m:t>
                    </m:r>
                    <m:r>
                      <a:rPr lang="en-US" altLang="zh-CN" i="1" dirty="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rPr>
                      <m:t>, </m:t>
                    </m:r>
                    <m:r>
                      <a:rPr lang="en-US" altLang="zh-CN" i="1" dirty="0">
                        <a:latin typeface="Cambria Math" panose="02040503050406030204" pitchFamily="18" charset="0"/>
                      </a:rPr>
                      <m:t>𝑁</m:t>
                    </m:r>
                    <m:r>
                      <a:rPr lang="en-US" altLang="zh-CN" i="1" dirty="0">
                        <a:latin typeface="Cambria Math" panose="02040503050406030204" pitchFamily="18" charset="0"/>
                      </a:rPr>
                      <m:t>}</m:t>
                    </m:r>
                  </m:oMath>
                </a14:m>
                <a:r>
                  <a:rPr lang="en-US" altLang="zh-CN" dirty="0"/>
                  <a:t>, </a:t>
                </a:r>
                <a:endParaRPr lang="en-US" altLang="zh-CN" dirty="0"/>
              </a:p>
              <a:p>
                <a:pPr lvl="1">
                  <a:lnSpc>
                    <a:spcPct val="110000"/>
                  </a:lnSpc>
                </a:pPr>
                <a:r>
                  <a:rPr lang="zh-CN" altLang="en-US" dirty="0"/>
                  <a:t>它们与原数据集中的其他数据点差异过大</a:t>
                </a:r>
                <a:r>
                  <a:rPr lang="en-US" altLang="zh-CN" dirty="0"/>
                  <a:t>, </a:t>
                </a:r>
                <a:r>
                  <a:rPr lang="zh-CN" altLang="en-US" dirty="0"/>
                  <a:t>以至于怀疑这些数据的观测机制</a:t>
                </a:r>
                <a:r>
                  <a:rPr lang="en-US" altLang="zh-CN" dirty="0"/>
                  <a:t>, </a:t>
                </a:r>
                <a:r>
                  <a:rPr lang="zh-CN" altLang="en-US" dirty="0"/>
                  <a:t>这些数据点称为异常值 </a:t>
                </a:r>
                <a:r>
                  <a:rPr lang="en-US" altLang="zh-CN" dirty="0"/>
                  <a:t>(outliers) </a:t>
                </a:r>
                <a:r>
                  <a:rPr lang="zh-CN" altLang="en-US" dirty="0"/>
                  <a:t>或异常 </a:t>
                </a:r>
                <a:r>
                  <a:rPr lang="en-US" altLang="zh-CN" dirty="0"/>
                  <a:t>(anomalies)</a:t>
                </a:r>
                <a:r>
                  <a:rPr lang="zh-CN" altLang="en-US" dirty="0"/>
                  <a:t>。异常检测 的任务就是 从原数据集中找到异常数据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𝑎𝑛𝑜𝑚𝑎𝑙𝑦</m:t>
                        </m:r>
                      </m:sub>
                    </m:sSub>
                    <m:r>
                      <a:rPr lang="en-US" altLang="zh-CN" i="1" dirty="0">
                        <a:latin typeface="Cambria Math" panose="02040503050406030204" pitchFamily="18" charset="0"/>
                      </a:rPr>
                      <m:t> = </m:t>
                    </m:r>
                    <m:sSubSup>
                      <m:sSubSupPr>
                        <m:ctrlPr>
                          <a:rPr lang="en-US" altLang="zh-CN" b="0" i="1" dirty="0" smtClean="0">
                            <a:latin typeface="Cambria Math" panose="02040503050406030204" pitchFamily="18" charset="0"/>
                          </a:rPr>
                        </m:ctrlPr>
                      </m:sSubSupPr>
                      <m:e>
                        <m:d>
                          <m:dPr>
                            <m:begChr m:val="{"/>
                            <m:endChr m:val="}"/>
                            <m:ctrlPr>
                              <a:rPr lang="en-US" altLang="zh-CN" b="0" i="1" dirty="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𝑖</m:t>
                                    </m:r>
                                  </m:e>
                                  <m:sub>
                                    <m:r>
                                      <a:rPr lang="en-US" altLang="zh-CN" i="1" dirty="0" err="1">
                                        <a:latin typeface="Cambria Math" panose="02040503050406030204" pitchFamily="18" charset="0"/>
                                      </a:rPr>
                                      <m:t>𝑗</m:t>
                                    </m:r>
                                  </m:sub>
                                </m:sSub>
                              </m:sub>
                            </m:sSub>
                          </m:e>
                        </m:d>
                      </m:e>
                      <m:sub>
                        <m:r>
                          <a:rPr lang="en-US" altLang="zh-CN" b="0" i="1" dirty="0" smtClean="0">
                            <a:latin typeface="Cambria Math" panose="02040503050406030204" pitchFamily="18" charset="0"/>
                          </a:rPr>
                          <m:t>𝑗</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𝑀</m:t>
                        </m:r>
                      </m:sup>
                    </m:sSubSup>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545465" y="872999"/>
                <a:ext cx="10951210" cy="2200910"/>
              </a:xfrm>
              <a:prstGeom prst="rect">
                <a:avLst/>
              </a:prstGeom>
              <a:blipFill rotWithShape="1">
                <a:blip r:embed="rId1"/>
                <a:stretch>
                  <a:fillRect t="-23" b="2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p:cNvPicPr>
            <a:picLocks noChangeAspect="1"/>
          </p:cNvPicPr>
          <p:nvPr/>
        </p:nvPicPr>
        <p:blipFill>
          <a:blip r:embed="rId2"/>
          <a:srcRect b="12428"/>
          <a:stretch>
            <a:fillRect/>
          </a:stretch>
        </p:blipFill>
        <p:spPr>
          <a:xfrm>
            <a:off x="1794663" y="3118760"/>
            <a:ext cx="8561687" cy="3582873"/>
          </a:xfrm>
          <a:prstGeom prst="rect">
            <a:avLst/>
          </a:prstGeom>
        </p:spPr>
      </p:pic>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Statistics-based Anomaly Detection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70000" y="1670685"/>
            <a:ext cx="9652635" cy="1255395"/>
          </a:xfrm>
          <a:prstGeom prst="rect">
            <a:avLst/>
          </a:prstGeom>
          <a:noFill/>
        </p:spPr>
        <p:txBody>
          <a:bodyPr wrap="square" lIns="0" tIns="0" rIns="0" bIns="0" rtlCol="0" anchor="t">
            <a:noAutofit/>
          </a:bodyPr>
          <a:lstStyle/>
          <a:p>
            <a:pPr marL="342900" indent="-342900" algn="l" defTabSz="1219200" fontAlgn="auto">
              <a:lnSpc>
                <a:spcPct val="150000"/>
              </a:lnSpc>
              <a:spcBef>
                <a:spcPts val="600"/>
              </a:spcBef>
              <a:buFont typeface="+mj-lt"/>
              <a:buAutoNum type="circleNumDbPlain"/>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参数化方法</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预先假定</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数据的分布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由此建立模型并判断异常点。比如利用</a:t>
            </a:r>
            <a:r>
              <a:rPr lang="zh-CN" altLang="en-US" sz="1600" dirty="0">
                <a:solidFill>
                  <a:srgbClr val="7030A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假设检验</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来判断</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非参数化方法</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不假定</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特定的数据分布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而是通过估计数据的密度或其他特征来识别异常点。比如利用</a:t>
            </a:r>
            <a:r>
              <a:rPr lang="zh-CN" altLang="en-US" sz="1600" dirty="0">
                <a:solidFill>
                  <a:srgbClr val="7030A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直方图、核密度估计</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等方法识别低频数据点。</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统计学的异常检测： 分析数据集的统计特性来识别异常点</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7135670" y="3260891"/>
            <a:ext cx="3786965" cy="2472926"/>
          </a:xfrm>
          <a:prstGeom prst="rect">
            <a:avLst/>
          </a:prstGeom>
        </p:spPr>
      </p:pic>
      <p:pic>
        <p:nvPicPr>
          <p:cNvPr id="7" name="图片 6"/>
          <p:cNvPicPr>
            <a:picLocks noChangeAspect="1"/>
          </p:cNvPicPr>
          <p:nvPr/>
        </p:nvPicPr>
        <p:blipFill>
          <a:blip r:embed="rId2"/>
          <a:stretch>
            <a:fillRect/>
          </a:stretch>
        </p:blipFill>
        <p:spPr>
          <a:xfrm>
            <a:off x="1190144" y="3205065"/>
            <a:ext cx="4538965" cy="2584579"/>
          </a:xfrm>
          <a:prstGeom prst="rect">
            <a:avLst/>
          </a:prstGeom>
        </p:spPr>
      </p:pic>
      <p:sp>
        <p:nvSpPr>
          <p:cNvPr id="8" name="矩形 7"/>
          <p:cNvSpPr/>
          <p:nvPr/>
        </p:nvSpPr>
        <p:spPr>
          <a:xfrm>
            <a:off x="5365895" y="3610160"/>
            <a:ext cx="1960838" cy="1569660"/>
          </a:xfrm>
          <a:prstGeom prst="rect">
            <a:avLst/>
          </a:prstGeom>
        </p:spPr>
        <p:txBody>
          <a:bodyPr wrap="square" l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9600" i="1" dirty="0">
                <a:gradFill flip="none" rotWithShape="1">
                  <a:gsLst>
                    <a:gs pos="100000">
                      <a:schemeClr val="bg1"/>
                    </a:gs>
                    <a:gs pos="45000">
                      <a:srgbClr val="C96A0B"/>
                    </a:gs>
                  </a:gsLst>
                  <a:lin ang="5400000" scaled="1"/>
                  <a:tileRect/>
                </a:gradFill>
                <a:latin typeface="Impact" panose="020B0806030902050204" pitchFamily="34" charset="0"/>
              </a:rPr>
              <a:t>vs</a:t>
            </a:r>
            <a:endParaRPr lang="zh-CN" altLang="en-US" sz="9600" i="1" dirty="0">
              <a:gradFill flip="none" rotWithShape="1">
                <a:gsLst>
                  <a:gs pos="100000">
                    <a:schemeClr val="bg1"/>
                  </a:gs>
                  <a:gs pos="45000">
                    <a:srgbClr val="C96A0B"/>
                  </a:gs>
                </a:gsLst>
                <a:lin ang="5400000" scaled="1"/>
                <a:tileRect/>
              </a:gradFill>
              <a:latin typeface="Impact" panose="020B0806030902050204" pitchFamily="34" charset="0"/>
            </a:endParaRPr>
          </a:p>
        </p:txBody>
      </p:sp>
      <p:sp>
        <p:nvSpPr>
          <p:cNvPr id="10" name="文本框 9"/>
          <p:cNvSpPr txBox="1"/>
          <p:nvPr/>
        </p:nvSpPr>
        <p:spPr>
          <a:xfrm>
            <a:off x="2080727" y="5789644"/>
            <a:ext cx="4086808" cy="461665"/>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计算简单</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满足假设分布下有良好检测效果</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p:txBody>
      </p:sp>
      <p:sp>
        <p:nvSpPr>
          <p:cNvPr id="11" name="文本框 10"/>
          <p:cNvSpPr txBox="1"/>
          <p:nvPr/>
        </p:nvSpPr>
        <p:spPr>
          <a:xfrm>
            <a:off x="7822164" y="5837795"/>
            <a:ext cx="4086808" cy="461665"/>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适用性更广</a:t>
            </a: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无需分布假设</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多维数据处理能力</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（一）参数化方法： 预先假定数据的分布</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7" name="图片 6"/>
          <p:cNvPicPr>
            <a:picLocks noChangeAspect="1"/>
          </p:cNvPicPr>
          <p:nvPr/>
        </p:nvPicPr>
        <p:blipFill>
          <a:blip r:embed="rId1"/>
          <a:stretch>
            <a:fillRect/>
          </a:stretch>
        </p:blipFill>
        <p:spPr>
          <a:xfrm>
            <a:off x="493486" y="1978537"/>
            <a:ext cx="5699634" cy="3105283"/>
          </a:xfrm>
          <a:prstGeom prst="rect">
            <a:avLst/>
          </a:prstGeom>
        </p:spPr>
      </p:pic>
      <mc:AlternateContent xmlns:mc="http://schemas.openxmlformats.org/markup-compatibility/2006">
        <mc:Choice xmlns:a14="http://schemas.microsoft.com/office/drawing/2010/main" Requires="a14">
          <p:sp>
            <p:nvSpPr>
              <p:cNvPr id="2" name="TextBox 8"/>
              <p:cNvSpPr txBox="1"/>
              <p:nvPr/>
            </p:nvSpPr>
            <p:spPr>
              <a:xfrm>
                <a:off x="654884" y="5210635"/>
                <a:ext cx="5538236" cy="1255395"/>
              </a:xfrm>
              <a:prstGeom prst="rect">
                <a:avLst/>
              </a:prstGeom>
              <a:noFill/>
            </p:spPr>
            <p:txBody>
              <a:bodyPr wrap="square" lIns="0" tIns="0" rIns="0" bIns="0" rtlCol="0" anchor="t">
                <a:noAutofit/>
              </a:bodyPr>
              <a:lstStyle/>
              <a:p>
                <a:pPr indent="0" algn="ctr" defTabSz="1219200" fontAlgn="auto">
                  <a:lnSpc>
                    <a:spcPct val="150000"/>
                  </a:lnSpc>
                  <a:spcBef>
                    <a:spcPts val="600"/>
                  </a:spcBef>
                  <a:buFont typeface="Arial" panose="020B0604020202020204" pitchFamily="34" charset="0"/>
                  <a:buNone/>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早期方法</a:t>
                </a:r>
                <a:r>
                  <a:rPr lang="zh-CN" altLang="en-US" sz="1600" b="1"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假设数据服从高斯分</a:t>
                </a:r>
                <a14:m>
                  <m:oMath xmlns:m="http://schemas.openxmlformats.org/officeDocument/2006/math">
                    <m:r>
                      <a:rPr lang="en-US" altLang="zh-CN" sz="1600" b="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b="1"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𝐍</m:t>
                    </m:r>
                    <m:r>
                      <a:rPr lang="en-US" altLang="zh-CN" sz="1600" b="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𝛍</m:t>
                    </m:r>
                    <m:r>
                      <a:rPr lang="en-US" altLang="zh-CN" sz="1600" b="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𝛔</m:t>
                    </m:r>
                    <m:r>
                      <a:rPr lang="en-US" altLang="zh-CN" sz="1600" b="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，并简单地认定分布在</a:t>
                </a:r>
                <a14:m>
                  <m:oMath xmlns:m="http://schemas.openxmlformats.org/officeDocument/2006/math">
                    <m: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𝑐</m:t>
                    </m:r>
                    <m: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𝑐</m:t>
                    </m:r>
                    <m: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外（例如图中</a:t>
                </a:r>
                <a14:m>
                  <m:oMath xmlns:m="http://schemas.openxmlformats.org/officeDocument/2006/math">
                    <m: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𝑐</m:t>
                    </m:r>
                    <m: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）的数据是异常点（图中黑点）</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 name="TextBox 8"/>
              <p:cNvSpPr txBox="1">
                <a:spLocks noRot="1" noChangeAspect="1" noMove="1" noResize="1" noEditPoints="1" noAdjustHandles="1" noChangeArrowheads="1" noChangeShapeType="1" noTextEdit="1"/>
              </p:cNvSpPr>
              <p:nvPr/>
            </p:nvSpPr>
            <p:spPr>
              <a:xfrm>
                <a:off x="654884" y="5210635"/>
                <a:ext cx="5538236" cy="1255395"/>
              </a:xfrm>
              <a:prstGeom prst="rect">
                <a:avLst/>
              </a:prstGeom>
              <a:blipFill rotWithShape="1">
                <a:blip r:embed="rId2"/>
                <a:stretch>
                  <a:fillRect l="-4" t="-37" r="11" b="37"/>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7105590" y="1978537"/>
            <a:ext cx="2490545" cy="344337"/>
          </a:xfrm>
          <a:prstGeom prst="rect">
            <a:avLst/>
          </a:prstGeom>
        </p:spPr>
      </p:pic>
      <mc:AlternateContent xmlns:mc="http://schemas.openxmlformats.org/markup-compatibility/2006">
        <mc:Choice xmlns:a14="http://schemas.microsoft.com/office/drawing/2010/main" Requires="a14">
          <p:sp>
            <p:nvSpPr>
              <p:cNvPr id="10" name="文本框 9"/>
              <p:cNvSpPr txBox="1"/>
              <p:nvPr/>
            </p:nvSpPr>
            <p:spPr>
              <a:xfrm>
                <a:off x="7209712" y="2496621"/>
                <a:ext cx="4488802" cy="3140924"/>
              </a:xfrm>
              <a:prstGeom prst="rect">
                <a:avLst/>
              </a:prstGeom>
              <a:noFill/>
              <a:ln>
                <a:solidFill>
                  <a:schemeClr val="tx1"/>
                </a:solidFill>
              </a:ln>
            </p:spPr>
            <p:txBody>
              <a:bodyPr wrap="square">
                <a:spAutoFit/>
              </a:bodyPr>
              <a:lstStyle/>
              <a:p>
                <a:pPr defTabSz="1219200">
                  <a:lnSpc>
                    <a:spcPct val="150000"/>
                  </a:lnSpc>
                  <a:spcBef>
                    <a:spcPts val="600"/>
                  </a:spcBef>
                  <a:defRPr/>
                </a:pP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假定</a:t>
                </a:r>
                <a:r>
                  <a:rPr lang="zh-CN" altLang="en-US"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数据服从分布</a:t>
                </a:r>
                <a14:m>
                  <m:oMath xmlns:m="http://schemas.openxmlformats.org/officeDocument/2006/math">
                    <m:r>
                      <a:rPr lang="en-US" altLang="zh-CN" sz="1200" b="1" i="1">
                        <a:solidFill>
                          <a:schemeClr val="tx1"/>
                        </a:solidFill>
                        <a:latin typeface="Cambria Math" panose="02040503050406030204" pitchFamily="18" charset="0"/>
                        <a:ea typeface="思源黑体 CN Regular" panose="020B0500000000000000" charset="-122"/>
                        <a:cs typeface="思源黑体 CN Regular" panose="020B0500000000000000" charset="-122"/>
                      </a:rPr>
                      <m:t>𝐅</m:t>
                    </m:r>
                    <m:d>
                      <m:dPr>
                        <m:ctrlPr>
                          <a:rPr lang="en-US" altLang="zh-CN" sz="1200" b="1" i="1">
                            <a:solidFill>
                              <a:schemeClr val="tx1"/>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200" b="1" i="1">
                            <a:solidFill>
                              <a:schemeClr val="tx1"/>
                            </a:solidFill>
                            <a:latin typeface="Cambria Math" panose="02040503050406030204" pitchFamily="18" charset="0"/>
                            <a:ea typeface="思源黑体 CN Regular" panose="020B0500000000000000" charset="-122"/>
                            <a:cs typeface="思源黑体 CN Regular" panose="020B0500000000000000" charset="-122"/>
                          </a:rPr>
                          <m:t>𝐱</m:t>
                        </m:r>
                        <m:r>
                          <a:rPr lang="en-US" altLang="zh-CN" sz="1200" b="1">
                            <a:solidFill>
                              <a:schemeClr val="tx1"/>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200" b="1" i="1">
                            <a:solidFill>
                              <a:schemeClr val="tx1"/>
                            </a:solidFill>
                            <a:latin typeface="Cambria Math" panose="02040503050406030204" pitchFamily="18" charset="0"/>
                            <a:ea typeface="思源黑体 CN Regular" panose="020B0500000000000000" charset="-122"/>
                            <a:cs typeface="思源黑体 CN Regular" panose="020B0500000000000000" charset="-122"/>
                          </a:rPr>
                          <m:t>𝛉</m:t>
                        </m:r>
                      </m:e>
                    </m:d>
                    <m:r>
                      <a:rPr lang="en-US" altLang="zh-CN" sz="12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12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𝜃</m:t>
                    </m:r>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为未知参数</a:t>
                </a: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12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
                      <m:rPr>
                        <m:sty m:val="p"/>
                      </m:rPr>
                      <a:rPr lang="en-US" altLang="zh-CN" sz="12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Θ</m:t>
                    </m:r>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为 参数 </a:t>
                </a:r>
                <a14:m>
                  <m:oMath xmlns:m="http://schemas.openxmlformats.org/officeDocument/2006/math">
                    <m:r>
                      <a:rPr lang="en-US" altLang="zh-CN" sz="12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𝜃</m:t>
                    </m:r>
                  </m:oMath>
                </a14:m>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的参数空间。假设检验的步骤如下</a:t>
                </a: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defTabSz="1219200">
                  <a:lnSpc>
                    <a:spcPct val="150000"/>
                  </a:lnSpc>
                  <a:spcBef>
                    <a:spcPts val="600"/>
                  </a:spcBef>
                  <a:defRPr/>
                </a:pP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提出</a:t>
                </a:r>
                <a:r>
                  <a:rPr lang="zh-CN" altLang="en-US"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原假设 </a:t>
                </a:r>
                <a14:m>
                  <m:oMath xmlns:m="http://schemas.openxmlformats.org/officeDocument/2006/math">
                    <m:sSub>
                      <m:sSubPr>
                        <m:ctrlPr>
                          <a:rPr lang="en-US" altLang="zh-CN" sz="1200" b="1" i="1"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b="1" i="1"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𝑯</m:t>
                        </m:r>
                      </m:e>
                      <m:sub>
                        <m:r>
                          <a:rPr lang="en-US" altLang="zh-CN" sz="1200" b="1" i="1"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𝟎</m:t>
                        </m:r>
                      </m:sub>
                    </m:sSub>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𝜃</m:t>
                    </m:r>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sSub>
                      <m:sSubPr>
                        <m:ctrlP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m:rPr>
                            <m:sty m:val="p"/>
                          </m:rPr>
                          <a:rPr lang="en-US" altLang="zh-CN" sz="12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Θ</m:t>
                        </m:r>
                      </m:e>
                      <m:sub>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和备择假设</a:t>
                </a:r>
                <a14:m>
                  <m:oMath xmlns:m="http://schemas.openxmlformats.org/officeDocument/2006/math">
                    <m:sSub>
                      <m:sSubPr>
                        <m:ctrlP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sub>
                    </m:sSub>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𝜃</m:t>
                    </m:r>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m:rPr>
                        <m:sty m:val="p"/>
                      </m:rPr>
                      <a:rPr lang="en-US" altLang="zh-CN" sz="12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Θ</m:t>
                    </m:r>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sSub>
                      <m:sSubPr>
                        <m:ctrlP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m:rPr>
                            <m:sty m:val="p"/>
                          </m:rPr>
                          <a:rPr lang="en-US" altLang="zh-CN" sz="12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Θ</m:t>
                        </m:r>
                      </m:e>
                      <m:sub>
                        <m:r>
                          <a:rPr lang="en-US" altLang="zh-CN" sz="12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其中 </a:t>
                </a:r>
                <a14:m>
                  <m:oMath xmlns:m="http://schemas.openxmlformats.org/officeDocument/2006/math">
                    <m:sSub>
                      <m:sSubPr>
                        <m:ctrlPr>
                          <a:rPr lang="en-US" altLang="zh-CN" sz="12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m:rPr>
                            <m:sty m:val="p"/>
                          </m:rPr>
                          <a:rPr lang="en-US" altLang="zh-CN" sz="12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Θ</m:t>
                        </m:r>
                      </m:e>
                      <m:sub>
                        <m:r>
                          <a:rPr lang="en-US" altLang="zh-CN" sz="12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为原假设对应的参数空间。 </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defTabSz="1219200">
                  <a:lnSpc>
                    <a:spcPct val="150000"/>
                  </a:lnSpc>
                  <a:spcBef>
                    <a:spcPts val="600"/>
                  </a:spcBef>
                  <a:defRPr/>
                </a:pP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确定</a:t>
                </a:r>
                <a:r>
                  <a:rPr lang="zh-CN" altLang="en-US"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检测量 </a:t>
                </a:r>
                <a14:m>
                  <m:oMath xmlns:m="http://schemas.openxmlformats.org/officeDocument/2006/math">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𝑻</m:t>
                    </m:r>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𝑿</m:t>
                    </m:r>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m:t>
                    </m:r>
                  </m:oMath>
                </a14:m>
                <a:r>
                  <a:rPr lang="en-US" altLang="zh-CN"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决定</a:t>
                </a:r>
                <a:r>
                  <a:rPr lang="zh-CN" altLang="en-US" sz="12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否定</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sSub>
                      <m:sSubPr>
                        <m:ctrlPr>
                          <a:rPr lang="en-US" altLang="zh-CN" sz="12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2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的条件</a:t>
                </a:r>
                <a:r>
                  <a:rPr lang="zh-CN" altLang="en-US"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形式 </a:t>
                </a:r>
                <a14:m>
                  <m:oMath xmlns:m="http://schemas.openxmlformats.org/officeDocument/2006/math">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𝑻</m:t>
                    </m:r>
                    <m:d>
                      <m:dPr>
                        <m:ctrlP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𝑿</m:t>
                        </m:r>
                      </m:e>
                    </m:d>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m:t>
                    </m:r>
                    <m:r>
                      <a:rPr lang="zh-CN" altLang="en-US" sz="1200" b="1" i="1" dirty="0">
                        <a:solidFill>
                          <a:schemeClr val="tx1"/>
                        </a:solidFill>
                        <a:latin typeface="Cambria Math" panose="02040503050406030204" pitchFamily="18" charset="0"/>
                        <a:ea typeface="思源黑体 CN Regular" panose="020B0500000000000000" charset="-122"/>
                        <a:cs typeface="思源黑体 CN Regular" panose="020B0500000000000000" charset="-122"/>
                      </a:rPr>
                      <m:t> </m:t>
                    </m:r>
                    <m:sSub>
                      <m:sSubPr>
                        <m:ctrlP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b="1" i="1" dirty="0">
                            <a:solidFill>
                              <a:schemeClr val="tx1"/>
                            </a:solidFill>
                            <a:latin typeface="Cambria Math" panose="02040503050406030204" pitchFamily="18" charset="0"/>
                            <a:ea typeface="思源黑体 CN Regular" panose="020B0500000000000000" charset="-122"/>
                            <a:cs typeface="思源黑体 CN Regular" panose="020B0500000000000000" charset="-122"/>
                          </a:rPr>
                          <m:t>𝑨</m:t>
                        </m:r>
                      </m:e>
                      <m:sub>
                        <m:r>
                          <a:rPr lang="en-US" altLang="zh-CN" sz="1200" b="1"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𝜶</m:t>
                        </m:r>
                      </m:sub>
                    </m:sSub>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其中 </a:t>
                </a:r>
                <a14:m>
                  <m:oMath xmlns:m="http://schemas.openxmlformats.org/officeDocument/2006/math">
                    <m:sSub>
                      <m:sSubPr>
                        <m:ctrlP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𝐴</m:t>
                        </m:r>
                      </m:e>
                      <m:sub>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表示否定区 间或否定域。 </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defTabSz="1219200">
                  <a:lnSpc>
                    <a:spcPct val="150000"/>
                  </a:lnSpc>
                  <a:spcBef>
                    <a:spcPts val="600"/>
                  </a:spcBef>
                  <a:defRPr/>
                </a:pP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(3)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选取适当的</a:t>
                </a:r>
                <a:r>
                  <a:rPr lang="zh-CN" altLang="en-US"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水平 </a:t>
                </a:r>
                <a14:m>
                  <m:oMath xmlns:m="http://schemas.openxmlformats.org/officeDocument/2006/math">
                    <m:r>
                      <a:rPr lang="en-US" altLang="zh-CN" sz="1200" b="1" i="1"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𝜶</m:t>
                    </m:r>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并由 </a:t>
                </a:r>
                <a14:m>
                  <m:oMath xmlns:m="http://schemas.openxmlformats.org/officeDocument/2006/math">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𝑇</m:t>
                    </m:r>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𝑋</m:t>
                    </m:r>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的分布决定此水平下的否定域或否定区间 </a:t>
                </a:r>
                <a14:m>
                  <m:oMath xmlns:m="http://schemas.openxmlformats.org/officeDocument/2006/math">
                    <m:sSub>
                      <m:sSubPr>
                        <m:ctrlP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𝐴</m:t>
                        </m:r>
                      </m:e>
                      <m:sub>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oMath>
                </a14:m>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defTabSz="1219200">
                  <a:lnSpc>
                    <a:spcPct val="150000"/>
                  </a:lnSpc>
                  <a:spcBef>
                    <a:spcPts val="600"/>
                  </a:spcBef>
                  <a:defRPr/>
                </a:pP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(4)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由收集到的数据计算出检测统计量 </a:t>
                </a:r>
                <a14:m>
                  <m:oMath xmlns:m="http://schemas.openxmlformats.org/officeDocument/2006/math">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𝑇</m:t>
                    </m:r>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𝑋</m:t>
                    </m:r>
                    <m:r>
                      <a:rPr lang="en-US" altLang="zh-CN" sz="12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oMath>
                </a14:m>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的数值</a:t>
                </a: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并且基于否定条件 </a:t>
                </a:r>
                <a14:m>
                  <m:oMath xmlns:m="http://schemas.openxmlformats.org/officeDocument/2006/math">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𝑇</m:t>
                    </m:r>
                    <m:d>
                      <m:dPr>
                        <m:ctrlP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𝑋</m:t>
                        </m:r>
                      </m:e>
                    </m:d>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zh-CN" altLang="en-US"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sSub>
                      <m:sSubPr>
                        <m:ctrlP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𝐴</m:t>
                        </m:r>
                      </m:e>
                      <m:sub>
                        <m:r>
                          <a:rPr lang="en-US" altLang="zh-CN" sz="12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oMath>
                </a14:m>
                <a:r>
                  <a:rPr lang="zh-CN" altLang="en-US"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判断是否拒绝 </a:t>
                </a:r>
                <a14:m>
                  <m:oMath xmlns:m="http://schemas.openxmlformats.org/officeDocument/2006/math">
                    <m:sSub>
                      <m:sSubPr>
                        <m:ctrlPr>
                          <a:rPr lang="en-US" altLang="zh-CN" sz="1200" b="1" i="1"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200" b="1" i="1"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𝑯</m:t>
                        </m:r>
                      </m:e>
                      <m:sub>
                        <m:r>
                          <a:rPr lang="en-US" altLang="zh-CN" sz="1200" b="1" i="1" smtClean="0">
                            <a:solidFill>
                              <a:schemeClr val="tx1"/>
                            </a:solidFill>
                            <a:latin typeface="Cambria Math" panose="02040503050406030204" pitchFamily="18" charset="0"/>
                            <a:ea typeface="思源黑体 CN Regular" panose="020B0500000000000000" charset="-122"/>
                            <a:cs typeface="思源黑体 CN Regular" panose="020B0500000000000000" charset="-122"/>
                          </a:rPr>
                          <m:t>𝟎</m:t>
                        </m:r>
                      </m:sub>
                    </m:sSub>
                  </m:oMath>
                </a14:m>
                <a:r>
                  <a:rPr lang="zh-CN" altLang="en-US" sz="1200" b="1" dirty="0">
                    <a:solidFill>
                      <a:schemeClr val="tx1"/>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7209712" y="2496621"/>
                <a:ext cx="4488802" cy="3140924"/>
              </a:xfrm>
              <a:prstGeom prst="rect">
                <a:avLst/>
              </a:prstGeom>
              <a:blipFill rotWithShape="1">
                <a:blip r:embed="rId4"/>
                <a:stretch>
                  <a:fillRect l="-111" t="-155" r="-101" b="-141"/>
                </a:stretch>
              </a:blipFill>
              <a:ln>
                <a:solidFill>
                  <a:schemeClr val="tx1"/>
                </a:solidFill>
              </a:ln>
            </p:spPr>
            <p:txBody>
              <a:bodyPr/>
              <a:lstStyle/>
              <a:p>
                <a:r>
                  <a:rPr lang="zh-CN" altLang="en-US">
                    <a:noFill/>
                  </a:rPr>
                  <a:t> </a:t>
                </a:r>
              </a:p>
            </p:txBody>
          </p:sp>
        </mc:Fallback>
      </mc:AlternateContent>
      <p:sp>
        <p:nvSpPr>
          <p:cNvPr id="11" name="箭头: 右 10"/>
          <p:cNvSpPr/>
          <p:nvPr/>
        </p:nvSpPr>
        <p:spPr>
          <a:xfrm>
            <a:off x="6410130" y="3694922"/>
            <a:ext cx="433873" cy="279919"/>
          </a:xfrm>
          <a:prstGeom prst="rightArrow">
            <a:avLst/>
          </a:prstGeom>
          <a:solidFill>
            <a:srgbClr val="05B0F0"/>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1044710"/>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（一）参数化方法： </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Grubbs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检验</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988073" y="2110842"/>
                <a:ext cx="6788992" cy="4048159"/>
              </a:xfrm>
              <a:prstGeom prst="rect">
                <a:avLst/>
              </a:prstGeom>
              <a:noFill/>
            </p:spPr>
            <p:txBody>
              <a:bodyPr wrap="square">
                <a:spAutoFit/>
              </a:bodyPr>
              <a:lstStyle/>
              <a:p>
                <a:pPr indent="-342900" defTabSz="1219200">
                  <a:lnSpc>
                    <a:spcPct val="150000"/>
                  </a:lnSpc>
                  <a:spcBef>
                    <a:spcPts val="600"/>
                  </a:spcBef>
                  <a:buFont typeface="+mj-ea"/>
                  <a:buAutoNum type="circleNumDbPlain"/>
                  <a:defRPr/>
                </a:pPr>
                <a14:m>
                  <m:oMath xmlns:m="http://schemas.openxmlformats.org/officeDocument/2006/math">
                    <m:sSub>
                      <m:sSubPr>
                        <m:ctrlPr>
                          <a:rPr lang="en-US" altLang="zh-CN" sz="14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数据集中不存在异常值。↔  </a:t>
                </a:r>
                <a14:m>
                  <m:oMath xmlns:m="http://schemas.openxmlformats.org/officeDocument/2006/math">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sub>
                    </m:s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数据集中存在异常值。 </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Grubbs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检验量为</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0" lvl="1" algn="ctr" defTabSz="1219200">
                  <a:lnSpc>
                    <a:spcPct val="150000"/>
                  </a:lnSpc>
                  <a:spcBef>
                    <a:spcPts val="600"/>
                  </a:spcBef>
                  <a:defRPr/>
                </a:pPr>
                <a:r>
                  <a:rPr lang="en-US" altLang="zh-CN" sz="2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𝐆</m:t>
                    </m:r>
                    <m:r>
                      <a:rPr lang="en-US" altLang="zh-CN" sz="2000" b="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f>
                      <m:fPr>
                        <m:ctrlP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func>
                          <m:funcPr>
                            <m:ctrlP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uncPr>
                          <m:fName>
                            <m:limLow>
                              <m:limLowPr>
                                <m:ctrlP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limLowPr>
                              <m:e>
                                <m: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𝐦𝐚𝐱</m:t>
                                </m:r>
                              </m:e>
                              <m:lim>
                                <m: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𝐢</m:t>
                                </m:r>
                              </m:lim>
                            </m:limLow>
                          </m:fName>
                          <m:e>
                            <m:d>
                              <m:dPr>
                                <m:begChr m:val="|"/>
                                <m:endChr m:val="|"/>
                                <m:ctrlP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sSub>
                                  <m:sSubPr>
                                    <m:ctrlP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𝐱</m:t>
                                    </m:r>
                                  </m:e>
                                  <m:sub>
                                    <m: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𝐢</m:t>
                                    </m:r>
                                  </m:sub>
                                </m:sSub>
                                <m:r>
                                  <a:rPr lang="en-US" altLang="zh-CN" sz="2000" b="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acc>
                                  <m:accPr>
                                    <m:chr m:val="̅"/>
                                    <m:ctrlP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accPr>
                                  <m:e>
                                    <m: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𝐱</m:t>
                                    </m:r>
                                  </m:e>
                                </m:acc>
                              </m:e>
                            </m:d>
                          </m:e>
                        </m:func>
                      </m:num>
                      <m:den>
                        <m:r>
                          <a:rPr lang="en-US" altLang="zh-CN" sz="2000"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𝐬</m:t>
                        </m:r>
                      </m:den>
                    </m:f>
                  </m:oMath>
                </a14:m>
                <a:endParaRPr lang="zh-CN" altLang="en-US" sz="14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457200" lvl="2" defTabSz="1219200">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其中</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acc>
                      <m:accPr>
                        <m:chr m:val="̅"/>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acc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acc>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f>
                      <m:f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num>
                      <m:den>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den>
                    </m:f>
                    <m:nary>
                      <m:naryPr>
                        <m:chr m:val="∑"/>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naryPr>
                      <m:sub>
                        <m:r>
                          <m:rPr>
                            <m:brk m:alnAt="23"/>
                          </m:rP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sub>
                      <m:sup>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sup>
                      <m:e>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sub>
                        </m:sSub>
                      </m:e>
                    </m:nary>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是样本均值</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𝑠</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ad>
                      <m:radPr>
                        <m:degHide m:val="on"/>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radPr>
                      <m:deg/>
                      <m:e>
                        <m:f>
                          <m:f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num>
                          <m:den>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den>
                        </m:f>
                        <m:nary>
                          <m:naryPr>
                            <m:chr m:val="∑"/>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naryPr>
                          <m: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sub>
                          <m:sup>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sup>
                          <m:e>
                            <m:sSup>
                              <m:sSup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pPr>
                              <m:e>
                                <m:d>
                                  <m:d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sSub>
                                      <m:sSub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sub>
                                    </m:s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acc>
                                      <m:accPr>
                                        <m:chr m:val="̅"/>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acc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acc>
                                  </m:e>
                                </m:d>
                              </m:e>
                              <m:sup>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2</m:t>
                                </m:r>
                              </m:sup>
                            </m:sSup>
                          </m:e>
                        </m:nary>
                      </m:e>
                    </m:rad>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是样本标准差。</a:t>
                </a:r>
                <a:r>
                  <a:rPr lang="en-US" altLang="zh-CN" sz="1400" b="1" dirty="0">
                    <a:latin typeface="思源黑体 CN Regular" panose="020B0500000000000000" charset="-122"/>
                    <a:ea typeface="思源黑体 CN Regular" panose="020B0500000000000000" charset="-122"/>
                    <a:cs typeface="思源黑体 CN Regular" panose="020B0500000000000000" charset="-122"/>
                  </a:rPr>
                  <a:t>G </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值过大 说明选定的数据点偏离均值过多</a:t>
                </a:r>
                <a:r>
                  <a:rPr lang="en-US" altLang="zh-CN" sz="1400" b="1" dirty="0">
                    <a:latin typeface="思源黑体 CN Regular" panose="020B0500000000000000" charset="-122"/>
                    <a:ea typeface="思源黑体 CN Regular" panose="020B0500000000000000" charset="-122"/>
                    <a:cs typeface="思源黑体 CN Regular" panose="020B0500000000000000" charset="-122"/>
                  </a:rPr>
                  <a:t>, </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与其他数据点之间的差异过大</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因此可拒绝 </a:t>
                </a:r>
                <a14:m>
                  <m:oMath xmlns:m="http://schemas.openxmlformats.org/officeDocument/2006/math">
                    <m:sSub>
                      <m:sSub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。所以拒绝条件是 </a:t>
                </a:r>
                <a14:m>
                  <m:oMath xmlns:m="http://schemas.openxmlformats.org/officeDocument/2006/math">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𝐺</m:t>
                    </m:r>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𝐴</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r>
                      <a:rPr lang="el-GR"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 [</m:t>
                    </m:r>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𝐺</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r>
                      <a:rPr lang="el-GR"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oMath>
                </a14:m>
                <a:r>
                  <a:rPr lang="zh-CN" altLang="el-GR"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el-GR"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选择显著性水平 </a:t>
                </a:r>
                <a14:m>
                  <m:oMath xmlns:m="http://schemas.openxmlformats.org/officeDocument/2006/math">
                    <m:r>
                      <a:rPr lang="el-GR"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oMath>
                </a14:m>
                <a:r>
                  <a:rPr lang="el-GR"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如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0.05),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并根据样本数量 </a:t>
                </a:r>
                <a14:m>
                  <m:oMath xmlns:m="http://schemas.openxmlformats.org/officeDocument/2006/math">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oMath>
                </a14:m>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网络查阅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Grubbs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检验临界表得到临界值</a:t>
                </a:r>
                <a14:m>
                  <m:oMath xmlns:m="http://schemas.openxmlformats.org/officeDocument/2006/math">
                    <m:sSub>
                      <m:sSub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𝐺</m:t>
                        </m:r>
                      </m:e>
                      <m: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oMath>
                </a14:m>
                <a:endParaRPr lang="el-GR"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若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G &gt; </a:t>
                </a:r>
                <a14:m>
                  <m:oMath xmlns:m="http://schemas.openxmlformats.org/officeDocument/2006/math">
                    <m:sSub>
                      <m:sSub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𝐺</m:t>
                        </m:r>
                      </m:e>
                      <m: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oMath>
                </a14:m>
                <a:r>
                  <a:rPr lang="el-GR"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则拒绝</a:t>
                </a:r>
                <a14:m>
                  <m:oMath xmlns:m="http://schemas.openxmlformats.org/officeDocument/2006/math">
                    <m:sSub>
                      <m:sSubPr>
                        <m:ctrlP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否则接受 </a:t>
                </a:r>
                <a14:m>
                  <m:oMath xmlns:m="http://schemas.openxmlformats.org/officeDocument/2006/math">
                    <m:sSub>
                      <m:sSubPr>
                        <m:ctrlP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988073" y="2110842"/>
                <a:ext cx="6788992" cy="4048159"/>
              </a:xfrm>
              <a:prstGeom prst="rect">
                <a:avLst/>
              </a:prstGeom>
              <a:blipFill rotWithShape="1">
                <a:blip r:embed="rId1"/>
                <a:stretch>
                  <a:fillRect t="-3" r="3" b="-797"/>
                </a:stretch>
              </a:blipFill>
            </p:spPr>
            <p:txBody>
              <a:bodyPr/>
              <a:lstStyle/>
              <a:p>
                <a:r>
                  <a:rPr lang="zh-CN" altLang="en-US">
                    <a:noFill/>
                  </a:rPr>
                  <a:t> </a:t>
                </a:r>
              </a:p>
            </p:txBody>
          </p:sp>
        </mc:Fallback>
      </mc:AlternateContent>
      <p:grpSp>
        <p:nvGrpSpPr>
          <p:cNvPr id="12" name="组合 11"/>
          <p:cNvGrpSpPr/>
          <p:nvPr/>
        </p:nvGrpSpPr>
        <p:grpSpPr>
          <a:xfrm>
            <a:off x="8341567" y="2292789"/>
            <a:ext cx="3237723" cy="3692799"/>
            <a:chOff x="8434873" y="2292789"/>
            <a:chExt cx="3237723" cy="3692799"/>
          </a:xfrm>
        </p:grpSpPr>
        <p:sp>
          <p:nvSpPr>
            <p:cNvPr id="9" name="圆角矩形 7"/>
            <p:cNvSpPr/>
            <p:nvPr/>
          </p:nvSpPr>
          <p:spPr>
            <a:xfrm>
              <a:off x="8434873" y="2292789"/>
              <a:ext cx="3237723" cy="3692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8" name="文本框 7"/>
            <p:cNvSpPr txBox="1"/>
            <p:nvPr/>
          </p:nvSpPr>
          <p:spPr>
            <a:xfrm>
              <a:off x="8817426" y="2665375"/>
              <a:ext cx="2561255" cy="2828788"/>
            </a:xfrm>
            <a:prstGeom prst="rect">
              <a:avLst/>
            </a:prstGeom>
            <a:noFill/>
          </p:spPr>
          <p:txBody>
            <a:bodyPr wrap="square" rtlCol="0">
              <a:spAutoFit/>
            </a:bodyPr>
            <a:lstStyle/>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适用条件</a:t>
              </a:r>
              <a:r>
                <a:rPr lang="en-US" altLang="zh-CN" b="1" dirty="0">
                  <a:solidFill>
                    <a:srgbClr val="05B0F0"/>
                  </a:solidFill>
                  <a:latin typeface="思源黑体 CN Regular" panose="020B0500000000000000" charset="-122"/>
                  <a:ea typeface="思源黑体 CN Regular" panose="020B0500000000000000" charset="-122"/>
                </a:rPr>
                <a:t>:</a:t>
              </a:r>
              <a:endParaRPr lang="en-US" altLang="zh-CN" b="1" dirty="0">
                <a:solidFill>
                  <a:srgbClr val="05B0F0"/>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 样本量不少于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rPr>
                <a:t>7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rPr>
                <a:t>10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个的小样本数据</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单个异常数据的检测</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缺点：</a:t>
              </a:r>
              <a:endParaRPr lang="en-US" altLang="zh-CN" b="1" dirty="0">
                <a:solidFill>
                  <a:srgbClr val="05B0F0"/>
                </a:solidFill>
                <a:latin typeface="思源黑体 CN Regular" panose="020B0500000000000000" charset="-122"/>
                <a:ea typeface="思源黑体 CN Regular" panose="020B0500000000000000" charset="-122"/>
              </a:endParaRPr>
            </a:p>
            <a:p>
              <a:pPr marL="342900" indent="-34290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需满足正态分布</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342900" indent="-34290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一次仅检测一个异常点</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p:txBody>
        </p:sp>
      </p:grpSp>
      <p:sp>
        <p:nvSpPr>
          <p:cNvPr id="15" name="矩形: 圆角 14"/>
          <p:cNvSpPr/>
          <p:nvPr/>
        </p:nvSpPr>
        <p:spPr>
          <a:xfrm>
            <a:off x="3447661" y="2985796"/>
            <a:ext cx="2043404" cy="6904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1044710"/>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（一）参数化方法： </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学生</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检验</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988072" y="2110842"/>
                <a:ext cx="7213536" cy="4150880"/>
              </a:xfrm>
              <a:prstGeom prst="rect">
                <a:avLst/>
              </a:prstGeom>
              <a:noFill/>
            </p:spPr>
            <p:txBody>
              <a:bodyPr wrap="square">
                <a:spAutoFit/>
              </a:bodyPr>
              <a:lstStyle/>
              <a:p>
                <a:pPr indent="-342900" defTabSz="1219200">
                  <a:lnSpc>
                    <a:spcPct val="150000"/>
                  </a:lnSpc>
                  <a:spcBef>
                    <a:spcPts val="600"/>
                  </a:spcBef>
                  <a:buFont typeface="+mj-ea"/>
                  <a:buAutoNum type="circleNumDbPlain"/>
                  <a:defRPr/>
                </a:pPr>
                <a14:m>
                  <m:oMath xmlns:m="http://schemas.openxmlformats.org/officeDocument/2006/math">
                    <m:sSub>
                      <m:sSubPr>
                        <m:ctrlPr>
                          <a:rPr lang="en-US" altLang="zh-CN" sz="14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zh-CN" altLang="en-US"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不存在显著偏离总体均值的异常值</m:t>
                    </m:r>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sub>
                    </m:s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zh-CN" altLang="en-US"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存在显著偏离总体均值的异常值</m:t>
                    </m:r>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学生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检验的检验量 </a:t>
                </a:r>
                <a14:m>
                  <m:oMath xmlns:m="http://schemas.openxmlformats.org/officeDocument/2006/math">
                    <m:r>
                      <a:rPr lang="en-US" altLang="zh-CN" sz="14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r>
                      <a:rPr lang="en-US" altLang="zh-CN" sz="14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的计算公式如下</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0" lvl="1" algn="ctr" defTabSz="1219200">
                  <a:lnSpc>
                    <a:spcPct val="150000"/>
                  </a:lnSpc>
                  <a:spcBef>
                    <a:spcPts val="600"/>
                  </a:spcBef>
                  <a:defRPr/>
                </a:pPr>
                <a:r>
                  <a:rPr lang="en-US" altLang="zh-CN" sz="2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
                      <a:rPr lang="en-US" altLang="zh-CN" b="1"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𝐭</m:t>
                    </m:r>
                    <m:r>
                      <a:rPr lang="en-US" altLang="zh-CN" b="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f>
                      <m:fPr>
                        <m:ctrlPr>
                          <a:rPr lang="en-US" altLang="zh-CN" b="1"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acc>
                          <m:accPr>
                            <m:chr m:val="̅"/>
                            <m:ctrlPr>
                              <a:rPr lang="en-US" altLang="zh-CN" b="1" i="1" dirty="0" smtClean="0">
                                <a:solidFill>
                                  <a:schemeClr val="tx1">
                                    <a:lumMod val="75000"/>
                                    <a:lumOff val="25000"/>
                                  </a:schemeClr>
                                </a:solidFill>
                                <a:latin typeface="Cambria Math" panose="02040503050406030204" pitchFamily="18" charset="0"/>
                                <a:ea typeface="思源黑体 CN Regular" panose="020B0500000000000000" charset="-122"/>
                              </a:rPr>
                            </m:ctrlPr>
                          </m:accPr>
                          <m:e>
                            <m:r>
                              <a:rPr lang="en-US" altLang="zh-CN" b="1" i="1" dirty="0" smtClean="0">
                                <a:solidFill>
                                  <a:schemeClr val="tx1">
                                    <a:lumMod val="75000"/>
                                    <a:lumOff val="25000"/>
                                  </a:schemeClr>
                                </a:solidFill>
                                <a:latin typeface="Cambria Math" panose="02040503050406030204" pitchFamily="18" charset="0"/>
                                <a:ea typeface="思源黑体 CN Regular" panose="020B0500000000000000" charset="-122"/>
                              </a:rPr>
                              <m:t>𝒙</m:t>
                            </m:r>
                            <m:r>
                              <a:rPr lang="en-US" altLang="zh-CN" b="1" i="1" dirty="0" smtClean="0">
                                <a:solidFill>
                                  <a:schemeClr val="tx1">
                                    <a:lumMod val="75000"/>
                                    <a:lumOff val="25000"/>
                                  </a:schemeClr>
                                </a:solidFill>
                                <a:latin typeface="Cambria Math" panose="02040503050406030204" pitchFamily="18" charset="0"/>
                                <a:ea typeface="思源黑体 CN Regular" panose="020B0500000000000000" charset="-122"/>
                              </a:rPr>
                              <m:t> </m:t>
                            </m:r>
                          </m:e>
                        </m:acc>
                        <m:r>
                          <a:rPr lang="en-US" altLang="zh-CN" sz="1200" b="1" i="1" dirty="0" smtClean="0">
                            <a:solidFill>
                              <a:schemeClr val="tx1">
                                <a:lumMod val="75000"/>
                                <a:lumOff val="25000"/>
                              </a:schemeClr>
                            </a:solidFill>
                            <a:latin typeface="Cambria Math" panose="02040503050406030204" pitchFamily="18" charset="0"/>
                            <a:ea typeface="思源黑体 CN Regular" panose="020B0500000000000000" charset="-122"/>
                          </a:rPr>
                          <m:t>−</m:t>
                        </m:r>
                        <m:sSub>
                          <m:sSubPr>
                            <m:ctrlPr>
                              <a:rPr lang="en-US" altLang="zh-CN" sz="1200" b="1" i="1" dirty="0" smtClean="0">
                                <a:solidFill>
                                  <a:schemeClr val="tx1">
                                    <a:lumMod val="75000"/>
                                    <a:lumOff val="25000"/>
                                  </a:schemeClr>
                                </a:solidFill>
                                <a:latin typeface="Cambria Math" panose="02040503050406030204" pitchFamily="18" charset="0"/>
                                <a:ea typeface="思源黑体 CN Regular" panose="020B0500000000000000" charset="-122"/>
                              </a:rPr>
                            </m:ctrlPr>
                          </m:sSubPr>
                          <m:e>
                            <m:r>
                              <a:rPr lang="en-US" altLang="zh-CN" sz="1200" b="1" i="1" dirty="0" smtClean="0">
                                <a:solidFill>
                                  <a:schemeClr val="tx1">
                                    <a:lumMod val="75000"/>
                                    <a:lumOff val="25000"/>
                                  </a:schemeClr>
                                </a:solidFill>
                                <a:latin typeface="Cambria Math" panose="02040503050406030204" pitchFamily="18" charset="0"/>
                                <a:ea typeface="思源黑体 CN Regular" panose="020B0500000000000000" charset="-122"/>
                              </a:rPr>
                              <m:t> </m:t>
                            </m:r>
                            <m:r>
                              <a:rPr lang="en-US" altLang="zh-CN" sz="1200" b="1" i="1" dirty="0" smtClean="0">
                                <a:solidFill>
                                  <a:schemeClr val="tx1">
                                    <a:lumMod val="75000"/>
                                    <a:lumOff val="25000"/>
                                  </a:schemeClr>
                                </a:solidFill>
                                <a:latin typeface="Cambria Math" panose="02040503050406030204" pitchFamily="18" charset="0"/>
                                <a:ea typeface="思源黑体 CN Regular" panose="020B0500000000000000" charset="-122"/>
                              </a:rPr>
                              <m:t>𝝁</m:t>
                            </m:r>
                          </m:e>
                          <m:sub>
                            <m:r>
                              <a:rPr lang="en-US" altLang="zh-CN" sz="1200" b="1" i="0" dirty="0" smtClean="0">
                                <a:solidFill>
                                  <a:schemeClr val="tx1">
                                    <a:lumMod val="75000"/>
                                    <a:lumOff val="25000"/>
                                  </a:schemeClr>
                                </a:solidFill>
                                <a:latin typeface="Cambria Math" panose="02040503050406030204" pitchFamily="18" charset="0"/>
                                <a:ea typeface="思源黑体 CN Regular" panose="020B0500000000000000" charset="-122"/>
                              </a:rPr>
                              <m:t>𝟎</m:t>
                            </m:r>
                          </m:sub>
                        </m:sSub>
                      </m:num>
                      <m:den>
                        <m:r>
                          <a:rPr lang="en-US" altLang="zh-CN" b="1"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𝐬</m:t>
                        </m:r>
                        <m:r>
                          <a:rPr lang="en-US" altLang="zh-CN" b="1"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
                          <m:rPr>
                            <m:lit/>
                          </m:rPr>
                          <a:rPr lang="en-US" altLang="zh-CN" b="1"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b="1"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ad>
                          <m:radPr>
                            <m:degHide m:val="on"/>
                            <m:ctrlPr>
                              <a:rPr lang="en-US" altLang="zh-CN" b="1"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radPr>
                          <m:deg/>
                          <m:e>
                            <m:r>
                              <a:rPr lang="en-US" altLang="zh-CN" b="1"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𝑵</m:t>
                            </m:r>
                          </m:e>
                        </m:rad>
                      </m:den>
                    </m:f>
                  </m:oMath>
                </a14:m>
                <a:endParaRPr lang="zh-CN" altLang="en-US" sz="14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457200" lvl="2" defTabSz="1219200">
                  <a:lnSpc>
                    <a:spcPct val="150000"/>
                  </a:lnSpc>
                  <a:spcBef>
                    <a:spcPts val="600"/>
                  </a:spcBef>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其中，</a:t>
                </a:r>
                <a14:m>
                  <m:oMath xmlns:m="http://schemas.openxmlformats.org/officeDocument/2006/math">
                    <m:sSub>
                      <m:sSubPr>
                        <m:ctrlP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𝜇</m:t>
                        </m:r>
                      </m:e>
                      <m:sub>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是总体均值，</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acc>
                      <m:accPr>
                        <m:chr m:val="̅"/>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acc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acc>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f>
                      <m:f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num>
                      <m:den>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den>
                    </m:f>
                    <m:nary>
                      <m:naryPr>
                        <m:chr m:val="∑"/>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naryPr>
                      <m:sub>
                        <m:r>
                          <m:rPr>
                            <m:brk m:alnAt="23"/>
                          </m:rP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sub>
                      <m:sup>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sup>
                      <m:e>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sub>
                        </m:sSub>
                      </m:e>
                    </m:nary>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是样本均值</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𝑠</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ad>
                      <m:radPr>
                        <m:degHide m:val="on"/>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radPr>
                      <m:deg/>
                      <m:e>
                        <m:f>
                          <m:f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num>
                          <m:den>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den>
                        </m:f>
                        <m:nary>
                          <m:naryPr>
                            <m:chr m:val="∑"/>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naryPr>
                          <m: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sub>
                          <m:sup>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sup>
                          <m:e>
                            <m:sSup>
                              <m:sSup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pPr>
                              <m:e>
                                <m:d>
                                  <m:d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sSub>
                                      <m:sSubPr>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sub>
                                    </m:sSub>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acc>
                                      <m:accPr>
                                        <m:chr m:val="̅"/>
                                        <m:ctrlPr>
                                          <a:rPr lang="en-US" altLang="zh-CN" sz="14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accPr>
                                      <m:e>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acc>
                                  </m:e>
                                </m:d>
                              </m:e>
                              <m:sup>
                                <m:r>
                                  <a:rPr lang="en-US" altLang="zh-CN" sz="14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2</m:t>
                                </m:r>
                              </m:sup>
                            </m:sSup>
                          </m:e>
                        </m:nary>
                      </m:e>
                    </m:rad>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是样本标准差。</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直观上</a:t>
                </a:r>
                <a:r>
                  <a:rPr lang="en-US" altLang="zh-CN" sz="1400" b="1" dirty="0">
                    <a:latin typeface="思源黑体 CN Regular" panose="020B0500000000000000" charset="-122"/>
                    <a:ea typeface="思源黑体 CN Regular" panose="020B0500000000000000" charset="-122"/>
                    <a:cs typeface="思源黑体 CN Regular" panose="020B0500000000000000" charset="-122"/>
                  </a:rPr>
                  <a:t>, t </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值越大 </a:t>
                </a:r>
                <a:r>
                  <a:rPr lang="en-US" altLang="zh-CN" sz="1400" b="1" dirty="0">
                    <a:latin typeface="思源黑体 CN Regular" panose="020B0500000000000000" charset="-122"/>
                    <a:ea typeface="思源黑体 CN Regular" panose="020B0500000000000000" charset="-122"/>
                    <a:cs typeface="思源黑体 CN Regular" panose="020B0500000000000000" charset="-122"/>
                  </a:rPr>
                  <a:t>(</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越小</a:t>
                </a:r>
                <a:r>
                  <a:rPr lang="en-US" altLang="zh-CN" sz="1400" b="1" dirty="0">
                    <a:latin typeface="思源黑体 CN Regular" panose="020B0500000000000000" charset="-122"/>
                    <a:ea typeface="思源黑体 CN Regular" panose="020B0500000000000000" charset="-122"/>
                    <a:cs typeface="思源黑体 CN Regular" panose="020B0500000000000000" charset="-122"/>
                  </a:rPr>
                  <a:t>), </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说明样本均值与总体均值的差异越大 </a:t>
                </a:r>
                <a:r>
                  <a:rPr lang="en-US" altLang="zh-CN" sz="1400" b="1" dirty="0">
                    <a:latin typeface="思源黑体 CN Regular" panose="020B0500000000000000" charset="-122"/>
                    <a:ea typeface="思源黑体 CN Regular" panose="020B0500000000000000" charset="-122"/>
                    <a:cs typeface="思源黑体 CN Regular" panose="020B0500000000000000" charset="-122"/>
                  </a:rPr>
                  <a:t>(</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越小</a:t>
                </a:r>
                <a:r>
                  <a:rPr lang="en-US" altLang="zh-CN" sz="1400" b="1" dirty="0">
                    <a:latin typeface="思源黑体 CN Regular" panose="020B0500000000000000" charset="-122"/>
                    <a:ea typeface="思源黑体 CN Regular" panose="020B0500000000000000" charset="-122"/>
                    <a:cs typeface="思源黑体 CN Regular" panose="020B0500000000000000" charset="-122"/>
                  </a:rPr>
                  <a:t>), </a:t>
                </a:r>
                <a:r>
                  <a:rPr lang="zh-CN" altLang="en-US" sz="1400" b="1" dirty="0">
                    <a:latin typeface="思源黑体 CN Regular" panose="020B0500000000000000" charset="-122"/>
                    <a:ea typeface="思源黑体 CN Regular" panose="020B0500000000000000" charset="-122"/>
                    <a:cs typeface="思源黑体 CN Regular" panose="020B0500000000000000" charset="-122"/>
                  </a:rPr>
                  <a:t>这可能意味着存在异常值。</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所以拒绝条件是</a:t>
                </a:r>
                <a14:m>
                  <m:oMath xmlns:m="http://schemas.openxmlformats.org/officeDocument/2006/math">
                    <m:r>
                      <a:rPr lang="en-US" altLang="zh-CN" sz="1400" b="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
                      <m:rPr>
                        <m:sty m:val="p"/>
                      </m:rPr>
                      <a:rPr lang="en-US" altLang="zh-CN" sz="1400" b="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t</m:t>
                    </m:r>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𝐴</m:t>
                        </m:r>
                      </m:e>
                      <m:sub>
                        <m:r>
                          <a:rPr lang="en-US"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sub>
                    </m:sSub>
                    <m:r>
                      <a:rPr lang="el-GR"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
                      <a:rPr lang="el-GR"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d>
                      <m:dPr>
                        <m:begChr m:val="["/>
                        <m:ctrlPr>
                          <a:rPr lang="el-GR"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sSub>
                          <m:sSub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e>
                          <m:sub>
                            <m:f>
                              <m:f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num>
                              <m:den>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2</m:t>
                                </m:r>
                              </m:den>
                            </m:f>
                          </m:sub>
                        </m:sSub>
                        <m:d>
                          <m:d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e>
                        </m:d>
                        <m:r>
                          <a:rPr lang="el-GR"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e>
                    </m:d>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d>
                      <m:dPr>
                        <m:endChr m:val="]"/>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l-GR"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sSub>
                          <m:sSub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e>
                          <m:sub>
                            <m:f>
                              <m:f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num>
                              <m:den>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2</m:t>
                                </m:r>
                              </m:den>
                            </m:f>
                          </m:sub>
                        </m:sSub>
                        <m:d>
                          <m:d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e>
                        </m:d>
                      </m:e>
                    </m:d>
                  </m:oMath>
                </a14:m>
                <a:r>
                  <a:rPr lang="zh-CN" altLang="el-GR"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el-GR"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选择显著性水平 </a:t>
                </a:r>
                <a14:m>
                  <m:oMath xmlns:m="http://schemas.openxmlformats.org/officeDocument/2006/math">
                    <m:r>
                      <a:rPr lang="el-GR" altLang="zh-CN" sz="14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oMath>
                </a14:m>
                <a:r>
                  <a:rPr lang="el-GR"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如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0.05),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并据样本量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N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查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分布表得到临界值</a:t>
                </a:r>
                <a14:m>
                  <m:oMath xmlns:m="http://schemas.openxmlformats.org/officeDocument/2006/math">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e>
                      <m:sub>
                        <m:f>
                          <m:f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num>
                          <m:den>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2</m:t>
                            </m:r>
                          </m:den>
                        </m:f>
                      </m:sub>
                    </m:sSub>
                    <m:d>
                      <m:dPr>
                        <m:ctrlPr>
                          <a:rPr lang="en-US" altLang="zh-CN" sz="14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e>
                    </m:d>
                  </m:oMath>
                </a14:m>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计算统计量 </a:t>
                </a:r>
                <a14:m>
                  <m:oMath xmlns:m="http://schemas.openxmlformats.org/officeDocument/2006/math">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。若</a:t>
                </a:r>
                <a14:m>
                  <m:oMath xmlns:m="http://schemas.openxmlformats.org/officeDocument/2006/math">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&lt;−</m:t>
                    </m:r>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e>
                      <m:sub>
                        <m:f>
                          <m:f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num>
                          <m:den>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2</m:t>
                            </m:r>
                          </m:den>
                        </m:f>
                      </m:sub>
                    </m:sSub>
                    <m:d>
                      <m:d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e>
                    </m:d>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
                      <a:rPr lang="zh-CN" altLang="en-US"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或</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&gt;</m:t>
                    </m:r>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𝑡</m:t>
                        </m:r>
                      </m:e>
                      <m:sub>
                        <m:f>
                          <m:f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fPr>
                          <m:num>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𝛼</m:t>
                            </m:r>
                          </m:num>
                          <m:den>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2</m:t>
                            </m:r>
                          </m:den>
                        </m:f>
                      </m:sub>
                    </m:sSub>
                    <m:d>
                      <m:d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d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1</m:t>
                        </m:r>
                      </m:e>
                    </m:d>
                  </m:oMath>
                </a14:m>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则拒绝 </a:t>
                </a:r>
                <a14:m>
                  <m:oMath xmlns:m="http://schemas.openxmlformats.org/officeDocument/2006/math">
                    <m:sSub>
                      <m:sSubPr>
                        <m:ctrlP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否则</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接受</a:t>
                </a:r>
                <a14:m>
                  <m:oMath xmlns:m="http://schemas.openxmlformats.org/officeDocument/2006/math">
                    <m:sSub>
                      <m:sSubPr>
                        <m:ctrlP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𝐻</m:t>
                        </m:r>
                      </m:e>
                      <m:sub>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0</m:t>
                        </m:r>
                      </m:sub>
                    </m:sSub>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988072" y="2110842"/>
                <a:ext cx="7213536" cy="4150880"/>
              </a:xfrm>
              <a:prstGeom prst="rect">
                <a:avLst/>
              </a:prstGeom>
              <a:blipFill rotWithShape="1">
                <a:blip r:embed="rId1"/>
                <a:stretch>
                  <a:fillRect t="-2" r="8" b="-2295"/>
                </a:stretch>
              </a:blipFill>
            </p:spPr>
            <p:txBody>
              <a:bodyPr/>
              <a:lstStyle/>
              <a:p>
                <a:r>
                  <a:rPr lang="zh-CN" altLang="en-US">
                    <a:noFill/>
                  </a:rPr>
                  <a:t> </a:t>
                </a:r>
              </a:p>
            </p:txBody>
          </p:sp>
        </mc:Fallback>
      </mc:AlternateContent>
      <p:grpSp>
        <p:nvGrpSpPr>
          <p:cNvPr id="12" name="组合 11"/>
          <p:cNvGrpSpPr/>
          <p:nvPr/>
        </p:nvGrpSpPr>
        <p:grpSpPr>
          <a:xfrm>
            <a:off x="8341567" y="2292789"/>
            <a:ext cx="3237723" cy="3692799"/>
            <a:chOff x="8434873" y="2292789"/>
            <a:chExt cx="3237723" cy="3692799"/>
          </a:xfrm>
        </p:grpSpPr>
        <p:sp>
          <p:nvSpPr>
            <p:cNvPr id="9" name="圆角矩形 7"/>
            <p:cNvSpPr/>
            <p:nvPr/>
          </p:nvSpPr>
          <p:spPr>
            <a:xfrm>
              <a:off x="8434873" y="2292789"/>
              <a:ext cx="3237723" cy="3692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8" name="文本框 7"/>
            <p:cNvSpPr txBox="1"/>
            <p:nvPr/>
          </p:nvSpPr>
          <p:spPr>
            <a:xfrm>
              <a:off x="8817426" y="2665375"/>
              <a:ext cx="2561255" cy="2828788"/>
            </a:xfrm>
            <a:prstGeom prst="rect">
              <a:avLst/>
            </a:prstGeom>
            <a:noFill/>
          </p:spPr>
          <p:txBody>
            <a:bodyPr wrap="square" rtlCol="0">
              <a:spAutoFit/>
            </a:bodyPr>
            <a:lstStyle/>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适用条件</a:t>
              </a:r>
              <a:r>
                <a:rPr lang="en-US" altLang="zh-CN" b="1" dirty="0">
                  <a:solidFill>
                    <a:srgbClr val="05B0F0"/>
                  </a:solidFill>
                  <a:latin typeface="思源黑体 CN Regular" panose="020B0500000000000000" charset="-122"/>
                  <a:ea typeface="思源黑体 CN Regular" panose="020B0500000000000000" charset="-122"/>
                </a:rPr>
                <a:t>:</a:t>
              </a:r>
              <a:endParaRPr lang="en-US" altLang="zh-CN" b="1" dirty="0">
                <a:solidFill>
                  <a:srgbClr val="05B0F0"/>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总体均值已知，总体标准差未知</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样本较小</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计算负担小</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缺点：</a:t>
              </a:r>
              <a:endParaRPr lang="en-US" altLang="zh-CN" b="1" dirty="0">
                <a:solidFill>
                  <a:srgbClr val="05B0F0"/>
                </a:solidFill>
                <a:latin typeface="思源黑体 CN Regular" panose="020B0500000000000000" charset="-122"/>
                <a:ea typeface="思源黑体 CN Regular" panose="020B0500000000000000" charset="-122"/>
              </a:endParaRPr>
            </a:p>
            <a:p>
              <a:pPr marL="342900" indent="-34290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需满足正态分布</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p:txBody>
        </p:sp>
      </p:grpSp>
      <p:sp>
        <p:nvSpPr>
          <p:cNvPr id="2" name="矩形: 圆角 1"/>
          <p:cNvSpPr/>
          <p:nvPr/>
        </p:nvSpPr>
        <p:spPr>
          <a:xfrm>
            <a:off x="3923521" y="2999791"/>
            <a:ext cx="1553547" cy="6904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1044710"/>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（一）非参数化方法： </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直方图方法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2" name="组合 11"/>
          <p:cNvGrpSpPr/>
          <p:nvPr/>
        </p:nvGrpSpPr>
        <p:grpSpPr>
          <a:xfrm>
            <a:off x="8341567" y="2292789"/>
            <a:ext cx="3237723" cy="3692799"/>
            <a:chOff x="8434873" y="2292789"/>
            <a:chExt cx="3237723" cy="3692799"/>
          </a:xfrm>
        </p:grpSpPr>
        <p:sp>
          <p:nvSpPr>
            <p:cNvPr id="9" name="圆角矩形 7"/>
            <p:cNvSpPr/>
            <p:nvPr/>
          </p:nvSpPr>
          <p:spPr>
            <a:xfrm>
              <a:off x="8434873" y="2292789"/>
              <a:ext cx="3237723" cy="3692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8" name="文本框 7"/>
            <p:cNvSpPr txBox="1"/>
            <p:nvPr/>
          </p:nvSpPr>
          <p:spPr>
            <a:xfrm>
              <a:off x="8817426" y="2665375"/>
              <a:ext cx="2561255" cy="2911503"/>
            </a:xfrm>
            <a:prstGeom prst="rect">
              <a:avLst/>
            </a:prstGeom>
            <a:noFill/>
          </p:spPr>
          <p:txBody>
            <a:bodyPr wrap="square" rtlCol="0">
              <a:spAutoFit/>
            </a:bodyPr>
            <a:lstStyle/>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优点</a:t>
              </a:r>
              <a:r>
                <a:rPr lang="en-US" altLang="zh-CN" b="1" dirty="0">
                  <a:solidFill>
                    <a:srgbClr val="05B0F0"/>
                  </a:solidFill>
                  <a:latin typeface="思源黑体 CN Regular" panose="020B0500000000000000" charset="-122"/>
                  <a:ea typeface="思源黑体 CN Regular" panose="020B0500000000000000" charset="-122"/>
                </a:rPr>
                <a:t>:</a:t>
              </a:r>
              <a:endParaRPr lang="en-US" altLang="zh-CN" b="1" dirty="0">
                <a:solidFill>
                  <a:srgbClr val="05B0F0"/>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简单、易用</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无需假设数据分布</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缺点：</a:t>
              </a:r>
              <a:endParaRPr lang="en-US" altLang="zh-CN" b="1" dirty="0">
                <a:solidFill>
                  <a:srgbClr val="05B0F0"/>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对图区间数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rPr>
                <a:t>k </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或异常阈值 </a:t>
              </a:r>
              <a:r>
                <a:rPr lang="en-US" altLang="zh-CN" sz="1400" dirty="0">
                  <a:solidFill>
                    <a:schemeClr val="tx1">
                      <a:lumMod val="75000"/>
                      <a:lumOff val="25000"/>
                    </a:schemeClr>
                  </a:solidFill>
                  <a:latin typeface="思源黑体 CN Regular" panose="020B0500000000000000" charset="-122"/>
                  <a:ea typeface="思源黑体 CN Regular" panose="020B0500000000000000" charset="-122"/>
                </a:rPr>
                <a:t>ε</a:t>
              </a: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的选择较为主观</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endParaRPr lang="en-US" altLang="zh-CN" b="1" dirty="0">
                <a:solidFill>
                  <a:srgbClr val="05B0F0"/>
                </a:solidFill>
                <a:latin typeface="思源黑体 CN Regular" panose="020B0500000000000000" charset="-122"/>
                <a:ea typeface="思源黑体 CN Regular" panose="020B0500000000000000" charset="-122"/>
              </a:endParaRPr>
            </a:p>
          </p:txBody>
        </p:sp>
      </p:grpSp>
      <p:pic>
        <p:nvPicPr>
          <p:cNvPr id="5" name="图片 4"/>
          <p:cNvPicPr>
            <a:picLocks noChangeAspect="1"/>
          </p:cNvPicPr>
          <p:nvPr/>
        </p:nvPicPr>
        <p:blipFill>
          <a:blip r:embed="rId1"/>
          <a:stretch>
            <a:fillRect/>
          </a:stretch>
        </p:blipFill>
        <p:spPr>
          <a:xfrm>
            <a:off x="1568018" y="2188225"/>
            <a:ext cx="5220001" cy="4282358"/>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基于统计学的异常检测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1044710"/>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（一）非参数化方法： </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核密度估计方法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2" name="组合 11"/>
          <p:cNvGrpSpPr/>
          <p:nvPr/>
        </p:nvGrpSpPr>
        <p:grpSpPr>
          <a:xfrm>
            <a:off x="8341567" y="2292789"/>
            <a:ext cx="3237723" cy="3692799"/>
            <a:chOff x="8434873" y="2292789"/>
            <a:chExt cx="3237723" cy="3692799"/>
          </a:xfrm>
        </p:grpSpPr>
        <p:sp>
          <p:nvSpPr>
            <p:cNvPr id="9" name="圆角矩形 7"/>
            <p:cNvSpPr/>
            <p:nvPr/>
          </p:nvSpPr>
          <p:spPr>
            <a:xfrm>
              <a:off x="8434873" y="2292789"/>
              <a:ext cx="3237723" cy="3692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mc:AlternateContent xmlns:mc="http://schemas.openxmlformats.org/markup-compatibility/2006">
          <mc:Choice xmlns:a14="http://schemas.microsoft.com/office/drawing/2010/main" Requires="a14">
            <p:sp>
              <p:nvSpPr>
                <p:cNvPr id="8" name="文本框 7"/>
                <p:cNvSpPr txBox="1"/>
                <p:nvPr/>
              </p:nvSpPr>
              <p:spPr>
                <a:xfrm>
                  <a:off x="8817426" y="2665375"/>
                  <a:ext cx="2561255" cy="2828275"/>
                </a:xfrm>
                <a:prstGeom prst="rect">
                  <a:avLst/>
                </a:prstGeom>
                <a:noFill/>
              </p:spPr>
              <p:txBody>
                <a:bodyPr wrap="square" rtlCol="0">
                  <a:spAutoFit/>
                </a:bodyPr>
                <a:lstStyle/>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优点</a:t>
                  </a:r>
                  <a:r>
                    <a:rPr lang="en-US" altLang="zh-CN" b="1" dirty="0">
                      <a:solidFill>
                        <a:srgbClr val="05B0F0"/>
                      </a:solidFill>
                      <a:latin typeface="思源黑体 CN Regular" panose="020B0500000000000000" charset="-122"/>
                      <a:ea typeface="思源黑体 CN Regular" panose="020B0500000000000000" charset="-122"/>
                    </a:rPr>
                    <a:t>:</a:t>
                  </a:r>
                  <a:endParaRPr lang="en-US" altLang="zh-CN" b="1" dirty="0">
                    <a:solidFill>
                      <a:srgbClr val="05B0F0"/>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灵活度高，无需假设数据分布</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精确估计数据的分布</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zh-CN" altLang="en-US" b="1" dirty="0">
                      <a:solidFill>
                        <a:srgbClr val="05B0F0"/>
                      </a:solidFill>
                      <a:latin typeface="思源黑体 CN Regular" panose="020B0500000000000000" charset="-122"/>
                      <a:ea typeface="思源黑体 CN Regular" panose="020B0500000000000000" charset="-122"/>
                    </a:rPr>
                    <a:t>缺点：</a:t>
                  </a:r>
                  <a:endParaRPr lang="en-US" altLang="zh-CN" b="1" dirty="0">
                    <a:solidFill>
                      <a:srgbClr val="05B0F0"/>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计算复杂度较高</a:t>
                  </a:r>
                  <a:endParaRPr lang="en-US" altLang="zh-CN" sz="14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对带宽</a:t>
                  </a:r>
                  <a14:m>
                    <m:oMath xmlns:m="http://schemas.openxmlformats.org/officeDocument/2006/math">
                      <m:r>
                        <a:rPr lang="en-US" altLang="zh-CN" sz="1400" b="0" i="1" smtClean="0">
                          <a:solidFill>
                            <a:schemeClr val="tx1">
                              <a:lumMod val="75000"/>
                              <a:lumOff val="25000"/>
                            </a:schemeClr>
                          </a:solidFill>
                          <a:latin typeface="Cambria Math" panose="02040503050406030204" pitchFamily="18" charset="0"/>
                          <a:ea typeface="思源黑体 CN Regular" panose="020B0500000000000000" charset="-122"/>
                        </a:rPr>
                        <m:t>ℎ</m:t>
                      </m:r>
                    </m:oMath>
                  </a14:m>
                  <a:r>
                    <a:rPr lang="zh-CN" altLang="en-US" sz="1400" dirty="0">
                      <a:solidFill>
                        <a:schemeClr val="tx1">
                          <a:lumMod val="75000"/>
                          <a:lumOff val="25000"/>
                        </a:schemeClr>
                      </a:solidFill>
                      <a:latin typeface="思源黑体 CN Regular" panose="020B0500000000000000" charset="-122"/>
                      <a:ea typeface="思源黑体 CN Regular" panose="020B0500000000000000" charset="-122"/>
                    </a:rPr>
                    <a:t>的选择敏感</a:t>
                  </a:r>
                  <a:endParaRPr lang="en-US" altLang="zh-CN" dirty="0">
                    <a:solidFill>
                      <a:srgbClr val="05B0F0"/>
                    </a:solidFill>
                    <a:latin typeface="思源黑体 CN Regular" panose="020B0500000000000000" charset="-122"/>
                    <a:ea typeface="思源黑体 CN Regular" panose="020B0500000000000000"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8817426" y="2665375"/>
                  <a:ext cx="2561255" cy="2828275"/>
                </a:xfrm>
                <a:prstGeom prst="rect">
                  <a:avLst/>
                </a:prstGeom>
                <a:blipFill rotWithShape="1">
                  <a:blip r:embed="rId1"/>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 name="文本框 1"/>
              <p:cNvSpPr txBox="1"/>
              <p:nvPr/>
            </p:nvSpPr>
            <p:spPr>
              <a:xfrm>
                <a:off x="1221339" y="2307145"/>
                <a:ext cx="6658364" cy="3678443"/>
              </a:xfrm>
              <a:prstGeom prst="rect">
                <a:avLst/>
              </a:prstGeom>
              <a:noFill/>
            </p:spPr>
            <p:txBody>
              <a:bodyPr wrap="square">
                <a:spAutoFit/>
              </a:bodyPr>
              <a:lstStyle/>
              <a:p>
                <a:pPr indent="-342900" defTabSz="1219200">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选定一个核函数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𝐾</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常用的有高斯核、</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Epanechnikov</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核等</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以及带宽参数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ℎ</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。带宽参数控制核密度估计的平滑程度。</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对于每个数据点 </a:t>
                </a:r>
                <a14:m>
                  <m:oMath xmlns:m="http://schemas.openxmlformats.org/officeDocument/2006/math">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sub>
                    </m:sSub>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通过核函数估计数据的概率密度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0" lvl="1" algn="ctr" defTabSz="1219200">
                  <a:lnSpc>
                    <a:spcPct val="150000"/>
                  </a:lnSpc>
                  <a:spcBef>
                    <a:spcPts val="600"/>
                  </a:spcBef>
                  <a:defRPr/>
                </a:pPr>
                <a:r>
                  <a:rPr lang="en-US" altLang="zh-CN" sz="2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20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acc>
                      <m:accPr>
                        <m:ctrlP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ctrlPr>
                      </m:accPr>
                      <m:e>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𝑓</m:t>
                        </m:r>
                        <m:d>
                          <m:dPr>
                            <m:ctrlP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ctrlPr>
                          </m:dPr>
                          <m:e>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𝑥</m:t>
                            </m:r>
                          </m:e>
                        </m:d>
                      </m:e>
                    </m:acc>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m:t>
                    </m:r>
                    <m:f>
                      <m:fPr>
                        <m:ctrlP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ctrlPr>
                      </m:fPr>
                      <m:num>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1</m:t>
                        </m:r>
                      </m:num>
                      <m:den>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𝑁ℎ</m:t>
                        </m:r>
                      </m:den>
                    </m:f>
                    <m:nary>
                      <m:naryPr>
                        <m:chr m:val="∑"/>
                        <m:ctrlP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ctrlPr>
                      </m:naryPr>
                      <m:sub>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𝑖</m:t>
                        </m:r>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m:t>
                        </m:r>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1</m:t>
                        </m:r>
                      </m:sub>
                      <m:sup>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𝑁</m:t>
                        </m:r>
                      </m:sup>
                      <m:e>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𝐾</m:t>
                        </m:r>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m:t>
                        </m:r>
                        <m:f>
                          <m:fPr>
                            <m:ctrlP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ctrlPr>
                          </m:fPr>
                          <m:num>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𝑥</m:t>
                            </m:r>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m:t>
                            </m:r>
                            <m:sSub>
                              <m:sSubPr>
                                <m:ctrlP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ctrlPr>
                              </m:sSubPr>
                              <m:e>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𝑥</m:t>
                                </m:r>
                              </m:e>
                              <m:sub>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𝑖</m:t>
                                </m:r>
                              </m:sub>
                            </m:sSub>
                          </m:num>
                          <m:den>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ℎ</m:t>
                            </m:r>
                          </m:den>
                        </m:f>
                        <m:r>
                          <a:rPr lang="en-US" altLang="zh-CN" sz="2000" b="0" i="1" smtClean="0">
                            <a:solidFill>
                              <a:schemeClr val="tx1">
                                <a:lumMod val="75000"/>
                                <a:lumOff val="25000"/>
                              </a:schemeClr>
                            </a:solidFill>
                            <a:latin typeface="Cambria Math" panose="02040503050406030204" pitchFamily="18" charset="0"/>
                            <a:ea typeface="思源黑体 CN Regular" panose="020B0500000000000000" charset="-122"/>
                          </a:rPr>
                          <m:t>)</m:t>
                        </m:r>
                      </m:e>
                    </m:nary>
                  </m:oMath>
                </a14:m>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marL="457200" lvl="2"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𝑁</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是样本数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sSub>
                      <m:sSub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𝑥</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𝑖</m:t>
                        </m:r>
                      </m:sub>
                    </m:sSub>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是数据中的每个点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ℎ</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rPr>
                      <m:t> </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是带宽。</a:t>
                </a:r>
                <a:r>
                  <a:rPr lang="zh-CN" altLang="el-GR"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endParaRPr lang="el-GR"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342900" defTabSz="1219200">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识别概率密度较低的区域</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数据点落入这些区域时被标记为异常值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也可以基于直</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defTabSz="1219200">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方图的异常得分判断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221339" y="2307145"/>
                <a:ext cx="6658364" cy="3678443"/>
              </a:xfrm>
              <a:prstGeom prst="rect">
                <a:avLst/>
              </a:prstGeom>
              <a:blipFill rotWithShape="1">
                <a:blip r:embed="rId2"/>
                <a:stretch>
                  <a:fillRect l="-4" t="-5" r="9" b="-826"/>
                </a:stretch>
              </a:blipFill>
            </p:spPr>
            <p:txBody>
              <a:bodyPr/>
              <a:lstStyle/>
              <a:p>
                <a:r>
                  <a:rPr lang="zh-CN" altLang="en-US">
                    <a:noFill/>
                  </a:rPr>
                  <a:t> </a:t>
                </a:r>
              </a:p>
            </p:txBody>
          </p:sp>
        </mc:Fallback>
      </mc:AlternateContent>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Distance-based Anomaly Detection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481627" y="1012489"/>
            <a:ext cx="11000145" cy="1448666"/>
          </a:xfrm>
          <a:prstGeom prst="rect">
            <a:avLst/>
          </a:prstGeom>
          <a:noFill/>
        </p:spPr>
        <p:txBody>
          <a:bodyPr wrap="square" rtlCol="0" anchor="t">
            <a:spAutoFit/>
          </a:bodyPr>
          <a:lstStyle/>
          <a:p>
            <a:pPr defTabSz="1219200">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基于距离的异常检测：</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25000"/>
              </a:lnSpc>
              <a:spcBef>
                <a:spcPts val="600"/>
              </a:spcBef>
              <a:buFont typeface="Arial" panose="020B0604020202020204" pitchFamily="34" charset="0"/>
              <a:buChar char="•"/>
              <a:defRPr/>
            </a:pPr>
            <a:r>
              <a:rPr lang="zh-CN" altLang="en-US" sz="2000" b="1" dirty="0">
                <a:solidFill>
                  <a:schemeClr val="tx1">
                    <a:lumMod val="95000"/>
                    <a:lumOff val="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异常样本距离大多数正常样本较远</a:t>
            </a:r>
            <a:endParaRPr lang="en-US" altLang="zh-CN" sz="2000" b="1" dirty="0">
              <a:solidFill>
                <a:schemeClr val="tx1">
                  <a:lumMod val="95000"/>
                  <a:lumOff val="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25000"/>
              </a:lnSpc>
              <a:spcBef>
                <a:spcPts val="600"/>
              </a:spcBef>
              <a:buFont typeface="Arial" panose="020B0604020202020204" pitchFamily="34" charset="0"/>
              <a:buChar char="•"/>
              <a:defRPr/>
            </a:pPr>
            <a:r>
              <a:rPr lang="zh-CN" altLang="en-US" sz="2000" b="1" dirty="0">
                <a:solidFill>
                  <a:schemeClr val="tx1">
                    <a:lumMod val="95000"/>
                    <a:lumOff val="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基于距离的方法直接量化这种</a:t>
            </a:r>
            <a:r>
              <a:rPr lang="en-US" altLang="zh-CN" sz="2000" b="1" dirty="0">
                <a:solidFill>
                  <a:schemeClr val="tx1">
                    <a:lumMod val="95000"/>
                    <a:lumOff val="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2000" b="1" dirty="0">
                <a:solidFill>
                  <a:schemeClr val="tx1">
                    <a:lumMod val="95000"/>
                    <a:lumOff val="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远离程度</a:t>
            </a:r>
            <a:r>
              <a:rPr lang="en-US" altLang="zh-CN" sz="2000" b="1" dirty="0">
                <a:solidFill>
                  <a:schemeClr val="tx1">
                    <a:lumMod val="95000"/>
                    <a:lumOff val="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2000" b="1" dirty="0">
              <a:solidFill>
                <a:schemeClr val="tx1">
                  <a:lumMod val="95000"/>
                  <a:lumOff val="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4" name="图片 3"/>
          <p:cNvPicPr>
            <a:picLocks noChangeAspect="1"/>
          </p:cNvPicPr>
          <p:nvPr/>
        </p:nvPicPr>
        <p:blipFill>
          <a:blip r:embed="rId1"/>
          <a:stretch>
            <a:fillRect/>
          </a:stretch>
        </p:blipFill>
        <p:spPr>
          <a:xfrm>
            <a:off x="1951872" y="2825125"/>
            <a:ext cx="2640448" cy="2010389"/>
          </a:xfrm>
          <a:prstGeom prst="rect">
            <a:avLst/>
          </a:prstGeom>
        </p:spPr>
      </p:pic>
      <p:sp>
        <p:nvSpPr>
          <p:cNvPr id="5" name="矩形 4"/>
          <p:cNvSpPr/>
          <p:nvPr/>
        </p:nvSpPr>
        <p:spPr>
          <a:xfrm>
            <a:off x="4894600" y="3157930"/>
            <a:ext cx="1960838" cy="1569660"/>
          </a:xfrm>
          <a:prstGeom prst="rect">
            <a:avLst/>
          </a:prstGeom>
        </p:spPr>
        <p:txBody>
          <a:bodyPr wrap="square" l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9600" i="1" dirty="0">
                <a:gradFill flip="none" rotWithShape="1">
                  <a:gsLst>
                    <a:gs pos="100000">
                      <a:schemeClr val="bg1"/>
                    </a:gs>
                    <a:gs pos="45000">
                      <a:srgbClr val="C96A0B"/>
                    </a:gs>
                  </a:gsLst>
                  <a:lin ang="5400000" scaled="1"/>
                  <a:tileRect/>
                </a:gradFill>
                <a:latin typeface="Impact" panose="020B0806030902050204" pitchFamily="34" charset="0"/>
              </a:rPr>
              <a:t>vs</a:t>
            </a:r>
            <a:endParaRPr lang="zh-CN" altLang="en-US" sz="9600" i="1" dirty="0">
              <a:gradFill flip="none" rotWithShape="1">
                <a:gsLst>
                  <a:gs pos="100000">
                    <a:schemeClr val="bg1"/>
                  </a:gs>
                  <a:gs pos="45000">
                    <a:srgbClr val="C96A0B"/>
                  </a:gs>
                </a:gsLst>
                <a:lin ang="5400000" scaled="1"/>
                <a:tileRect/>
              </a:gradFill>
              <a:latin typeface="Impact" panose="020B0806030902050204" pitchFamily="34" charset="0"/>
            </a:endParaRPr>
          </a:p>
        </p:txBody>
      </p:sp>
      <p:pic>
        <p:nvPicPr>
          <p:cNvPr id="10" name="图片 9"/>
          <p:cNvPicPr>
            <a:picLocks noChangeAspect="1"/>
          </p:cNvPicPr>
          <p:nvPr/>
        </p:nvPicPr>
        <p:blipFill>
          <a:blip r:embed="rId2"/>
          <a:srcRect b="8811"/>
          <a:stretch>
            <a:fillRect/>
          </a:stretch>
        </p:blipFill>
        <p:spPr>
          <a:xfrm>
            <a:off x="7067625" y="2801761"/>
            <a:ext cx="3625695" cy="2159000"/>
          </a:xfrm>
          <a:prstGeom prst="rect">
            <a:avLst/>
          </a:prstGeom>
        </p:spPr>
      </p:pic>
      <p:sp>
        <p:nvSpPr>
          <p:cNvPr id="11" name="文本框 10"/>
          <p:cNvSpPr txBox="1"/>
          <p:nvPr/>
        </p:nvSpPr>
        <p:spPr>
          <a:xfrm>
            <a:off x="2360930" y="4918311"/>
            <a:ext cx="1976120" cy="307777"/>
          </a:xfrm>
          <a:prstGeom prst="rect">
            <a:avLst/>
          </a:prstGeom>
          <a:noFill/>
        </p:spPr>
        <p:txBody>
          <a:bodyPr wrap="square" rtlCol="0">
            <a:spAutoFit/>
          </a:bodyPr>
          <a:lstStyle/>
          <a:p>
            <a:pPr algn="ctr"/>
            <a:r>
              <a:rPr lang="zh-CN" altLang="en-US" sz="1400" dirty="0"/>
              <a:t>距离方法</a:t>
            </a:r>
            <a:endParaRPr lang="zh-CN" altLang="en-US" sz="1400" dirty="0"/>
          </a:p>
        </p:txBody>
      </p:sp>
      <p:sp>
        <p:nvSpPr>
          <p:cNvPr id="14" name="文本框 13"/>
          <p:cNvSpPr txBox="1"/>
          <p:nvPr/>
        </p:nvSpPr>
        <p:spPr>
          <a:xfrm>
            <a:off x="8096250" y="4928470"/>
            <a:ext cx="1976120" cy="307777"/>
          </a:xfrm>
          <a:prstGeom prst="rect">
            <a:avLst/>
          </a:prstGeom>
          <a:noFill/>
        </p:spPr>
        <p:txBody>
          <a:bodyPr wrap="square" rtlCol="0">
            <a:spAutoFit/>
          </a:bodyPr>
          <a:lstStyle/>
          <a:p>
            <a:pPr algn="ctr"/>
            <a:r>
              <a:rPr lang="zh-CN" altLang="en-US" sz="1400" dirty="0"/>
              <a:t>统计学方法</a:t>
            </a:r>
            <a:endParaRPr lang="zh-CN" altLang="en-US" sz="1400" dirty="0"/>
          </a:p>
        </p:txBody>
      </p:sp>
      <p:sp>
        <p:nvSpPr>
          <p:cNvPr id="15" name="文本框 14"/>
          <p:cNvSpPr txBox="1"/>
          <p:nvPr/>
        </p:nvSpPr>
        <p:spPr>
          <a:xfrm>
            <a:off x="2293646" y="5464524"/>
            <a:ext cx="2640448" cy="646331"/>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不依赖数据分布假设</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鲁棒性更好</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效率高</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p:txBody>
      </p:sp>
      <p:sp>
        <p:nvSpPr>
          <p:cNvPr id="16" name="文本框 15"/>
          <p:cNvSpPr txBox="1"/>
          <p:nvPr/>
        </p:nvSpPr>
        <p:spPr>
          <a:xfrm>
            <a:off x="7854950" y="5464523"/>
            <a:ext cx="2498090" cy="1200329"/>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简单易用</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可解释性</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思源黑体 CN Regular" panose="020B0500000000000000" charset="-122"/>
              <a:buChar char="×"/>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部分方法计算复杂度高</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思源黑体 CN Regular" panose="020B0500000000000000" charset="-122"/>
              <a:buChar char="×"/>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多维数据处理能力</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思源黑体 CN Regular" panose="020B0500000000000000" charset="-122"/>
              <a:buChar char="×"/>
            </a:pP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近邻算法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1109992" y="1754180"/>
                <a:ext cx="6540488" cy="4342920"/>
              </a:xfrm>
              <a:prstGeom prst="rect">
                <a:avLst/>
              </a:prstGeom>
              <a:noFill/>
            </p:spPr>
            <p:txBody>
              <a:bodyPr wrap="square">
                <a:spAutoFit/>
              </a:bodyPr>
              <a:lstStyle/>
              <a:p>
                <a:pPr marL="342900" indent="-342900">
                  <a:lnSpc>
                    <a:spcPct val="125000"/>
                  </a:lnSpc>
                  <a:buFont typeface="+mj-ea"/>
                  <a:buAutoNum type="circleNumDbPlain"/>
                </a:pPr>
                <a:r>
                  <a:rPr lang="zh-CN" altLang="en-US" dirty="0"/>
                  <a:t>初始化</a:t>
                </a:r>
                <a:r>
                  <a:rPr lang="en-US" altLang="zh-CN"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𝑎𝑛𝑜𝑚𝑎𝑙𝑦</m:t>
                        </m:r>
                      </m:sub>
                    </m:sSub>
                    <m:r>
                      <a:rPr lang="en-US" altLang="zh-CN" i="1" dirty="0">
                        <a:latin typeface="Cambria Math" panose="02040503050406030204" pitchFamily="18" charset="0"/>
                      </a:rPr>
                      <m:t> = {} </m:t>
                    </m:r>
                  </m:oMath>
                </a14:m>
                <a:r>
                  <a:rPr lang="en-US" altLang="zh-CN" sz="1400" i="1" dirty="0"/>
                  <a:t> </a:t>
                </a:r>
                <a:r>
                  <a:rPr lang="en-US" altLang="zh-CN" dirty="0"/>
                  <a:t>//</a:t>
                </a:r>
                <a:r>
                  <a:rPr lang="zh-CN" altLang="en-US" dirty="0"/>
                  <a:t>初始化异常样本集合为空 </a:t>
                </a:r>
                <a:endParaRPr lang="zh-CN" altLang="en-US" sz="1400" dirty="0"/>
              </a:p>
              <a:p>
                <a:pPr marL="342900" indent="-342900">
                  <a:lnSpc>
                    <a:spcPct val="125000"/>
                  </a:lnSpc>
                  <a:buFont typeface="+mj-ea"/>
                  <a:buAutoNum type="circleNumDbPlain"/>
                </a:pPr>
                <a:r>
                  <a:rPr lang="en-US" altLang="zh-CN" b="1" dirty="0"/>
                  <a:t>for </a:t>
                </a:r>
                <a:r>
                  <a:rPr lang="zh-CN" altLang="en-US" dirty="0"/>
                  <a:t>每个样本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 </m:t>
                    </m:r>
                  </m:oMath>
                </a14:m>
                <a:r>
                  <a:rPr lang="en-US" altLang="zh-CN" b="1" dirty="0"/>
                  <a:t>do </a:t>
                </a:r>
                <a:endParaRPr lang="en-US" altLang="zh-CN" sz="1400" dirty="0"/>
              </a:p>
              <a:p>
                <a:pPr marL="342900" indent="-342900">
                  <a:lnSpc>
                    <a:spcPct val="125000"/>
                  </a:lnSpc>
                  <a:buFont typeface="+mj-ea"/>
                  <a:buAutoNum type="circleNumDbPlain"/>
                </a:pPr>
                <a:r>
                  <a:rPr lang="en-US" altLang="zh-CN" dirty="0"/>
                  <a:t>         </a:t>
                </a:r>
                <a:r>
                  <a:rPr lang="zh-CN" altLang="en-US" dirty="0"/>
                  <a:t>计算其与数据集所有样本的距离集合</a:t>
                </a:r>
                <a:r>
                  <a:rPr lang="en-US" altLang="zh-CN" dirty="0"/>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𝐷</m:t>
                        </m:r>
                      </m:e>
                      <m:sup>
                        <m:r>
                          <m:rPr>
                            <m:sty m:val="p"/>
                          </m:rPr>
                          <a:rPr lang="en-US" altLang="zh-CN" b="0" i="0" dirty="0" smtClean="0">
                            <a:latin typeface="Cambria Math" panose="02040503050406030204" pitchFamily="18" charset="0"/>
                          </a:rPr>
                          <m:t>i</m:t>
                        </m:r>
                      </m:sup>
                    </m:sSup>
                    <m:r>
                      <a:rPr lang="en-US" altLang="zh-CN" i="1" dirty="0" smtClean="0">
                        <a:latin typeface="Cambria Math" panose="02040503050406030204" pitchFamily="18" charset="0"/>
                      </a:rPr>
                      <m:t>= {</m:t>
                    </m:r>
                    <m:r>
                      <a:rPr lang="en-US" altLang="zh-CN" i="1" dirty="0" smtClean="0">
                        <a:latin typeface="Cambria Math" panose="02040503050406030204" pitchFamily="18" charset="0"/>
                      </a:rPr>
                      <m:t>𝑑</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𝑥</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 </m:t>
                    </m:r>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𝑗</m:t>
                        </m:r>
                      </m:sub>
                    </m:sSub>
                    <m:r>
                      <a:rPr lang="en-US" altLang="zh-CN"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𝑗</m:t>
                        </m:r>
                      </m:sub>
                    </m:sSub>
                    <m:r>
                      <a:rPr lang="en-US" altLang="zh-CN" i="1" dirty="0">
                        <a:latin typeface="Cambria Math" panose="02040503050406030204" pitchFamily="18" charset="0"/>
                      </a:rPr>
                      <m:t> ∈ </m:t>
                    </m:r>
                    <m:r>
                      <a:rPr lang="en-US" altLang="zh-CN" i="1" dirty="0">
                        <a:latin typeface="Cambria Math" panose="02040503050406030204" pitchFamily="18" charset="0"/>
                      </a:rPr>
                      <m:t>𝐷</m:t>
                    </m:r>
                    <m:r>
                      <a:rPr lang="en-US" altLang="zh-CN" i="1" dirty="0">
                        <a:latin typeface="Cambria Math" panose="02040503050406030204" pitchFamily="18" charset="0"/>
                      </a:rPr>
                      <m:t>} </m:t>
                    </m:r>
                  </m:oMath>
                </a14:m>
                <a:endParaRPr lang="en-US" altLang="zh-CN" sz="1400" dirty="0"/>
              </a:p>
              <a:p>
                <a:pPr marL="342900" indent="-342900">
                  <a:lnSpc>
                    <a:spcPct val="125000"/>
                  </a:lnSpc>
                  <a:buFont typeface="+mj-ea"/>
                  <a:buAutoNum type="circleNumDbPlain"/>
                </a:pPr>
                <a:r>
                  <a:rPr lang="en-US" altLang="zh-CN" dirty="0"/>
                  <a:t>         </a:t>
                </a:r>
                <a:r>
                  <a:rPr lang="zh-CN" altLang="en-US" dirty="0"/>
                  <a:t>对于距离集合中的值从小到大进行排序 </a:t>
                </a:r>
                <a14:m>
                  <m:oMath xmlns:m="http://schemas.openxmlformats.org/officeDocument/2006/math">
                    <m:sSubSup>
                      <m:sSubSupPr>
                        <m:ctrlPr>
                          <a:rPr lang="en-US" altLang="zh-CN" b="0" i="1" dirty="0" smtClean="0">
                            <a:latin typeface="Cambria Math" panose="02040503050406030204" pitchFamily="18" charset="0"/>
                          </a:rPr>
                        </m:ctrlPr>
                      </m:sSubSup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𝑠𝑜𝑟𝑡</m:t>
                        </m:r>
                      </m:sub>
                      <m:sup>
                        <m:r>
                          <a:rPr lang="en-US" altLang="zh-CN" i="1" dirty="0" err="1">
                            <a:latin typeface="Cambria Math" panose="02040503050406030204" pitchFamily="18" charset="0"/>
                          </a:rPr>
                          <m:t>𝑖</m:t>
                        </m:r>
                      </m:sup>
                    </m:sSubSup>
                    <m:r>
                      <a:rPr lang="en-US" altLang="zh-CN" i="1" dirty="0">
                        <a:latin typeface="Cambria Math" panose="02040503050406030204" pitchFamily="18" charset="0"/>
                      </a:rPr>
                      <m:t> = </m:t>
                    </m:r>
                    <m:r>
                      <a:rPr lang="en-US" altLang="zh-CN" i="1" dirty="0">
                        <a:latin typeface="Cambria Math" panose="02040503050406030204" pitchFamily="18" charset="0"/>
                      </a:rPr>
                      <m:t>𝑠𝑜𝑟𝑡</m:t>
                    </m:r>
                    <m:r>
                      <a:rPr lang="en-US" altLang="zh-CN" i="1" dirty="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a:latin typeface="Cambria Math" panose="02040503050406030204" pitchFamily="18" charset="0"/>
                          </a:rPr>
                          <m:t>𝐷</m:t>
                        </m:r>
                      </m:e>
                      <m:sup>
                        <m:r>
                          <a:rPr lang="en-US" altLang="zh-CN" i="1" dirty="0">
                            <a:latin typeface="Cambria Math" panose="02040503050406030204" pitchFamily="18" charset="0"/>
                          </a:rPr>
                          <m:t>𝑖</m:t>
                        </m:r>
                      </m:sup>
                    </m:sSup>
                    <m:r>
                      <a:rPr lang="en-US" altLang="zh-CN" i="1" dirty="0">
                        <a:latin typeface="Cambria Math" panose="02040503050406030204" pitchFamily="18" charset="0"/>
                      </a:rPr>
                      <m:t> ) </m:t>
                    </m:r>
                  </m:oMath>
                </a14:m>
                <a:endParaRPr lang="en-US" altLang="zh-CN" sz="1400" dirty="0"/>
              </a:p>
              <a:p>
                <a:pPr marL="342900" indent="-342900">
                  <a:lnSpc>
                    <a:spcPct val="125000"/>
                  </a:lnSpc>
                  <a:buFont typeface="+mj-ea"/>
                  <a:buAutoNum type="circleNumDbPlain"/>
                </a:pPr>
                <a:r>
                  <a:rPr lang="en-US" altLang="zh-CN" dirty="0"/>
                  <a:t>         </a:t>
                </a:r>
                <a:r>
                  <a:rPr lang="zh-CN" altLang="en-US" dirty="0"/>
                  <a:t>取前 </a:t>
                </a:r>
                <a14:m>
                  <m:oMath xmlns:m="http://schemas.openxmlformats.org/officeDocument/2006/math">
                    <m:r>
                      <a:rPr lang="en-US" altLang="zh-CN" i="1" dirty="0" smtClean="0">
                        <a:latin typeface="Cambria Math" panose="02040503050406030204" pitchFamily="18" charset="0"/>
                      </a:rPr>
                      <m:t>𝑘</m:t>
                    </m:r>
                  </m:oMath>
                </a14:m>
                <a:r>
                  <a:rPr lang="en-US" altLang="zh-CN" i="1" dirty="0"/>
                  <a:t> </a:t>
                </a:r>
                <a:r>
                  <a:rPr lang="zh-CN" altLang="en-US" dirty="0"/>
                  <a:t>小的值的集合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𝑆</m:t>
                        </m:r>
                      </m:e>
                      <m:sub>
                        <m:r>
                          <a:rPr lang="en-US" altLang="zh-CN" i="1" dirty="0" smtClean="0">
                            <a:latin typeface="Cambria Math" panose="02040503050406030204" pitchFamily="18" charset="0"/>
                          </a:rPr>
                          <m:t>𝑘</m:t>
                        </m:r>
                      </m:sub>
                    </m:sSub>
                  </m:oMath>
                </a14:m>
                <a:r>
                  <a:rPr lang="en-US" altLang="zh-CN" i="1" dirty="0"/>
                  <a:t> </a:t>
                </a:r>
                <a:r>
                  <a:rPr lang="zh-CN" altLang="en-US" dirty="0"/>
                  <a:t>计算异常分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𝑎𝑣𝑒𝑟𝑎𝑔𝑒</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𝑆</m:t>
                        </m:r>
                      </m:e>
                      <m:sub>
                        <m:r>
                          <a:rPr lang="en-US" altLang="zh-CN" i="1" dirty="0" err="1">
                            <a:latin typeface="Cambria Math" panose="02040503050406030204" pitchFamily="18" charset="0"/>
                          </a:rPr>
                          <m:t>𝑘</m:t>
                        </m:r>
                      </m:sub>
                    </m:sSub>
                    <m:r>
                      <a:rPr lang="en-US" altLang="zh-CN" i="1" dirty="0">
                        <a:latin typeface="Cambria Math" panose="02040503050406030204" pitchFamily="18" charset="0"/>
                      </a:rPr>
                      <m:t>)</m:t>
                    </m:r>
                  </m:oMath>
                </a14:m>
                <a:r>
                  <a:rPr lang="en-US" altLang="zh-CN" dirty="0"/>
                  <a:t> </a:t>
                </a:r>
                <a:r>
                  <a:rPr lang="en-US" altLang="zh-CN" sz="1400" dirty="0"/>
                  <a:t> </a:t>
                </a:r>
                <a:endParaRPr lang="en-US" altLang="zh-CN" sz="1400" dirty="0"/>
              </a:p>
              <a:p>
                <a:pPr marL="342900" indent="-342900">
                  <a:lnSpc>
                    <a:spcPct val="125000"/>
                  </a:lnSpc>
                  <a:buFont typeface="+mj-ea"/>
                  <a:buAutoNum type="circleNumDbPlain"/>
                </a:pPr>
                <a:r>
                  <a:rPr lang="en-US" altLang="zh-CN" b="1" dirty="0"/>
                  <a:t>        if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&gt;</m:t>
                    </m:r>
                    <m:r>
                      <a:rPr lang="en-US" altLang="zh-CN" b="0" i="1" dirty="0" smtClean="0">
                        <a:latin typeface="Cambria Math" panose="02040503050406030204" pitchFamily="18" charset="0"/>
                      </a:rPr>
                      <m:t>𝜃</m:t>
                    </m:r>
                    <m:r>
                      <a:rPr lang="el-GR" altLang="zh-CN" i="1" dirty="0">
                        <a:latin typeface="Cambria Math" panose="02040503050406030204" pitchFamily="18" charset="0"/>
                      </a:rPr>
                      <m:t> </m:t>
                    </m:r>
                  </m:oMath>
                </a14:m>
                <a:r>
                  <a:rPr lang="en-US" altLang="zh-CN" b="1" dirty="0"/>
                  <a:t>then </a:t>
                </a:r>
                <a:endParaRPr lang="en-US" altLang="zh-CN" sz="1400" dirty="0"/>
              </a:p>
              <a:p>
                <a:pPr marL="342900" indent="-342900">
                  <a:lnSpc>
                    <a:spcPct val="125000"/>
                  </a:lnSpc>
                  <a:buFont typeface="+mj-ea"/>
                  <a:buAutoNum type="circleNumDbPlain"/>
                </a:pP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𝑎𝑛𝑜𝑚𝑎𝑙𝑦</m:t>
                        </m:r>
                      </m:sub>
                    </m:sSub>
                    <m:r>
                      <a:rPr lang="en-US" altLang="zh-CN" i="1" dirty="0" smtClean="0">
                        <a:latin typeface="Cambria Math" panose="02040503050406030204" pitchFamily="18" charset="0"/>
                      </a:rPr>
                      <m:t> </m:t>
                    </m:r>
                    <m:r>
                      <a:rPr lang="en-US" altLang="zh-CN" i="1" dirty="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𝐷</m:t>
                        </m:r>
                      </m:e>
                      <m:sub>
                        <m:r>
                          <a:rPr lang="en-US" altLang="zh-CN" i="1" dirty="0" err="1">
                            <a:latin typeface="Cambria Math" panose="02040503050406030204" pitchFamily="18" charset="0"/>
                          </a:rPr>
                          <m:t>𝑎𝑛𝑜𝑚𝑎𝑙𝑦</m:t>
                        </m:r>
                      </m:sub>
                    </m:sSub>
                    <m:r>
                      <a:rPr lang="en-US" altLang="zh-CN" i="1" dirty="0">
                        <a:latin typeface="Cambria Math" panose="02040503050406030204" pitchFamily="18" charset="0"/>
                      </a:rPr>
                      <m:t> ∪ </m:t>
                    </m:r>
                    <m:d>
                      <m:dPr>
                        <m:begChr m:val="{"/>
                        <m:endChr m:val="}"/>
                        <m:ctrlPr>
                          <a:rPr lang="en-US" altLang="zh-CN" i="1" dirty="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 </m:t>
                    </m:r>
                  </m:oMath>
                </a14:m>
                <a:endParaRPr lang="en-US" altLang="zh-CN" dirty="0"/>
              </a:p>
              <a:p>
                <a:pPr lvl="1">
                  <a:lnSpc>
                    <a:spcPct val="125000"/>
                  </a:lnSpc>
                </a:pPr>
                <a:r>
                  <a:rPr lang="en-US" altLang="zh-CN" dirty="0"/>
                  <a:t>                    //</a:t>
                </a:r>
                <a:r>
                  <a:rPr lang="zh-CN" altLang="en-US" dirty="0"/>
                  <a:t>将 </a:t>
                </a:r>
                <a:r>
                  <a:rPr lang="en-US" altLang="zh-CN" i="1" dirty="0"/>
                  <a:t>xi </a:t>
                </a:r>
                <a:r>
                  <a:rPr lang="zh-CN" altLang="en-US" dirty="0"/>
                  <a:t>加入异常样本集合 </a:t>
                </a:r>
                <a:endParaRPr lang="en-US" altLang="zh-CN" sz="1400" dirty="0"/>
              </a:p>
              <a:p>
                <a:pPr marL="342900" indent="-342900">
                  <a:lnSpc>
                    <a:spcPct val="125000"/>
                  </a:lnSpc>
                  <a:buFont typeface="+mj-ea"/>
                  <a:buAutoNum type="circleNumDbPlain"/>
                </a:pPr>
                <a:r>
                  <a:rPr lang="en-US" altLang="zh-CN" b="1" dirty="0"/>
                  <a:t>        end if </a:t>
                </a:r>
                <a:endParaRPr lang="en-US" altLang="zh-CN" sz="1400" b="1" dirty="0"/>
              </a:p>
              <a:p>
                <a:pPr marL="342900" indent="-342900">
                  <a:lnSpc>
                    <a:spcPct val="125000"/>
                  </a:lnSpc>
                  <a:buFont typeface="+mj-ea"/>
                  <a:buAutoNum type="circleNumDbPlain"/>
                </a:pPr>
                <a:r>
                  <a:rPr lang="en-US" altLang="zh-CN" dirty="0"/>
                  <a:t>end for</a:t>
                </a:r>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1109992" y="1754180"/>
                <a:ext cx="6540488" cy="4342920"/>
              </a:xfrm>
              <a:prstGeom prst="rect">
                <a:avLst/>
              </a:prstGeom>
              <a:blipFill rotWithShape="1">
                <a:blip r:embed="rId1"/>
                <a:stretch>
                  <a:fillRect t="-7" b="11"/>
                </a:stretch>
              </a:blipFill>
            </p:spPr>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8037854" y="1525768"/>
            <a:ext cx="2506932" cy="2434543"/>
          </a:xfrm>
          <a:prstGeom prst="rect">
            <a:avLst/>
          </a:prstGeom>
        </p:spPr>
      </p:pic>
      <p:pic>
        <p:nvPicPr>
          <p:cNvPr id="7" name="图片 6"/>
          <p:cNvPicPr>
            <a:picLocks noChangeAspect="1"/>
          </p:cNvPicPr>
          <p:nvPr/>
        </p:nvPicPr>
        <p:blipFill>
          <a:blip r:embed="rId3"/>
          <a:stretch>
            <a:fillRect/>
          </a:stretch>
        </p:blipFill>
        <p:spPr>
          <a:xfrm>
            <a:off x="8119134" y="3780814"/>
            <a:ext cx="3417505" cy="2506932"/>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近邻算法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文本框 3"/>
          <p:cNvSpPr txBox="1"/>
          <p:nvPr/>
        </p:nvSpPr>
        <p:spPr>
          <a:xfrm>
            <a:off x="1109992" y="1754180"/>
            <a:ext cx="6540488" cy="3834832"/>
          </a:xfrm>
          <a:prstGeom prst="rect">
            <a:avLst/>
          </a:prstGeom>
          <a:noFill/>
        </p:spPr>
        <p:txBody>
          <a:bodyPr wrap="square">
            <a:spAutoFit/>
          </a:bodyPr>
          <a:lstStyle/>
          <a:p>
            <a:pPr>
              <a:lnSpc>
                <a:spcPct val="150000"/>
              </a:lnSpc>
            </a:pPr>
            <a:r>
              <a:rPr lang="zh-CN" altLang="en-US" sz="2000" b="1" dirty="0">
                <a:solidFill>
                  <a:schemeClr val="accent1"/>
                </a:solidFill>
                <a:latin typeface="思源黑体 CN Regular" panose="020B0500000000000000" charset="-122"/>
                <a:ea typeface="思源黑体 CN Regular" panose="020B0500000000000000" charset="-122"/>
              </a:rPr>
              <a:t>关键要点</a:t>
            </a:r>
            <a:endParaRPr lang="en-US" altLang="zh-CN" sz="2000" b="1" dirty="0">
              <a:solidFill>
                <a:schemeClr val="accent1"/>
              </a:solidFill>
              <a:latin typeface="思源黑体 CN Regular" panose="020B0500000000000000" charset="-122"/>
              <a:ea typeface="思源黑体 CN Regular" panose="020B0500000000000000" charset="-122"/>
            </a:endParaRPr>
          </a:p>
          <a:p>
            <a:pPr marL="285750" indent="-285750">
              <a:lnSpc>
                <a:spcPct val="150000"/>
              </a:lnSpc>
              <a:buFont typeface="Wingdings" panose="05000000000000000000" pitchFamily="2" charset="2"/>
              <a:buChar char="Ø"/>
            </a:pPr>
            <a:r>
              <a:rPr lang="en-US" altLang="zh-CN" i="1" dirty="0"/>
              <a:t>k </a:t>
            </a:r>
            <a:r>
              <a:rPr lang="zh-CN" altLang="en-US" dirty="0"/>
              <a:t>值的选取</a:t>
            </a:r>
            <a:endParaRPr lang="en-US" altLang="zh-CN" dirty="0"/>
          </a:p>
          <a:p>
            <a:pPr>
              <a:lnSpc>
                <a:spcPct val="150000"/>
              </a:lnSpc>
            </a:pPr>
            <a:r>
              <a:rPr lang="en-US" altLang="zh-CN" dirty="0"/>
              <a:t>	k</a:t>
            </a:r>
            <a:r>
              <a:rPr lang="zh-CN" altLang="en-US" dirty="0"/>
              <a:t>太小 →异常值可能受个 别临近点影响</a:t>
            </a:r>
            <a:endParaRPr lang="en-US" altLang="zh-CN" dirty="0"/>
          </a:p>
          <a:p>
            <a:pPr>
              <a:lnSpc>
                <a:spcPct val="150000"/>
              </a:lnSpc>
            </a:pPr>
            <a:r>
              <a:rPr lang="en-US" altLang="zh-CN" dirty="0"/>
              <a:t>	k</a:t>
            </a:r>
            <a:r>
              <a:rPr lang="zh-CN" altLang="en-US" dirty="0"/>
              <a:t>太大 →减少了模型的波动性，边界区域的样本分类不</a:t>
            </a:r>
            <a:r>
              <a:rPr lang="en-US" altLang="zh-CN" dirty="0"/>
              <a:t>		</a:t>
            </a:r>
            <a:r>
              <a:rPr lang="zh-CN" altLang="en-US" dirty="0"/>
              <a:t>够精确</a:t>
            </a:r>
            <a:endParaRPr lang="en-US" altLang="zh-CN" dirty="0"/>
          </a:p>
          <a:p>
            <a:pPr>
              <a:lnSpc>
                <a:spcPct val="150000"/>
              </a:lnSpc>
            </a:pPr>
            <a:endParaRPr lang="en-US" altLang="zh-CN" dirty="0"/>
          </a:p>
          <a:p>
            <a:pPr marL="285750" indent="-285750">
              <a:lnSpc>
                <a:spcPct val="150000"/>
              </a:lnSpc>
              <a:buFont typeface="Wingdings" panose="05000000000000000000" pitchFamily="2" charset="2"/>
              <a:buChar char="Ø"/>
            </a:pPr>
            <a:r>
              <a:rPr lang="zh-CN" altLang="en-US" dirty="0"/>
              <a:t>距离度量</a:t>
            </a:r>
            <a:endParaRPr lang="en-US" altLang="zh-CN" dirty="0"/>
          </a:p>
          <a:p>
            <a:pPr lvl="1">
              <a:lnSpc>
                <a:spcPct val="150000"/>
              </a:lnSpc>
            </a:pPr>
            <a:r>
              <a:rPr lang="en-US" altLang="zh-CN" dirty="0"/>
              <a:t> 	</a:t>
            </a:r>
            <a:r>
              <a:rPr lang="zh-CN" altLang="en-US" dirty="0"/>
              <a:t>欧氏距离、曼哈顿距离</a:t>
            </a:r>
            <a:endParaRPr lang="en-US" altLang="zh-CN" dirty="0"/>
          </a:p>
          <a:p>
            <a:pPr>
              <a:lnSpc>
                <a:spcPct val="150000"/>
              </a:lnSpc>
            </a:pPr>
            <a:r>
              <a:rPr lang="en-US" altLang="zh-CN" dirty="0"/>
              <a:t>	</a:t>
            </a:r>
            <a:r>
              <a:rPr lang="zh-CN" altLang="en-US" dirty="0"/>
              <a:t>平均值、中位数、调整近邻样本的计算权重</a:t>
            </a:r>
            <a:endParaRPr lang="en-US" altLang="zh-CN" dirty="0"/>
          </a:p>
        </p:txBody>
      </p:sp>
      <p:pic>
        <p:nvPicPr>
          <p:cNvPr id="3" name="图片 2"/>
          <p:cNvPicPr>
            <a:picLocks noChangeAspect="1"/>
          </p:cNvPicPr>
          <p:nvPr/>
        </p:nvPicPr>
        <p:blipFill>
          <a:blip r:embed="rId1"/>
          <a:stretch>
            <a:fillRect/>
          </a:stretch>
        </p:blipFill>
        <p:spPr>
          <a:xfrm>
            <a:off x="8037854" y="1525768"/>
            <a:ext cx="2506932" cy="2434543"/>
          </a:xfrm>
          <a:prstGeom prst="rect">
            <a:avLst/>
          </a:prstGeom>
        </p:spPr>
      </p:pic>
      <p:pic>
        <p:nvPicPr>
          <p:cNvPr id="7" name="图片 6"/>
          <p:cNvPicPr>
            <a:picLocks noChangeAspect="1"/>
          </p:cNvPicPr>
          <p:nvPr/>
        </p:nvPicPr>
        <p:blipFill>
          <a:blip r:embed="rId2"/>
          <a:stretch>
            <a:fillRect/>
          </a:stretch>
        </p:blipFill>
        <p:spPr>
          <a:xfrm>
            <a:off x="8119134" y="3780814"/>
            <a:ext cx="3417505" cy="2506932"/>
          </a:xfrm>
          <a:prstGeom prst="rect">
            <a:avLst/>
          </a:prstGeom>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ABOD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文本框 3"/>
          <p:cNvSpPr txBox="1"/>
          <p:nvPr/>
        </p:nvSpPr>
        <p:spPr>
          <a:xfrm>
            <a:off x="1109992" y="1754180"/>
            <a:ext cx="6550648" cy="4619663"/>
          </a:xfrm>
          <a:prstGeom prst="rect">
            <a:avLst/>
          </a:prstGeom>
          <a:noFill/>
        </p:spPr>
        <p:txBody>
          <a:bodyPr wrap="square">
            <a:spAutoFit/>
          </a:bodyPr>
          <a:lstStyle/>
          <a:p>
            <a:pPr>
              <a:lnSpc>
                <a:spcPct val="150000"/>
              </a:lnSpc>
            </a:pPr>
            <a:r>
              <a:rPr lang="zh-CN" altLang="en-US" b="1" dirty="0">
                <a:solidFill>
                  <a:srgbClr val="006FAE"/>
                </a:solidFill>
              </a:rPr>
              <a:t>高维数据的挑战</a:t>
            </a:r>
            <a:endParaRPr lang="en-US" altLang="zh-CN" b="1" dirty="0">
              <a:solidFill>
                <a:srgbClr val="006FAE"/>
              </a:solidFill>
            </a:endParaRPr>
          </a:p>
          <a:p>
            <a:pPr marL="285750" indent="-285750">
              <a:lnSpc>
                <a:spcPct val="150000"/>
              </a:lnSpc>
              <a:buFont typeface="Arial" panose="020B0604020202020204" pitchFamily="34" charset="0"/>
              <a:buChar char="•"/>
            </a:pPr>
            <a:r>
              <a:rPr lang="zh-CN" altLang="en-US" dirty="0"/>
              <a:t>传统距离度量在高维空间失效</a:t>
            </a:r>
            <a:r>
              <a:rPr lang="en-US" altLang="zh-CN" dirty="0"/>
              <a:t>("</a:t>
            </a:r>
            <a:r>
              <a:rPr lang="zh-CN" altLang="en-US" dirty="0"/>
              <a:t>维度灾难</a:t>
            </a:r>
            <a:r>
              <a:rPr lang="en-US" altLang="zh-CN" dirty="0"/>
              <a:t>")</a:t>
            </a:r>
            <a:endParaRPr lang="en-US" altLang="zh-CN" dirty="0"/>
          </a:p>
          <a:p>
            <a:pPr marL="285750" indent="-285750">
              <a:lnSpc>
                <a:spcPct val="150000"/>
              </a:lnSpc>
              <a:buFont typeface="Arial" panose="020B0604020202020204" pitchFamily="34" charset="0"/>
              <a:buChar char="•"/>
            </a:pPr>
            <a:r>
              <a:rPr lang="zh-CN" altLang="en-US" dirty="0"/>
              <a:t>角度比距离在高维空间更加稳定</a:t>
            </a:r>
            <a:endParaRPr lang="zh-CN" altLang="en-US" dirty="0"/>
          </a:p>
          <a:p>
            <a:pPr>
              <a:lnSpc>
                <a:spcPct val="150000"/>
              </a:lnSpc>
            </a:pPr>
            <a:endParaRPr lang="en-US" altLang="zh-CN" dirty="0"/>
          </a:p>
          <a:p>
            <a:pPr>
              <a:lnSpc>
                <a:spcPct val="150000"/>
              </a:lnSpc>
            </a:pPr>
            <a:r>
              <a:rPr lang="zh-CN" altLang="en-US" b="1" dirty="0">
                <a:solidFill>
                  <a:srgbClr val="006FAE"/>
                </a:solidFill>
              </a:rPr>
              <a:t>核心假设</a:t>
            </a:r>
            <a:endParaRPr lang="en-US" altLang="zh-CN" b="1" dirty="0">
              <a:solidFill>
                <a:srgbClr val="006FAE"/>
              </a:solidFill>
            </a:endParaRPr>
          </a:p>
          <a:p>
            <a:pPr>
              <a:lnSpc>
                <a:spcPct val="150000"/>
              </a:lnSpc>
            </a:pPr>
            <a:r>
              <a:rPr lang="en-US" altLang="zh-CN" dirty="0"/>
              <a:t>        </a:t>
            </a:r>
            <a:r>
              <a:rPr lang="zh-CN" altLang="en-US" dirty="0"/>
              <a:t>如果一个样本与其他大部分样本在不同的方向上，那么该样本是异常样本</a:t>
            </a:r>
            <a:endParaRPr lang="zh-CN" altLang="en-US" dirty="0"/>
          </a:p>
          <a:p>
            <a:pPr marL="285750" indent="-285750">
              <a:lnSpc>
                <a:spcPct val="150000"/>
              </a:lnSpc>
              <a:buFont typeface="Arial" panose="020B0604020202020204" pitchFamily="34" charset="0"/>
              <a:buChar char="•"/>
            </a:pPr>
            <a:r>
              <a:rPr lang="zh-CN" altLang="en-US" dirty="0"/>
              <a:t>正常样本：与大多数样本在各个方向上分布</a:t>
            </a:r>
            <a:endParaRPr lang="zh-CN" altLang="en-US" dirty="0"/>
          </a:p>
          <a:p>
            <a:pPr marL="285750" indent="-285750">
              <a:lnSpc>
                <a:spcPct val="150000"/>
              </a:lnSpc>
              <a:buFont typeface="Arial" panose="020B0604020202020204" pitchFamily="34" charset="0"/>
              <a:buChar char="•"/>
            </a:pPr>
            <a:r>
              <a:rPr lang="zh-CN" altLang="en-US" dirty="0"/>
              <a:t>异常样本：与大多数样本在相似的方向上，夹角分布集中</a:t>
            </a:r>
            <a:endParaRPr lang="en-US" altLang="zh-CN" dirty="0"/>
          </a:p>
          <a:p>
            <a:pPr>
              <a:lnSpc>
                <a:spcPct val="150000"/>
              </a:lnSpc>
            </a:pPr>
            <a:r>
              <a:rPr lang="en-US" altLang="zh-CN" dirty="0"/>
              <a:t>      </a:t>
            </a:r>
            <a:r>
              <a:rPr lang="zh-CN" altLang="en-US" dirty="0"/>
              <a:t>这样分布的相似性可以用“方差”来度量</a:t>
            </a:r>
            <a:endParaRPr lang="zh-CN" altLang="en-US" dirty="0"/>
          </a:p>
          <a:p>
            <a:pPr>
              <a:lnSpc>
                <a:spcPct val="150000"/>
              </a:lnSpc>
            </a:pPr>
            <a:endParaRPr lang="zh-CN" altLang="en-US" dirty="0"/>
          </a:p>
        </p:txBody>
      </p:sp>
      <p:pic>
        <p:nvPicPr>
          <p:cNvPr id="5" name="图片 4"/>
          <p:cNvPicPr>
            <a:picLocks noChangeAspect="1"/>
          </p:cNvPicPr>
          <p:nvPr/>
        </p:nvPicPr>
        <p:blipFill>
          <a:blip r:embed="rId1"/>
          <a:stretch>
            <a:fillRect/>
          </a:stretch>
        </p:blipFill>
        <p:spPr>
          <a:xfrm>
            <a:off x="8169933" y="1402100"/>
            <a:ext cx="2594587" cy="2263191"/>
          </a:xfrm>
          <a:prstGeom prst="rect">
            <a:avLst/>
          </a:prstGeom>
        </p:spPr>
      </p:pic>
      <p:pic>
        <p:nvPicPr>
          <p:cNvPr id="9" name="图片 8"/>
          <p:cNvPicPr>
            <a:picLocks noChangeAspect="1"/>
          </p:cNvPicPr>
          <p:nvPr/>
        </p:nvPicPr>
        <p:blipFill>
          <a:blip r:embed="rId2"/>
          <a:stretch>
            <a:fillRect/>
          </a:stretch>
        </p:blipFill>
        <p:spPr>
          <a:xfrm>
            <a:off x="8236616" y="3726251"/>
            <a:ext cx="3462623" cy="2588023"/>
          </a:xfrm>
          <a:prstGeom prst="rect">
            <a:avLst/>
          </a:prstGeom>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ABOD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1155712" y="1601780"/>
                <a:ext cx="6550648" cy="4290149"/>
              </a:xfrm>
              <a:prstGeom prst="rect">
                <a:avLst/>
              </a:prstGeom>
              <a:noFill/>
            </p:spPr>
            <p:txBody>
              <a:bodyPr wrap="square">
                <a:spAutoFit/>
              </a:bodyPr>
              <a:lstStyle/>
              <a:p>
                <a:pPr>
                  <a:lnSpc>
                    <a:spcPct val="125000"/>
                  </a:lnSpc>
                </a:pPr>
                <a:r>
                  <a:rPr lang="zh-CN" altLang="en-US" b="1" dirty="0"/>
                  <a:t>衡量指标</a:t>
                </a:r>
                <a:endParaRPr lang="en-US" altLang="zh-CN" b="1" dirty="0"/>
              </a:p>
              <a:p>
                <a14:m>
                  <m:oMathPara xmlns:m="http://schemas.openxmlformats.org/officeDocument/2006/math">
                    <m:oMathParaPr>
                      <m:jc m:val="centerGroup"/>
                    </m:oMathParaPr>
                    <m:oMath xmlns:m="http://schemas.openxmlformats.org/officeDocument/2006/math">
                      <m:r>
                        <a:rPr lang="es-ES" altLang="zh-CN" i="1" dirty="0" smtClean="0">
                          <a:latin typeface="Cambria Math" panose="02040503050406030204" pitchFamily="18" charset="0"/>
                        </a:rPr>
                        <m:t>𝐴𝐵𝑂𝐷</m:t>
                      </m:r>
                      <m:d>
                        <m:dPr>
                          <m:ctrlPr>
                            <a:rPr lang="es-ES" altLang="zh-CN" i="1" dirty="0" smtClean="0">
                              <a:latin typeface="Cambria Math" panose="02040503050406030204" pitchFamily="18" charset="0"/>
                            </a:rPr>
                          </m:ctrlPr>
                        </m:dPr>
                        <m:e>
                          <m:r>
                            <a:rPr lang="es-ES" altLang="zh-CN" b="1" i="1" dirty="0">
                              <a:latin typeface="Cambria Math" panose="02040503050406030204" pitchFamily="18" charset="0"/>
                            </a:rPr>
                            <m:t>𝒙</m:t>
                          </m:r>
                        </m:e>
                      </m:d>
                      <m:r>
                        <a:rPr lang="en-US" altLang="zh-CN" b="0" i="1" dirty="0" smtClean="0">
                          <a:latin typeface="Cambria Math" panose="02040503050406030204" pitchFamily="18" charset="0"/>
                        </a:rPr>
                        <m:t>= </m:t>
                      </m:r>
                      <m:sSub>
                        <m:sSubPr>
                          <m:ctrlPr>
                            <a:rPr lang="es-ES" altLang="zh-CN" i="1" dirty="0" smtClean="0">
                              <a:latin typeface="Cambria Math" panose="02040503050406030204" pitchFamily="18" charset="0"/>
                            </a:rPr>
                          </m:ctrlPr>
                        </m:sSubPr>
                        <m:e>
                          <m:r>
                            <a:rPr lang="en-US" altLang="zh-CN" b="0" i="1" dirty="0" smtClean="0">
                              <a:latin typeface="Cambria Math" panose="02040503050406030204" pitchFamily="18" charset="0"/>
                            </a:rPr>
                            <m:t>𝑉𝐴𝑅</m:t>
                          </m:r>
                        </m:e>
                        <m:sub>
                          <m:r>
                            <a:rPr lang="en-US" altLang="zh-CN" b="1" i="1" dirty="0" smtClean="0">
                              <a:latin typeface="Cambria Math" panose="02040503050406030204" pitchFamily="18" charset="0"/>
                            </a:rPr>
                            <m:t>𝒚</m:t>
                          </m:r>
                          <m:r>
                            <a:rPr lang="en-US" altLang="zh-CN" b="0" i="1" dirty="0" smtClean="0">
                              <a:latin typeface="Cambria Math" panose="02040503050406030204" pitchFamily="18" charset="0"/>
                            </a:rPr>
                            <m:t>∈</m:t>
                          </m:r>
                          <m:r>
                            <m:rPr>
                              <m:sty m:val="p"/>
                            </m:rPr>
                            <a:rPr lang="en-US" altLang="zh-CN" i="1" dirty="0">
                              <a:latin typeface="Cambria Math" panose="02040503050406030204" pitchFamily="18" charset="0"/>
                            </a:rPr>
                            <m:t>D</m:t>
                          </m:r>
                        </m:sub>
                      </m:sSub>
                      <m:f>
                        <m:fPr>
                          <m:ctrlPr>
                            <a:rPr lang="en-US" altLang="zh-CN" b="1" i="1" dirty="0" smtClean="0">
                              <a:latin typeface="Cambria Math" panose="02040503050406030204" pitchFamily="18" charset="0"/>
                            </a:rPr>
                          </m:ctrlPr>
                        </m:fPr>
                        <m:num>
                          <m:d>
                            <m:dPr>
                              <m:ctrlPr>
                                <a:rPr lang="en-US" altLang="zh-CN" b="0" i="1" dirty="0" smtClean="0">
                                  <a:latin typeface="Cambria Math" panose="02040503050406030204" pitchFamily="18" charset="0"/>
                                </a:rPr>
                              </m:ctrlPr>
                            </m:dPr>
                            <m:e>
                              <m:r>
                                <a:rPr lang="es-ES" altLang="zh-CN" b="1" i="1" dirty="0" smtClean="0">
                                  <a:latin typeface="Cambria Math" panose="02040503050406030204" pitchFamily="18" charset="0"/>
                                </a:rPr>
                                <m:t>𝒙</m:t>
                              </m:r>
                              <m:r>
                                <a:rPr lang="es-ES" altLang="zh-CN" i="1" dirty="0">
                                  <a:latin typeface="Cambria Math" panose="02040503050406030204" pitchFamily="18" charset="0"/>
                                </a:rPr>
                                <m:t>·</m:t>
                              </m:r>
                              <m:r>
                                <a:rPr lang="es-ES" altLang="zh-CN" b="1" i="1" dirty="0">
                                  <a:latin typeface="Cambria Math" panose="02040503050406030204" pitchFamily="18" charset="0"/>
                                </a:rPr>
                                <m:t>𝒚</m:t>
                              </m:r>
                            </m:e>
                          </m:d>
                        </m:num>
                        <m:den>
                          <m:r>
                            <a:rPr lang="es-ES" altLang="zh-CN" i="1" dirty="0">
                              <a:latin typeface="Cambria Math" panose="02040503050406030204" pitchFamily="18" charset="0"/>
                            </a:rPr>
                            <m:t>|</m:t>
                          </m:r>
                          <m:r>
                            <a:rPr lang="es-ES" altLang="zh-CN" b="1" i="1" dirty="0">
                              <a:latin typeface="Cambria Math" panose="02040503050406030204" pitchFamily="18" charset="0"/>
                            </a:rPr>
                            <m:t>𝒙</m:t>
                          </m:r>
                          <m:r>
                            <a:rPr lang="es-ES" altLang="zh-CN" i="1" dirty="0">
                              <a:latin typeface="Cambria Math" panose="02040503050406030204" pitchFamily="18" charset="0"/>
                            </a:rPr>
                            <m:t>||</m:t>
                          </m:r>
                          <m:r>
                            <a:rPr lang="es-ES" altLang="zh-CN" b="1" i="1" dirty="0">
                              <a:latin typeface="Cambria Math" panose="02040503050406030204" pitchFamily="18" charset="0"/>
                            </a:rPr>
                            <m:t>𝒚</m:t>
                          </m:r>
                          <m:r>
                            <a:rPr lang="en-US" altLang="zh-CN" b="1" i="1" dirty="0" smtClean="0">
                              <a:latin typeface="Cambria Math" panose="02040503050406030204" pitchFamily="18" charset="0"/>
                            </a:rPr>
                            <m:t>|</m:t>
                          </m:r>
                        </m:den>
                      </m:f>
                    </m:oMath>
                  </m:oMathPara>
                </a14:m>
                <a:endParaRPr lang="en-US" altLang="zh-CN" b="1" dirty="0"/>
              </a:p>
              <a:p>
                <a:r>
                  <a:rPr lang="zh-CN" altLang="en-US" sz="1600" dirty="0"/>
                  <a:t>其中 </a:t>
                </a:r>
                <a14:m>
                  <m:oMath xmlns:m="http://schemas.openxmlformats.org/officeDocument/2006/math">
                    <m:r>
                      <m:rPr>
                        <m:sty m:val="p"/>
                      </m:rPr>
                      <a:rPr lang="en-US" altLang="zh-CN" sz="1600" b="0" i="1" dirty="0">
                        <a:latin typeface="Cambria Math" panose="02040503050406030204" pitchFamily="18" charset="0"/>
                      </a:rPr>
                      <m:t>x</m:t>
                    </m:r>
                  </m:oMath>
                </a14:m>
                <a:r>
                  <a:rPr lang="en-US" altLang="zh-CN" sz="1600" dirty="0"/>
                  <a:t> </a:t>
                </a:r>
                <a:r>
                  <a:rPr lang="zh-CN" altLang="en-US" sz="1600" dirty="0"/>
                  <a:t>和 </a:t>
                </a:r>
                <a14:m>
                  <m:oMath xmlns:m="http://schemas.openxmlformats.org/officeDocument/2006/math">
                    <m:r>
                      <m:rPr>
                        <m:sty m:val="p"/>
                      </m:rPr>
                      <a:rPr lang="en-US" altLang="zh-CN" sz="1600" b="0" i="1" dirty="0">
                        <a:latin typeface="Cambria Math" panose="02040503050406030204" pitchFamily="18" charset="0"/>
                      </a:rPr>
                      <m:t>y</m:t>
                    </m:r>
                    <m:r>
                      <a:rPr lang="en-US" altLang="zh-CN" sz="1600" b="0" dirty="0">
                        <a:latin typeface="Cambria Math" panose="02040503050406030204" pitchFamily="18" charset="0"/>
                      </a:rPr>
                      <m:t> </m:t>
                    </m:r>
                  </m:oMath>
                </a14:m>
                <a:r>
                  <a:rPr lang="zh-CN" altLang="en-US" sz="1600" dirty="0"/>
                  <a:t>为数据集中样本的特征向量， </a:t>
                </a:r>
                <a:r>
                  <a:rPr lang="en-US" altLang="zh-CN" sz="1600" dirty="0"/>
                  <a:t>VAR</a:t>
                </a:r>
                <a:r>
                  <a:rPr lang="zh-CN" altLang="en-US" sz="1600" dirty="0"/>
                  <a:t>为方差。</a:t>
                </a:r>
                <a:endParaRPr lang="en-US" altLang="zh-CN" sz="1600" dirty="0"/>
              </a:p>
              <a:p>
                <a:endParaRPr lang="en-US" altLang="zh-CN" sz="1600" dirty="0"/>
              </a:p>
              <a:p>
                <a:pPr>
                  <a:lnSpc>
                    <a:spcPct val="125000"/>
                  </a:lnSpc>
                </a:pPr>
                <a:r>
                  <a:rPr lang="zh-CN" altLang="en-US" b="1" dirty="0"/>
                  <a:t>计算过程</a:t>
                </a:r>
                <a:endParaRPr lang="en-US" altLang="zh-CN" b="1" dirty="0"/>
              </a:p>
              <a:p>
                <a:pPr marL="342900" indent="-342900">
                  <a:lnSpc>
                    <a:spcPct val="110000"/>
                  </a:lnSpc>
                  <a:buFont typeface="+mj-ea"/>
                  <a:buAutoNum type="circleNumDbPlain"/>
                </a:pPr>
                <a:r>
                  <a:rPr lang="zh-CN" altLang="en-US" sz="1600" dirty="0"/>
                  <a:t>计算样本</a:t>
                </a:r>
                <a:r>
                  <a:rPr lang="en-US" altLang="zh-CN" sz="1600" dirty="0"/>
                  <a:t>x</a:t>
                </a:r>
                <a:r>
                  <a:rPr lang="zh-CN" altLang="en-US" sz="1600" dirty="0"/>
                  <a:t>与其他所有样本</a:t>
                </a:r>
                <a:r>
                  <a:rPr lang="en-US" altLang="zh-CN" sz="1600" dirty="0"/>
                  <a:t>y</a:t>
                </a:r>
                <a:r>
                  <a:rPr lang="zh-CN" altLang="en-US" sz="1600" dirty="0"/>
                  <a:t>之间的余弦相似度</a:t>
                </a:r>
                <a:endParaRPr lang="en-US" altLang="zh-CN" sz="1600" dirty="0"/>
              </a:p>
              <a:p>
                <a:pPr marL="342900" indent="-342900">
                  <a:lnSpc>
                    <a:spcPct val="110000"/>
                  </a:lnSpc>
                  <a:buFont typeface="+mj-ea"/>
                  <a:buAutoNum type="circleNumDbPlain"/>
                </a:pPr>
                <a:r>
                  <a:rPr lang="zh-CN" altLang="en-US" sz="1600" dirty="0"/>
                  <a:t>余弦相似度反映向量间夹角大小</a:t>
                </a:r>
                <a:endParaRPr lang="en-US" altLang="zh-CN" sz="1600" dirty="0"/>
              </a:p>
              <a:p>
                <a:pPr marL="342900" indent="-342900">
                  <a:lnSpc>
                    <a:spcPct val="110000"/>
                  </a:lnSpc>
                  <a:buFont typeface="+mj-ea"/>
                  <a:buAutoNum type="circleNumDbPlain"/>
                </a:pPr>
                <a:r>
                  <a:rPr lang="zh-CN" altLang="en-US" sz="1600" dirty="0"/>
                  <a:t>计算所有余弦相似度的方差</a:t>
                </a:r>
                <a:endParaRPr lang="zh-CN" altLang="en-US" sz="1600" dirty="0"/>
              </a:p>
              <a:p>
                <a:pPr marL="457200" lvl="2"/>
                <a:r>
                  <a:rPr lang="zh-CN" altLang="en-US" sz="1600" dirty="0"/>
                  <a:t>方差小：夹角分布集中 → 异常点</a:t>
                </a:r>
                <a:endParaRPr lang="zh-CN" altLang="en-US" sz="1600" dirty="0"/>
              </a:p>
              <a:p>
                <a:pPr marL="457200" lvl="2"/>
                <a:r>
                  <a:rPr lang="zh-CN" altLang="en-US" sz="1600" dirty="0"/>
                  <a:t>方差大：夹角分布分散 → 正常点</a:t>
                </a:r>
                <a:endParaRPr lang="zh-CN" altLang="en-US" sz="1600" dirty="0"/>
              </a:p>
              <a:p>
                <a:r>
                  <a:rPr lang="en-US" altLang="zh-CN" sz="1600" dirty="0"/>
                  <a:t>        </a:t>
                </a:r>
                <a:r>
                  <a:rPr lang="zh-CN" altLang="en-US" sz="1600" dirty="0"/>
                  <a:t>集中与分散可以使用 阈值 来区分</a:t>
                </a:r>
                <a:endParaRPr lang="en-US" altLang="zh-CN" sz="1600" dirty="0"/>
              </a:p>
              <a:p>
                <a:endParaRPr lang="en-US" altLang="zh-CN" sz="1600" dirty="0"/>
              </a:p>
              <a:p>
                <a:pPr>
                  <a:lnSpc>
                    <a:spcPct val="125000"/>
                  </a:lnSpc>
                </a:pPr>
                <a:r>
                  <a:rPr lang="zh-CN" altLang="en-US" b="1" dirty="0"/>
                  <a:t>时间复杂度</a:t>
                </a:r>
                <a:endParaRPr lang="en-US" altLang="zh-CN" b="1" dirty="0"/>
              </a:p>
              <a:p>
                <a:pPr>
                  <a:lnSpc>
                    <a:spcPct val="125000"/>
                  </a:lnSpc>
                </a:pPr>
                <a:r>
                  <a:rPr lang="en-US" altLang="zh-CN" sz="1600" dirty="0"/>
                  <a:t> </a:t>
                </a:r>
                <a14:m>
                  <m:oMath xmlns:m="http://schemas.openxmlformats.org/officeDocument/2006/math">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3</m:t>
                        </m:r>
                      </m:sup>
                    </m:sSup>
                    <m:r>
                      <a:rPr lang="en-US" altLang="zh-CN" sz="1600" b="0" i="1" smtClean="0">
                        <a:latin typeface="Cambria Math" panose="02040503050406030204" pitchFamily="18" charset="0"/>
                      </a:rPr>
                      <m:t>𝑑</m:t>
                    </m:r>
                    <m:r>
                      <a:rPr lang="en-US" altLang="zh-CN" sz="1600" b="0" i="1" smtClean="0">
                        <a:latin typeface="Cambria Math" panose="02040503050406030204" pitchFamily="18" charset="0"/>
                      </a:rPr>
                      <m:t>)</m:t>
                    </m:r>
                    <m:r>
                      <a:rPr lang="zh-CN" altLang="en-US" sz="1600" i="1">
                        <a:latin typeface="Cambria Math" panose="02040503050406030204" pitchFamily="18" charset="0"/>
                      </a:rPr>
                      <m:t>，</m:t>
                    </m:r>
                  </m:oMath>
                </a14:m>
                <a:r>
                  <a:rPr lang="zh-CN" altLang="en-US" sz="1600" dirty="0"/>
                  <a:t>其中</a:t>
                </a:r>
                <a14:m>
                  <m:oMath xmlns:m="http://schemas.openxmlformats.org/officeDocument/2006/math">
                    <m:r>
                      <a:rPr lang="en-US" altLang="zh-CN" sz="1600" i="1" dirty="0" smtClean="0">
                        <a:latin typeface="Cambria Math" panose="02040503050406030204" pitchFamily="18" charset="0"/>
                      </a:rPr>
                      <m:t>𝑛</m:t>
                    </m:r>
                  </m:oMath>
                </a14:m>
                <a:r>
                  <a:rPr lang="zh-CN" altLang="en-US" sz="1600" dirty="0"/>
                  <a:t>为数据集的大小，</a:t>
                </a:r>
                <a14:m>
                  <m:oMath xmlns:m="http://schemas.openxmlformats.org/officeDocument/2006/math">
                    <m:r>
                      <a:rPr lang="en-US" altLang="zh-CN" sz="1600" i="1" dirty="0" smtClean="0">
                        <a:latin typeface="Cambria Math" panose="02040503050406030204" pitchFamily="18" charset="0"/>
                      </a:rPr>
                      <m:t>𝑑</m:t>
                    </m:r>
                  </m:oMath>
                </a14:m>
                <a:r>
                  <a:rPr lang="zh-CN" altLang="en-US" sz="1600" dirty="0"/>
                  <a:t>为特征向量的维度</a:t>
                </a:r>
                <a:endParaRPr lang="en-US" altLang="zh-CN" sz="1600" dirty="0"/>
              </a:p>
            </p:txBody>
          </p:sp>
        </mc:Choice>
        <mc:Fallback>
          <p:sp>
            <p:nvSpPr>
              <p:cNvPr id="4" name="文本框 3"/>
              <p:cNvSpPr txBox="1">
                <a:spLocks noRot="1" noChangeAspect="1" noMove="1" noResize="1" noEditPoints="1" noAdjustHandles="1" noChangeArrowheads="1" noChangeShapeType="1" noTextEdit="1"/>
              </p:cNvSpPr>
              <p:nvPr/>
            </p:nvSpPr>
            <p:spPr>
              <a:xfrm>
                <a:off x="1155712" y="1601780"/>
                <a:ext cx="6550648" cy="4290149"/>
              </a:xfrm>
              <a:prstGeom prst="rect">
                <a:avLst/>
              </a:prstGeom>
              <a:blipFill rotWithShape="1">
                <a:blip r:embed="rId1"/>
                <a:stretch>
                  <a:fillRect t="-7" b="9"/>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8169933" y="1402100"/>
            <a:ext cx="2594587" cy="2263191"/>
          </a:xfrm>
          <a:prstGeom prst="rect">
            <a:avLst/>
          </a:prstGeom>
        </p:spPr>
      </p:pic>
      <p:pic>
        <p:nvPicPr>
          <p:cNvPr id="9" name="图片 8"/>
          <p:cNvPicPr>
            <a:picLocks noChangeAspect="1"/>
          </p:cNvPicPr>
          <p:nvPr/>
        </p:nvPicPr>
        <p:blipFill>
          <a:blip r:embed="rId3"/>
          <a:stretch>
            <a:fillRect/>
          </a:stretch>
        </p:blipFill>
        <p:spPr>
          <a:xfrm>
            <a:off x="8236616" y="3726251"/>
            <a:ext cx="3462623" cy="2588023"/>
          </a:xfrm>
          <a:prstGeom prst="rect">
            <a:avLst/>
          </a:prstGeom>
        </p:spPr>
      </p:pic>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基于距离的异常检测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ABOD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1247152" y="1754180"/>
                <a:ext cx="6550648" cy="4301306"/>
              </a:xfrm>
              <a:prstGeom prst="rect">
                <a:avLst/>
              </a:prstGeom>
              <a:noFill/>
            </p:spPr>
            <p:txBody>
              <a:bodyPr wrap="square">
                <a:spAutoFit/>
              </a:bodyPr>
              <a:lstStyle/>
              <a:p>
                <a:pPr>
                  <a:lnSpc>
                    <a:spcPct val="150000"/>
                  </a:lnSpc>
                </a:pPr>
                <a:r>
                  <a:rPr lang="zh-CN" altLang="en-US" b="1" dirty="0"/>
                  <a:t>改进版本</a:t>
                </a:r>
                <a:r>
                  <a:rPr lang="en-US" altLang="zh-CN" b="1" dirty="0"/>
                  <a:t>——</a:t>
                </a:r>
                <a:r>
                  <a:rPr lang="en-US" altLang="zh-CN" b="1" dirty="0" err="1"/>
                  <a:t>FastABOD</a:t>
                </a:r>
                <a:r>
                  <a:rPr lang="zh-CN" altLang="en-US" b="1" dirty="0"/>
                  <a:t>算法</a:t>
                </a:r>
                <a:endParaRPr lang="en-US" altLang="zh-CN" b="1" dirty="0"/>
              </a:p>
              <a:p>
                <a:pPr marL="285750" indent="-285750">
                  <a:lnSpc>
                    <a:spcPct val="150000"/>
                  </a:lnSpc>
                  <a:buFont typeface="Arial" panose="020B0604020202020204" pitchFamily="34" charset="0"/>
                  <a:buChar char="•"/>
                </a:pPr>
                <a:r>
                  <a:rPr lang="zh-CN" altLang="en-US" sz="1600" dirty="0"/>
                  <a:t>核心思想：使用</a:t>
                </a:r>
                <a:r>
                  <a:rPr lang="en-US" altLang="zh-CN" sz="1600" b="1" dirty="0"/>
                  <a:t>k</a:t>
                </a:r>
                <a:r>
                  <a:rPr lang="zh-CN" altLang="en-US" sz="1600" b="1" dirty="0"/>
                  <a:t>最近邻样本来近似方差</a:t>
                </a:r>
                <a:endParaRPr lang="en-US" altLang="zh-CN" sz="1600" b="1" dirty="0"/>
              </a:p>
              <a:p>
                <a:pPr marL="800100" lvl="1" indent="-342900">
                  <a:lnSpc>
                    <a:spcPct val="150000"/>
                  </a:lnSpc>
                  <a:buFont typeface="+mj-ea"/>
                  <a:buAutoNum type="circleNumDbPlain"/>
                </a:pPr>
                <a:r>
                  <a:rPr lang="zh-CN" altLang="en-US" sz="1600" dirty="0"/>
                  <a:t>计算样本</a:t>
                </a:r>
                <a:r>
                  <a:rPr lang="en-US" altLang="zh-CN" sz="1600" dirty="0"/>
                  <a:t>x</a:t>
                </a:r>
                <a:r>
                  <a:rPr lang="zh-CN" altLang="en-US" sz="1600" dirty="0"/>
                  <a:t>与</a:t>
                </a:r>
                <a:r>
                  <a:rPr lang="en-US" altLang="zh-CN" sz="1600" dirty="0">
                    <a:solidFill>
                      <a:srgbClr val="006FAE"/>
                    </a:solidFill>
                  </a:rPr>
                  <a:t>k</a:t>
                </a:r>
                <a:r>
                  <a:rPr lang="zh-CN" altLang="en-US" sz="1600" dirty="0">
                    <a:solidFill>
                      <a:srgbClr val="006FAE"/>
                    </a:solidFill>
                  </a:rPr>
                  <a:t>个最近邻居</a:t>
                </a:r>
                <a14:m>
                  <m:oMath xmlns:m="http://schemas.openxmlformats.org/officeDocument/2006/math">
                    <m:sSub>
                      <m:sSubPr>
                        <m:ctrlPr>
                          <a:rPr lang="en-US" altLang="zh-CN" sz="1600" b="0" i="1" dirty="0" smtClean="0">
                            <a:solidFill>
                              <a:srgbClr val="006FAE"/>
                            </a:solidFill>
                            <a:latin typeface="Cambria Math" panose="02040503050406030204" pitchFamily="18" charset="0"/>
                          </a:rPr>
                        </m:ctrlPr>
                      </m:sSubPr>
                      <m:e>
                        <m:r>
                          <a:rPr lang="en-US" altLang="zh-CN" sz="1600" i="1" dirty="0" smtClean="0">
                            <a:solidFill>
                              <a:srgbClr val="006FAE"/>
                            </a:solidFill>
                            <a:latin typeface="Cambria Math" panose="02040503050406030204" pitchFamily="18" charset="0"/>
                          </a:rPr>
                          <m:t>𝑁</m:t>
                        </m:r>
                      </m:e>
                      <m:sub>
                        <m:r>
                          <a:rPr lang="en-US" altLang="zh-CN" sz="1600" b="0" i="1" dirty="0" smtClean="0">
                            <a:solidFill>
                              <a:srgbClr val="006FAE"/>
                            </a:solidFill>
                            <a:latin typeface="Cambria Math" panose="02040503050406030204" pitchFamily="18" charset="0"/>
                          </a:rPr>
                          <m:t>𝑘</m:t>
                        </m:r>
                      </m:sub>
                    </m:sSub>
                    <m:r>
                      <a:rPr lang="en-US" altLang="zh-CN" sz="1600" i="1" dirty="0" smtClean="0">
                        <a:solidFill>
                          <a:srgbClr val="006FAE"/>
                        </a:solidFill>
                        <a:latin typeface="Cambria Math" panose="02040503050406030204" pitchFamily="18" charset="0"/>
                      </a:rPr>
                      <m:t>(</m:t>
                    </m:r>
                    <m:r>
                      <a:rPr lang="en-US" altLang="zh-CN" sz="1600" i="1" dirty="0" smtClean="0">
                        <a:solidFill>
                          <a:srgbClr val="006FAE"/>
                        </a:solidFill>
                        <a:latin typeface="Cambria Math" panose="02040503050406030204" pitchFamily="18" charset="0"/>
                      </a:rPr>
                      <m:t>𝑥</m:t>
                    </m:r>
                    <m:r>
                      <a:rPr lang="en-US" altLang="zh-CN" sz="1600" i="1" dirty="0" smtClean="0">
                        <a:solidFill>
                          <a:srgbClr val="006FAE"/>
                        </a:solidFill>
                        <a:latin typeface="Cambria Math" panose="02040503050406030204" pitchFamily="18" charset="0"/>
                      </a:rPr>
                      <m:t>ᵢ)</m:t>
                    </m:r>
                  </m:oMath>
                </a14:m>
                <a:r>
                  <a:rPr lang="zh-CN" altLang="en-US" sz="1600" dirty="0"/>
                  <a:t>之间的余弦相似度</a:t>
                </a:r>
                <a:endParaRPr lang="en-US" altLang="zh-CN" sz="1600" dirty="0"/>
              </a:p>
              <a:p>
                <a:pPr marL="800100" lvl="1" indent="-342900">
                  <a:lnSpc>
                    <a:spcPct val="150000"/>
                  </a:lnSpc>
                  <a:buFont typeface="+mj-ea"/>
                  <a:buAutoNum type="circleNumDbPlain"/>
                </a:pPr>
                <a:r>
                  <a:rPr lang="en-US" altLang="zh-CN" sz="1600" dirty="0"/>
                  <a:t>…</a:t>
                </a:r>
                <a:endParaRPr lang="en-US" altLang="zh-CN" sz="1600" dirty="0"/>
              </a:p>
              <a:p>
                <a:pPr marL="800100" lvl="1" indent="-342900">
                  <a:lnSpc>
                    <a:spcPct val="150000"/>
                  </a:lnSpc>
                  <a:buFont typeface="+mj-ea"/>
                  <a:buAutoNum type="circleNumDbPlain"/>
                </a:pPr>
                <a:r>
                  <a:rPr lang="en-US" altLang="zh-CN" sz="1600" dirty="0"/>
                  <a:t>…</a:t>
                </a:r>
                <a:endParaRPr lang="zh-CN" altLang="en-US" sz="1600" dirty="0"/>
              </a:p>
              <a:p>
                <a:pPr marL="285750" indent="-285750">
                  <a:lnSpc>
                    <a:spcPct val="150000"/>
                  </a:lnSpc>
                  <a:buFont typeface="Arial" panose="020B0604020202020204" pitchFamily="34" charset="0"/>
                  <a:buChar char="•"/>
                </a:pPr>
                <a:r>
                  <a:rPr lang="zh-CN" altLang="en-US" sz="1600" dirty="0"/>
                  <a:t>随着</a:t>
                </a:r>
                <a:r>
                  <a:rPr lang="en-US" altLang="zh-CN" sz="1600" dirty="0"/>
                  <a:t>k</a:t>
                </a:r>
                <a:r>
                  <a:rPr lang="zh-CN" altLang="en-US" sz="1600" dirty="0"/>
                  <a:t>值增加，结果会收敛到真实方差</a:t>
                </a:r>
                <a:endParaRPr lang="en-US" altLang="zh-CN" sz="1600" dirty="0"/>
              </a:p>
              <a:p>
                <a:pPr>
                  <a:lnSpc>
                    <a:spcPct val="150000"/>
                  </a:lnSpc>
                </a:pPr>
                <a:endParaRPr lang="zh-CN" altLang="en-US" b="1" dirty="0"/>
              </a:p>
              <a:p>
                <a:pPr>
                  <a:lnSpc>
                    <a:spcPct val="150000"/>
                  </a:lnSpc>
                </a:pPr>
                <a:r>
                  <a:rPr lang="zh-CN" altLang="en-US" b="1" dirty="0"/>
                  <a:t>计算复杂度问题</a:t>
                </a:r>
                <a:endParaRPr lang="zh-CN" altLang="en-US" dirty="0"/>
              </a:p>
              <a:p>
                <a:pPr marL="285750" indent="-285750">
                  <a:lnSpc>
                    <a:spcPct val="150000"/>
                  </a:lnSpc>
                  <a:buFont typeface="Arial" panose="020B0604020202020204" pitchFamily="34" charset="0"/>
                  <a:buChar char="•"/>
                </a:pPr>
                <a:r>
                  <a:rPr lang="zh-CN" altLang="en-US" sz="1600" dirty="0"/>
                  <a:t>原始</a:t>
                </a:r>
                <a:r>
                  <a:rPr lang="en-US" altLang="zh-CN" sz="1600" dirty="0"/>
                  <a:t>ABOD</a:t>
                </a:r>
                <a:r>
                  <a:rPr lang="zh-CN" altLang="en-US" sz="1600" dirty="0"/>
                  <a:t>：时间复杂度</a:t>
                </a:r>
                <a14:m>
                  <m:oMath xmlns:m="http://schemas.openxmlformats.org/officeDocument/2006/math">
                    <m:r>
                      <a:rPr lang="en-US" altLang="zh-CN" sz="1600" i="1" dirty="0" smtClean="0">
                        <a:latin typeface="Cambria Math" panose="02040503050406030204" pitchFamily="18" charset="0"/>
                      </a:rPr>
                      <m:t>𝑂</m:t>
                    </m:r>
                    <m:r>
                      <a:rPr lang="en-US" altLang="zh-CN" sz="1600" i="1" dirty="0" smtClean="0">
                        <a:latin typeface="Cambria Math" panose="02040503050406030204" pitchFamily="18" charset="0"/>
                      </a:rPr>
                      <m:t>(</m:t>
                    </m:r>
                    <m:r>
                      <a:rPr lang="en-US" altLang="zh-CN" sz="1600" i="1" dirty="0" smtClean="0">
                        <a:latin typeface="Cambria Math" panose="02040503050406030204" pitchFamily="18" charset="0"/>
                      </a:rPr>
                      <m:t>𝑛</m:t>
                    </m:r>
                    <m:r>
                      <a:rPr lang="en-US" altLang="zh-CN" sz="1600" i="1" dirty="0" smtClean="0">
                        <a:latin typeface="Cambria Math" panose="02040503050406030204" pitchFamily="18" charset="0"/>
                      </a:rPr>
                      <m:t>³</m:t>
                    </m:r>
                    <m:r>
                      <a:rPr lang="en-US" altLang="zh-CN" sz="1600" i="1" dirty="0" smtClean="0">
                        <a:latin typeface="Cambria Math" panose="02040503050406030204" pitchFamily="18" charset="0"/>
                      </a:rPr>
                      <m:t>𝑑</m:t>
                    </m:r>
                    <m:r>
                      <a:rPr lang="en-US" altLang="zh-CN" sz="1600" i="1" dirty="0" smtClean="0">
                        <a:latin typeface="Cambria Math" panose="02040503050406030204" pitchFamily="18" charset="0"/>
                      </a:rPr>
                      <m:t>)</m:t>
                    </m:r>
                  </m:oMath>
                </a14:m>
                <a:r>
                  <a:rPr lang="zh-CN" altLang="en-US" sz="1600" dirty="0"/>
                  <a:t>，难以应用于大规模数据集</a:t>
                </a:r>
                <a:endParaRPr lang="en-US" altLang="zh-CN" sz="1600" dirty="0"/>
              </a:p>
              <a:p>
                <a:pPr marL="285750" indent="-285750">
                  <a:lnSpc>
                    <a:spcPct val="150000"/>
                  </a:lnSpc>
                  <a:buFont typeface="Arial" panose="020B0604020202020204" pitchFamily="34" charset="0"/>
                  <a:buChar char="•"/>
                </a:pPr>
                <a:r>
                  <a:rPr lang="zh-CN" altLang="en-US" sz="1600" dirty="0"/>
                  <a:t>改进后复杂度：</a:t>
                </a:r>
                <a:r>
                  <a:rPr lang="en-US" altLang="zh-CN" i="1" dirty="0"/>
                  <a:t> </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𝑛</m:t>
                        </m:r>
                      </m:e>
                      <m:sup>
                        <m:r>
                          <a:rPr lang="en-US" altLang="zh-CN" i="1" dirty="0" smtClean="0">
                            <a:latin typeface="Cambria Math" panose="02040503050406030204" pitchFamily="18" charset="0"/>
                          </a:rPr>
                          <m:t>2</m:t>
                        </m:r>
                      </m:sup>
                    </m:sSup>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𝑛</m:t>
                    </m:r>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𝑘</m:t>
                        </m:r>
                      </m:e>
                      <m:sup>
                        <m:r>
                          <a:rPr lang="en-US" altLang="zh-CN" i="1" dirty="0" smtClean="0">
                            <a:latin typeface="Cambria Math" panose="02040503050406030204" pitchFamily="18" charset="0"/>
                          </a:rPr>
                          <m:t>2</m:t>
                        </m:r>
                      </m:sup>
                    </m:sSup>
                    <m:r>
                      <a:rPr lang="en-US" altLang="zh-CN" b="0" i="1" dirty="0" smtClean="0">
                        <a:latin typeface="Cambria Math" panose="02040503050406030204" pitchFamily="18" charset="0"/>
                      </a:rPr>
                      <m:t>)</m:t>
                    </m:r>
                  </m:oMath>
                </a14:m>
                <a:endParaRPr lang="zh-CN" altLang="en-US" sz="1600" dirty="0"/>
              </a:p>
              <a:p>
                <a:pPr>
                  <a:lnSpc>
                    <a:spcPct val="150000"/>
                  </a:lnSpc>
                </a:pPr>
                <a:endParaRPr lang="en-US" altLang="zh-CN" sz="1600" dirty="0"/>
              </a:p>
            </p:txBody>
          </p:sp>
        </mc:Choice>
        <mc:Fallback>
          <p:sp>
            <p:nvSpPr>
              <p:cNvPr id="4" name="文本框 3"/>
              <p:cNvSpPr txBox="1">
                <a:spLocks noRot="1" noChangeAspect="1" noMove="1" noResize="1" noEditPoints="1" noAdjustHandles="1" noChangeArrowheads="1" noChangeShapeType="1" noTextEdit="1"/>
              </p:cNvSpPr>
              <p:nvPr/>
            </p:nvSpPr>
            <p:spPr>
              <a:xfrm>
                <a:off x="1247152" y="1754180"/>
                <a:ext cx="6550648" cy="4301306"/>
              </a:xfrm>
              <a:prstGeom prst="rect">
                <a:avLst/>
              </a:prstGeom>
              <a:blipFill rotWithShape="1">
                <a:blip r:embed="rId1"/>
                <a:stretch>
                  <a:fillRect t="-7" b="3"/>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8169933" y="1402100"/>
            <a:ext cx="2594587" cy="2263191"/>
          </a:xfrm>
          <a:prstGeom prst="rect">
            <a:avLst/>
          </a:prstGeom>
        </p:spPr>
      </p:pic>
      <p:pic>
        <p:nvPicPr>
          <p:cNvPr id="9" name="图片 8"/>
          <p:cNvPicPr>
            <a:picLocks noChangeAspect="1"/>
          </p:cNvPicPr>
          <p:nvPr/>
        </p:nvPicPr>
        <p:blipFill>
          <a:blip r:embed="rId3"/>
          <a:stretch>
            <a:fillRect/>
          </a:stretch>
        </p:blipFill>
        <p:spPr>
          <a:xfrm>
            <a:off x="8236616" y="3726251"/>
            <a:ext cx="3462623" cy="2588023"/>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基于聚类的异常检测</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mn-ea"/>
                <a:sym typeface="Arial" panose="020B0604020202020204" pitchFamily="34" charset="0"/>
              </a:rPr>
              <a:t>Clustering-based Anomaly Detection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基于聚类的异常检测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文本框 1"/>
          <p:cNvSpPr txBox="1"/>
          <p:nvPr/>
        </p:nvSpPr>
        <p:spPr>
          <a:xfrm>
            <a:off x="1267472" y="1051862"/>
            <a:ext cx="6540488" cy="2249783"/>
          </a:xfrm>
          <a:prstGeom prst="rect">
            <a:avLst/>
          </a:prstGeom>
          <a:noFill/>
        </p:spPr>
        <p:txBody>
          <a:bodyPr wrap="square">
            <a:spAutoFit/>
          </a:bodyPr>
          <a:lstStyle/>
          <a:p>
            <a:pPr>
              <a:lnSpc>
                <a:spcPct val="150000"/>
              </a:lnSpc>
            </a:pPr>
            <a:r>
              <a:rPr lang="zh-CN" altLang="en-US" sz="2000" b="1" dirty="0">
                <a:solidFill>
                  <a:schemeClr val="accent1"/>
                </a:solidFill>
                <a:latin typeface="思源黑体 CN Regular" panose="020B0500000000000000" charset="-122"/>
                <a:ea typeface="思源黑体 CN Regular" panose="020B0500000000000000" charset="-122"/>
              </a:rPr>
              <a:t>基本假设</a:t>
            </a:r>
            <a:endParaRPr lang="en-US" altLang="zh-CN" sz="2000" b="1" dirty="0">
              <a:solidFill>
                <a:schemeClr val="accent1"/>
              </a:solidFill>
              <a:latin typeface="思源黑体 CN Regular" panose="020B0500000000000000" charset="-122"/>
              <a:ea typeface="思源黑体 CN Regular" panose="020B0500000000000000" charset="-122"/>
            </a:endParaRPr>
          </a:p>
          <a:p>
            <a:pPr marL="285750" indent="-285750">
              <a:lnSpc>
                <a:spcPct val="150000"/>
              </a:lnSpc>
              <a:buFont typeface="Wingdings" panose="05000000000000000000" pitchFamily="2" charset="2"/>
              <a:buChar char="Ø"/>
            </a:pPr>
            <a:r>
              <a:rPr lang="zh-CN" altLang="en-US" dirty="0"/>
              <a:t>正常数据：形成密集、紧凑的簇结构</a:t>
            </a:r>
            <a:r>
              <a:rPr lang="en-US" altLang="zh-CN" dirty="0"/>
              <a:t>	</a:t>
            </a:r>
            <a:endParaRPr lang="en-US" altLang="zh-CN" dirty="0"/>
          </a:p>
          <a:p>
            <a:pPr marL="285750" indent="-285750">
              <a:lnSpc>
                <a:spcPct val="150000"/>
              </a:lnSpc>
              <a:buFont typeface="Wingdings" panose="05000000000000000000" pitchFamily="2" charset="2"/>
              <a:buChar char="Ø"/>
            </a:pPr>
            <a:r>
              <a:rPr lang="zh-CN" altLang="en-US" dirty="0"/>
              <a:t>异常数据： </a:t>
            </a:r>
            <a:endParaRPr lang="en-US" altLang="zh-CN" dirty="0"/>
          </a:p>
          <a:p>
            <a:pPr marL="1257300" lvl="2" indent="-342900">
              <a:buFont typeface="+mj-lt"/>
              <a:buAutoNum type="arabicPeriod"/>
            </a:pPr>
            <a:r>
              <a:rPr lang="zh-CN" altLang="en-US" sz="1600" dirty="0"/>
              <a:t>不属于任何簇（噪声点）    </a:t>
            </a:r>
            <a:r>
              <a:rPr lang="en-US" altLang="zh-CN" sz="1600" dirty="0"/>
              <a:t>2.   </a:t>
            </a:r>
            <a:r>
              <a:rPr lang="zh-CN" altLang="en-US" sz="1600" dirty="0"/>
              <a:t>形成极小的孤立簇</a:t>
            </a:r>
            <a:endParaRPr lang="zh-CN" altLang="en-US" sz="1600" dirty="0"/>
          </a:p>
          <a:p>
            <a:pPr lvl="2"/>
            <a:r>
              <a:rPr lang="en-US" altLang="zh-CN" sz="1600" dirty="0"/>
              <a:t>3.    </a:t>
            </a:r>
            <a:r>
              <a:rPr lang="zh-CN" altLang="en-US" sz="1600" dirty="0"/>
              <a:t>位于簇的边界</a:t>
            </a:r>
            <a:r>
              <a:rPr lang="en-US" altLang="zh-CN" sz="1600" dirty="0"/>
              <a:t>/</a:t>
            </a:r>
            <a:r>
              <a:rPr lang="zh-CN" altLang="en-US" sz="1600" dirty="0"/>
              <a:t>稀疏区域      </a:t>
            </a:r>
            <a:r>
              <a:rPr lang="en-US" altLang="zh-CN" sz="1600" dirty="0"/>
              <a:t>4.   </a:t>
            </a:r>
            <a:r>
              <a:rPr lang="zh-CN" altLang="en-US" sz="1600" dirty="0"/>
              <a:t>与其他簇距离显著较大</a:t>
            </a:r>
            <a:endParaRPr lang="zh-CN" altLang="en-US" sz="1600" dirty="0"/>
          </a:p>
          <a:p>
            <a:pPr marL="285750" indent="-285750">
              <a:lnSpc>
                <a:spcPct val="150000"/>
              </a:lnSpc>
              <a:buFont typeface="Wingdings" panose="05000000000000000000" pitchFamily="2" charset="2"/>
              <a:buChar char="Ø"/>
            </a:pPr>
            <a:endParaRPr lang="en-US" altLang="zh-CN" dirty="0"/>
          </a:p>
        </p:txBody>
      </p:sp>
      <p:pic>
        <p:nvPicPr>
          <p:cNvPr id="7" name="图片 6"/>
          <p:cNvPicPr>
            <a:picLocks noChangeAspect="1"/>
          </p:cNvPicPr>
          <p:nvPr/>
        </p:nvPicPr>
        <p:blipFill>
          <a:blip r:embed="rId1"/>
          <a:stretch>
            <a:fillRect/>
          </a:stretch>
        </p:blipFill>
        <p:spPr>
          <a:xfrm>
            <a:off x="1701198" y="3007933"/>
            <a:ext cx="3191970" cy="2138017"/>
          </a:xfrm>
          <a:prstGeom prst="rect">
            <a:avLst/>
          </a:prstGeom>
        </p:spPr>
      </p:pic>
      <p:pic>
        <p:nvPicPr>
          <p:cNvPr id="8" name="图片 7"/>
          <p:cNvPicPr>
            <a:picLocks noChangeAspect="1"/>
          </p:cNvPicPr>
          <p:nvPr/>
        </p:nvPicPr>
        <p:blipFill>
          <a:blip r:embed="rId2"/>
          <a:srcRect b="8811"/>
          <a:stretch>
            <a:fillRect/>
          </a:stretch>
        </p:blipFill>
        <p:spPr>
          <a:xfrm>
            <a:off x="7298833" y="3083263"/>
            <a:ext cx="3625695" cy="2159000"/>
          </a:xfrm>
          <a:prstGeom prst="rect">
            <a:avLst/>
          </a:prstGeom>
        </p:spPr>
      </p:pic>
      <p:sp>
        <p:nvSpPr>
          <p:cNvPr id="9" name="矩形 8"/>
          <p:cNvSpPr/>
          <p:nvPr/>
        </p:nvSpPr>
        <p:spPr>
          <a:xfrm>
            <a:off x="4894600" y="3292112"/>
            <a:ext cx="1960838" cy="1569660"/>
          </a:xfrm>
          <a:prstGeom prst="rect">
            <a:avLst/>
          </a:prstGeom>
        </p:spPr>
        <p:txBody>
          <a:bodyPr wrap="square" l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9600" i="1" dirty="0">
                <a:gradFill flip="none" rotWithShape="1">
                  <a:gsLst>
                    <a:gs pos="100000">
                      <a:schemeClr val="bg1"/>
                    </a:gs>
                    <a:gs pos="45000">
                      <a:srgbClr val="C96A0B"/>
                    </a:gs>
                  </a:gsLst>
                  <a:lin ang="5400000" scaled="1"/>
                  <a:tileRect/>
                </a:gradFill>
                <a:latin typeface="Impact" panose="020B0806030902050204" pitchFamily="34" charset="0"/>
              </a:rPr>
              <a:t>vs</a:t>
            </a:r>
            <a:endParaRPr lang="zh-CN" altLang="en-US" sz="9600" i="1" dirty="0">
              <a:gradFill flip="none" rotWithShape="1">
                <a:gsLst>
                  <a:gs pos="100000">
                    <a:schemeClr val="bg1"/>
                  </a:gs>
                  <a:gs pos="45000">
                    <a:srgbClr val="C96A0B"/>
                  </a:gs>
                </a:gsLst>
                <a:lin ang="5400000" scaled="1"/>
                <a:tileRect/>
              </a:gradFill>
              <a:latin typeface="Impact" panose="020B0806030902050204" pitchFamily="34" charset="0"/>
            </a:endParaRPr>
          </a:p>
        </p:txBody>
      </p:sp>
      <p:sp>
        <p:nvSpPr>
          <p:cNvPr id="18" name="文本框 17"/>
          <p:cNvSpPr txBox="1"/>
          <p:nvPr/>
        </p:nvSpPr>
        <p:spPr>
          <a:xfrm>
            <a:off x="1873941" y="5466197"/>
            <a:ext cx="3625694" cy="1015663"/>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无需先验分布假设</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可发现局部与全局异常</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结果可视化直观（簇结构</a:t>
            </a:r>
            <a:r>
              <a:rPr lang="en-US" altLang="zh-CN" sz="12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异常点标注）</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适用于多维数据场景</a:t>
            </a: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p:txBody>
      </p:sp>
      <p:sp>
        <p:nvSpPr>
          <p:cNvPr id="19" name="文本框 18"/>
          <p:cNvSpPr txBox="1"/>
          <p:nvPr/>
        </p:nvSpPr>
        <p:spPr>
          <a:xfrm>
            <a:off x="7854950" y="5598705"/>
            <a:ext cx="2498090" cy="1015663"/>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简单易用</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思源黑体 CN Regular" panose="020B0500000000000000" charset="-122"/>
              <a:buChar char="×"/>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可能需数据分布假设</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思源黑体 CN Regular" panose="020B0500000000000000" charset="-122"/>
              <a:buChar char="×"/>
            </a:pPr>
            <a:r>
              <a:rPr lang="zh-CN" altLang="en-US" sz="1200" dirty="0">
                <a:solidFill>
                  <a:schemeClr val="tx1">
                    <a:lumMod val="75000"/>
                    <a:lumOff val="25000"/>
                  </a:schemeClr>
                </a:solidFill>
                <a:latin typeface="思源黑体 CN Regular" panose="020B0500000000000000" charset="-122"/>
                <a:ea typeface="思源黑体 CN Regular" panose="020B0500000000000000" charset="-122"/>
              </a:rPr>
              <a:t>多维数据处理能力</a:t>
            </a: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思源黑体 CN Regular" panose="020B0500000000000000" charset="-122"/>
              <a:buChar char="×"/>
            </a:pPr>
            <a:endParaRPr lang="en-US" altLang="zh-CN" sz="12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buFont typeface="Wingdings" panose="05000000000000000000" pitchFamily="2" charset="2"/>
              <a:buChar char="ü"/>
            </a:pPr>
            <a:endParaRPr lang="zh-CN" altLang="en-US" sz="1200" dirty="0">
              <a:solidFill>
                <a:schemeClr val="tx1">
                  <a:lumMod val="75000"/>
                  <a:lumOff val="25000"/>
                </a:schemeClr>
              </a:solidFill>
              <a:latin typeface="思源黑体 CN Regular" panose="020B0500000000000000" charset="-122"/>
              <a:ea typeface="思源黑体 CN Regular" panose="020B0500000000000000" charset="-122"/>
            </a:endParaRPr>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基于聚类的异常检测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OFP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1109990" y="1754180"/>
                <a:ext cx="8794297" cy="4879349"/>
              </a:xfrm>
              <a:prstGeom prst="rect">
                <a:avLst/>
              </a:prstGeom>
              <a:noFill/>
            </p:spPr>
            <p:txBody>
              <a:bodyPr wrap="square">
                <a:spAutoFit/>
              </a:bodyPr>
              <a:lstStyle/>
              <a:p>
                <a:pPr>
                  <a:lnSpc>
                    <a:spcPct val="175000"/>
                  </a:lnSpc>
                </a:pPr>
                <a:r>
                  <a:rPr lang="zh-CN" altLang="en-US" b="1" dirty="0"/>
                  <a:t>两阶段处理：</a:t>
                </a:r>
                <a:endParaRPr lang="zh-CN" altLang="en-US" b="1" dirty="0"/>
              </a:p>
              <a:p>
                <a:pPr marL="742950" lvl="1" indent="-285750">
                  <a:lnSpc>
                    <a:spcPct val="175000"/>
                  </a:lnSpc>
                  <a:buFont typeface="Arial" panose="020B0604020202020204" pitchFamily="34" charset="0"/>
                  <a:buChar char="•"/>
                </a:pPr>
                <a:r>
                  <a:rPr lang="zh-CN" altLang="en-US" dirty="0"/>
                  <a:t>第一阶段：改良</a:t>
                </a:r>
                <a:r>
                  <a:rPr lang="en-US" altLang="zh-CN" b="1" dirty="0"/>
                  <a:t>k-means</a:t>
                </a:r>
                <a:r>
                  <a:rPr lang="zh-CN" altLang="en-US" b="1" dirty="0"/>
                  <a:t>聚类</a:t>
                </a:r>
                <a:r>
                  <a:rPr lang="zh-CN" altLang="en-US" dirty="0"/>
                  <a:t>，允许产生</a:t>
                </a:r>
                <a:r>
                  <a:rPr lang="zh-CN" altLang="en-US" b="1" dirty="0"/>
                  <a:t>更多簇</a:t>
                </a:r>
                <a14:m>
                  <m:oMath xmlns:m="http://schemas.openxmlformats.org/officeDocument/2006/math">
                    <m:r>
                      <a:rPr lang="en-US" altLang="zh-CN" b="1" i="1">
                        <a:latin typeface="Cambria Math" panose="02040503050406030204" pitchFamily="18" charset="0"/>
                      </a:rPr>
                      <m:t>𝒌</m:t>
                    </m:r>
                    <m:r>
                      <a:rPr lang="en-US" altLang="zh-CN" b="1" i="1" smtClean="0">
                        <a:latin typeface="Cambria Math" panose="02040503050406030204" pitchFamily="18" charset="0"/>
                      </a:rPr>
                      <m:t>’</m:t>
                    </m:r>
                  </m:oMath>
                </a14:m>
                <a:r>
                  <a:rPr lang="zh-CN" altLang="en-US" dirty="0"/>
                  <a:t>（</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𝑘</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&gt;</m:t>
                    </m:r>
                    <m:r>
                      <a:rPr lang="en-US" altLang="zh-CN" b="0" i="1" smtClean="0">
                        <a:latin typeface="Cambria Math" panose="02040503050406030204" pitchFamily="18" charset="0"/>
                      </a:rPr>
                      <m:t>𝑘</m:t>
                    </m:r>
                    <m:r>
                      <a:rPr lang="zh-CN" altLang="en-US" i="1">
                        <a:latin typeface="Cambria Math" panose="02040503050406030204" pitchFamily="18" charset="0"/>
                      </a:rPr>
                      <m:t>，</m:t>
                    </m:r>
                  </m:oMath>
                </a14:m>
                <a:r>
                  <a:rPr lang="zh-CN" altLang="en-US" dirty="0"/>
                  <a:t>包含潜在异常簇）</a:t>
                </a:r>
                <a:endParaRPr lang="zh-CN" altLang="en-US" dirty="0"/>
              </a:p>
              <a:p>
                <a:pPr marL="742950" lvl="1" indent="-285750">
                  <a:lnSpc>
                    <a:spcPct val="175000"/>
                  </a:lnSpc>
                  <a:buFont typeface="Arial" panose="020B0604020202020204" pitchFamily="34" charset="0"/>
                  <a:buChar char="•"/>
                </a:pPr>
                <a:r>
                  <a:rPr lang="zh-CN" altLang="en-US" dirty="0"/>
                  <a:t>第二阶段：构建</a:t>
                </a:r>
                <a:r>
                  <a:rPr lang="zh-CN" altLang="en-US" b="1" dirty="0"/>
                  <a:t>最小生成树</a:t>
                </a:r>
                <a:r>
                  <a:rPr lang="en-US" altLang="zh-CN" b="1" dirty="0"/>
                  <a:t>(MST)</a:t>
                </a:r>
                <a:r>
                  <a:rPr lang="zh-CN" altLang="en-US" dirty="0"/>
                  <a:t>，通过树分割（逐步裁剪最大边并形成子树）识别异常（节点数较少的子树）</a:t>
                </a:r>
                <a:endParaRPr lang="en-US" altLang="zh-CN" dirty="0"/>
              </a:p>
              <a:p>
                <a:pPr marL="742950" lvl="1" indent="-285750">
                  <a:lnSpc>
                    <a:spcPct val="175000"/>
                  </a:lnSpc>
                  <a:buFont typeface="Arial" panose="020B0604020202020204" pitchFamily="34" charset="0"/>
                  <a:buChar char="•"/>
                </a:pPr>
                <a:endParaRPr lang="en-US" altLang="zh-CN" dirty="0"/>
              </a:p>
              <a:p>
                <a:pPr>
                  <a:lnSpc>
                    <a:spcPct val="175000"/>
                  </a:lnSpc>
                </a:pPr>
                <a:r>
                  <a:rPr lang="zh-CN" altLang="en-US" b="1" dirty="0"/>
                  <a:t>关键创新点</a:t>
                </a:r>
                <a:endParaRPr lang="zh-CN" altLang="en-US" b="1" dirty="0"/>
              </a:p>
              <a:p>
                <a:pPr marL="742950" lvl="1" indent="-285750">
                  <a:lnSpc>
                    <a:spcPct val="175000"/>
                  </a:lnSpc>
                  <a:buFont typeface="Arial" panose="020B0604020202020204" pitchFamily="34" charset="0"/>
                  <a:buChar char="•"/>
                </a:pPr>
                <a:r>
                  <a:rPr lang="zh-CN" altLang="en-US" dirty="0"/>
                  <a:t>改良</a:t>
                </a:r>
                <a:r>
                  <a:rPr lang="en-US" altLang="zh-CN" dirty="0"/>
                  <a:t>k-means</a:t>
                </a:r>
                <a:r>
                  <a:rPr lang="zh-CN" altLang="en-US" dirty="0"/>
                  <a:t>：自动调整簇数量，适应异常点分布</a:t>
                </a:r>
                <a:endParaRPr lang="zh-CN" altLang="en-US" dirty="0"/>
              </a:p>
              <a:p>
                <a:pPr marL="742950" lvl="1" indent="-285750">
                  <a:lnSpc>
                    <a:spcPct val="175000"/>
                  </a:lnSpc>
                  <a:buFont typeface="Arial" panose="020B0604020202020204" pitchFamily="34" charset="0"/>
                  <a:buChar char="•"/>
                </a:pPr>
                <a:r>
                  <a:rPr lang="en-US" altLang="zh-CN" b="1" dirty="0"/>
                  <a:t>MST</a:t>
                </a:r>
                <a:r>
                  <a:rPr lang="zh-CN" altLang="en-US" dirty="0"/>
                  <a:t>处理：基于簇间几何距离而非密度，避免对密度均匀性假设</a:t>
                </a:r>
                <a:endParaRPr lang="zh-CN" altLang="en-US" dirty="0"/>
              </a:p>
              <a:p>
                <a:pPr marL="742950" lvl="1" indent="-285750">
                  <a:lnSpc>
                    <a:spcPct val="175000"/>
                  </a:lnSpc>
                  <a:buFont typeface="Arial" panose="020B0604020202020204" pitchFamily="34" charset="0"/>
                  <a:buChar char="•"/>
                </a:pPr>
                <a:r>
                  <a:rPr lang="zh-CN" altLang="en-US" dirty="0"/>
                  <a:t>高效实现：</a:t>
                </a:r>
                <a:r>
                  <a:rPr lang="en-US" altLang="zh-CN" dirty="0"/>
                  <a:t>MST</a:t>
                </a:r>
                <a:r>
                  <a:rPr lang="zh-CN" altLang="en-US" dirty="0"/>
                  <a:t>构建时间复杂度</a:t>
                </a:r>
                <a:r>
                  <a:rPr lang="en-US" altLang="zh-CN" dirty="0"/>
                  <a:t>O(n²)</a:t>
                </a:r>
                <a:r>
                  <a:rPr lang="zh-CN" altLang="en-US" dirty="0"/>
                  <a:t>，优于层次聚类的</a:t>
                </a:r>
                <a:r>
                  <a:rPr lang="en-US" altLang="zh-CN" dirty="0"/>
                  <a:t>O(n³)</a:t>
                </a:r>
                <a:endParaRPr lang="en-US" altLang="zh-CN" dirty="0"/>
              </a:p>
              <a:p>
                <a:pPr>
                  <a:lnSpc>
                    <a:spcPct val="175000"/>
                  </a:lnSpc>
                </a:pPr>
                <a:endParaRPr lang="en-US" altLang="zh-CN" dirty="0"/>
              </a:p>
            </p:txBody>
          </p:sp>
        </mc:Choice>
        <mc:Fallback>
          <p:sp>
            <p:nvSpPr>
              <p:cNvPr id="4" name="文本框 3"/>
              <p:cNvSpPr txBox="1">
                <a:spLocks noRot="1" noChangeAspect="1" noMove="1" noResize="1" noEditPoints="1" noAdjustHandles="1" noChangeArrowheads="1" noChangeShapeType="1" noTextEdit="1"/>
              </p:cNvSpPr>
              <p:nvPr/>
            </p:nvSpPr>
            <p:spPr>
              <a:xfrm>
                <a:off x="1109990" y="1754180"/>
                <a:ext cx="8794297" cy="4879349"/>
              </a:xfrm>
              <a:prstGeom prst="rect">
                <a:avLst/>
              </a:prstGeom>
              <a:blipFill rotWithShape="1">
                <a:blip r:embed="rId1"/>
                <a:stretch>
                  <a:fillRect t="-6" r="2" b="7"/>
                </a:stretch>
              </a:blipFill>
            </p:spPr>
            <p:txBody>
              <a:bodyPr/>
              <a:lstStyle/>
              <a:p>
                <a:r>
                  <a:rPr lang="zh-CN" altLang="en-US">
                    <a:noFill/>
                  </a:rPr>
                  <a:t> </a:t>
                </a:r>
              </a:p>
            </p:txBody>
          </p:sp>
        </mc:Fallback>
      </mc:AlternateContent>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基于聚类的异常检测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OFP </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1223007" y="1795276"/>
                <a:ext cx="6263575" cy="4260397"/>
              </a:xfrm>
              <a:prstGeom prst="rect">
                <a:avLst/>
              </a:prstGeom>
              <a:noFill/>
            </p:spPr>
            <p:txBody>
              <a:bodyPr wrap="square">
                <a:spAutoFit/>
              </a:bodyPr>
              <a:lstStyle/>
              <a:p>
                <a:pPr>
                  <a:lnSpc>
                    <a:spcPct val="150000"/>
                  </a:lnSpc>
                </a:pPr>
                <a:r>
                  <a:rPr lang="zh-CN" altLang="en-US" sz="1600" b="1" dirty="0"/>
                  <a:t>第一阶段（</a:t>
                </a:r>
                <a:r>
                  <a:rPr lang="en-US" altLang="zh-CN" sz="1600" b="1" dirty="0"/>
                  <a:t>N</a:t>
                </a:r>
                <a:r>
                  <a:rPr lang="zh-CN" altLang="en-US" sz="1600" b="1" dirty="0"/>
                  <a:t>为数据集大小，</a:t>
                </a:r>
                <a14:m>
                  <m:oMath xmlns:m="http://schemas.openxmlformats.org/officeDocument/2006/math">
                    <m:sSub>
                      <m:sSubPr>
                        <m:ctrlPr>
                          <a:rPr lang="en-US" altLang="zh-CN" sz="1600" b="1" i="1" dirty="0" smtClean="0">
                            <a:latin typeface="Cambria Math" panose="02040503050406030204" pitchFamily="18" charset="0"/>
                          </a:rPr>
                        </m:ctrlPr>
                      </m:sSubPr>
                      <m:e>
                        <m:r>
                          <a:rPr lang="en-US" altLang="zh-CN" sz="1600" b="1" i="1" dirty="0" smtClean="0">
                            <a:latin typeface="Cambria Math" panose="02040503050406030204" pitchFamily="18" charset="0"/>
                          </a:rPr>
                          <m:t>𝑪</m:t>
                        </m:r>
                      </m:e>
                      <m:sub>
                        <m:r>
                          <a:rPr lang="en-US" altLang="zh-CN" sz="1600" b="1" i="1" dirty="0" smtClean="0">
                            <a:latin typeface="Cambria Math" panose="02040503050406030204" pitchFamily="18" charset="0"/>
                          </a:rPr>
                          <m:t>𝒊</m:t>
                        </m:r>
                      </m:sub>
                    </m:sSub>
                    <m:r>
                      <a:rPr lang="en-US" altLang="zh-CN" sz="1600" b="1" i="0" dirty="0" smtClean="0">
                        <a:latin typeface="Cambria Math" panose="02040503050406030204" pitchFamily="18" charset="0"/>
                      </a:rPr>
                      <m:t> </m:t>
                    </m:r>
                    <m:r>
                      <a:rPr lang="zh-CN" altLang="en-US" sz="1600" b="1" i="1" dirty="0">
                        <a:latin typeface="Cambria Math" panose="02040503050406030204" pitchFamily="18" charset="0"/>
                      </a:rPr>
                      <m:t>为</m:t>
                    </m:r>
                  </m:oMath>
                </a14:m>
                <a:r>
                  <a:rPr lang="zh-CN" altLang="en-US" sz="1600" b="1" dirty="0"/>
                  <a:t>第</a:t>
                </a:r>
                <a14:m>
                  <m:oMath xmlns:m="http://schemas.openxmlformats.org/officeDocument/2006/math">
                    <m:r>
                      <a:rPr lang="en-US" altLang="zh-CN" sz="1600" b="1" i="1" dirty="0" smtClean="0">
                        <a:latin typeface="Cambria Math" panose="02040503050406030204" pitchFamily="18" charset="0"/>
                      </a:rPr>
                      <m:t>𝒊</m:t>
                    </m:r>
                  </m:oMath>
                </a14:m>
                <a:r>
                  <a:rPr lang="zh-CN" altLang="en-US" sz="1600" b="1" dirty="0"/>
                  <a:t>个簇）</a:t>
                </a:r>
                <a:endParaRPr lang="en-US" altLang="zh-CN" sz="1600" b="1" dirty="0"/>
              </a:p>
              <a:p>
                <a:pPr marL="342900" indent="-342900">
                  <a:lnSpc>
                    <a:spcPct val="150000"/>
                  </a:lnSpc>
                  <a:buFont typeface="+mj-ea"/>
                  <a:buAutoNum type="circleNumDbPlain"/>
                </a:pPr>
                <a:r>
                  <a:rPr lang="zh-CN" altLang="en-US" sz="1600" dirty="0"/>
                  <a:t>令</a:t>
                </a:r>
                <a14:m>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𝑘</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𝑘</m:t>
                    </m:r>
                    <m:r>
                      <a:rPr lang="zh-CN" altLang="en-US" sz="1600" i="1">
                        <a:latin typeface="Cambria Math" panose="02040503050406030204" pitchFamily="18" charset="0"/>
                      </a:rPr>
                      <m:t>，</m:t>
                    </m:r>
                  </m:oMath>
                </a14:m>
                <a:r>
                  <a:rPr lang="zh-CN" altLang="en-US" sz="1600" dirty="0"/>
                  <a:t>随机选择</a:t>
                </a:r>
                <a14:m>
                  <m:oMath xmlns:m="http://schemas.openxmlformats.org/officeDocument/2006/math">
                    <m:r>
                      <m:rPr>
                        <m:sty m:val="p"/>
                      </m:rPr>
                      <a:rPr lang="en-US" altLang="zh-CN" sz="1600" i="1" dirty="0">
                        <a:latin typeface="Cambria Math" panose="02040503050406030204" pitchFamily="18" charset="0"/>
                      </a:rPr>
                      <m:t>k</m:t>
                    </m:r>
                    <m:r>
                      <a:rPr lang="en-US" altLang="zh-CN" sz="1600" i="1" dirty="0" smtClean="0">
                        <a:latin typeface="Cambria Math" panose="02040503050406030204" pitchFamily="18" charset="0"/>
                      </a:rPr>
                      <m:t>’</m:t>
                    </m:r>
                    <m:r>
                      <a:rPr lang="zh-CN" altLang="en-US" sz="1600" i="1" dirty="0">
                        <a:latin typeface="Cambria Math" panose="02040503050406030204" pitchFamily="18" charset="0"/>
                      </a:rPr>
                      <m:t>个</m:t>
                    </m:r>
                    <m:r>
                      <a:rPr lang="zh-CN" altLang="en-US" sz="1600" i="1" dirty="0" smtClean="0">
                        <a:latin typeface="Cambria Math" panose="02040503050406030204" pitchFamily="18" charset="0"/>
                      </a:rPr>
                      <m:t>初始</m:t>
                    </m:r>
                  </m:oMath>
                </a14:m>
                <a:r>
                  <a:rPr lang="zh-CN" altLang="en-US" sz="1600" dirty="0"/>
                  <a:t>数据点作为类簇中心</a:t>
                </a:r>
                <a:endParaRPr lang="en-US" altLang="zh-CN" sz="1600" dirty="0"/>
              </a:p>
              <a:p>
                <a:pPr marL="342900" indent="-342900">
                  <a:lnSpc>
                    <a:spcPct val="150000"/>
                  </a:lnSpc>
                  <a:buFont typeface="+mj-ea"/>
                  <a:buAutoNum type="circleNumDbPlain"/>
                </a:pPr>
                <a:r>
                  <a:rPr lang="zh-CN" altLang="en-US" sz="1600" dirty="0"/>
                  <a:t>对于 </a:t>
                </a:r>
                <a14:m>
                  <m:oMath xmlns:m="http://schemas.openxmlformats.org/officeDocument/2006/math">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2</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𝑁</m:t>
                    </m:r>
                    <m:r>
                      <a:rPr lang="en-US" altLang="zh-CN" sz="1600" b="0" i="1" smtClean="0">
                        <a:latin typeface="Cambria Math" panose="02040503050406030204" pitchFamily="18" charset="0"/>
                      </a:rPr>
                      <m:t> </m:t>
                    </m:r>
                  </m:oMath>
                </a14:m>
                <a:r>
                  <a:rPr lang="en-US" altLang="zh-CN" sz="1600" dirty="0"/>
                  <a:t>do</a:t>
                </a:r>
                <a:endParaRPr lang="en-US" altLang="zh-CN" sz="1600" dirty="0"/>
              </a:p>
              <a:p>
                <a:pPr marL="342900" indent="-342900">
                  <a:lnSpc>
                    <a:spcPct val="150000"/>
                  </a:lnSpc>
                  <a:buFont typeface="+mj-ea"/>
                  <a:buAutoNum type="circleNumDbPlain"/>
                </a:pPr>
                <a:r>
                  <a:rPr lang="en-US" altLang="zh-CN" sz="1600" dirty="0"/>
                  <a:t>	</a:t>
                </a:r>
                <a:r>
                  <a:rPr lang="zh-CN" altLang="en-US" sz="1600" dirty="0"/>
                  <a:t>计算</a:t>
                </a:r>
                <a14:m>
                  <m:oMath xmlns:m="http://schemas.openxmlformats.org/officeDocument/2006/math">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min</m:t>
                        </m:r>
                      </m:fName>
                      <m:e>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𝐶</m:t>
                            </m:r>
                          </m:e>
                        </m:d>
                      </m:e>
                    </m:func>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func>
                          <m:funcPr>
                            <m:ctrlPr>
                              <a:rPr lang="en-US" altLang="zh-CN" sz="1600" b="0" i="1" smtClean="0">
                                <a:latin typeface="Cambria Math" panose="02040503050406030204" pitchFamily="18" charset="0"/>
                              </a:rPr>
                            </m:ctrlPr>
                          </m:funcPr>
                          <m:fName>
                            <m:limLow>
                              <m:limLowPr>
                                <m:ctrlPr>
                                  <a:rPr lang="en-US" altLang="zh-CN" sz="1600" b="0" i="1" smtClean="0">
                                    <a:latin typeface="Cambria Math" panose="02040503050406030204" pitchFamily="18" charset="0"/>
                                  </a:rPr>
                                </m:ctrlPr>
                              </m:limLowPr>
                              <m:e>
                                <m:r>
                                  <m:rPr>
                                    <m:sty m:val="p"/>
                                  </m:rPr>
                                  <a:rPr lang="en-US" altLang="zh-CN" sz="1600" b="0" i="0" smtClean="0">
                                    <a:latin typeface="Cambria Math" panose="02040503050406030204" pitchFamily="18" charset="0"/>
                                  </a:rPr>
                                  <m:t>min</m:t>
                                </m:r>
                              </m:e>
                              <m:lim>
                                <m:r>
                                  <m:rPr>
                                    <m:sty m:val="p"/>
                                  </m:rPr>
                                  <a:rPr lang="en-US" altLang="zh-CN" sz="1600" b="0" i="0" smtClean="0">
                                    <a:latin typeface="Cambria Math" panose="02040503050406030204" pitchFamily="18" charset="0"/>
                                  </a:rPr>
                                  <m:t>i</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lim>
                            </m:limLow>
                          </m:fName>
                          <m:e>
                            <m:d>
                              <m:dPr>
                                <m:begChr m:val="|"/>
                                <m:endChr m:val="|"/>
                                <m:ctrlPr>
                                  <a:rPr lang="en-US" altLang="zh-CN" sz="1600" b="0" i="1" smtClean="0">
                                    <a:latin typeface="Cambria Math" panose="02040503050406030204" pitchFamily="18" charset="0"/>
                                  </a:rPr>
                                </m:ctrlPr>
                              </m:dPr>
                              <m:e>
                                <m:d>
                                  <m:dPr>
                                    <m:begChr m:val="|"/>
                                    <m:endChr m:val="|"/>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𝑖</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𝑗</m:t>
                                        </m:r>
                                      </m:sub>
                                    </m:sSub>
                                  </m:e>
                                </m:d>
                              </m:e>
                            </m:d>
                          </m:e>
                        </m:func>
                      </m:e>
                      <m:sup>
                        <m:r>
                          <a:rPr lang="en-US" altLang="zh-CN" sz="1600" b="0" i="1" smtClean="0">
                            <a:latin typeface="Cambria Math" panose="02040503050406030204" pitchFamily="18" charset="0"/>
                          </a:rPr>
                          <m:t>2</m:t>
                        </m:r>
                      </m:sup>
                    </m:sSup>
                  </m:oMath>
                </a14:m>
                <a:endParaRPr lang="en-US" altLang="zh-CN" sz="1600" b="0" dirty="0"/>
              </a:p>
              <a:p>
                <a:pPr marL="342900" indent="-342900">
                  <a:lnSpc>
                    <a:spcPct val="150000"/>
                  </a:lnSpc>
                  <a:buFont typeface="+mj-ea"/>
                  <a:buAutoNum type="circleNumDbPlain"/>
                </a:pPr>
                <a:r>
                  <a:rPr lang="en-US" altLang="zh-CN" sz="1600" dirty="0"/>
                  <a:t>	</a:t>
                </a:r>
                <a:r>
                  <a:rPr lang="zh-CN" altLang="en-US" sz="1600" dirty="0"/>
                  <a:t>计算</a:t>
                </a:r>
                <a14:m>
                  <m:oMath xmlns:m="http://schemas.openxmlformats.org/officeDocument/2006/math">
                    <m:func>
                      <m:funcPr>
                        <m:ctrlPr>
                          <a:rPr lang="en-US" altLang="zh-CN" sz="1600" i="1" dirty="0" smtClean="0">
                            <a:latin typeface="Cambria Math" panose="02040503050406030204" pitchFamily="18" charset="0"/>
                          </a:rPr>
                        </m:ctrlPr>
                      </m:funcPr>
                      <m:fName>
                        <m:r>
                          <m:rPr>
                            <m:sty m:val="p"/>
                          </m:rPr>
                          <a:rPr lang="en-US" altLang="zh-CN" sz="1600" i="0" dirty="0" smtClean="0">
                            <a:latin typeface="Cambria Math" panose="02040503050406030204" pitchFamily="18" charset="0"/>
                          </a:rPr>
                          <m:t>min</m:t>
                        </m:r>
                      </m:fName>
                      <m:e>
                        <m:d>
                          <m:dPr>
                            <m:ctrlPr>
                              <a:rPr lang="en-US" altLang="zh-CN" sz="160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𝑥</m:t>
                                </m:r>
                              </m:e>
                              <m:sub>
                                <m:r>
                                  <a:rPr lang="en-US" altLang="zh-CN" sz="1600" b="0" i="1" dirty="0" smtClean="0">
                                    <a:latin typeface="Cambria Math" panose="02040503050406030204" pitchFamily="18" charset="0"/>
                                  </a:rPr>
                                  <m:t>𝑖</m:t>
                                </m:r>
                              </m:sub>
                            </m:sSub>
                            <m:r>
                              <a:rPr lang="en-US" altLang="zh-CN" sz="1600" b="0" i="1" dirty="0" smtClean="0">
                                <a:latin typeface="Cambria Math" panose="02040503050406030204" pitchFamily="18" charset="0"/>
                              </a:rPr>
                              <m:t>, </m:t>
                            </m:r>
                            <m:r>
                              <a:rPr lang="en-US" altLang="zh-CN" sz="1600" b="0" i="1" dirty="0" smtClean="0">
                                <a:latin typeface="Cambria Math" panose="02040503050406030204" pitchFamily="18" charset="0"/>
                              </a:rPr>
                              <m:t>𝐶</m:t>
                            </m:r>
                          </m:e>
                        </m:d>
                      </m:e>
                    </m:func>
                    <m:r>
                      <a:rPr lang="en-US" altLang="zh-CN" sz="1600" b="0" i="1" dirty="0" smtClean="0">
                        <a:latin typeface="Cambria Math" panose="02040503050406030204" pitchFamily="18" charset="0"/>
                      </a:rPr>
                      <m:t>=</m:t>
                    </m:r>
                    <m:sSup>
                      <m:sSupPr>
                        <m:ctrlPr>
                          <a:rPr lang="en-US" altLang="zh-CN" sz="1600" b="0" i="1" dirty="0" smtClean="0">
                            <a:latin typeface="Cambria Math" panose="02040503050406030204" pitchFamily="18" charset="0"/>
                          </a:rPr>
                        </m:ctrlPr>
                      </m:sSupPr>
                      <m:e>
                        <m:func>
                          <m:funcPr>
                            <m:ctrlPr>
                              <a:rPr lang="en-US" altLang="zh-CN" sz="1600" b="0" i="1" dirty="0" smtClean="0">
                                <a:latin typeface="Cambria Math" panose="02040503050406030204" pitchFamily="18" charset="0"/>
                              </a:rPr>
                            </m:ctrlPr>
                          </m:funcPr>
                          <m:fName>
                            <m:r>
                              <m:rPr>
                                <m:sty m:val="p"/>
                              </m:rPr>
                              <a:rPr lang="en-US" altLang="zh-CN" sz="1600" b="0" i="0" dirty="0" smtClean="0">
                                <a:latin typeface="Cambria Math" panose="02040503050406030204" pitchFamily="18" charset="0"/>
                              </a:rPr>
                              <m:t>min</m:t>
                            </m:r>
                          </m:fName>
                          <m:e>
                            <m:d>
                              <m:dPr>
                                <m:begChr m:val="|"/>
                                <m:endChr m:val="|"/>
                                <m:ctrlPr>
                                  <a:rPr lang="en-US" altLang="zh-CN" sz="1600" b="0" i="1" dirty="0" smtClean="0">
                                    <a:latin typeface="Cambria Math" panose="02040503050406030204" pitchFamily="18" charset="0"/>
                                  </a:rPr>
                                </m:ctrlPr>
                              </m:dPr>
                              <m:e>
                                <m:d>
                                  <m:dPr>
                                    <m:begChr m:val="|"/>
                                    <m:endChr m:val="|"/>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𝑥</m:t>
                                        </m:r>
                                      </m:e>
                                      <m:sub>
                                        <m:r>
                                          <a:rPr lang="en-US" altLang="zh-CN" sz="1600" b="0" i="1" dirty="0" smtClean="0">
                                            <a:latin typeface="Cambria Math" panose="02040503050406030204" pitchFamily="18" charset="0"/>
                                          </a:rPr>
                                          <m:t>𝑖</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𝑧</m:t>
                                        </m:r>
                                      </m:e>
                                      <m:sub>
                                        <m:r>
                                          <a:rPr lang="en-US" altLang="zh-CN" sz="1600" b="0" i="1" dirty="0" smtClean="0">
                                            <a:latin typeface="Cambria Math" panose="02040503050406030204" pitchFamily="18" charset="0"/>
                                          </a:rPr>
                                          <m:t>𝑗</m:t>
                                        </m:r>
                                      </m:sub>
                                    </m:sSub>
                                  </m:e>
                                </m:d>
                              </m:e>
                            </m:d>
                          </m:e>
                        </m:func>
                      </m:e>
                      <m:sup>
                        <m:r>
                          <a:rPr lang="en-US" altLang="zh-CN" sz="1600" b="0" i="1" dirty="0" smtClean="0">
                            <a:latin typeface="Cambria Math" panose="02040503050406030204" pitchFamily="18" charset="0"/>
                          </a:rPr>
                          <m:t>2</m:t>
                        </m:r>
                      </m:sup>
                    </m:sSup>
                  </m:oMath>
                </a14:m>
                <a:endParaRPr lang="en-US" altLang="zh-CN" sz="1600" dirty="0"/>
              </a:p>
              <a:p>
                <a:pPr marL="342900" indent="-342900">
                  <a:lnSpc>
                    <a:spcPct val="150000"/>
                  </a:lnSpc>
                  <a:buFont typeface="+mj-ea"/>
                  <a:buAutoNum type="circleNumDbPlain"/>
                </a:pPr>
                <a:r>
                  <a:rPr lang="en-US" altLang="zh-CN" sz="1600" dirty="0"/>
                  <a:t>	</a:t>
                </a:r>
                <a:r>
                  <a:rPr lang="zh-CN" altLang="en-US" sz="1600" dirty="0"/>
                  <a:t>如果 </a:t>
                </a:r>
                <a14:m>
                  <m:oMath xmlns:m="http://schemas.openxmlformats.org/officeDocument/2006/math">
                    <m:func>
                      <m:funcPr>
                        <m:ctrlPr>
                          <a:rPr lang="en-US" altLang="zh-CN" sz="1600" i="1" dirty="0">
                            <a:latin typeface="Cambria Math" panose="02040503050406030204" pitchFamily="18" charset="0"/>
                          </a:rPr>
                        </m:ctrlPr>
                      </m:funcPr>
                      <m:fName>
                        <m:r>
                          <m:rPr>
                            <m:sty m:val="p"/>
                          </m:rPr>
                          <a:rPr lang="en-US" altLang="zh-CN" sz="1600" dirty="0">
                            <a:latin typeface="Cambria Math" panose="02040503050406030204" pitchFamily="18" charset="0"/>
                          </a:rPr>
                          <m:t>min</m:t>
                        </m:r>
                      </m:fName>
                      <m:e>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𝑥</m:t>
                                </m:r>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 </m:t>
                            </m:r>
                            <m:r>
                              <a:rPr lang="en-US" altLang="zh-CN" sz="1600" i="1" dirty="0">
                                <a:latin typeface="Cambria Math" panose="02040503050406030204" pitchFamily="18" charset="0"/>
                              </a:rPr>
                              <m:t>𝐶</m:t>
                            </m:r>
                          </m:e>
                        </m:d>
                      </m:e>
                    </m:func>
                    <m:r>
                      <a:rPr lang="en-US" altLang="zh-CN" sz="1600" b="0" i="1" dirty="0" smtClean="0">
                        <a:latin typeface="Cambria Math" panose="02040503050406030204" pitchFamily="18" charset="0"/>
                      </a:rPr>
                      <m:t>≤</m:t>
                    </m:r>
                  </m:oMath>
                </a14:m>
                <a:r>
                  <a:rPr lang="en-US" altLang="zh-CN" sz="1600" dirty="0"/>
                  <a:t> </a:t>
                </a:r>
                <a14:m>
                  <m:oMath xmlns:m="http://schemas.openxmlformats.org/officeDocument/2006/math">
                    <m:func>
                      <m:funcPr>
                        <m:ctrlPr>
                          <a:rPr lang="en-US" altLang="zh-CN" sz="1600" i="1">
                            <a:latin typeface="Cambria Math" panose="02040503050406030204" pitchFamily="18" charset="0"/>
                          </a:rPr>
                        </m:ctrlPr>
                      </m:funcPr>
                      <m:fName>
                        <m:r>
                          <m:rPr>
                            <m:sty m:val="p"/>
                          </m:rPr>
                          <a:rPr lang="en-US" altLang="zh-CN" sz="1600">
                            <a:latin typeface="Cambria Math" panose="02040503050406030204" pitchFamily="18" charset="0"/>
                          </a:rPr>
                          <m:t>min</m:t>
                        </m:r>
                      </m:fName>
                      <m:e>
                        <m:d>
                          <m:dPr>
                            <m:ctrlPr>
                              <a:rPr lang="en-US" altLang="zh-CN" sz="1600" i="1">
                                <a:latin typeface="Cambria Math" panose="02040503050406030204" pitchFamily="18" charset="0"/>
                              </a:rPr>
                            </m:ctrlPr>
                          </m:dPr>
                          <m:e>
                            <m:r>
                              <a:rPr lang="en-US" altLang="zh-CN" sz="1600" i="1">
                                <a:latin typeface="Cambria Math" panose="02040503050406030204" pitchFamily="18" charset="0"/>
                              </a:rPr>
                              <m:t>𝐶</m:t>
                            </m:r>
                          </m:e>
                        </m:d>
                      </m:e>
                    </m:func>
                  </m:oMath>
                </a14:m>
                <a:r>
                  <a:rPr lang="zh-CN" altLang="en-US" sz="1600" dirty="0"/>
                  <a:t>，那么</a:t>
                </a:r>
                <a:endParaRPr lang="en-US" altLang="zh-CN" sz="1600" dirty="0"/>
              </a:p>
              <a:p>
                <a:pPr marL="342900" indent="-342900">
                  <a:lnSpc>
                    <a:spcPct val="150000"/>
                  </a:lnSpc>
                  <a:buFont typeface="+mj-ea"/>
                  <a:buAutoNum type="circleNumDbPlain"/>
                </a:pPr>
                <a:r>
                  <a:rPr lang="en-US" altLang="zh-CN" sz="1600" dirty="0"/>
                  <a:t>	         </a:t>
                </a:r>
                <a:r>
                  <a:rPr lang="zh-CN" altLang="en-US" sz="1600" dirty="0"/>
                  <a:t>将</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𝑖</m:t>
                        </m:r>
                      </m:sub>
                    </m:sSub>
                  </m:oMath>
                </a14:m>
                <a:r>
                  <a:rPr lang="zh-CN" altLang="en-US" sz="1600" dirty="0"/>
                  <a:t>分配给最近的类簇</a:t>
                </a:r>
                <a:endParaRPr lang="en-US" altLang="zh-CN" sz="1600" dirty="0"/>
              </a:p>
              <a:p>
                <a:pPr marL="342900" indent="-342900">
                  <a:lnSpc>
                    <a:spcPct val="150000"/>
                  </a:lnSpc>
                  <a:buFont typeface="+mj-ea"/>
                  <a:buAutoNum type="circleNumDbPlain"/>
                </a:pPr>
                <a:r>
                  <a:rPr lang="en-US" altLang="zh-CN" sz="1600" dirty="0"/>
                  <a:t>	</a:t>
                </a:r>
                <a:r>
                  <a:rPr lang="zh-CN" altLang="en-US" sz="1600" dirty="0"/>
                  <a:t>否则 </a:t>
                </a:r>
                <a:endParaRPr lang="en-US" altLang="zh-CN" sz="1600" dirty="0"/>
              </a:p>
              <a:p>
                <a:pPr marL="342900" indent="-342900">
                  <a:lnSpc>
                    <a:spcPct val="150000"/>
                  </a:lnSpc>
                  <a:buFont typeface="+mj-ea"/>
                  <a:buAutoNum type="circleNumDbPlain"/>
                </a:pPr>
                <a:r>
                  <a:rPr lang="en-US" altLang="zh-CN" sz="1600" dirty="0"/>
                  <a:t>	         </a:t>
                </a:r>
                <a:r>
                  <a:rPr lang="zh-CN" altLang="en-US" sz="1600" dirty="0"/>
                  <a:t>将</a:t>
                </a:r>
                <a14:m>
                  <m:oMath xmlns:m="http://schemas.openxmlformats.org/officeDocument/2006/math">
                    <m:sSub>
                      <m:sSubPr>
                        <m:ctrlPr>
                          <a:rPr lang="en-US" altLang="zh-CN" sz="1600" i="1" dirty="0">
                            <a:latin typeface="Cambria Math" panose="02040503050406030204" pitchFamily="18" charset="0"/>
                          </a:rPr>
                        </m:ctrlPr>
                      </m:sSubPr>
                      <m:e>
                        <m:r>
                          <m:rPr>
                            <m:sty m:val="p"/>
                          </m:rPr>
                          <a:rPr lang="en-US" altLang="zh-CN" sz="1600" i="1" dirty="0">
                            <a:latin typeface="Cambria Math" panose="02040503050406030204" pitchFamily="18" charset="0"/>
                          </a:rPr>
                          <m:t>x</m:t>
                        </m:r>
                      </m:e>
                      <m:sub>
                        <m:r>
                          <m:rPr>
                            <m:sty m:val="p"/>
                          </m:rPr>
                          <a:rPr lang="en-US" altLang="zh-CN" sz="1600" i="1" dirty="0">
                            <a:latin typeface="Cambria Math" panose="02040503050406030204" pitchFamily="18" charset="0"/>
                          </a:rPr>
                          <m:t>i</m:t>
                        </m:r>
                      </m:sub>
                    </m:sSub>
                  </m:oMath>
                </a14:m>
                <a:r>
                  <a:rPr lang="zh-CN" altLang="en-US" sz="1600" dirty="0"/>
                  <a:t>作为新的类</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𝐶</m:t>
                        </m:r>
                      </m:e>
                      <m:sub>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𝑘</m:t>
                            </m:r>
                          </m:e>
                          <m:sup>
                            <m:r>
                              <a:rPr lang="en-US" altLang="zh-CN" sz="1600" b="0" i="1" smtClean="0">
                                <a:latin typeface="Cambria Math" panose="02040503050406030204" pitchFamily="18" charset="0"/>
                              </a:rPr>
                              <m:t>′</m:t>
                            </m:r>
                          </m:sup>
                        </m:sSup>
                      </m:sub>
                    </m:sSub>
                    <m:r>
                      <a:rPr lang="zh-CN" altLang="en-US" sz="1600" i="1">
                        <a:latin typeface="Cambria Math" panose="02040503050406030204" pitchFamily="18" charset="0"/>
                      </a:rPr>
                      <m:t>，</m:t>
                    </m:r>
                  </m:oMath>
                </a14:m>
                <a:r>
                  <a:rPr lang="zh-CN" altLang="en-US" sz="1600" dirty="0"/>
                  <a:t>并置</a:t>
                </a:r>
                <a14:m>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𝑘</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𝑘</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1</m:t>
                    </m:r>
                  </m:oMath>
                </a14:m>
                <a:endParaRPr lang="en-US" altLang="zh-CN" sz="1600" b="0" dirty="0"/>
              </a:p>
              <a:p>
                <a:pPr marL="342900" indent="-342900">
                  <a:lnSpc>
                    <a:spcPct val="150000"/>
                  </a:lnSpc>
                  <a:buFont typeface="+mj-ea"/>
                  <a:buAutoNum type="circleNumDbPlain"/>
                </a:pPr>
                <a:r>
                  <a:rPr lang="en-US" altLang="zh-CN" sz="1600" dirty="0"/>
                  <a:t>	         </a:t>
                </a:r>
                <a:r>
                  <a:rPr lang="zh-CN" altLang="en-US" sz="1600" dirty="0"/>
                  <a:t>如果 </a:t>
                </a:r>
                <a14:m>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𝑘</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&gt;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𝑘</m:t>
                        </m:r>
                      </m:e>
                      <m:sub>
                        <m:r>
                          <a:rPr lang="en-US" altLang="zh-CN" sz="1600" b="0" i="1" smtClean="0">
                            <a:latin typeface="Cambria Math" panose="02040503050406030204" pitchFamily="18" charset="0"/>
                          </a:rPr>
                          <m:t>𝑚𝑎𝑥</m:t>
                        </m:r>
                      </m:sub>
                    </m:sSub>
                  </m:oMath>
                </a14:m>
                <a:r>
                  <a:rPr lang="zh-CN" altLang="en-US" sz="1600" dirty="0"/>
                  <a:t>，合并最近的两个类簇并置</a:t>
                </a:r>
                <a14:m>
                  <m:oMath xmlns:m="http://schemas.openxmlformats.org/officeDocument/2006/math">
                    <m:r>
                      <m:rPr>
                        <m:sty m:val="p"/>
                      </m:rPr>
                      <a:rPr lang="en-US" altLang="zh-CN" sz="1600" i="1" dirty="0">
                        <a:latin typeface="Cambria Math" panose="02040503050406030204" pitchFamily="18" charset="0"/>
                      </a:rPr>
                      <m:t>k</m:t>
                    </m:r>
                    <m:r>
                      <a:rPr lang="en-US" altLang="zh-CN" sz="1600" i="1" dirty="0" smtClean="0">
                        <a:latin typeface="Cambria Math" panose="02040503050406030204" pitchFamily="18" charset="0"/>
                      </a:rPr>
                      <m:t>’</m:t>
                    </m:r>
                    <m:r>
                      <a:rPr lang="en-US" altLang="zh-CN" sz="1600" b="0" i="1" dirty="0" smtClean="0">
                        <a:latin typeface="Cambria Math" panose="02040503050406030204" pitchFamily="18" charset="0"/>
                      </a:rPr>
                      <m:t>=</m:t>
                    </m:r>
                    <m:sSub>
                      <m:sSubPr>
                        <m:ctrlPr>
                          <a:rPr lang="en-US" altLang="zh-CN" sz="1600" i="1" dirty="0">
                            <a:latin typeface="Cambria Math" panose="02040503050406030204" pitchFamily="18" charset="0"/>
                          </a:rPr>
                        </m:ctrlPr>
                      </m:sSubPr>
                      <m:e>
                        <m:r>
                          <m:rPr>
                            <m:sty m:val="p"/>
                          </m:rPr>
                          <a:rPr lang="en-US" altLang="zh-CN" sz="1600" i="1" dirty="0">
                            <a:latin typeface="Cambria Math" panose="02040503050406030204" pitchFamily="18" charset="0"/>
                          </a:rPr>
                          <m:t>k</m:t>
                        </m:r>
                      </m:e>
                      <m:sub>
                        <m:r>
                          <m:rPr>
                            <m:sty m:val="p"/>
                          </m:rPr>
                          <a:rPr lang="en-US" altLang="zh-CN" sz="1600" i="1" dirty="0">
                            <a:latin typeface="Cambria Math" panose="02040503050406030204" pitchFamily="18" charset="0"/>
                          </a:rPr>
                          <m:t>max</m:t>
                        </m:r>
                      </m:sub>
                    </m:sSub>
                  </m:oMath>
                </a14:m>
                <a:endParaRPr lang="en-US" altLang="zh-CN" sz="1600" dirty="0"/>
              </a:p>
            </p:txBody>
          </p:sp>
        </mc:Choice>
        <mc:Fallback>
          <p:sp>
            <p:nvSpPr>
              <p:cNvPr id="4" name="文本框 3"/>
              <p:cNvSpPr txBox="1">
                <a:spLocks noRot="1" noChangeAspect="1" noMove="1" noResize="1" noEditPoints="1" noAdjustHandles="1" noChangeArrowheads="1" noChangeShapeType="1" noTextEdit="1"/>
              </p:cNvSpPr>
              <p:nvPr/>
            </p:nvSpPr>
            <p:spPr>
              <a:xfrm>
                <a:off x="1223007" y="1795276"/>
                <a:ext cx="6263575" cy="4260397"/>
              </a:xfrm>
              <a:prstGeom prst="rect">
                <a:avLst/>
              </a:prstGeom>
              <a:blipFill rotWithShape="1">
                <a:blip r:embed="rId1"/>
                <a:stretch>
                  <a:fillRect l="-10" t="-3" r="9"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7050617" y="1829846"/>
                <a:ext cx="4671955" cy="3380990"/>
              </a:xfrm>
              <a:prstGeom prst="rect">
                <a:avLst/>
              </a:prstGeom>
              <a:noFill/>
            </p:spPr>
            <p:txBody>
              <a:bodyPr wrap="square">
                <a:spAutoFit/>
              </a:bodyPr>
              <a:lstStyle/>
              <a:p>
                <a:pPr>
                  <a:lnSpc>
                    <a:spcPct val="150000"/>
                  </a:lnSpc>
                </a:pPr>
                <a:r>
                  <a:rPr lang="zh-CN" altLang="en-US" sz="1600" b="1" dirty="0"/>
                  <a:t>第二阶段</a:t>
                </a:r>
                <a:endParaRPr lang="en-US" altLang="zh-CN" sz="1600" b="1" dirty="0"/>
              </a:p>
              <a:p>
                <a:pPr marL="342900" indent="-342900">
                  <a:lnSpc>
                    <a:spcPct val="150000"/>
                  </a:lnSpc>
                  <a:buFont typeface="+mj-ea"/>
                  <a:buAutoNum type="circleNumDbPlain"/>
                </a:pPr>
                <a:r>
                  <a:rPr lang="zh-CN" altLang="en-US" sz="1600" dirty="0"/>
                  <a:t>以类簇</a:t>
                </a:r>
                <a14:m>
                  <m:oMath xmlns:m="http://schemas.openxmlformats.org/officeDocument/2006/math">
                    <m:r>
                      <a:rPr lang="en-US" altLang="zh-CN" sz="1600" i="1" dirty="0" smtClean="0">
                        <a:latin typeface="Cambria Math" panose="02040503050406030204" pitchFamily="18" charset="0"/>
                      </a:rPr>
                      <m:t>𝐶</m:t>
                    </m:r>
                  </m:oMath>
                </a14:m>
                <a:r>
                  <a:rPr lang="zh-CN" altLang="en-US" sz="1600" dirty="0"/>
                  <a:t>之间的距离为权值，建立一个最小生成树，</a:t>
                </a:r>
                <a14:m>
                  <m:oMath xmlns:m="http://schemas.openxmlformats.org/officeDocument/2006/math">
                    <m:r>
                      <a:rPr lang="zh-CN" altLang="en-US" sz="1600" i="1" dirty="0">
                        <a:latin typeface="Cambria Math" panose="02040503050406030204" pitchFamily="18" charset="0"/>
                      </a:rPr>
                      <m:t>并</m:t>
                    </m:r>
                    <m:r>
                      <a:rPr lang="zh-CN" altLang="en-US" sz="1600" i="1" dirty="0" smtClean="0">
                        <a:latin typeface="Cambria Math" panose="02040503050406030204" pitchFamily="18" charset="0"/>
                      </a:rPr>
                      <m:t>加入</m:t>
                    </m:r>
                    <m:r>
                      <a:rPr lang="zh-CN" altLang="en-US" sz="1600" i="1" dirty="0">
                        <a:latin typeface="Cambria Math" panose="02040503050406030204" pitchFamily="18" charset="0"/>
                      </a:rPr>
                      <m:t>树</m:t>
                    </m:r>
                    <m:r>
                      <a:rPr lang="zh-CN" altLang="en-US" sz="1600" i="1" dirty="0" smtClean="0">
                        <a:latin typeface="Cambria Math" panose="02040503050406030204" pitchFamily="18" charset="0"/>
                      </a:rPr>
                      <m:t>集</m:t>
                    </m:r>
                    <m:r>
                      <m:rPr>
                        <m:sty m:val="p"/>
                      </m:rPr>
                      <a:rPr lang="en-US" altLang="zh-CN" sz="1600" i="1" dirty="0" smtClean="0">
                        <a:latin typeface="Cambria Math" panose="02040503050406030204" pitchFamily="18" charset="0"/>
                      </a:rPr>
                      <m:t>F</m:t>
                    </m:r>
                  </m:oMath>
                </a14:m>
                <a:r>
                  <a:rPr lang="zh-CN" altLang="en-US" sz="1600" dirty="0"/>
                  <a:t>。</a:t>
                </a:r>
                <a:endParaRPr lang="en-US" altLang="zh-CN" sz="1600" dirty="0"/>
              </a:p>
              <a:p>
                <a:pPr marL="342900" indent="-342900">
                  <a:lnSpc>
                    <a:spcPct val="150000"/>
                  </a:lnSpc>
                  <a:buFont typeface="+mj-ea"/>
                  <a:buAutoNum type="circleNumDbPlain"/>
                </a:pPr>
                <a:r>
                  <a:rPr lang="zh-CN" altLang="en-US" sz="1600" dirty="0"/>
                  <a:t>当 </a:t>
                </a:r>
                <a:r>
                  <a:rPr lang="en-US" altLang="zh-CN" sz="1600" dirty="0"/>
                  <a:t>|F| &lt; k </a:t>
                </a:r>
                <a:r>
                  <a:rPr lang="zh-CN" altLang="en-US" sz="1600" dirty="0"/>
                  <a:t>时</a:t>
                </a:r>
                <a:endParaRPr lang="en-US" altLang="zh-CN" sz="1600" dirty="0"/>
              </a:p>
              <a:p>
                <a:pPr marL="342900" indent="-342900">
                  <a:lnSpc>
                    <a:spcPct val="150000"/>
                  </a:lnSpc>
                  <a:buFont typeface="+mj-ea"/>
                  <a:buAutoNum type="circleNumDbPlain"/>
                </a:pPr>
                <a:r>
                  <a:rPr lang="en-US" altLang="zh-CN" sz="1600" dirty="0"/>
                  <a:t>         </a:t>
                </a:r>
                <a:r>
                  <a:rPr lang="zh-CN" altLang="en-US" sz="1600" dirty="0"/>
                  <a:t>移除树集</a:t>
                </a:r>
                <a:r>
                  <a:rPr lang="en-US" altLang="zh-CN" sz="1600" dirty="0"/>
                  <a:t>F</a:t>
                </a:r>
                <a:r>
                  <a:rPr lang="zh-CN" altLang="en-US" sz="1600" dirty="0"/>
                  <a:t>中的最长边</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𝑒</m:t>
                        </m:r>
                      </m:e>
                      <m:sub>
                        <m:r>
                          <a:rPr lang="en-US" altLang="zh-CN" sz="1600" b="0" i="1" smtClean="0">
                            <a:latin typeface="Cambria Math" panose="02040503050406030204" pitchFamily="18" charset="0"/>
                          </a:rPr>
                          <m:t>𝑚𝑎𝑥</m:t>
                        </m:r>
                      </m:sub>
                    </m:sSub>
                  </m:oMath>
                </a14:m>
                <a:r>
                  <a:rPr lang="zh-CN" altLang="en-US" sz="1600" dirty="0"/>
                  <a:t>，其中</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𝑒</m:t>
                        </m:r>
                      </m:e>
                      <m:sub>
                        <m:r>
                          <a:rPr lang="en-US" altLang="zh-CN" sz="1600" b="0" i="1" smtClean="0">
                            <a:latin typeface="Cambria Math" panose="02040503050406030204" pitchFamily="18" charset="0"/>
                          </a:rPr>
                          <m:t>𝑚𝑎𝑥</m:t>
                        </m:r>
                      </m:sub>
                    </m:sSub>
                  </m:oMath>
                </a14:m>
                <a:r>
                  <a:rPr lang="zh-CN" altLang="en-US" sz="1600" dirty="0"/>
                  <a:t>属于树</a:t>
                </a:r>
                <a:r>
                  <a:rPr lang="en-US" altLang="zh-CN" sz="1600" dirty="0"/>
                  <a:t>T</a:t>
                </a:r>
                <a:endParaRPr lang="en-US" altLang="zh-CN" sz="1600" dirty="0"/>
              </a:p>
              <a:p>
                <a:pPr marL="342900" indent="-342900">
                  <a:lnSpc>
                    <a:spcPct val="150000"/>
                  </a:lnSpc>
                  <a:buFont typeface="+mj-ea"/>
                  <a:buAutoNum type="circleNumDbPlain"/>
                </a:pPr>
                <a:r>
                  <a:rPr lang="zh-CN" altLang="en-US" sz="1600" dirty="0"/>
                  <a:t>         </a:t>
                </a:r>
                <a:r>
                  <a:rPr lang="en-US" altLang="zh-CN" sz="1600" dirty="0"/>
                  <a:t>T</a:t>
                </a:r>
                <a:r>
                  <a:rPr lang="zh-CN" altLang="en-US" sz="1600" dirty="0"/>
                  <a:t>分裂为两个子树</a:t>
                </a:r>
                <a14:m>
                  <m:oMath xmlns:m="http://schemas.openxmlformats.org/officeDocument/2006/math">
                    <m:sSub>
                      <m:sSubPr>
                        <m:ctrlPr>
                          <a:rPr lang="en-US" altLang="zh-CN" sz="1600" i="1" dirty="0">
                            <a:latin typeface="Cambria Math" panose="02040503050406030204" pitchFamily="18" charset="0"/>
                          </a:rPr>
                        </m:ctrlPr>
                      </m:sSubPr>
                      <m:e>
                        <m:r>
                          <m:rPr>
                            <m:sty m:val="p"/>
                          </m:rPr>
                          <a:rPr lang="en-US" altLang="zh-CN" sz="1600" i="1" dirty="0">
                            <a:latin typeface="Cambria Math" panose="02040503050406030204" pitchFamily="18" charset="0"/>
                          </a:rPr>
                          <m:t>T</m:t>
                        </m:r>
                      </m:e>
                      <m:sub>
                        <m:r>
                          <a:rPr lang="en-US" altLang="zh-CN" sz="1600" b="0" i="1" dirty="0" smtClean="0">
                            <a:latin typeface="Cambria Math" panose="02040503050406030204" pitchFamily="18" charset="0"/>
                          </a:rPr>
                          <m:t>1</m:t>
                        </m:r>
                      </m:sub>
                    </m:sSub>
                    <m:r>
                      <a:rPr lang="zh-CN" altLang="en-US" sz="1600" i="1" dirty="0">
                        <a:latin typeface="Cambria Math" panose="02040503050406030204" pitchFamily="18" charset="0"/>
                      </a:rPr>
                      <m:t>和</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𝑇</m:t>
                        </m:r>
                      </m:e>
                      <m:sub>
                        <m:r>
                          <a:rPr lang="en-US" altLang="zh-CN" sz="1600" b="0" i="1" dirty="0" smtClean="0">
                            <a:latin typeface="Cambria Math" panose="02040503050406030204" pitchFamily="18" charset="0"/>
                          </a:rPr>
                          <m:t>2</m:t>
                        </m:r>
                      </m:sub>
                    </m:sSub>
                  </m:oMath>
                </a14:m>
                <a:endParaRPr lang="en-US" altLang="zh-CN" sz="1600" dirty="0"/>
              </a:p>
              <a:p>
                <a:pPr marL="342900" indent="-342900">
                  <a:lnSpc>
                    <a:spcPct val="150000"/>
                  </a:lnSpc>
                  <a:buFont typeface="+mj-ea"/>
                  <a:buAutoNum type="circleNumDbPlain"/>
                </a:pPr>
                <a:r>
                  <a:rPr lang="en-US" altLang="zh-CN" sz="1600" dirty="0"/>
                  <a:t>          </a:t>
                </a:r>
                <a14:m>
                  <m:oMath xmlns:m="http://schemas.openxmlformats.org/officeDocument/2006/math">
                    <m:r>
                      <a:rPr lang="en-US" altLang="zh-CN" sz="1600" b="0" i="1" smtClean="0">
                        <a:latin typeface="Cambria Math" panose="02040503050406030204" pitchFamily="18" charset="0"/>
                      </a:rPr>
                      <m:t>𝐹</m:t>
                    </m:r>
                    <m:r>
                      <a:rPr lang="en-US" altLang="zh-CN" sz="1600" b="0" i="1" smtClean="0">
                        <a:latin typeface="Cambria Math" panose="02040503050406030204" pitchFamily="18" charset="0"/>
                      </a:rPr>
                      <m:t>=</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𝐹</m:t>
                        </m:r>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𝑇</m:t>
                            </m:r>
                          </m:e>
                        </m:d>
                      </m:e>
                    </m:d>
                    <m:r>
                      <a:rPr lang="en-US" altLang="zh-CN" sz="1600" b="0" i="1" smtClean="0">
                        <a:latin typeface="Cambria Math" panose="02040503050406030204" pitchFamily="18" charset="0"/>
                      </a:rPr>
                      <m:t>∪</m:t>
                    </m:r>
                    <m:r>
                      <m:rPr>
                        <m:lit/>
                      </m:rP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m:rPr>
                            <m:lit/>
                            <m:sty m:val="p"/>
                          </m:rPr>
                          <a:rPr lang="en-US" altLang="zh-CN" sz="1600" i="1">
                            <a:latin typeface="Cambria Math" panose="02040503050406030204" pitchFamily="18" charset="0"/>
                          </a:rPr>
                          <m:t>T</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 </m:t>
                    </m:r>
                  </m:oMath>
                </a14:m>
                <a:endParaRPr lang="en-US" altLang="zh-CN" sz="1600" dirty="0"/>
              </a:p>
              <a:p>
                <a:pPr marL="342900" indent="-342900">
                  <a:lnSpc>
                    <a:spcPct val="150000"/>
                  </a:lnSpc>
                  <a:buFont typeface="+mj-ea"/>
                  <a:buAutoNum type="circleNumDbPlain"/>
                </a:pPr>
                <a14:m>
                  <m:oMath xmlns:m="http://schemas.openxmlformats.org/officeDocument/2006/math">
                    <m:r>
                      <a:rPr lang="en-US" altLang="zh-CN" sz="1600" b="0" i="1" smtClean="0">
                        <a:latin typeface="Cambria Math" panose="02040503050406030204" pitchFamily="18" charset="0"/>
                      </a:rPr>
                      <m:t>𝐹</m:t>
                    </m:r>
                  </m:oMath>
                </a14:m>
                <a:r>
                  <a:rPr lang="zh-CN" altLang="en-US" sz="1600" dirty="0"/>
                  <a:t>中节点较少的树即为异常点</a:t>
                </a:r>
                <a:endParaRPr lang="en-US" altLang="zh-CN" sz="1600" dirty="0"/>
              </a:p>
            </p:txBody>
          </p:sp>
        </mc:Choice>
        <mc:Fallback>
          <p:sp>
            <p:nvSpPr>
              <p:cNvPr id="2" name="文本框 1"/>
              <p:cNvSpPr txBox="1">
                <a:spLocks noRot="1" noChangeAspect="1" noMove="1" noResize="1" noEditPoints="1" noAdjustHandles="1" noChangeArrowheads="1" noChangeShapeType="1" noTextEdit="1"/>
              </p:cNvSpPr>
              <p:nvPr/>
            </p:nvSpPr>
            <p:spPr>
              <a:xfrm>
                <a:off x="7050617" y="1829846"/>
                <a:ext cx="4671955" cy="3380990"/>
              </a:xfrm>
              <a:prstGeom prst="rect">
                <a:avLst/>
              </a:prstGeom>
              <a:blipFill rotWithShape="1">
                <a:blip r:embed="rId2"/>
                <a:stretch>
                  <a:fillRect l="-5" t="-12" r="10" b="-3737"/>
                </a:stretch>
              </a:blipFill>
            </p:spPr>
            <p:txBody>
              <a:bodyPr/>
              <a:lstStyle/>
              <a:p>
                <a:r>
                  <a:rPr lang="zh-CN" altLang="en-US">
                    <a:noFill/>
                  </a:rPr>
                  <a:t> </a:t>
                </a:r>
              </a:p>
            </p:txBody>
          </p:sp>
        </mc:Fallback>
      </mc:AlternateContent>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基于聚类的异常检测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err="1">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FindCBLOF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2" name="文本框 1"/>
              <p:cNvSpPr txBox="1"/>
              <p:nvPr/>
            </p:nvSpPr>
            <p:spPr>
              <a:xfrm>
                <a:off x="1109991" y="1754180"/>
                <a:ext cx="8393605" cy="4356898"/>
              </a:xfrm>
              <a:prstGeom prst="rect">
                <a:avLst/>
              </a:prstGeom>
              <a:noFill/>
            </p:spPr>
            <p:txBody>
              <a:bodyPr wrap="square">
                <a:spAutoFit/>
              </a:bodyPr>
              <a:lstStyle/>
              <a:p>
                <a:pPr>
                  <a:lnSpc>
                    <a:spcPct val="125000"/>
                  </a:lnSpc>
                </a:pPr>
                <a:r>
                  <a:rPr lang="zh-CN" altLang="en-US" sz="2000" b="1" dirty="0">
                    <a:solidFill>
                      <a:schemeClr val="accent1"/>
                    </a:solidFill>
                    <a:latin typeface="思源黑体 CN Regular" panose="020B0500000000000000" charset="-122"/>
                    <a:ea typeface="思源黑体 CN Regular" panose="020B0500000000000000" charset="-122"/>
                  </a:rPr>
                  <a:t>核心思想</a:t>
                </a:r>
                <a:endParaRPr lang="en-US" altLang="zh-CN" sz="2000" b="1" dirty="0">
                  <a:solidFill>
                    <a:schemeClr val="accent1"/>
                  </a:solidFill>
                  <a:latin typeface="思源黑体 CN Regular" panose="020B0500000000000000" charset="-122"/>
                  <a:ea typeface="思源黑体 CN Regular" panose="020B0500000000000000" charset="-122"/>
                </a:endParaRPr>
              </a:p>
              <a:p>
                <a:pPr marL="285750" indent="-285750">
                  <a:lnSpc>
                    <a:spcPct val="125000"/>
                  </a:lnSpc>
                  <a:buFont typeface="Wingdings" panose="05000000000000000000" pitchFamily="2" charset="2"/>
                  <a:buChar char="Ø"/>
                </a:pPr>
                <a:r>
                  <a:rPr lang="zh-CN" altLang="en-US" dirty="0"/>
                  <a:t>假设：越接近大簇的点越可能是正常点，反之则是异常点</a:t>
                </a:r>
                <a:endParaRPr lang="zh-CN" altLang="en-US" dirty="0"/>
              </a:p>
              <a:p>
                <a:pPr marL="285750" indent="-285750">
                  <a:lnSpc>
                    <a:spcPct val="125000"/>
                  </a:lnSpc>
                  <a:buFont typeface="Wingdings" panose="05000000000000000000" pitchFamily="2" charset="2"/>
                  <a:buChar char="Ø"/>
                </a:pPr>
                <a:r>
                  <a:rPr lang="en-US" altLang="zh-CN" dirty="0"/>
                  <a:t>CBLOF (Cluster-Based Local Outlier Factor)</a:t>
                </a:r>
                <a:r>
                  <a:rPr lang="zh-CN" altLang="en-US" dirty="0"/>
                  <a:t>：结合簇大小与距离的异常度量</a:t>
                </a:r>
                <a:endParaRPr lang="zh-CN" altLang="en-US" dirty="0"/>
              </a:p>
              <a:p>
                <a:pPr marL="285750" indent="-285750">
                  <a:lnSpc>
                    <a:spcPct val="125000"/>
                  </a:lnSpc>
                  <a:buFont typeface="Wingdings" panose="05000000000000000000" pitchFamily="2" charset="2"/>
                  <a:buChar char="Ø"/>
                </a:pPr>
                <a:r>
                  <a:rPr lang="zh-CN" altLang="en-US" dirty="0"/>
                  <a:t>关键创新：区分</a:t>
                </a:r>
                <a:r>
                  <a:rPr lang="en-US" altLang="zh-CN" dirty="0"/>
                  <a:t>"</a:t>
                </a:r>
                <a:r>
                  <a:rPr lang="zh-CN" altLang="en-US" dirty="0"/>
                  <a:t>大簇</a:t>
                </a:r>
                <a:r>
                  <a:rPr lang="en-US" altLang="zh-CN" dirty="0"/>
                  <a:t>"</a:t>
                </a:r>
                <a:r>
                  <a:rPr lang="zh-CN" altLang="en-US" dirty="0"/>
                  <a:t>与</a:t>
                </a:r>
                <a:r>
                  <a:rPr lang="en-US" altLang="zh-CN" dirty="0"/>
                  <a:t>"</a:t>
                </a:r>
                <a:r>
                  <a:rPr lang="zh-CN" altLang="en-US" dirty="0"/>
                  <a:t>小簇</a:t>
                </a:r>
                <a:r>
                  <a:rPr lang="en-US" altLang="zh-CN" dirty="0"/>
                  <a:t>"</a:t>
                </a:r>
                <a:r>
                  <a:rPr lang="zh-CN" altLang="en-US" dirty="0"/>
                  <a:t>，异常判定标准不同</a:t>
                </a:r>
                <a:endParaRPr lang="en-US" altLang="zh-CN" dirty="0"/>
              </a:p>
              <a:p>
                <a:pPr marL="285750" indent="-285750">
                  <a:lnSpc>
                    <a:spcPct val="125000"/>
                  </a:lnSpc>
                  <a:buFont typeface="Wingdings" panose="05000000000000000000" pitchFamily="2" charset="2"/>
                  <a:buChar char="Ø"/>
                </a:pPr>
                <a:endParaRPr lang="en-US" altLang="zh-CN" dirty="0"/>
              </a:p>
              <a:p>
                <a:pPr>
                  <a:lnSpc>
                    <a:spcPct val="125000"/>
                  </a:lnSpc>
                </a:pPr>
                <a:r>
                  <a:rPr lang="zh-CN" altLang="en-US" sz="2000" b="1" dirty="0">
                    <a:solidFill>
                      <a:schemeClr val="accent1"/>
                    </a:solidFill>
                    <a:latin typeface="思源黑体 CN Regular" panose="020B0500000000000000" charset="-122"/>
                    <a:ea typeface="思源黑体 CN Regular" panose="020B0500000000000000" charset="-122"/>
                  </a:rPr>
                  <a:t>大小簇区分原则</a:t>
                </a:r>
                <a:endParaRPr lang="en-US" altLang="zh-CN" sz="2000" b="1" dirty="0">
                  <a:solidFill>
                    <a:schemeClr val="accent1"/>
                  </a:solidFill>
                  <a:latin typeface="思源黑体 CN Regular" panose="020B0500000000000000" charset="-122"/>
                  <a:ea typeface="思源黑体 CN Regular" panose="020B0500000000000000" charset="-122"/>
                </a:endParaRPr>
              </a:p>
              <a:p>
                <a:pPr>
                  <a:lnSpc>
                    <a:spcPct val="125000"/>
                  </a:lnSpc>
                </a:pPr>
                <a:r>
                  <a:rPr lang="zh-CN" altLang="en-US" dirty="0"/>
                  <a:t>在数据集 </a:t>
                </a:r>
                <a:r>
                  <a:rPr lang="en-US" altLang="zh-CN" i="1" dirty="0"/>
                  <a:t>D </a:t>
                </a:r>
                <a:r>
                  <a:rPr lang="zh-CN" altLang="en-US" dirty="0"/>
                  <a:t>上使用聚类算法</a:t>
                </a:r>
                <a:r>
                  <a:rPr lang="en-US" altLang="zh-CN" dirty="0"/>
                  <a:t>, </a:t>
                </a:r>
                <a:r>
                  <a:rPr lang="zh-CN" altLang="en-US" dirty="0"/>
                  <a:t>得到一组聚类簇 </a:t>
                </a:r>
                <a14:m>
                  <m:oMath xmlns:m="http://schemas.openxmlformats.org/officeDocument/2006/math">
                    <m:r>
                      <a:rPr lang="en-US" altLang="zh-CN" i="1" dirty="0" smtClean="0">
                        <a:latin typeface="Cambria Math" panose="02040503050406030204" pitchFamily="18" charset="0"/>
                      </a:rPr>
                      <m:t>𝐶</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 · · · ,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𝑘</m:t>
                        </m:r>
                      </m:sub>
                    </m:sSub>
                    <m:r>
                      <a:rPr lang="en-US" altLang="zh-CN" i="1" dirty="0">
                        <a:latin typeface="Cambria Math" panose="02040503050406030204" pitchFamily="18" charset="0"/>
                      </a:rPr>
                      <m:t>}</m:t>
                    </m:r>
                  </m:oMath>
                </a14:m>
                <a:r>
                  <a:rPr lang="en-US" altLang="zh-CN" dirty="0"/>
                  <a:t>, </a:t>
                </a:r>
                <a:r>
                  <a:rPr lang="zh-CN" altLang="en-US" dirty="0"/>
                  <a:t>其中 </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 &gt;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 &gt; · · · &gt;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𝑘</m:t>
                        </m:r>
                      </m:sub>
                    </m:sSub>
                    <m:r>
                      <a:rPr lang="en-US" altLang="zh-CN" i="1" dirty="0" smtClean="0">
                        <a:latin typeface="Cambria Math" panose="02040503050406030204" pitchFamily="18" charset="0"/>
                      </a:rPr>
                      <m:t>|</m:t>
                    </m:r>
                  </m:oMath>
                </a14:m>
                <a:r>
                  <a:rPr lang="zh-CN" altLang="en-US" dirty="0"/>
                  <a:t>。给定两个数值参数 </a:t>
                </a:r>
                <a14:m>
                  <m:oMath xmlns:m="http://schemas.openxmlformats.org/officeDocument/2006/math">
                    <m:r>
                      <a:rPr lang="en-US" altLang="zh-CN" i="1" dirty="0" smtClean="0">
                        <a:latin typeface="Cambria Math" panose="02040503050406030204" pitchFamily="18" charset="0"/>
                      </a:rPr>
                      <m:t>𝛼</m:t>
                    </m:r>
                    <m:r>
                      <a:rPr lang="en-US" altLang="zh-CN" i="1" dirty="0" smtClean="0">
                        <a:latin typeface="Cambria Math" panose="02040503050406030204" pitchFamily="18" charset="0"/>
                      </a:rPr>
                      <m:t> </m:t>
                    </m:r>
                  </m:oMath>
                </a14:m>
                <a:r>
                  <a:rPr lang="zh-CN" altLang="en-US" dirty="0"/>
                  <a:t>和 </a:t>
                </a:r>
                <a14:m>
                  <m:oMath xmlns:m="http://schemas.openxmlformats.org/officeDocument/2006/math">
                    <m:r>
                      <a:rPr lang="en-US" altLang="zh-CN" i="1" dirty="0" smtClean="0">
                        <a:latin typeface="Cambria Math" panose="02040503050406030204" pitchFamily="18" charset="0"/>
                      </a:rPr>
                      <m:t>𝛽</m:t>
                    </m:r>
                  </m:oMath>
                </a14:m>
                <a:r>
                  <a:rPr lang="en-US" altLang="zh-CN" dirty="0"/>
                  <a:t>, </a:t>
                </a:r>
                <a:r>
                  <a:rPr lang="zh-CN" altLang="en-US" dirty="0"/>
                  <a:t>如果以下 </a:t>
                </a:r>
                <a:endParaRPr lang="zh-CN" altLang="en-US" sz="2000" dirty="0"/>
              </a:p>
              <a:p>
                <a:pPr>
                  <a:lnSpc>
                    <a:spcPct val="125000"/>
                  </a:lnSpc>
                </a:pPr>
                <a:r>
                  <a:rPr lang="zh-CN" altLang="en-US" dirty="0"/>
                  <a:t>公式之一成立</a:t>
                </a:r>
                <a:r>
                  <a:rPr lang="en-US" altLang="zh-CN" dirty="0"/>
                  <a:t>, </a:t>
                </a:r>
                <a:r>
                  <a:rPr lang="zh-CN" altLang="en-US" dirty="0"/>
                  <a:t>则将</a:t>
                </a:r>
                <a14:m>
                  <m:oMath xmlns:m="http://schemas.openxmlformats.org/officeDocument/2006/math">
                    <m:r>
                      <a:rPr lang="zh-CN" altLang="en-US" i="1" dirty="0" smtClean="0">
                        <a:latin typeface="Cambria Math" panose="02040503050406030204" pitchFamily="18" charset="0"/>
                      </a:rPr>
                      <m:t> </m:t>
                    </m:r>
                    <m:r>
                      <a:rPr lang="en-US" altLang="zh-CN" i="1" dirty="0">
                        <a:latin typeface="Cambria Math" panose="02040503050406030204" pitchFamily="18" charset="0"/>
                      </a:rPr>
                      <m:t>𝑏</m:t>
                    </m:r>
                    <m:r>
                      <a:rPr lang="en-US" altLang="zh-CN" i="1" dirty="0">
                        <a:latin typeface="Cambria Math" panose="02040503050406030204" pitchFamily="18" charset="0"/>
                      </a:rPr>
                      <m:t> </m:t>
                    </m:r>
                  </m:oMath>
                </a14:m>
                <a:r>
                  <a:rPr lang="zh-CN" altLang="en-US" dirty="0"/>
                  <a:t>定义为大簇和小簇的边界。 </a:t>
                </a:r>
                <a:endParaRPr lang="zh-CN" altLang="en-US" sz="2000" dirty="0"/>
              </a:p>
              <a:p>
                <a:pPr lvl="1">
                  <a:lnSpc>
                    <a:spcPct val="125000"/>
                  </a:lnSpc>
                </a:pPr>
                <a:r>
                  <a:rPr lang="zh-CN" altLang="en-US" dirty="0"/>
                  <a:t>公式 </a:t>
                </a:r>
                <a:r>
                  <a:rPr lang="en-US" altLang="zh-CN" dirty="0"/>
                  <a:t>(1):</a:t>
                </a:r>
                <a14:m>
                  <m:oMath xmlns:m="http://schemas.openxmlformats.org/officeDocument/2006/math">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 +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 + · · · + |</m:t>
                    </m:r>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𝐶</m:t>
                        </m:r>
                      </m:e>
                      <m:sub>
                        <m:r>
                          <a:rPr lang="en-US" altLang="zh-CN" i="1" dirty="0" err="1">
                            <a:latin typeface="Cambria Math" panose="02040503050406030204" pitchFamily="18" charset="0"/>
                          </a:rPr>
                          <m:t>𝑏</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m:t>
                    </m:r>
                    <m:r>
                      <a:rPr lang="en-US" altLang="zh-CN" i="1" dirty="0">
                        <a:latin typeface="Cambria Math" panose="02040503050406030204" pitchFamily="18" charset="0"/>
                      </a:rPr>
                      <m:t>𝐷</m:t>
                    </m:r>
                    <m:r>
                      <a:rPr lang="en-US" altLang="zh-CN" i="1" dirty="0">
                        <a:latin typeface="Cambria Math" panose="02040503050406030204" pitchFamily="18" charset="0"/>
                      </a:rPr>
                      <m:t>| × </m:t>
                    </m:r>
                    <m:r>
                      <a:rPr lang="en-US" altLang="zh-CN" i="1" dirty="0">
                        <a:latin typeface="Cambria Math" panose="02040503050406030204" pitchFamily="18" charset="0"/>
                      </a:rPr>
                      <m:t>𝛼</m:t>
                    </m:r>
                  </m:oMath>
                </a14:m>
                <a:r>
                  <a:rPr lang="en-US" altLang="zh-CN" i="1" dirty="0"/>
                  <a:t>, </a:t>
                </a:r>
                <a:endParaRPr lang="zh-CN" altLang="en-US" sz="2000" dirty="0"/>
              </a:p>
              <a:p>
                <a:pPr lvl="1">
                  <a:lnSpc>
                    <a:spcPct val="125000"/>
                  </a:lnSpc>
                </a:pPr>
                <a:r>
                  <a:rPr lang="zh-CN" altLang="en-US" dirty="0"/>
                  <a:t>公式 </a:t>
                </a:r>
                <a:r>
                  <a:rPr lang="en-US" altLang="zh-CN" dirty="0"/>
                  <a:t>(2): </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𝐶</m:t>
                        </m:r>
                      </m:e>
                      <m:sub>
                        <m:r>
                          <a:rPr lang="en-US" altLang="zh-CN" i="1" dirty="0" err="1">
                            <a:latin typeface="Cambria Math" panose="02040503050406030204" pitchFamily="18" charset="0"/>
                          </a:rPr>
                          <m:t>𝑏</m:t>
                        </m:r>
                      </m:sub>
                    </m:sSub>
                    <m:r>
                      <a:rPr lang="en-US" altLang="zh-CN"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𝐶</m:t>
                        </m:r>
                      </m:e>
                      <m:sub>
                        <m:r>
                          <a:rPr lang="en-US" altLang="zh-CN" i="1" dirty="0">
                            <a:latin typeface="Cambria Math" panose="02040503050406030204" pitchFamily="18" charset="0"/>
                          </a:rPr>
                          <m:t>𝑏</m:t>
                        </m:r>
                        <m:r>
                          <a:rPr lang="en-US" altLang="zh-CN" i="1" dirty="0">
                            <a:latin typeface="Cambria Math" panose="02040503050406030204" pitchFamily="18" charset="0"/>
                          </a:rPr>
                          <m:t>+</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𝛽</m:t>
                    </m:r>
                  </m:oMath>
                </a14:m>
                <a:r>
                  <a:rPr lang="en-US" altLang="zh-CN" i="1" dirty="0"/>
                  <a:t>, </a:t>
                </a:r>
                <a:endParaRPr lang="zh-CN" altLang="en-US" sz="2000" dirty="0"/>
              </a:p>
              <a:p>
                <a:pPr>
                  <a:lnSpc>
                    <a:spcPct val="125000"/>
                  </a:lnSpc>
                </a:pPr>
                <a:r>
                  <a:rPr lang="zh-CN" altLang="en-US" dirty="0"/>
                  <a:t>大簇的集合定义为</a:t>
                </a:r>
                <a:r>
                  <a:rPr lang="en-US" altLang="zh-CN" dirty="0"/>
                  <a:t>: </a:t>
                </a:r>
                <a14:m>
                  <m:oMath xmlns:m="http://schemas.openxmlformats.org/officeDocument/2006/math">
                    <m:r>
                      <a:rPr lang="en-US" altLang="zh-CN" i="1" dirty="0" smtClean="0">
                        <a:latin typeface="Cambria Math" panose="02040503050406030204" pitchFamily="18" charset="0"/>
                      </a:rPr>
                      <m:t>𝐿𝐶</m:t>
                    </m:r>
                    <m:r>
                      <a:rPr lang="en-US" altLang="zh-CN" i="1" dirty="0" smtClean="0">
                        <a:latin typeface="Cambria Math" panose="02040503050406030204" pitchFamily="18" charset="0"/>
                      </a:rPr>
                      <m:t> =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m:t>
                    </m:r>
                    <m:r>
                      <a:rPr lang="en-US" altLang="zh-CN" i="1" dirty="0" err="1">
                        <a:latin typeface="Cambria Math" panose="02040503050406030204" pitchFamily="18" charset="0"/>
                      </a:rPr>
                      <m:t>𝑖</m:t>
                    </m:r>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𝑏</m:t>
                    </m:r>
                    <m:r>
                      <a:rPr lang="en-US" altLang="zh-CN" i="1" dirty="0">
                        <a:latin typeface="Cambria Math" panose="02040503050406030204" pitchFamily="18" charset="0"/>
                      </a:rPr>
                      <m:t>}, </m:t>
                    </m:r>
                  </m:oMath>
                </a14:m>
                <a:r>
                  <a:rPr lang="zh-CN" altLang="en-US" dirty="0"/>
                  <a:t>小簇的集合定义为 </a:t>
                </a:r>
                <a14:m>
                  <m:oMath xmlns:m="http://schemas.openxmlformats.org/officeDocument/2006/math">
                    <m:r>
                      <a:rPr lang="en-US" altLang="zh-CN" i="1" dirty="0" smtClean="0">
                        <a:latin typeface="Cambria Math" panose="02040503050406030204" pitchFamily="18" charset="0"/>
                      </a:rPr>
                      <m:t>𝑆𝐶</m:t>
                    </m:r>
                    <m:r>
                      <a:rPr lang="en-US" altLang="zh-CN" i="1" dirty="0" smtClean="0">
                        <a:latin typeface="Cambria Math" panose="02040503050406030204" pitchFamily="18" charset="0"/>
                      </a:rPr>
                      <m:t> = </m:t>
                    </m:r>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i="1" dirty="0" err="1">
                                <a:latin typeface="Cambria Math" panose="02040503050406030204" pitchFamily="18" charset="0"/>
                              </a:rPr>
                              <m:t>𝐶</m:t>
                            </m:r>
                          </m:e>
                          <m:sub>
                            <m:r>
                              <a:rPr lang="en-US" altLang="zh-CN" i="1" dirty="0" err="1">
                                <a:latin typeface="Cambria Math" panose="02040503050406030204" pitchFamily="18" charset="0"/>
                              </a:rPr>
                              <m:t>𝑗</m:t>
                            </m:r>
                          </m:sub>
                        </m:sSub>
                        <m:r>
                          <a:rPr lang="en-US" altLang="zh-CN" i="1" dirty="0">
                            <a:latin typeface="Cambria Math" panose="02040503050406030204" pitchFamily="18" charset="0"/>
                          </a:rPr>
                          <m:t> </m:t>
                        </m:r>
                      </m:e>
                    </m:d>
                    <m:r>
                      <a:rPr lang="en-US" altLang="zh-CN" b="0" i="1" dirty="0" smtClean="0">
                        <a:latin typeface="Cambria Math" panose="02040503050406030204" pitchFamily="18" charset="0"/>
                      </a:rPr>
                      <m:t> </m:t>
                    </m:r>
                    <m:r>
                      <a:rPr lang="en-US" altLang="zh-CN" i="1" dirty="0">
                        <a:latin typeface="Cambria Math" panose="02040503050406030204" pitchFamily="18" charset="0"/>
                      </a:rPr>
                      <m:t>𝑗</m:t>
                    </m:r>
                    <m:r>
                      <a:rPr lang="en-US" altLang="zh-CN" i="1" dirty="0">
                        <a:latin typeface="Cambria Math" panose="02040503050406030204" pitchFamily="18" charset="0"/>
                      </a:rPr>
                      <m:t> &gt; </m:t>
                    </m:r>
                    <m:r>
                      <a:rPr lang="en-US" altLang="zh-CN" i="1" dirty="0">
                        <a:latin typeface="Cambria Math" panose="02040503050406030204" pitchFamily="18" charset="0"/>
                      </a:rPr>
                      <m:t>𝑏</m:t>
                    </m:r>
                    <m:r>
                      <a:rPr lang="en-US" altLang="zh-CN" i="1" dirty="0">
                        <a:latin typeface="Cambria Math" panose="02040503050406030204" pitchFamily="18" charset="0"/>
                      </a:rPr>
                      <m:t>}</m:t>
                    </m:r>
                  </m:oMath>
                </a14:m>
                <a:r>
                  <a:rPr lang="zh-CN" altLang="en-US" dirty="0"/>
                  <a:t>。</a:t>
                </a:r>
                <a:endParaRPr lang="zh-CN" altLang="en-US" sz="2000" b="1" dirty="0">
                  <a:solidFill>
                    <a:schemeClr val="accent1"/>
                  </a:solidFill>
                  <a:latin typeface="思源黑体 CN Regular" panose="020B0500000000000000" charset="-122"/>
                  <a:ea typeface="思源黑体 CN Regular" panose="020B0500000000000000"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109991" y="1754180"/>
                <a:ext cx="8393605" cy="4356898"/>
              </a:xfrm>
              <a:prstGeom prst="rect">
                <a:avLst/>
              </a:prstGeom>
              <a:blipFill rotWithShape="1">
                <a:blip r:embed="rId1"/>
                <a:stretch>
                  <a:fillRect t="-7" r="2" b="11"/>
                </a:stretch>
              </a:blipFill>
            </p:spPr>
            <p:txBody>
              <a:bodyPr/>
              <a:lstStyle/>
              <a:p>
                <a:r>
                  <a:rPr lang="zh-CN" altLang="en-US">
                    <a:noFill/>
                  </a:rPr>
                  <a:t> </a:t>
                </a:r>
              </a:p>
            </p:txBody>
          </p:sp>
        </mc:Fallback>
      </mc:AlternateContent>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477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基于聚类的异常检测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1884" y="1019667"/>
            <a:ext cx="9054711" cy="50610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2000" b="1" dirty="0" err="1">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FindCBLOF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2" name="文本框 1"/>
              <p:cNvSpPr txBox="1"/>
              <p:nvPr/>
            </p:nvSpPr>
            <p:spPr>
              <a:xfrm>
                <a:off x="1109991" y="1754180"/>
                <a:ext cx="8393605" cy="4637423"/>
              </a:xfrm>
              <a:prstGeom prst="rect">
                <a:avLst/>
              </a:prstGeom>
              <a:noFill/>
            </p:spPr>
            <p:txBody>
              <a:bodyPr wrap="square">
                <a:spAutoFit/>
              </a:bodyPr>
              <a:lstStyle/>
              <a:p>
                <a:pPr marL="342900" indent="-342900">
                  <a:lnSpc>
                    <a:spcPct val="125000"/>
                  </a:lnSpc>
                  <a:buFont typeface="+mj-ea"/>
                  <a:buAutoNum type="circleNumDbPlain"/>
                </a:pPr>
                <a:r>
                  <a:rPr lang="zh-CN" altLang="en-US" sz="1400" dirty="0"/>
                  <a:t>使用聚类算法</a:t>
                </a:r>
                <a:r>
                  <a:rPr lang="en-US" altLang="zh-CN" sz="1400" dirty="0"/>
                  <a:t>A</a:t>
                </a:r>
                <a:r>
                  <a:rPr lang="zh-CN" altLang="en-US" sz="1400" dirty="0"/>
                  <a:t>将</a:t>
                </a:r>
                <a:r>
                  <a:rPr lang="en-US" altLang="zh-CN" sz="1400" dirty="0"/>
                  <a:t>D</a:t>
                </a:r>
                <a:r>
                  <a:rPr lang="zh-CN" altLang="en-US" sz="1400" dirty="0"/>
                  <a:t>划分为簇</a:t>
                </a:r>
                <a14:m>
                  <m:oMath xmlns:m="http://schemas.openxmlformats.org/officeDocument/2006/math">
                    <m:r>
                      <a:rPr lang="en-US" altLang="zh-CN" sz="1400" i="1" dirty="0" smtClean="0">
                        <a:latin typeface="Cambria Math" panose="02040503050406030204" pitchFamily="18" charset="0"/>
                      </a:rPr>
                      <m:t>𝐶</m:t>
                    </m:r>
                    <m:r>
                      <a:rPr lang="en-US" altLang="zh-CN" sz="1400" i="1" dirty="0" smtClean="0">
                        <a:latin typeface="Cambria Math" panose="02040503050406030204" pitchFamily="18" charset="0"/>
                      </a:rPr>
                      <m:t> = </m:t>
                    </m:r>
                    <m:d>
                      <m:dPr>
                        <m:ctrlPr>
                          <a:rPr lang="en-US" altLang="zh-CN" sz="1400" i="1" dirty="0" smtClean="0">
                            <a:latin typeface="Cambria Math" panose="02040503050406030204" pitchFamily="18" charset="0"/>
                          </a:rPr>
                        </m:ctrlPr>
                      </m:dPr>
                      <m:e>
                        <m:sSub>
                          <m:sSubPr>
                            <m:ctrlPr>
                              <a:rPr lang="en-US" altLang="zh-CN" sz="1400" i="1" dirty="0" smtClean="0">
                                <a:latin typeface="Cambria Math" panose="02040503050406030204" pitchFamily="18" charset="0"/>
                              </a:rPr>
                            </m:ctrlPr>
                          </m:sSubPr>
                          <m:e>
                            <m:r>
                              <a:rPr lang="en-US" altLang="zh-CN" sz="1400" i="1" dirty="0" smtClean="0">
                                <a:latin typeface="Cambria Math" panose="02040503050406030204" pitchFamily="18" charset="0"/>
                              </a:rPr>
                              <m:t>𝐶</m:t>
                            </m:r>
                          </m:e>
                          <m:sub>
                            <m:r>
                              <a:rPr lang="en-US" altLang="zh-CN" sz="1400" i="1" dirty="0" smtClean="0">
                                <a:latin typeface="Cambria Math" panose="02040503050406030204" pitchFamily="18" charset="0"/>
                              </a:rPr>
                              <m:t>1</m:t>
                            </m:r>
                          </m:sub>
                        </m:sSub>
                        <m:r>
                          <a:rPr lang="en-US" altLang="zh-CN" sz="1400" i="1" dirty="0" smtClean="0">
                            <a:latin typeface="Cambria Math" panose="02040503050406030204" pitchFamily="18" charset="0"/>
                          </a:rPr>
                          <m:t>, </m:t>
                        </m:r>
                        <m:sSub>
                          <m:sSubPr>
                            <m:ctrlPr>
                              <a:rPr lang="en-US" altLang="zh-CN" sz="1400" i="1" dirty="0" smtClean="0">
                                <a:latin typeface="Cambria Math" panose="02040503050406030204" pitchFamily="18" charset="0"/>
                              </a:rPr>
                            </m:ctrlPr>
                          </m:sSubPr>
                          <m:e>
                            <m:r>
                              <a:rPr lang="en-US" altLang="zh-CN" sz="1400" i="1" dirty="0" smtClean="0">
                                <a:latin typeface="Cambria Math" panose="02040503050406030204" pitchFamily="18" charset="0"/>
                              </a:rPr>
                              <m:t>𝐶</m:t>
                            </m:r>
                          </m:e>
                          <m:sub>
                            <m:r>
                              <a:rPr lang="en-US" altLang="zh-CN" sz="1400" i="1" dirty="0" smtClean="0">
                                <a:latin typeface="Cambria Math" panose="02040503050406030204" pitchFamily="18" charset="0"/>
                              </a:rPr>
                              <m:t>2</m:t>
                            </m:r>
                          </m:sub>
                        </m:sSub>
                        <m:r>
                          <a:rPr lang="en-US" altLang="zh-CN" sz="1400" i="1" dirty="0" smtClean="0">
                            <a:latin typeface="Cambria Math" panose="02040503050406030204" pitchFamily="18" charset="0"/>
                          </a:rPr>
                          <m:t>, …, </m:t>
                        </m:r>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𝑘</m:t>
                            </m:r>
                          </m:sub>
                        </m:sSub>
                      </m:e>
                    </m:d>
                    <m:r>
                      <a:rPr lang="en-US" altLang="zh-CN" sz="1400" i="1" dirty="0">
                        <a:latin typeface="Cambria Math" panose="02040503050406030204" pitchFamily="18" charset="0"/>
                      </a:rPr>
                      <m:t> </m:t>
                    </m:r>
                  </m:oMath>
                </a14:m>
                <a:r>
                  <a:rPr lang="zh-CN" altLang="en-US" sz="1400" dirty="0"/>
                  <a:t>且按大小降序排序簇</a:t>
                </a:r>
                <a:endParaRPr lang="en-US" altLang="zh-CN" sz="1400" dirty="0"/>
              </a:p>
              <a:p>
                <a:pPr marL="342900" indent="-342900">
                  <a:lnSpc>
                    <a:spcPct val="125000"/>
                  </a:lnSpc>
                  <a:buFont typeface="+mj-ea"/>
                  <a:buAutoNum type="circleNumDbPlain"/>
                </a:pPr>
                <a:r>
                  <a:rPr lang="en-US" altLang="zh-CN" sz="1400" dirty="0"/>
                  <a:t>b = 1  </a:t>
                </a:r>
                <a:r>
                  <a:rPr lang="en-US" altLang="zh-CN" sz="1400" dirty="0">
                    <a:solidFill>
                      <a:schemeClr val="bg1">
                        <a:lumMod val="50000"/>
                      </a:schemeClr>
                    </a:solidFill>
                  </a:rPr>
                  <a:t>// </a:t>
                </a:r>
                <a:r>
                  <a:rPr lang="zh-CN" altLang="en-US" sz="1400" dirty="0">
                    <a:solidFill>
                      <a:schemeClr val="bg1">
                        <a:lumMod val="50000"/>
                      </a:schemeClr>
                    </a:solidFill>
                  </a:rPr>
                  <a:t>划分大簇与小簇 </a:t>
                </a:r>
                <a:endParaRPr lang="en-US" altLang="zh-CN" sz="1400" dirty="0">
                  <a:solidFill>
                    <a:schemeClr val="bg1">
                      <a:lumMod val="50000"/>
                    </a:schemeClr>
                  </a:solidFill>
                </a:endParaRPr>
              </a:p>
              <a:p>
                <a:pPr marL="342900" indent="-342900">
                  <a:lnSpc>
                    <a:spcPct val="125000"/>
                  </a:lnSpc>
                  <a:buFont typeface="+mj-ea"/>
                  <a:buAutoNum type="circleNumDbPlain"/>
                </a:pPr>
                <a:r>
                  <a:rPr lang="en-US" altLang="zh-CN" sz="1400" dirty="0"/>
                  <a:t>while b &lt; k </a:t>
                </a:r>
                <a:endParaRPr lang="en-US" altLang="zh-CN" sz="1400" dirty="0"/>
              </a:p>
              <a:p>
                <a:pPr marL="342900" indent="-342900">
                  <a:lnSpc>
                    <a:spcPct val="125000"/>
                  </a:lnSpc>
                  <a:buFont typeface="+mj-ea"/>
                  <a:buAutoNum type="circleNumDbPlain"/>
                </a:pPr>
                <a:r>
                  <a:rPr lang="en-US" altLang="zh-CN" sz="1400" dirty="0"/>
                  <a:t>	if </a:t>
                </a:r>
                <a14:m>
                  <m:oMath xmlns:m="http://schemas.openxmlformats.org/officeDocument/2006/math">
                    <m:d>
                      <m:dPr>
                        <m:ctrlPr>
                          <a:rPr lang="en-US" altLang="zh-CN" sz="1400" i="1" dirty="0" smtClean="0">
                            <a:latin typeface="Cambria Math" panose="02040503050406030204" pitchFamily="18" charset="0"/>
                          </a:rPr>
                        </m:ctrlPr>
                      </m:dPr>
                      <m:e>
                        <m:sSubSup>
                          <m:sSubSupPr>
                            <m:ctrlPr>
                              <a:rPr lang="en-US" altLang="zh-CN" sz="1400" i="1" dirty="0" smtClean="0">
                                <a:latin typeface="Cambria Math" panose="02040503050406030204" pitchFamily="18" charset="0"/>
                              </a:rPr>
                            </m:ctrlPr>
                          </m:sSubSupPr>
                          <m:e>
                            <m:r>
                              <a:rPr lang="en-US" altLang="zh-CN" sz="1400" b="0" i="1" dirty="0" smtClean="0">
                                <a:latin typeface="Cambria Math" panose="02040503050406030204" pitchFamily="18" charset="0"/>
                              </a:rPr>
                              <m:t>∑</m:t>
                            </m:r>
                          </m:e>
                          <m:sub>
                            <m:r>
                              <a:rPr lang="en-US" altLang="zh-CN" sz="1400" b="0" i="1" dirty="0" smtClean="0">
                                <a:latin typeface="Cambria Math" panose="02040503050406030204" pitchFamily="18" charset="0"/>
                              </a:rPr>
                              <m:t>𝑖</m:t>
                            </m:r>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1</m:t>
                            </m:r>
                          </m:sub>
                          <m:sup>
                            <m:r>
                              <a:rPr lang="en-US" altLang="zh-CN" sz="1400" i="1" dirty="0">
                                <a:latin typeface="Cambria Math" panose="02040503050406030204" pitchFamily="18" charset="0"/>
                              </a:rPr>
                              <m:t>𝑏</m:t>
                            </m:r>
                          </m:sup>
                        </m:sSubSup>
                        <m:d>
                          <m:dPr>
                            <m:begChr m:val="|"/>
                            <m:endChr m:val="|"/>
                            <m:ctrlPr>
                              <a:rPr lang="en-US" altLang="zh-CN" sz="1400" i="1" dirty="0">
                                <a:latin typeface="Cambria Math" panose="02040503050406030204" pitchFamily="18" charset="0"/>
                              </a:rPr>
                            </m:ctrlPr>
                          </m:dPr>
                          <m:e>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𝑖</m:t>
                                </m:r>
                              </m:sub>
                            </m:sSub>
                          </m:e>
                        </m:d>
                        <m:r>
                          <a:rPr lang="en-US" altLang="zh-CN" sz="1400" i="1" dirty="0">
                            <a:latin typeface="Cambria Math" panose="02040503050406030204" pitchFamily="18" charset="0"/>
                          </a:rPr>
                          <m:t>≥ </m:t>
                        </m:r>
                        <m:d>
                          <m:dPr>
                            <m:begChr m:val="|"/>
                            <m:endChr m:val="|"/>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𝐷</m:t>
                            </m:r>
                          </m:e>
                        </m:d>
                        <m:r>
                          <a:rPr lang="en-US" altLang="zh-CN" sz="1400" i="1" dirty="0">
                            <a:latin typeface="Cambria Math" panose="02040503050406030204" pitchFamily="18" charset="0"/>
                          </a:rPr>
                          <m:t>×</m:t>
                        </m:r>
                        <m:r>
                          <a:rPr lang="el-GR" altLang="zh-CN" sz="1400" i="1" dirty="0">
                            <a:latin typeface="Cambria Math" panose="02040503050406030204" pitchFamily="18" charset="0"/>
                          </a:rPr>
                          <m:t>𝛼</m:t>
                        </m:r>
                      </m:e>
                    </m:d>
                    <m:r>
                      <a:rPr lang="el-GR" altLang="zh-CN" sz="1400" i="1" dirty="0">
                        <a:latin typeface="Cambria Math" panose="02040503050406030204" pitchFamily="18" charset="0"/>
                      </a:rPr>
                      <m:t> </m:t>
                    </m:r>
                  </m:oMath>
                </a14:m>
                <a:r>
                  <a:rPr lang="en-US" altLang="zh-CN" sz="1400" dirty="0"/>
                  <a:t>OR </a:t>
                </a:r>
                <a14:m>
                  <m:oMath xmlns:m="http://schemas.openxmlformats.org/officeDocument/2006/math">
                    <m:r>
                      <a:rPr lang="en-US" altLang="zh-CN" sz="1400" i="1" dirty="0" smtClean="0">
                        <a:latin typeface="Cambria Math" panose="02040503050406030204" pitchFamily="18" charset="0"/>
                      </a:rPr>
                      <m:t>(</m:t>
                    </m:r>
                    <m:f>
                      <m:fPr>
                        <m:ctrlPr>
                          <a:rPr lang="en-US" altLang="zh-CN" sz="1400" i="1" dirty="0">
                            <a:latin typeface="Cambria Math" panose="02040503050406030204" pitchFamily="18" charset="0"/>
                          </a:rPr>
                        </m:ctrlPr>
                      </m:fPr>
                      <m:num>
                        <m:d>
                          <m:dPr>
                            <m:begChr m:val="|"/>
                            <m:endChr m:val="|"/>
                            <m:ctrlPr>
                              <a:rPr lang="en-US" altLang="zh-CN" sz="1400" i="1" dirty="0" smtClean="0">
                                <a:latin typeface="Cambria Math" panose="02040503050406030204" pitchFamily="18" charset="0"/>
                              </a:rPr>
                            </m:ctrlPr>
                          </m:dPr>
                          <m:e>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𝑏</m:t>
                                </m:r>
                              </m:sub>
                            </m:sSub>
                          </m:e>
                        </m:d>
                      </m:num>
                      <m:den>
                        <m:d>
                          <m:dPr>
                            <m:begChr m:val="|"/>
                            <m:endChr m:val="|"/>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𝐶</m:t>
                                </m:r>
                              </m:e>
                              <m:sub>
                                <m:d>
                                  <m:dPr>
                                    <m:begChr m:val="{"/>
                                    <m:endChr m:val="}"/>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𝑏</m:t>
                                    </m:r>
                                    <m:r>
                                      <a:rPr lang="en-US" altLang="zh-CN" sz="1400" i="1" dirty="0">
                                        <a:latin typeface="Cambria Math" panose="02040503050406030204" pitchFamily="18" charset="0"/>
                                      </a:rPr>
                                      <m:t>+</m:t>
                                    </m:r>
                                    <m:r>
                                      <a:rPr lang="en-US" altLang="zh-CN" sz="1400" i="1" dirty="0">
                                        <a:latin typeface="Cambria Math" panose="02040503050406030204" pitchFamily="18" charset="0"/>
                                      </a:rPr>
                                      <m:t>1</m:t>
                                    </m:r>
                                  </m:e>
                                </m:d>
                              </m:sub>
                            </m:sSub>
                          </m:e>
                        </m:d>
                      </m:den>
                    </m:f>
                    <m:r>
                      <a:rPr lang="en-US" altLang="zh-CN" sz="1400" i="1" dirty="0">
                        <a:latin typeface="Cambria Math" panose="02040503050406030204" pitchFamily="18" charset="0"/>
                      </a:rPr>
                      <m:t>≥ </m:t>
                    </m:r>
                    <m:r>
                      <a:rPr lang="el-GR" altLang="zh-CN" sz="1400" i="1" dirty="0">
                        <a:latin typeface="Cambria Math" panose="02040503050406030204" pitchFamily="18" charset="0"/>
                      </a:rPr>
                      <m:t>𝛽</m:t>
                    </m:r>
                  </m:oMath>
                </a14:m>
                <a:r>
                  <a:rPr lang="el-GR" altLang="zh-CN" sz="1400" dirty="0"/>
                  <a:t>) </a:t>
                </a:r>
                <a:endParaRPr lang="en-US" altLang="zh-CN" sz="1400" dirty="0"/>
              </a:p>
              <a:p>
                <a:pPr marL="342900" indent="-342900">
                  <a:lnSpc>
                    <a:spcPct val="125000"/>
                  </a:lnSpc>
                  <a:buFont typeface="+mj-ea"/>
                  <a:buAutoNum type="circleNumDbPlain"/>
                </a:pPr>
                <a:r>
                  <a:rPr lang="en-US" altLang="zh-CN" sz="1400" dirty="0"/>
                  <a:t>		break</a:t>
                </a:r>
                <a:endParaRPr lang="en-US" altLang="zh-CN" sz="1400" dirty="0"/>
              </a:p>
              <a:p>
                <a:pPr marL="342900" indent="-342900">
                  <a:lnSpc>
                    <a:spcPct val="125000"/>
                  </a:lnSpc>
                  <a:buFont typeface="+mj-ea"/>
                  <a:buAutoNum type="circleNumDbPlain"/>
                </a:pPr>
                <a:r>
                  <a:rPr lang="en-US" altLang="zh-CN" sz="1400" dirty="0"/>
                  <a:t>	 b = b + 1 </a:t>
                </a:r>
                <a:endParaRPr lang="en-US" altLang="zh-CN" sz="1400" dirty="0"/>
              </a:p>
              <a:p>
                <a:pPr marL="342900" indent="-342900">
                  <a:lnSpc>
                    <a:spcPct val="125000"/>
                  </a:lnSpc>
                  <a:buFont typeface="+mj-ea"/>
                  <a:buAutoNum type="circleNumDbPlain"/>
                </a:pPr>
                <a14:m>
                  <m:oMath xmlns:m="http://schemas.openxmlformats.org/officeDocument/2006/math">
                    <m:r>
                      <a:rPr lang="en-US" altLang="zh-CN" sz="1400" b="0" i="0" dirty="0" smtClean="0">
                        <a:latin typeface="Cambria Math" panose="02040503050406030204" pitchFamily="18" charset="0"/>
                      </a:rPr>
                      <m:t> </m:t>
                    </m:r>
                    <m:r>
                      <a:rPr lang="en-US" altLang="zh-CN" sz="1400" i="1" dirty="0" smtClean="0">
                        <a:latin typeface="Cambria Math" panose="02040503050406030204" pitchFamily="18" charset="0"/>
                      </a:rPr>
                      <m:t>𝐿𝐶</m:t>
                    </m:r>
                    <m:r>
                      <a:rPr lang="en-US" altLang="zh-CN" sz="1400" i="1" dirty="0" smtClean="0">
                        <a:latin typeface="Cambria Math" panose="02040503050406030204" pitchFamily="18" charset="0"/>
                      </a:rPr>
                      <m:t> ={</m:t>
                    </m:r>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𝑖</m:t>
                        </m:r>
                      </m:sub>
                    </m:sSub>
                    <m:r>
                      <a:rPr lang="en-US" altLang="zh-CN" sz="1400" i="1" dirty="0">
                        <a:latin typeface="Cambria Math" panose="02040503050406030204" pitchFamily="18" charset="0"/>
                      </a:rPr>
                      <m:t> | </m:t>
                    </m:r>
                    <m:r>
                      <a:rPr lang="en-US" altLang="zh-CN" sz="1400" i="1" dirty="0" err="1">
                        <a:latin typeface="Cambria Math" panose="02040503050406030204" pitchFamily="18" charset="0"/>
                      </a:rPr>
                      <m:t>𝑖</m:t>
                    </m:r>
                    <m:r>
                      <a:rPr lang="en-US" altLang="zh-CN" sz="1400" i="1" dirty="0">
                        <a:latin typeface="Cambria Math" panose="02040503050406030204" pitchFamily="18" charset="0"/>
                      </a:rPr>
                      <m:t> ≤ </m:t>
                    </m:r>
                    <m:r>
                      <a:rPr lang="en-US" altLang="zh-CN" sz="1400" i="1" dirty="0">
                        <a:latin typeface="Cambria Math" panose="02040503050406030204" pitchFamily="18" charset="0"/>
                      </a:rPr>
                      <m:t>𝑏</m:t>
                    </m:r>
                    <m:r>
                      <a:rPr lang="en-US" altLang="zh-CN" sz="1400" b="0" i="1" dirty="0" smtClean="0">
                        <a:latin typeface="Cambria Math" panose="02040503050406030204" pitchFamily="18" charset="0"/>
                      </a:rPr>
                      <m:t>}</m:t>
                    </m:r>
                    <m:r>
                      <a:rPr lang="en-US" altLang="zh-CN" sz="1400" i="1" dirty="0" smtClean="0">
                        <a:latin typeface="Cambria Math" panose="02040503050406030204" pitchFamily="18" charset="0"/>
                      </a:rPr>
                      <m:t>; </m:t>
                    </m:r>
                    <m:r>
                      <a:rPr lang="en-US" altLang="zh-CN" sz="1400" i="1" dirty="0" smtClean="0">
                        <a:latin typeface="Cambria Math" panose="02040503050406030204" pitchFamily="18" charset="0"/>
                      </a:rPr>
                      <m:t>𝑆𝐶</m:t>
                    </m:r>
                    <m:r>
                      <a:rPr lang="en-US" altLang="zh-CN" sz="1400" i="1" dirty="0" smtClean="0">
                        <a:latin typeface="Cambria Math" panose="02040503050406030204" pitchFamily="18" charset="0"/>
                      </a:rPr>
                      <m:t> ={</m:t>
                    </m:r>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𝑗</m:t>
                        </m:r>
                      </m:sub>
                    </m:sSub>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𝑗</m:t>
                    </m:r>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𝑏</m:t>
                    </m:r>
                    <m:r>
                      <a:rPr lang="en-US" altLang="zh-CN" sz="1400" b="0" i="1" dirty="0" smtClean="0">
                        <a:latin typeface="Cambria Math" panose="02040503050406030204" pitchFamily="18" charset="0"/>
                      </a:rPr>
                      <m:t>}</m:t>
                    </m:r>
                  </m:oMath>
                </a14:m>
                <a:r>
                  <a:rPr lang="en-US" altLang="zh-CN" sz="1400" dirty="0"/>
                  <a:t> </a:t>
                </a:r>
                <a:r>
                  <a:rPr lang="en-US" altLang="zh-CN" sz="1400" dirty="0">
                    <a:solidFill>
                      <a:schemeClr val="bg1">
                        <a:lumMod val="50000"/>
                      </a:schemeClr>
                    </a:solidFill>
                  </a:rPr>
                  <a:t>// </a:t>
                </a:r>
                <a:r>
                  <a:rPr lang="zh-CN" altLang="en-US" sz="1400" dirty="0">
                    <a:solidFill>
                      <a:schemeClr val="bg1">
                        <a:lumMod val="50000"/>
                      </a:schemeClr>
                    </a:solidFill>
                  </a:rPr>
                  <a:t>大簇集合</a:t>
                </a:r>
                <a:r>
                  <a:rPr lang="en-US" altLang="zh-CN" sz="1400" dirty="0">
                    <a:solidFill>
                      <a:schemeClr val="bg1">
                        <a:lumMod val="50000"/>
                      </a:schemeClr>
                    </a:solidFill>
                  </a:rPr>
                  <a:t>; </a:t>
                </a:r>
                <a:r>
                  <a:rPr lang="zh-CN" altLang="en-US" sz="1400" dirty="0">
                    <a:solidFill>
                      <a:schemeClr val="bg1">
                        <a:lumMod val="50000"/>
                      </a:schemeClr>
                    </a:solidFill>
                  </a:rPr>
                  <a:t>小簇集合</a:t>
                </a:r>
                <a:endParaRPr lang="en-US" altLang="zh-CN" sz="1400" dirty="0">
                  <a:solidFill>
                    <a:schemeClr val="bg1">
                      <a:lumMod val="50000"/>
                    </a:schemeClr>
                  </a:solidFill>
                </a:endParaRPr>
              </a:p>
              <a:p>
                <a:pPr marL="342900" indent="-342900">
                  <a:lnSpc>
                    <a:spcPct val="125000"/>
                  </a:lnSpc>
                  <a:buFont typeface="+mj-ea"/>
                  <a:buAutoNum type="circleNumDbPlain"/>
                </a:pPr>
                <a:r>
                  <a:rPr lang="en-US" altLang="zh-CN" sz="1400" dirty="0"/>
                  <a:t>for </a:t>
                </a:r>
                <a:r>
                  <a:rPr lang="zh-CN" altLang="en-US" sz="1400" dirty="0"/>
                  <a:t>每个样本</a:t>
                </a:r>
                <a14:m>
                  <m:oMath xmlns:m="http://schemas.openxmlformats.org/officeDocument/2006/math">
                    <m:r>
                      <a:rPr lang="en-US" altLang="zh-CN" sz="1400" i="1" dirty="0" smtClean="0">
                        <a:latin typeface="Cambria Math" panose="02040503050406030204" pitchFamily="18" charset="0"/>
                      </a:rPr>
                      <m:t>𝑡</m:t>
                    </m:r>
                    <m:r>
                      <a:rPr lang="en-US" altLang="zh-CN" sz="1400" i="1" dirty="0" smtClean="0">
                        <a:latin typeface="Cambria Math" panose="02040503050406030204" pitchFamily="18" charset="0"/>
                      </a:rPr>
                      <m:t> ∈ </m:t>
                    </m:r>
                    <m:r>
                      <a:rPr lang="en-US" altLang="zh-CN" sz="1400" i="1" dirty="0" smtClean="0">
                        <a:latin typeface="Cambria Math" panose="02040503050406030204" pitchFamily="18" charset="0"/>
                      </a:rPr>
                      <m:t>𝐷</m:t>
                    </m:r>
                    <m:r>
                      <a:rPr lang="en-US" altLang="zh-CN" sz="1400" i="1" dirty="0" smtClean="0">
                        <a:latin typeface="Cambria Math" panose="02040503050406030204" pitchFamily="18" charset="0"/>
                      </a:rPr>
                      <m:t> </m:t>
                    </m:r>
                  </m:oMath>
                </a14:m>
                <a:endParaRPr lang="en-US" altLang="zh-CN" sz="1400" dirty="0"/>
              </a:p>
              <a:p>
                <a:pPr marL="342900" indent="-342900">
                  <a:lnSpc>
                    <a:spcPct val="125000"/>
                  </a:lnSpc>
                  <a:buFont typeface="+mj-ea"/>
                  <a:buAutoNum type="circleNumDbPlain"/>
                </a:pPr>
                <a:r>
                  <a:rPr lang="en-US" altLang="zh-CN" sz="1400" dirty="0"/>
                  <a:t>	</a:t>
                </a:r>
                <a:r>
                  <a:rPr lang="zh-CN" altLang="en-US" sz="1400" dirty="0"/>
                  <a:t>找到</a:t>
                </a:r>
                <a:r>
                  <a:rPr lang="en-US" altLang="zh-CN" sz="1400" dirty="0"/>
                  <a:t>t</a:t>
                </a:r>
                <a:r>
                  <a:rPr lang="zh-CN" altLang="en-US" sz="1400" dirty="0"/>
                  <a:t>所属簇</a:t>
                </a:r>
                <a14:m>
                  <m:oMath xmlns:m="http://schemas.openxmlformats.org/officeDocument/2006/math">
                    <m:sSub>
                      <m:sSubPr>
                        <m:ctrlPr>
                          <a:rPr lang="en-US" altLang="zh-CN" sz="1400" i="1" dirty="0" smtClean="0">
                            <a:latin typeface="Cambria Math" panose="02040503050406030204" pitchFamily="18" charset="0"/>
                          </a:rPr>
                        </m:ctrlPr>
                      </m:sSubPr>
                      <m:e>
                        <m:r>
                          <a:rPr lang="en-US" altLang="zh-CN" sz="1400" i="1" dirty="0" smtClean="0">
                            <a:latin typeface="Cambria Math" panose="02040503050406030204" pitchFamily="18" charset="0"/>
                          </a:rPr>
                          <m:t>𝐶</m:t>
                        </m:r>
                      </m:e>
                      <m:sub>
                        <m:r>
                          <a:rPr lang="en-US" altLang="zh-CN" sz="1400" i="1" dirty="0" smtClean="0">
                            <a:latin typeface="Cambria Math" panose="02040503050406030204" pitchFamily="18" charset="0"/>
                          </a:rPr>
                          <m:t>𝑡</m:t>
                        </m:r>
                      </m:sub>
                    </m:sSub>
                  </m:oMath>
                </a14:m>
                <a:r>
                  <a:rPr lang="en-US" altLang="zh-CN" sz="1400" dirty="0"/>
                  <a:t> </a:t>
                </a:r>
                <a:endParaRPr lang="en-US" altLang="zh-CN" sz="1400" dirty="0"/>
              </a:p>
              <a:p>
                <a:pPr marL="342900" indent="-342900">
                  <a:lnSpc>
                    <a:spcPct val="125000"/>
                  </a:lnSpc>
                  <a:buFont typeface="+mj-ea"/>
                  <a:buAutoNum type="circleNumDbPlain"/>
                </a:pPr>
                <a:r>
                  <a:rPr lang="en-US" altLang="zh-CN" sz="1400" dirty="0"/>
                  <a:t>	if </a:t>
                </a:r>
                <a14:m>
                  <m:oMath xmlns:m="http://schemas.openxmlformats.org/officeDocument/2006/math">
                    <m:sSub>
                      <m:sSubPr>
                        <m:ctrlPr>
                          <a:rPr lang="en-US" altLang="zh-CN" sz="1400" i="1" dirty="0" smtClean="0">
                            <a:latin typeface="Cambria Math" panose="02040503050406030204" pitchFamily="18" charset="0"/>
                          </a:rPr>
                        </m:ctrlPr>
                      </m:sSubPr>
                      <m:e>
                        <m:r>
                          <a:rPr lang="en-US" altLang="zh-CN" sz="1400" i="1" dirty="0" smtClean="0">
                            <a:latin typeface="Cambria Math" panose="02040503050406030204" pitchFamily="18" charset="0"/>
                          </a:rPr>
                          <m:t>𝐶</m:t>
                        </m:r>
                      </m:e>
                      <m:sub>
                        <m:r>
                          <a:rPr lang="en-US" altLang="zh-CN" sz="1400" i="1" dirty="0" smtClean="0">
                            <a:latin typeface="Cambria Math" panose="02040503050406030204" pitchFamily="18" charset="0"/>
                          </a:rPr>
                          <m:t>𝑡</m:t>
                        </m:r>
                      </m:sub>
                    </m:sSub>
                    <m:r>
                      <a:rPr lang="en-US" altLang="zh-CN" sz="1400" i="1" dirty="0">
                        <a:latin typeface="Cambria Math" panose="02040503050406030204" pitchFamily="18" charset="0"/>
                      </a:rPr>
                      <m:t> ∈ </m:t>
                    </m:r>
                    <m:r>
                      <a:rPr lang="en-US" altLang="zh-CN" sz="1400" i="1" dirty="0">
                        <a:latin typeface="Cambria Math" panose="02040503050406030204" pitchFamily="18" charset="0"/>
                      </a:rPr>
                      <m:t>𝑆𝐶</m:t>
                    </m:r>
                  </m:oMath>
                </a14:m>
                <a:r>
                  <a:rPr lang="en-US" altLang="zh-CN" sz="1400" dirty="0"/>
                  <a:t> then </a:t>
                </a:r>
                <a:r>
                  <a:rPr lang="en-US" altLang="zh-CN" sz="1400" dirty="0">
                    <a:solidFill>
                      <a:schemeClr val="bg1">
                        <a:lumMod val="50000"/>
                      </a:schemeClr>
                    </a:solidFill>
                  </a:rPr>
                  <a:t>// t</a:t>
                </a:r>
                <a:r>
                  <a:rPr lang="zh-CN" altLang="en-US" sz="1400" dirty="0">
                    <a:solidFill>
                      <a:schemeClr val="bg1">
                        <a:lumMod val="50000"/>
                      </a:schemeClr>
                    </a:solidFill>
                  </a:rPr>
                  <a:t>在小簇中</a:t>
                </a:r>
                <a:endParaRPr lang="en-US" altLang="zh-CN" sz="1400" dirty="0">
                  <a:solidFill>
                    <a:schemeClr val="bg1">
                      <a:lumMod val="50000"/>
                    </a:schemeClr>
                  </a:solidFill>
                </a:endParaRPr>
              </a:p>
              <a:p>
                <a:pPr marL="342900" indent="-342900">
                  <a:lnSpc>
                    <a:spcPct val="125000"/>
                  </a:lnSpc>
                  <a:buFont typeface="+mj-ea"/>
                  <a:buAutoNum type="circleNumDbPlain"/>
                </a:pPr>
                <a:r>
                  <a:rPr lang="en-US" altLang="zh-CN" sz="1400" dirty="0"/>
                  <a:t>		</a:t>
                </a:r>
                <a14:m>
                  <m:oMath xmlns:m="http://schemas.openxmlformats.org/officeDocument/2006/math">
                    <m:r>
                      <m:rPr>
                        <m:sty m:val="p"/>
                      </m:rPr>
                      <a:rPr lang="en-US" altLang="zh-CN" sz="1400" b="0" i="0" dirty="0" smtClean="0">
                        <a:latin typeface="Cambria Math" panose="02040503050406030204" pitchFamily="18" charset="0"/>
                      </a:rPr>
                      <m:t>min</m:t>
                    </m:r>
                    <m:r>
                      <a:rPr lang="en-US" altLang="zh-CN" sz="1400" b="0" i="1" dirty="0" smtClean="0">
                        <a:latin typeface="Cambria Math" panose="02040503050406030204" pitchFamily="18" charset="0"/>
                      </a:rPr>
                      <m:t>_</m:t>
                    </m:r>
                    <m:r>
                      <m:rPr>
                        <m:sty m:val="p"/>
                      </m:rPr>
                      <a:rPr lang="en-US" altLang="zh-CN" sz="1400" i="1" dirty="0">
                        <a:latin typeface="Cambria Math" panose="02040503050406030204" pitchFamily="18" charset="0"/>
                      </a:rPr>
                      <m:t>dist</m:t>
                    </m:r>
                    <m:r>
                      <a:rPr lang="en-US" altLang="zh-CN" sz="1400" i="1" dirty="0">
                        <a:latin typeface="Cambria Math" panose="02040503050406030204" pitchFamily="18" charset="0"/>
                      </a:rPr>
                      <m:t>=</m:t>
                    </m:r>
                    <m:func>
                      <m:funcPr>
                        <m:ctrlPr>
                          <a:rPr lang="en-US" altLang="zh-CN" sz="1400" i="1" dirty="0">
                            <a:latin typeface="Cambria Math" panose="02040503050406030204" pitchFamily="18" charset="0"/>
                          </a:rPr>
                        </m:ctrlPr>
                      </m:funcPr>
                      <m:fName>
                        <m:r>
                          <m:rPr>
                            <m:sty m:val="p"/>
                          </m:rPr>
                          <a:rPr lang="en-US" altLang="zh-CN" sz="1400" i="0" dirty="0">
                            <a:latin typeface="Cambria Math" panose="02040503050406030204" pitchFamily="18" charset="0"/>
                          </a:rPr>
                          <m:t>min</m:t>
                        </m:r>
                      </m:fName>
                      <m:e>
                        <m:d>
                          <m:dPr>
                            <m:endChr m:val="|"/>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𝑑𝑖𝑠𝑡𝑎𝑛𝑐𝑒</m:t>
                            </m:r>
                            <m:d>
                              <m:dPr>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𝑡</m:t>
                                </m:r>
                                <m:r>
                                  <a:rPr lang="en-US" altLang="zh-CN" sz="1400" i="1" dirty="0">
                                    <a:latin typeface="Cambria Math" panose="02040503050406030204" pitchFamily="18" charset="0"/>
                                  </a:rPr>
                                  <m:t>, </m:t>
                                </m:r>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𝑗</m:t>
                                    </m:r>
                                  </m:sub>
                                </m:sSub>
                              </m:e>
                            </m:d>
                          </m:e>
                        </m:d>
                      </m:e>
                    </m:func>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𝑗</m:t>
                        </m:r>
                      </m:sub>
                    </m:sSub>
                    <m:r>
                      <a:rPr lang="en-US" altLang="zh-CN" sz="1400" i="1" dirty="0">
                        <a:latin typeface="Cambria Math" panose="02040503050406030204" pitchFamily="18" charset="0"/>
                      </a:rPr>
                      <m:t> ∈ </m:t>
                    </m:r>
                    <m:r>
                      <a:rPr lang="en-US" altLang="zh-CN" sz="1400" i="1" dirty="0">
                        <a:latin typeface="Cambria Math" panose="02040503050406030204" pitchFamily="18" charset="0"/>
                      </a:rPr>
                      <m:t>𝐿𝐶</m:t>
                    </m:r>
                    <m:r>
                      <a:rPr lang="en-US" altLang="zh-CN" sz="1400" i="1" dirty="0">
                        <a:latin typeface="Cambria Math" panose="02040503050406030204" pitchFamily="18" charset="0"/>
                      </a:rPr>
                      <m:t>) </m:t>
                    </m:r>
                  </m:oMath>
                </a14:m>
                <a:endParaRPr lang="en-US" altLang="zh-CN" sz="1400" dirty="0"/>
              </a:p>
              <a:p>
                <a:pPr marL="342900" indent="-342900">
                  <a:lnSpc>
                    <a:spcPct val="125000"/>
                  </a:lnSpc>
                  <a:buFont typeface="+mj-ea"/>
                  <a:buAutoNum type="circleNumDbPlain"/>
                </a:pPr>
                <a:r>
                  <a:rPr lang="en-US" altLang="zh-CN" sz="1400" dirty="0"/>
                  <a:t>		</a:t>
                </a:r>
                <a14:m>
                  <m:oMath xmlns:m="http://schemas.openxmlformats.org/officeDocument/2006/math">
                    <m:r>
                      <a:rPr lang="en-US" altLang="zh-CN" sz="1400" i="1" dirty="0" smtClean="0">
                        <a:latin typeface="Cambria Math" panose="02040503050406030204" pitchFamily="18" charset="0"/>
                      </a:rPr>
                      <m:t>𝐶𝐵𝐿𝑂𝐹</m:t>
                    </m:r>
                    <m:r>
                      <a:rPr lang="en-US" altLang="zh-CN" sz="1400" i="1" dirty="0">
                        <a:latin typeface="Cambria Math" panose="02040503050406030204" pitchFamily="18" charset="0"/>
                      </a:rPr>
                      <m:t>(</m:t>
                    </m:r>
                    <m:r>
                      <a:rPr lang="en-US" altLang="zh-CN" sz="1400" i="1" dirty="0">
                        <a:latin typeface="Cambria Math" panose="02040503050406030204" pitchFamily="18" charset="0"/>
                      </a:rPr>
                      <m:t>𝑡</m:t>
                    </m:r>
                    <m:r>
                      <a:rPr lang="en-US" altLang="zh-CN" sz="1400" i="1" dirty="0">
                        <a:latin typeface="Cambria Math" panose="02040503050406030204" pitchFamily="18" charset="0"/>
                      </a:rPr>
                      <m:t>) = |</m:t>
                    </m:r>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𝑡</m:t>
                        </m:r>
                      </m:sub>
                    </m:sSub>
                    <m:r>
                      <a:rPr lang="en-US" altLang="zh-CN" sz="1400" i="1" dirty="0">
                        <a:latin typeface="Cambria Math" panose="02040503050406030204" pitchFamily="18" charset="0"/>
                      </a:rPr>
                      <m:t>| × </m:t>
                    </m:r>
                    <m:r>
                      <m:rPr>
                        <m:sty m:val="p"/>
                      </m:rPr>
                      <a:rPr lang="en-US" altLang="zh-CN" sz="1400" i="1" dirty="0" err="1">
                        <a:latin typeface="Cambria Math" panose="02040503050406030204" pitchFamily="18" charset="0"/>
                      </a:rPr>
                      <m:t>min</m:t>
                    </m:r>
                    <m:r>
                      <a:rPr lang="en-US" altLang="zh-CN" sz="1400" i="1" dirty="0" err="1">
                        <a:latin typeface="Cambria Math" panose="02040503050406030204" pitchFamily="18" charset="0"/>
                      </a:rPr>
                      <m:t>⁡_</m:t>
                    </m:r>
                    <m:r>
                      <a:rPr lang="en-US" altLang="zh-CN" sz="1400" i="1" dirty="0" err="1" smtClean="0">
                        <a:latin typeface="Cambria Math" panose="02040503050406030204" pitchFamily="18" charset="0"/>
                      </a:rPr>
                      <m:t>𝑑𝑖𝑠𝑡</m:t>
                    </m:r>
                  </m:oMath>
                </a14:m>
                <a:endParaRPr lang="en-US" altLang="zh-CN" sz="1400" dirty="0"/>
              </a:p>
              <a:p>
                <a:pPr marL="342900" indent="-342900">
                  <a:lnSpc>
                    <a:spcPct val="125000"/>
                  </a:lnSpc>
                  <a:buFont typeface="+mj-ea"/>
                  <a:buAutoNum type="circleNumDbPlain"/>
                </a:pPr>
                <a:r>
                  <a:rPr lang="en-US" altLang="zh-CN" sz="1400" dirty="0"/>
                  <a:t>	else </a:t>
                </a:r>
                <a:r>
                  <a:rPr lang="en-US" altLang="zh-CN" sz="1400" dirty="0">
                    <a:solidFill>
                      <a:schemeClr val="bg1">
                        <a:lumMod val="50000"/>
                      </a:schemeClr>
                    </a:solidFill>
                  </a:rPr>
                  <a:t>// t</a:t>
                </a:r>
                <a:r>
                  <a:rPr lang="zh-CN" altLang="en-US" sz="1400" dirty="0">
                    <a:solidFill>
                      <a:schemeClr val="bg1">
                        <a:lumMod val="50000"/>
                      </a:schemeClr>
                    </a:solidFill>
                  </a:rPr>
                  <a:t>在大簇中 </a:t>
                </a:r>
                <a:endParaRPr lang="en-US" altLang="zh-CN" sz="1400" dirty="0">
                  <a:solidFill>
                    <a:schemeClr val="bg1">
                      <a:lumMod val="50000"/>
                    </a:schemeClr>
                  </a:solidFill>
                </a:endParaRPr>
              </a:p>
              <a:p>
                <a:pPr marL="342900" indent="-342900">
                  <a:lnSpc>
                    <a:spcPct val="125000"/>
                  </a:lnSpc>
                  <a:buFont typeface="+mj-ea"/>
                  <a:buAutoNum type="circleNumDbPlain"/>
                </a:pPr>
                <a:r>
                  <a:rPr lang="en-US" altLang="zh-CN" sz="1400" dirty="0"/>
                  <a:t>		</a:t>
                </a:r>
                <a14:m>
                  <m:oMath xmlns:m="http://schemas.openxmlformats.org/officeDocument/2006/math">
                    <m:r>
                      <a:rPr lang="en-US" altLang="zh-CN" sz="1400" i="1" dirty="0" smtClean="0">
                        <a:latin typeface="Cambria Math" panose="02040503050406030204" pitchFamily="18" charset="0"/>
                      </a:rPr>
                      <m:t>𝐶𝐵𝐿𝑂𝐹</m:t>
                    </m:r>
                    <m:r>
                      <a:rPr lang="en-US" altLang="zh-CN" sz="1400" i="1" dirty="0">
                        <a:latin typeface="Cambria Math" panose="02040503050406030204" pitchFamily="18" charset="0"/>
                      </a:rPr>
                      <m:t>(</m:t>
                    </m:r>
                    <m:r>
                      <a:rPr lang="en-US" altLang="zh-CN" sz="1400" i="1" dirty="0">
                        <a:latin typeface="Cambria Math" panose="02040503050406030204" pitchFamily="18" charset="0"/>
                      </a:rPr>
                      <m:t>𝑡</m:t>
                    </m:r>
                    <m:r>
                      <a:rPr lang="en-US" altLang="zh-CN" sz="1400" i="1" dirty="0">
                        <a:latin typeface="Cambria Math" panose="02040503050406030204" pitchFamily="18" charset="0"/>
                      </a:rPr>
                      <m:t>) = </m:t>
                    </m:r>
                    <m:r>
                      <a:rPr lang="en-US" altLang="zh-CN" sz="1400" i="1" dirty="0">
                        <a:latin typeface="Cambria Math" panose="02040503050406030204" pitchFamily="18" charset="0"/>
                      </a:rPr>
                      <m:t>𝑏</m:t>
                    </m:r>
                    <m:r>
                      <a:rPr lang="en-US" altLang="zh-CN" sz="1400" i="1" dirty="0">
                        <a:latin typeface="Cambria Math" panose="02040503050406030204" pitchFamily="18" charset="0"/>
                      </a:rPr>
                      <m:t> × </m:t>
                    </m:r>
                    <m:r>
                      <a:rPr lang="en-US" altLang="zh-CN" sz="1400" i="1" dirty="0">
                        <a:latin typeface="Cambria Math" panose="02040503050406030204" pitchFamily="18" charset="0"/>
                      </a:rPr>
                      <m:t>𝑑𝑖𝑠𝑡𝑎𝑛𝑐𝑒</m:t>
                    </m:r>
                    <m:r>
                      <a:rPr lang="en-US" altLang="zh-CN" sz="1400" i="1" dirty="0">
                        <a:latin typeface="Cambria Math" panose="02040503050406030204" pitchFamily="18" charset="0"/>
                      </a:rPr>
                      <m:t>(</m:t>
                    </m:r>
                    <m:r>
                      <a:rPr lang="en-US" altLang="zh-CN" sz="1400" i="1" dirty="0">
                        <a:latin typeface="Cambria Math" panose="02040503050406030204" pitchFamily="18" charset="0"/>
                      </a:rPr>
                      <m:t>𝑡</m:t>
                    </m:r>
                    <m:r>
                      <a:rPr lang="en-US" altLang="zh-CN" sz="1400" i="1" dirty="0">
                        <a:latin typeface="Cambria Math" panose="02040503050406030204" pitchFamily="18" charset="0"/>
                      </a:rPr>
                      <m:t>, </m:t>
                    </m:r>
                    <m:r>
                      <a:rPr lang="en-US" altLang="zh-CN" sz="1400" i="1" dirty="0">
                        <a:latin typeface="Cambria Math" panose="02040503050406030204" pitchFamily="18" charset="0"/>
                      </a:rPr>
                      <m:t>𝑐𝑒𝑛𝑡𝑟𝑜𝑖𝑑</m:t>
                    </m:r>
                    <m:r>
                      <a:rPr lang="en-US" altLang="zh-CN" sz="1400" i="1" dirty="0">
                        <a:latin typeface="Cambria Math" panose="02040503050406030204" pitchFamily="18" charset="0"/>
                      </a:rPr>
                      <m:t>(</m:t>
                    </m:r>
                    <m:sSub>
                      <m:sSubPr>
                        <m:ctrlPr>
                          <a:rPr lang="en-US" altLang="zh-CN" sz="1400" i="1" dirty="0" err="1">
                            <a:latin typeface="Cambria Math" panose="02040503050406030204" pitchFamily="18" charset="0"/>
                          </a:rPr>
                        </m:ctrlPr>
                      </m:sSubPr>
                      <m:e>
                        <m:r>
                          <a:rPr lang="en-US" altLang="zh-CN" sz="1400" i="1" dirty="0" err="1">
                            <a:latin typeface="Cambria Math" panose="02040503050406030204" pitchFamily="18" charset="0"/>
                          </a:rPr>
                          <m:t>𝐶</m:t>
                        </m:r>
                      </m:e>
                      <m:sub>
                        <m:r>
                          <a:rPr lang="en-US" altLang="zh-CN" sz="1400" i="1" dirty="0" err="1">
                            <a:latin typeface="Cambria Math" panose="02040503050406030204" pitchFamily="18" charset="0"/>
                          </a:rPr>
                          <m:t>𝑡</m:t>
                        </m:r>
                      </m:sub>
                    </m:sSub>
                    <m:r>
                      <a:rPr lang="en-US" altLang="zh-CN" sz="1400" i="1" dirty="0">
                        <a:latin typeface="Cambria Math" panose="02040503050406030204" pitchFamily="18" charset="0"/>
                      </a:rPr>
                      <m:t>)) </m:t>
                    </m:r>
                  </m:oMath>
                </a14:m>
                <a:endParaRPr lang="en-US" altLang="zh-CN" sz="1400" dirty="0"/>
              </a:p>
              <a:p>
                <a:pPr marL="342900" indent="-342900">
                  <a:lnSpc>
                    <a:spcPct val="125000"/>
                  </a:lnSpc>
                  <a:buFont typeface="+mj-ea"/>
                  <a:buAutoNum type="circleNumDbPlain"/>
                </a:pPr>
                <a:r>
                  <a:rPr lang="en-US" altLang="zh-CN" sz="1400" dirty="0">
                    <a:solidFill>
                      <a:schemeClr val="bg1">
                        <a:lumMod val="50000"/>
                      </a:schemeClr>
                    </a:solidFill>
                  </a:rPr>
                  <a:t>// </a:t>
                </a:r>
                <a:r>
                  <a:rPr lang="zh-CN" altLang="en-US" sz="1400" dirty="0">
                    <a:solidFill>
                      <a:schemeClr val="bg1">
                        <a:lumMod val="50000"/>
                      </a:schemeClr>
                    </a:solidFill>
                  </a:rPr>
                  <a:t>第四阶段：识别异常 </a:t>
                </a:r>
                <a:endParaRPr lang="en-US" altLang="zh-CN" sz="1400" dirty="0">
                  <a:solidFill>
                    <a:schemeClr val="bg1">
                      <a:lumMod val="50000"/>
                    </a:schemeClr>
                  </a:solidFill>
                </a:endParaRPr>
              </a:p>
              <a:p>
                <a:pPr marL="342900" indent="-342900">
                  <a:lnSpc>
                    <a:spcPct val="125000"/>
                  </a:lnSpc>
                  <a:buFont typeface="+mj-ea"/>
                  <a:buAutoNum type="circleNumDbPlain"/>
                </a:pPr>
                <a:r>
                  <a:rPr lang="zh-CN" altLang="en-US" sz="1400" dirty="0"/>
                  <a:t>按</a:t>
                </a:r>
                <a:r>
                  <a:rPr lang="en-US" altLang="zh-CN" sz="1400" dirty="0"/>
                  <a:t>CBLOF</a:t>
                </a:r>
                <a:r>
                  <a:rPr lang="zh-CN" altLang="en-US" sz="1400" dirty="0"/>
                  <a:t>值降序排序所有点 </a:t>
                </a:r>
                <a:r>
                  <a:rPr lang="en-US" altLang="zh-CN" sz="1400" dirty="0"/>
                  <a:t>O = </a:t>
                </a:r>
                <a:r>
                  <a:rPr lang="zh-CN" altLang="en-US" sz="1400" dirty="0"/>
                  <a:t>前</a:t>
                </a:r>
                <a:r>
                  <a:rPr lang="el-GR" altLang="zh-CN" sz="1400" dirty="0"/>
                  <a:t>θ×|</a:t>
                </a:r>
                <a:r>
                  <a:rPr lang="en-US" altLang="zh-CN" sz="1400" dirty="0"/>
                  <a:t>D|</a:t>
                </a:r>
                <a:r>
                  <a:rPr lang="zh-CN" altLang="en-US" sz="1400" dirty="0"/>
                  <a:t>个点</a:t>
                </a:r>
                <a:endParaRPr lang="zh-CN" altLang="en-US" sz="1600" b="1" dirty="0">
                  <a:solidFill>
                    <a:schemeClr val="accent1"/>
                  </a:solidFill>
                  <a:latin typeface="思源黑体 CN Regular" panose="020B0500000000000000" charset="-122"/>
                  <a:ea typeface="思源黑体 CN Regular" panose="020B0500000000000000"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109991" y="1754180"/>
                <a:ext cx="8393605" cy="4637423"/>
              </a:xfrm>
              <a:prstGeom prst="rect">
                <a:avLst/>
              </a:prstGeom>
              <a:blipFill rotWithShape="1">
                <a:blip r:embed="rId1"/>
                <a:stretch>
                  <a:fillRect t="-7" r="2" b="7"/>
                </a:stretch>
              </a:blipFill>
            </p:spPr>
            <p:txBody>
              <a:bodyPr/>
              <a:lstStyle/>
              <a:p>
                <a:r>
                  <a:rPr lang="zh-CN" altLang="en-US">
                    <a:noFill/>
                  </a:rPr>
                  <a:t> </a:t>
                </a:r>
              </a:p>
            </p:txBody>
          </p:sp>
        </mc:Fallback>
      </mc:AlternateContent>
      <p:pic>
        <p:nvPicPr>
          <p:cNvPr id="7" name="图片 6"/>
          <p:cNvPicPr>
            <a:picLocks noChangeAspect="1"/>
          </p:cNvPicPr>
          <p:nvPr/>
        </p:nvPicPr>
        <p:blipFill>
          <a:blip r:embed="rId2"/>
          <a:stretch>
            <a:fillRect/>
          </a:stretch>
        </p:blipFill>
        <p:spPr>
          <a:xfrm>
            <a:off x="7014597" y="2251036"/>
            <a:ext cx="4625251" cy="3486083"/>
          </a:xfrm>
          <a:prstGeom prst="rect">
            <a:avLst/>
          </a:prstGeom>
        </p:spPr>
      </p:pic>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374930" y="3045714"/>
            <a:ext cx="9442140" cy="2123658"/>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基于密度的异常检测</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Density-based anomaly detection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1254387" y="950690"/>
            <a:ext cx="10951210" cy="129935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传统距离方法的局限</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全局阈值问题：</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使用固定的距离阈值衡量所有点，无法适应数据分布不均匀的场景</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误判风险</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稀疏区域的正常点可能因距离远而被误判为异常点</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4" name="TextBox 8"/>
              <p:cNvSpPr txBox="1"/>
              <p:nvPr/>
            </p:nvSpPr>
            <p:spPr>
              <a:xfrm>
                <a:off x="1254387" y="2439167"/>
                <a:ext cx="10951210" cy="234859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常见密度定义方式</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逆距离（</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方式一</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数据点到其最近的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个邻居的平均距离的倒数。</a:t>
                </a:r>
                <a14:m>
                  <m:oMath xmlns:m="http://schemas.openxmlformats.org/officeDocument/2006/math">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是包含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最近邻集合</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lnSpc>
                    <a:spcPct val="150000"/>
                  </a:lnSpc>
                  <a:spcBef>
                    <a:spcPct val="20000"/>
                  </a:spcBef>
                  <a:defRPr/>
                </a:pPr>
                <a14:m>
                  <m:oMathPara xmlns:m="http://schemas.openxmlformats.org/officeDocument/2006/math">
                    <m:oMathParaPr>
                      <m:jc m:val="centerGroup"/>
                    </m:oMathParaPr>
                    <m:oMath xmlns:m="http://schemas.openxmlformats.org/officeDocument/2006/math">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𝑑𝑒𝑛𝑠𝑖𝑡𝑦</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e>
                      </m:d>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nary>
                                <m:naryPr>
                                  <m:chr m:val="∑"/>
                                  <m:supHide m:val="on"/>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7"/>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𝑦</m:t>
                                  </m:r>
                                  <m:r>
                                    <a:rPr lang="zh-CN" altLang="en-US"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up/>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𝑑𝑖𝑠𝑡𝑎𝑛𝑐𝑒</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𝑦</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nary>
                            </m:num>
                            <m:den>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en>
                          </m:f>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sup>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p>
                      </m:sSup>
                    </m:oMath>
                  </m:oMathPara>
                </a14:m>
                <a:endPar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endParaRPr>
              </a:p>
              <a:p>
                <a:pPr algn="l" defTabSz="1219200">
                  <a:lnSpc>
                    <a:spcPct val="150000"/>
                  </a:lnSpc>
                  <a:spcBef>
                    <a:spcPct val="20000"/>
                  </a:spcBef>
                  <a:defRPr/>
                </a:pPr>
                <a:endPar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en-US" altLang="zh-CN" sz="1600" b="1" dirty="0"/>
                  <a:t>DBSCAN</a:t>
                </a:r>
                <a:r>
                  <a:rPr lang="zh-CN" altLang="en-US" sz="1600" b="1" dirty="0"/>
                  <a:t>密度</a:t>
                </a:r>
                <a:r>
                  <a:rPr lang="zh-CN" altLang="en-US" sz="1600" dirty="0"/>
                  <a:t>（方式二）：数据点在指定距离 </a:t>
                </a:r>
                <a:r>
                  <a:rPr lang="en-US" altLang="zh-CN" sz="1600" dirty="0"/>
                  <a:t>d </a:t>
                </a:r>
                <a:r>
                  <a:rPr lang="zh-CN" altLang="en-US" sz="1600" dirty="0"/>
                  <a:t>范围内对象的个数</a:t>
                </a:r>
                <a:endParaRPr lang="en-US" altLang="zh-CN" sz="1600" dirty="0"/>
              </a:p>
              <a:p>
                <a:pPr marL="285750" indent="-285750" defTabSz="1219200">
                  <a:lnSpc>
                    <a:spcPct val="150000"/>
                  </a:lnSpc>
                  <a:spcBef>
                    <a:spcPct val="20000"/>
                  </a:spcBef>
                  <a:buFont typeface="Arial" panose="020B0604020202020204" pitchFamily="34" charset="0"/>
                  <a:buChar char="•"/>
                  <a:defRPr/>
                </a:pPr>
                <a:endParaRPr lang="en-US" altLang="zh-CN" sz="1600" dirty="0"/>
              </a:p>
              <a:p>
                <a:pPr marL="285750"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4" name="TextBox 8"/>
              <p:cNvSpPr txBox="1">
                <a:spLocks noRot="1" noChangeAspect="1" noMove="1" noResize="1" noEditPoints="1" noAdjustHandles="1" noChangeArrowheads="1" noChangeShapeType="1" noTextEdit="1"/>
              </p:cNvSpPr>
              <p:nvPr/>
            </p:nvSpPr>
            <p:spPr>
              <a:xfrm>
                <a:off x="1254387" y="2439167"/>
                <a:ext cx="10951210" cy="2348594"/>
              </a:xfrm>
              <a:prstGeom prst="rect">
                <a:avLst/>
              </a:prstGeom>
              <a:blipFill rotWithShape="1">
                <a:blip r:embed="rId1"/>
                <a:stretch>
                  <a:fillRect l="-2" t="-1303" r="2" b="-3607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8"/>
              <p:cNvSpPr txBox="1"/>
              <p:nvPr/>
            </p:nvSpPr>
            <p:spPr>
              <a:xfrm>
                <a:off x="1254387" y="5088186"/>
                <a:ext cx="10951210" cy="1620841"/>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相对密度概念</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t>为了应对不同密度区域的情况，需要引入相对密度</a:t>
                </a:r>
                <a:endParaRPr lang="en-US" altLang="zh-CN" sz="1600" dirty="0"/>
              </a:p>
              <a:p>
                <a:pPr defTabSz="1219200">
                  <a:lnSpc>
                    <a:spcPct val="150000"/>
                  </a:lnSpc>
                  <a:spcBef>
                    <a:spcPct val="20000"/>
                  </a:spcBef>
                  <a:defRPr/>
                </a:pPr>
                <a14:m>
                  <m:oMathPara xmlns:m="http://schemas.openxmlformats.org/officeDocument/2006/math">
                    <m:oMathParaPr>
                      <m:jc m:val="center"/>
                    </m:oMathParaPr>
                    <m:oMath xmlns:m="http://schemas.openxmlformats.org/officeDocument/2006/math">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𝑎𝑣𝑒𝑟𝑎𝑔𝑒</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_</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𝑟𝑒𝑙𝑎𝑡𝑖𝑣𝑒</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_</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𝑑𝑒𝑛𝑠𝑖𝑡𝑦</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e>
                      </m:d>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𝑑𝑒𝑛𝑠𝑖𝑡𝑦</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e>
                          </m:d>
                        </m:num>
                        <m:den>
                          <m:nary>
                            <m:naryPr>
                              <m:chr m:val="∑"/>
                              <m:sup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7"/>
                                </m:rP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𝑦</m:t>
                              </m:r>
                              <m:r>
                                <a:rPr lang="zh-CN" altLang="en-US"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up/>
                            <m:e>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𝑑𝑖𝑠𝑡𝑎𝑛𝑐𝑒</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𝑦</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nary>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en>
                      </m:f>
                    </m:oMath>
                  </m:oMathPara>
                </a14:m>
                <a:endParaRPr lang="en-US" altLang="zh-CN" sz="1600" dirty="0"/>
              </a:p>
              <a:p>
                <a:pPr marL="285750"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7" name="TextBox 8"/>
              <p:cNvSpPr txBox="1">
                <a:spLocks noRot="1" noChangeAspect="1" noMove="1" noResize="1" noEditPoints="1" noAdjustHandles="1" noChangeArrowheads="1" noChangeShapeType="1" noTextEdit="1"/>
              </p:cNvSpPr>
              <p:nvPr/>
            </p:nvSpPr>
            <p:spPr>
              <a:xfrm>
                <a:off x="1254387" y="5088186"/>
                <a:ext cx="10951210" cy="1620841"/>
              </a:xfrm>
              <a:prstGeom prst="rect">
                <a:avLst/>
              </a:prstGeom>
              <a:blipFill rotWithShape="1">
                <a:blip r:embed="rId2"/>
                <a:stretch>
                  <a:fillRect l="-2" t="-1915" r="2" b="-23060"/>
                </a:stretch>
              </a:blipFill>
            </p:spPr>
            <p:txBody>
              <a:bodyPr/>
              <a:lstStyle/>
              <a:p>
                <a:r>
                  <a:rPr lang="zh-CN" altLang="en-US">
                    <a:noFill/>
                  </a:rPr>
                  <a:t> </a:t>
                </a:r>
              </a:p>
            </p:txBody>
          </p:sp>
        </mc:Fallback>
      </mc:AlternateContent>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2247"/>
            <a:ext cx="10951210" cy="1341084"/>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算法：局部异常因子</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算法概述：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LOF (Identifying Density-Based Local Outliers)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是一种无监督异常检测方法。相比传统统计方法</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假设特定概率分布</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和聚类方法</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仅提供二分类结果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LOF</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能有效量化每个数据点的异常程度，且对数据分布要求更低。</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2" name="TextBox 8"/>
              <p:cNvSpPr txBox="1"/>
              <p:nvPr/>
            </p:nvSpPr>
            <p:spPr>
              <a:xfrm>
                <a:off x="545465" y="2446823"/>
                <a:ext cx="10951210" cy="4426591"/>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核心概念</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点 </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 </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k-distance</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的最近邻点中，与点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距离第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远的点与点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之间的距离称为点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邻近距离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记为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k-distance(p)</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点 </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相对于点 </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的可达距离</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k-distance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之间距离的较大值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𝑟𝑒𝑎𝑐ℎ</m:t>
                          </m:r>
                          <m:r>
                            <m:rPr>
                              <m:nor/>
                            </m:rPr>
                            <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sub>
                      </m:sSub>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𝑚𝑎𝑥</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m:rPr>
                          <m:nor/>
                        </m:rPr>
                        <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𝑖𝑠𝑡𝑎𝑛𝑐𝑒</m:t>
                      </m:r>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oMath>
                  </m:oMathPara>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点 </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的局部可达密度：</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与邻近点的平均可达距离的倒数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𝑙𝑟𝑑</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sub>
                      </m:sSub>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nary>
                            <m:naryPr>
                              <m:chr m:val="∑"/>
                              <m:supHide m:val="on"/>
                              <m:ctrlP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7"/>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up/>
                            <m:e>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𝑟𝑒𝑎𝑐ℎ</m:t>
                                  </m:r>
                                  <m:r>
                                    <m:rPr>
                                      <m:nor/>
                                    </m:rPr>
                                    <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sub>
                              </m:sSub>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e>
                              </m:d>
                            </m:e>
                          </m:nary>
                        </m:num>
                        <m:den>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en>
                      </m:f>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oMath>
                  </m:oMathPara>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点 </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的局部异常因子</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的局部相对密度，局部异常因子数值越大于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，约有可能是异常点</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𝐿𝑂𝐹</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sub>
                      </m:sSub>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nary>
                            <m:naryPr>
                              <m:chr m:val="∑"/>
                              <m:supHide m:val="on"/>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7"/>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up/>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𝑙𝑟𝑑</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𝑙𝑟𝑑</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sub>
                              </m:s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nary>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en>
                      </m:f>
                    </m:oMath>
                  </m:oMathPara>
                </a14:m>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 name="TextBox 8"/>
              <p:cNvSpPr txBox="1">
                <a:spLocks noRot="1" noChangeAspect="1" noMove="1" noResize="1" noEditPoints="1" noAdjustHandles="1" noChangeArrowheads="1" noChangeShapeType="1" noTextEdit="1"/>
              </p:cNvSpPr>
              <p:nvPr/>
            </p:nvSpPr>
            <p:spPr>
              <a:xfrm>
                <a:off x="545465" y="2446823"/>
                <a:ext cx="10951210" cy="4426591"/>
              </a:xfrm>
              <a:prstGeom prst="rect">
                <a:avLst/>
              </a:prstGeom>
              <a:blipFill rotWithShape="1">
                <a:blip r:embed="rId1"/>
                <a:stretch>
                  <a:fillRect t="-692" b="-7556"/>
                </a:stretch>
              </a:blipFill>
            </p:spPr>
            <p:txBody>
              <a:bodyPr/>
              <a:lstStyle/>
              <a:p>
                <a:r>
                  <a:rPr lang="zh-CN" altLang="en-US">
                    <a:noFill/>
                  </a:rPr>
                  <a:t> </a:t>
                </a:r>
              </a:p>
            </p:txBody>
          </p:sp>
        </mc:Fallback>
      </mc:AlternateContent>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2247"/>
            <a:ext cx="10951210" cy="1341084"/>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算法伪代码</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descr="文本&#10;&#10;AI 生成的内容可能不正确。"/>
          <p:cNvPicPr>
            <a:picLocks noChangeAspect="1"/>
          </p:cNvPicPr>
          <p:nvPr/>
        </p:nvPicPr>
        <p:blipFill>
          <a:blip r:embed="rId1"/>
          <a:stretch>
            <a:fillRect/>
          </a:stretch>
        </p:blipFill>
        <p:spPr>
          <a:xfrm>
            <a:off x="2337763" y="1437702"/>
            <a:ext cx="7516474" cy="5357364"/>
          </a:xfrm>
          <a:prstGeom prst="rect">
            <a:avLst/>
          </a:prstGeom>
        </p:spPr>
      </p:pic>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565648"/>
            <a:ext cx="10951210" cy="1341084"/>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算法：基于连通性的异常值检测：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算法概述：</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OF (Connectivity-Based Outlier Factor)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核心在于识别数据点与整体模式的连接状态，而非单纯依赖局部密度数值，有效应对“伪高密度”异常点，提升了复杂分布下的异常检测精度。</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3" name="TextBox 8"/>
              <p:cNvSpPr txBox="1"/>
              <p:nvPr/>
            </p:nvSpPr>
            <p:spPr>
              <a:xfrm>
                <a:off x="545465" y="3456462"/>
                <a:ext cx="10951210" cy="2820967"/>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基本概念</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两个集合之间的距离：</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两个集合中所有点对之间距离的最小值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𝑖𝑠𝑡</m:t>
                      </m:r>
                      <m:d>
                        <m:d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𝑃</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d>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𝑚𝑖𝑛</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𝑑𝑖𝑠𝑡</m:t>
                      </m:r>
                      <m:d>
                        <m:dPr>
                          <m:ctrl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d>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𝑃</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r>
                        <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m:oMathPara>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SBN</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路径</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：一种基于贪心策略的点集连接构建方法。算法从初始点出发，在每一步选择与当前已构建子集距离最近的未选点进行扩展，直至遍历所有点。该路径刻画了点间的连接顺序及其局部结构紧密性。</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545465" y="3456462"/>
                <a:ext cx="10951210" cy="2820967"/>
              </a:xfrm>
              <a:prstGeom prst="rect">
                <a:avLst/>
              </a:prstGeom>
              <a:blipFill rotWithShape="1">
                <a:blip r:embed="rId1"/>
                <a:stretch>
                  <a:fillRect t="-1086" b="16"/>
                </a:stretch>
              </a:blipFill>
            </p:spPr>
            <p:txBody>
              <a:bodyPr/>
              <a:lstStyle/>
              <a:p>
                <a:r>
                  <a:rPr lang="zh-CN" altLang="en-US">
                    <a:noFill/>
                  </a:rPr>
                  <a:t> </a:t>
                </a:r>
              </a:p>
            </p:txBody>
          </p:sp>
        </mc:Fallback>
      </mc:AlternateContent>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3" name="TextBox 8"/>
              <p:cNvSpPr txBox="1"/>
              <p:nvPr/>
            </p:nvSpPr>
            <p:spPr>
              <a:xfrm>
                <a:off x="545465" y="1640360"/>
                <a:ext cx="10951210" cy="4426591"/>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进阶概念</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平均链接距离：</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给定路径 </a:t>
                </a:r>
                <a14:m>
                  <m:oMath xmlns:m="http://schemas.openxmlformats.org/officeDocument/2006/math">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&lt;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b>
                    </m:s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sub>
                    </m:s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&gt;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，每一步都会产生一条“连接边”</a:t>
                </a:r>
                <a14:m>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e</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Sub>
                      </m:e>
                    </m:d>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，这条边的代价表示为当前已访问点集合和剩余未访问点集合之间的最小连接距离，记作</a:t>
                </a:r>
                <a14:m>
                  <m:oMath xmlns:m="http://schemas.openxmlformats.org/officeDocument/2006/math">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𝑒</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平均链接距离定义如下：</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𝑎𝑐</m:t>
                          </m:r>
                          <m:r>
                            <m:rPr>
                              <m:nor/>
                            </m:rPr>
                            <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𝐺</m:t>
                          </m:r>
                        </m:sub>
                      </m:sSub>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Sub>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nary>
                        <m:naryPr>
                          <m:chr m:val="∑"/>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23"/>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up>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p>
                        <m:e>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num>
                            <m:den>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en>
                          </m:f>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𝑒</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nary>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num>
                        <m:den>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den>
                      </m:f>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nary>
                        <m:naryPr>
                          <m:chr m:val="∑"/>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23"/>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up>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p>
                        <m:e>
                          <m:f>
                            <m:f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num>
                            <m:den>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den>
                          </m:f>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𝑑𝑖𝑠𝑡</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𝑒</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nary>
                    </m:oMath>
                  </m:oMathPara>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基于连通性的离群因子</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：基于连通性的离群因子越大，数据越有可能是异常点</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𝐶𝑂𝐹</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sub>
                      </m:sSub>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𝑎𝑐</m:t>
                              </m:r>
                              <m:r>
                                <m:rPr>
                                  <m:nor/>
                                </m:rPr>
                                <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𝑑𝑖𝑠𝑡</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num>
                        <m:den>
                          <m:nary>
                            <m:naryPr>
                              <m:chr m:val="∑"/>
                              <m:supHide m:val="on"/>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7"/>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up/>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𝑎𝑐</m:t>
                                  </m:r>
                                  <m:r>
                                    <m:rPr>
                                      <m:nor/>
                                    </m:rPr>
                                    <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r>
                                    <m:rPr>
                                      <m:nor/>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ist</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nary>
                        </m:den>
                      </m:f>
                    </m:oMath>
                  </m:oMathPara>
                </a14:m>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545465" y="1640360"/>
                <a:ext cx="10951210" cy="4426591"/>
              </a:xfrm>
              <a:prstGeom prst="rect">
                <a:avLst/>
              </a:prstGeom>
              <a:blipFill rotWithShape="1">
                <a:blip r:embed="rId1"/>
                <a:stretch>
                  <a:fillRect t="-692" b="4"/>
                </a:stretch>
              </a:blipFill>
            </p:spPr>
            <p:txBody>
              <a:bodyPr/>
              <a:lstStyle/>
              <a:p>
                <a:r>
                  <a:rPr lang="zh-CN" altLang="en-US">
                    <a:noFill/>
                  </a:rPr>
                  <a:t> </a:t>
                </a:r>
              </a:p>
            </p:txBody>
          </p:sp>
        </mc:Fallback>
      </mc:AlternateContent>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3" name="TextBox 8"/>
              <p:cNvSpPr txBox="1"/>
              <p:nvPr/>
            </p:nvSpPr>
            <p:spPr>
              <a:xfrm>
                <a:off x="620395" y="868189"/>
                <a:ext cx="10951210" cy="4426591"/>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算法流程举例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 </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dist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2) = 5, </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dist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7) = 3,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并且直线上任意两个相邻点之间的距离为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。取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个最近邻。我们将通过计算三个样本点的平均链接距离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来展示这些样本点的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值如何恰当地反映 “模式偏移”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r>
                  <a:rPr lang="zh-CN" altLang="en-US" sz="1600" dirty="0"/>
                  <a:t>对于点 </a:t>
                </a:r>
                <a:r>
                  <a:rPr lang="en-US" altLang="zh-CN" sz="1600" dirty="0"/>
                  <a:t>1: N(1, k) = {2, 9, 10, 8, 11, 7, 12, 6, 13, 5}</a:t>
                </a:r>
                <a:endParaRPr lang="en-US" altLang="zh-CN" sz="1600" dirty="0"/>
              </a:p>
              <a:p>
                <a:pPr marL="342900" indent="-342900" defTabSz="1219200">
                  <a:lnSpc>
                    <a:spcPct val="150000"/>
                  </a:lnSpc>
                  <a:spcBef>
                    <a:spcPts val="600"/>
                  </a:spcBef>
                  <a:buFont typeface="+mj-ea"/>
                  <a:buAutoNum type="circleNumDbPlain"/>
                  <a:defRPr/>
                </a:pPr>
                <a:r>
                  <a:rPr lang="zh-CN" altLang="en-US" sz="1600" dirty="0"/>
                  <a:t>对于集合 </a:t>
                </a:r>
                <a:r>
                  <a:rPr lang="en-US" altLang="zh-CN" sz="1600" dirty="0"/>
                  <a:t>N(1, k) ∪ 1, </a:t>
                </a:r>
                <a:r>
                  <a:rPr lang="zh-CN" altLang="en-US" sz="1600" dirty="0"/>
                  <a:t>从 </a:t>
                </a:r>
                <a:r>
                  <a:rPr lang="en-US" altLang="zh-CN" sz="1600" dirty="0"/>
                  <a:t>1 </a:t>
                </a:r>
                <a:r>
                  <a:rPr lang="zh-CN" altLang="en-US" sz="1600" dirty="0"/>
                  <a:t>开始的 </a:t>
                </a:r>
                <a:r>
                  <a:rPr lang="en-US" altLang="zh-CN" sz="1600" dirty="0"/>
                  <a:t>SBN </a:t>
                </a:r>
                <a:r>
                  <a:rPr lang="zh-CN" altLang="en-US" sz="1600" dirty="0"/>
                  <a:t>路径为</a:t>
                </a:r>
                <a:r>
                  <a:rPr lang="en-US" altLang="zh-CN" sz="1600" dirty="0"/>
                  <a:t>:</a:t>
                </a:r>
                <a:r>
                  <a:rPr lang="pt-BR" altLang="zh-CN" sz="1600" dirty="0"/>
                  <a:t> s1 = </a:t>
                </a:r>
                <a:r>
                  <a:rPr lang="en-US" altLang="zh-CN" sz="1600" dirty="0"/>
                  <a:t>&lt;</a:t>
                </a:r>
                <a:r>
                  <a:rPr lang="pt-BR" altLang="zh-CN" sz="1600" dirty="0"/>
                  <a:t>1, 2, 7, 6, 5, 8, 9, 10, 11, 12, 13&gt;</a:t>
                </a:r>
                <a:endParaRPr lang="pt-BR" altLang="zh-CN" sz="1600" dirty="0"/>
              </a:p>
              <a:p>
                <a:pPr marL="342900" indent="-342900" defTabSz="1219200">
                  <a:lnSpc>
                    <a:spcPct val="150000"/>
                  </a:lnSpc>
                  <a:spcBef>
                    <a:spcPts val="600"/>
                  </a:spcBef>
                  <a:buFont typeface="+mj-ea"/>
                  <a:buAutoNum type="circleNumDbPlain" startAt="4"/>
                  <a:defRPr/>
                </a:pPr>
                <a:r>
                  <a:rPr lang="en-US" altLang="zh-CN" sz="1600" dirty="0"/>
                  <a:t>s1 </a:t>
                </a:r>
                <a:r>
                  <a:rPr lang="zh-CN" altLang="en-US" sz="1600" dirty="0"/>
                  <a:t>的 </a:t>
                </a:r>
                <a:r>
                  <a:rPr lang="en-US" altLang="zh-CN" sz="1600" dirty="0"/>
                  <a:t>SBN </a:t>
                </a:r>
                <a:r>
                  <a:rPr lang="zh-CN" altLang="en-US" sz="1600" dirty="0"/>
                  <a:t>迹为</a:t>
                </a:r>
                <a:r>
                  <a:rPr lang="pt-BR" altLang="zh-CN" sz="1600" dirty="0"/>
                  <a:t>tr1 = &lt;(1, 2),(2, 7),(7, 6),(6, 5),(7, 8),(8, 9),(9, 10),(10, 11),(11, 12),(12, 13)&gt;</a:t>
                </a:r>
                <a:endParaRPr lang="pt-BR" altLang="zh-CN" sz="1600" dirty="0"/>
              </a:p>
              <a:p>
                <a:pPr marL="342900" indent="-342900" defTabSz="1219200">
                  <a:lnSpc>
                    <a:spcPct val="150000"/>
                  </a:lnSpc>
                  <a:spcBef>
                    <a:spcPts val="600"/>
                  </a:spcBef>
                  <a:buFont typeface="+mj-ea"/>
                  <a:buAutoNum type="circleNumDbPlain" startAt="4"/>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的距离成本为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c1 = &lt;5, 3, 1, 1, 1, 1, 1, 1, 1, 1&gt;,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并且 </a:t>
                </a:r>
                <a14:m>
                  <m:oMath xmlns:m="http://schemas.openxmlformats.org/officeDocument/2006/math">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ac</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dist</m:t>
                        </m:r>
                      </m:e>
                      <m:sub>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1</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k</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1</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sub>
                    </m:sSub>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 2.05</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ts val="600"/>
                  </a:spcBef>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620395" y="868189"/>
                <a:ext cx="10951210" cy="4426591"/>
              </a:xfrm>
              <a:prstGeom prst="rect">
                <a:avLst/>
              </a:prstGeom>
              <a:blipFill rotWithShape="1">
                <a:blip r:embed="rId1"/>
                <a:stretch>
                  <a:fillRect t="-692" b="3"/>
                </a:stretch>
              </a:blipFill>
            </p:spPr>
            <p:txBody>
              <a:bodyPr/>
              <a:lstStyle/>
              <a:p>
                <a:r>
                  <a:rPr lang="zh-CN" altLang="en-US">
                    <a:noFill/>
                  </a:rPr>
                  <a:t> </a:t>
                </a:r>
              </a:p>
            </p:txBody>
          </p:sp>
        </mc:Fallback>
      </mc:AlternateContent>
      <p:pic>
        <p:nvPicPr>
          <p:cNvPr id="4" name="图片 3" descr="图形用户界面, 文本&#10;&#10;AI 生成的内容可能不正确。"/>
          <p:cNvPicPr>
            <a:picLocks noChangeAspect="1"/>
          </p:cNvPicPr>
          <p:nvPr/>
        </p:nvPicPr>
        <p:blipFill>
          <a:blip r:embed="rId2"/>
          <a:stretch>
            <a:fillRect/>
          </a:stretch>
        </p:blipFill>
        <p:spPr>
          <a:xfrm>
            <a:off x="2333625" y="3938042"/>
            <a:ext cx="7772400" cy="2713478"/>
          </a:xfrm>
          <a:prstGeom prst="rect">
            <a:avLst/>
          </a:prstGeom>
        </p:spPr>
      </p:pic>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3" name="TextBox 8"/>
              <p:cNvSpPr txBox="1"/>
              <p:nvPr/>
            </p:nvSpPr>
            <p:spPr>
              <a:xfrm>
                <a:off x="620395" y="1215704"/>
                <a:ext cx="10951210" cy="4426591"/>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算法流程举例</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startAt="6"/>
                  <a:defRPr/>
                </a:pPr>
                <a:r>
                  <a:rPr lang="zh-CN" altLang="en-US" sz="1600" dirty="0"/>
                  <a:t>对于点 </a:t>
                </a:r>
                <a:r>
                  <a:rPr lang="en-US" altLang="zh-CN" sz="1600" dirty="0"/>
                  <a:t>2: N(2, k) = {7, 6, 8, 5, 9, 4, 10, 3, 11, 1}</a:t>
                </a:r>
                <a:endParaRPr lang="en-US" altLang="zh-CN" sz="1600" dirty="0"/>
              </a:p>
              <a:p>
                <a:pPr marL="342900" indent="-342900" defTabSz="1219200">
                  <a:lnSpc>
                    <a:spcPct val="150000"/>
                  </a:lnSpc>
                  <a:spcBef>
                    <a:spcPts val="600"/>
                  </a:spcBef>
                  <a:buFont typeface="+mj-ea"/>
                  <a:buAutoNum type="circleNumDbPlain" startAt="6"/>
                  <a:defRPr/>
                </a:pPr>
                <a:r>
                  <a:rPr lang="zh-CN" altLang="en-US" sz="1600" dirty="0"/>
                  <a:t>对于集合 </a:t>
                </a:r>
                <a:r>
                  <a:rPr lang="en-US" altLang="zh-CN" sz="1600" dirty="0"/>
                  <a:t>N(2, k) ∪ 2, </a:t>
                </a:r>
                <a:r>
                  <a:rPr lang="zh-CN" altLang="en-US" sz="1600" dirty="0"/>
                  <a:t>从 </a:t>
                </a:r>
                <a:r>
                  <a:rPr lang="en-US" altLang="zh-CN" sz="1600" dirty="0"/>
                  <a:t>2 </a:t>
                </a:r>
                <a:r>
                  <a:rPr lang="zh-CN" altLang="en-US" sz="1600" dirty="0"/>
                  <a:t>开始的 </a:t>
                </a:r>
                <a:r>
                  <a:rPr lang="en-US" altLang="zh-CN" sz="1600" dirty="0"/>
                  <a:t>SBN </a:t>
                </a:r>
                <a:r>
                  <a:rPr lang="zh-CN" altLang="en-US" sz="1600" dirty="0"/>
                  <a:t>路径为</a:t>
                </a:r>
                <a:r>
                  <a:rPr lang="en-US" altLang="zh-CN" sz="1600" dirty="0"/>
                  <a:t>:</a:t>
                </a:r>
                <a:r>
                  <a:rPr lang="pt-BR" altLang="zh-CN" sz="1600" dirty="0"/>
                  <a:t> s2 = </a:t>
                </a:r>
                <a:r>
                  <a:rPr lang="en-US" altLang="zh-CN" sz="1600" dirty="0"/>
                  <a:t>&lt;2, 7, 6, 5, 4, 3, 8, 9, 10, 11, 1</a:t>
                </a:r>
                <a:r>
                  <a:rPr lang="pt-BR" altLang="zh-CN" sz="1600" dirty="0"/>
                  <a:t>&gt;</a:t>
                </a:r>
                <a:endParaRPr lang="pt-BR" altLang="zh-CN" sz="1600" dirty="0"/>
              </a:p>
              <a:p>
                <a:pPr marL="342900" indent="-342900" defTabSz="1219200">
                  <a:lnSpc>
                    <a:spcPct val="150000"/>
                  </a:lnSpc>
                  <a:spcBef>
                    <a:spcPts val="600"/>
                  </a:spcBef>
                  <a:buFont typeface="+mj-ea"/>
                  <a:buAutoNum type="circleNumDbPlain" startAt="6"/>
                  <a:defRPr/>
                </a:pPr>
                <a:r>
                  <a:rPr lang="en-US" altLang="zh-CN" sz="1600" dirty="0"/>
                  <a:t>s2 </a:t>
                </a:r>
                <a:r>
                  <a:rPr lang="zh-CN" altLang="en-US" sz="1600" dirty="0"/>
                  <a:t>的 </a:t>
                </a:r>
                <a:r>
                  <a:rPr lang="en-US" altLang="zh-CN" sz="1600" dirty="0"/>
                  <a:t>SBN </a:t>
                </a:r>
                <a:r>
                  <a:rPr lang="zh-CN" altLang="en-US" sz="1600" dirty="0"/>
                  <a:t>迹为</a:t>
                </a:r>
                <a:r>
                  <a:rPr lang="pt-BR" altLang="zh-CN" sz="1600" dirty="0"/>
                  <a:t>tr2 =&lt;(2, 7),(7, 6),(6, 5),(5, 4),(4, 3),(7, 8),(8, 9),(9, 10),(10, 11),(2, 1)&gt;</a:t>
                </a:r>
                <a:endParaRPr lang="pt-BR" altLang="zh-CN" sz="1600" dirty="0"/>
              </a:p>
              <a:p>
                <a:pPr marL="342900" indent="-342900" defTabSz="1219200">
                  <a:lnSpc>
                    <a:spcPct val="150000"/>
                  </a:lnSpc>
                  <a:spcBef>
                    <a:spcPts val="600"/>
                  </a:spcBef>
                  <a:buFont typeface="+mj-ea"/>
                  <a:buAutoNum type="circleNumDbPlain" startAt="6"/>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tr2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的距离成本为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c2 = &lt;</a:t>
                </a:r>
                <a:r>
                  <a:rPr lang="en-US" altLang="zh-CN" sz="1600" dirty="0"/>
                  <a:t>3, 1, 1, 1, 1, 1, 1, 1, 1, 5</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&gt;,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并且 </a:t>
                </a:r>
                <a14:m>
                  <m:oMath xmlns:m="http://schemas.openxmlformats.org/officeDocument/2006/math">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ac</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dist</m:t>
                        </m:r>
                      </m:e>
                      <m:sub>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b="0" i="0" dirty="0" smtClean="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2</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k</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2</m:t>
                        </m:r>
                        <m:r>
                          <m:rPr>
                            <m:nor/>
                          </m:rP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m:t>
                        </m:r>
                      </m:sub>
                    </m:sSub>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 1.46</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ts val="600"/>
                  </a:spcBef>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620395" y="1215704"/>
                <a:ext cx="10951210" cy="4426591"/>
              </a:xfrm>
              <a:prstGeom prst="rect">
                <a:avLst/>
              </a:prstGeom>
              <a:blipFill rotWithShape="1">
                <a:blip r:embed="rId1"/>
                <a:stretch>
                  <a:fillRect t="-696" b="7"/>
                </a:stretch>
              </a:blipFill>
            </p:spPr>
            <p:txBody>
              <a:bodyPr/>
              <a:lstStyle/>
              <a:p>
                <a:r>
                  <a:rPr lang="zh-CN" altLang="en-US">
                    <a:noFill/>
                  </a:rPr>
                  <a:t> </a:t>
                </a:r>
              </a:p>
            </p:txBody>
          </p:sp>
        </mc:Fallback>
      </mc:AlternateContent>
      <p:pic>
        <p:nvPicPr>
          <p:cNvPr id="4" name="图片 3" descr="图形用户界面, 文本&#10;&#10;AI 生成的内容可能不正确。"/>
          <p:cNvPicPr>
            <a:picLocks noChangeAspect="1"/>
          </p:cNvPicPr>
          <p:nvPr/>
        </p:nvPicPr>
        <p:blipFill>
          <a:blip r:embed="rId2"/>
          <a:stretch>
            <a:fillRect/>
          </a:stretch>
        </p:blipFill>
        <p:spPr>
          <a:xfrm>
            <a:off x="2333625" y="3938042"/>
            <a:ext cx="7772400" cy="2713478"/>
          </a:xfrm>
          <a:prstGeom prst="rect">
            <a:avLst/>
          </a:prstGeom>
        </p:spPr>
      </p:pic>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3" name="TextBox 8"/>
              <p:cNvSpPr txBox="1"/>
              <p:nvPr/>
            </p:nvSpPr>
            <p:spPr>
              <a:xfrm>
                <a:off x="620395" y="1215704"/>
                <a:ext cx="10951210" cy="4426591"/>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算法流程举例</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startAt="10"/>
                  <a:defRPr/>
                </a:pPr>
                <a:r>
                  <a:rPr lang="zh-CN" altLang="en-US" sz="1600" dirty="0"/>
                  <a:t>直线上其他点的平均链接距离可以类似地计算</a:t>
                </a:r>
                <a:endParaRPr lang="en-US" altLang="zh-CN" sz="1600" dirty="0"/>
              </a:p>
              <a:p>
                <a:pPr marL="342900" indent="-342900" defTabSz="1219200">
                  <a:lnSpc>
                    <a:spcPct val="150000"/>
                  </a:lnSpc>
                  <a:spcBef>
                    <a:spcPts val="600"/>
                  </a:spcBef>
                  <a:buFont typeface="+mj-ea"/>
                  <a:buAutoNum type="circleNumDbPlain" startAt="10"/>
                  <a:defRPr/>
                </a:pPr>
                <a:r>
                  <a:rPr lang="zh-CN" altLang="en-US" sz="1600" dirty="0"/>
                  <a:t>在此只计算</a:t>
                </a:r>
                <a:r>
                  <a:rPr lang="en-US" altLang="zh-CN" sz="1600" dirty="0"/>
                  <a:t>1</a:t>
                </a:r>
                <a:r>
                  <a:rPr lang="zh-CN" altLang="en-US" sz="1600" dirty="0"/>
                  <a:t>，</a:t>
                </a:r>
                <a:r>
                  <a:rPr lang="en-US" altLang="zh-CN" sz="1600" dirty="0"/>
                  <a:t>2</a:t>
                </a:r>
                <a:r>
                  <a:rPr lang="zh-CN" altLang="en-US" sz="1600" dirty="0"/>
                  <a:t>，</a:t>
                </a:r>
                <a:r>
                  <a:rPr lang="en-US" altLang="zh-CN" sz="1600" dirty="0"/>
                  <a:t>7</a:t>
                </a:r>
                <a:r>
                  <a:rPr lang="zh-CN" altLang="en-US" sz="1600" dirty="0"/>
                  <a:t>三个点的</a:t>
                </a:r>
                <a:r>
                  <a:rPr lang="en-US" altLang="zh-CN" sz="1600" dirty="0"/>
                  <a:t>COF</a:t>
                </a:r>
                <a:r>
                  <a:rPr lang="zh-CN" altLang="en-US" sz="1600" dirty="0"/>
                  <a:t>值，分别为</a:t>
                </a:r>
                <a14:m>
                  <m:oMath xmlns:m="http://schemas.openxmlformats.org/officeDocument/2006/math">
                    <m:sSub>
                      <m:sSubPr>
                        <m:ctrlPr>
                          <a:rPr lang="en-US" altLang="zh-CN" sz="1600" i="1" smtClean="0">
                            <a:latin typeface="Cambria Math" panose="02040503050406030204" pitchFamily="18" charset="0"/>
                          </a:rPr>
                        </m:ctrlPr>
                      </m:sSubPr>
                      <m:e>
                        <m:r>
                          <m:rPr>
                            <m:sty m:val="p"/>
                          </m:rPr>
                          <a:rPr lang="en-US" altLang="zh-CN" sz="1600" b="0" i="0" smtClean="0">
                            <a:latin typeface="Cambria Math" panose="02040503050406030204" pitchFamily="18" charset="0"/>
                          </a:rPr>
                          <m:t>COF</m:t>
                        </m:r>
                      </m:e>
                      <m:sub>
                        <m:r>
                          <m:rPr>
                            <m:sty m:val="p"/>
                          </m:rPr>
                          <a:rPr lang="en-US" altLang="zh-CN" sz="1600" b="0" i="0" smtClean="0">
                            <a:latin typeface="Cambria Math" panose="02040503050406030204" pitchFamily="18" charset="0"/>
                          </a:rPr>
                          <m:t>K</m:t>
                        </m:r>
                      </m:sub>
                    </m:sSub>
                  </m:oMath>
                </a14:m>
                <a:r>
                  <a:rPr lang="en-US" altLang="zh-CN" sz="1600" dirty="0"/>
                  <a:t>(1) = 2.1, </a:t>
                </a:r>
                <a14:m>
                  <m:oMath xmlns:m="http://schemas.openxmlformats.org/officeDocument/2006/math">
                    <m:sSub>
                      <m:sSubPr>
                        <m:ctrlPr>
                          <a:rPr lang="en-US" altLang="zh-CN" sz="1600" i="1">
                            <a:latin typeface="Cambria Math" panose="02040503050406030204" pitchFamily="18" charset="0"/>
                          </a:rPr>
                        </m:ctrlPr>
                      </m:sSubPr>
                      <m:e>
                        <m:r>
                          <m:rPr>
                            <m:sty m:val="p"/>
                          </m:rPr>
                          <a:rPr lang="en-US" altLang="zh-CN" sz="1600">
                            <a:latin typeface="Cambria Math" panose="02040503050406030204" pitchFamily="18" charset="0"/>
                          </a:rPr>
                          <m:t>COF</m:t>
                        </m:r>
                      </m:e>
                      <m:sub>
                        <m:r>
                          <m:rPr>
                            <m:sty m:val="p"/>
                          </m:rPr>
                          <a:rPr lang="en-US" altLang="zh-CN" sz="1600">
                            <a:latin typeface="Cambria Math" panose="02040503050406030204" pitchFamily="18" charset="0"/>
                          </a:rPr>
                          <m:t>K</m:t>
                        </m:r>
                      </m:sub>
                    </m:sSub>
                  </m:oMath>
                </a14:m>
                <a:r>
                  <a:rPr lang="en-US" altLang="zh-CN" sz="1600" dirty="0"/>
                  <a:t>(2) = 1.35, </a:t>
                </a:r>
                <a14:m>
                  <m:oMath xmlns:m="http://schemas.openxmlformats.org/officeDocument/2006/math">
                    <m:sSub>
                      <m:sSubPr>
                        <m:ctrlPr>
                          <a:rPr lang="en-US" altLang="zh-CN" sz="1600" i="1">
                            <a:latin typeface="Cambria Math" panose="02040503050406030204" pitchFamily="18" charset="0"/>
                          </a:rPr>
                        </m:ctrlPr>
                      </m:sSubPr>
                      <m:e>
                        <m:r>
                          <m:rPr>
                            <m:sty m:val="p"/>
                          </m:rPr>
                          <a:rPr lang="en-US" altLang="zh-CN" sz="1600">
                            <a:latin typeface="Cambria Math" panose="02040503050406030204" pitchFamily="18" charset="0"/>
                          </a:rPr>
                          <m:t>COF</m:t>
                        </m:r>
                      </m:e>
                      <m:sub>
                        <m:r>
                          <m:rPr>
                            <m:sty m:val="p"/>
                          </m:rPr>
                          <a:rPr lang="en-US" altLang="zh-CN" sz="1600">
                            <a:latin typeface="Cambria Math" panose="02040503050406030204" pitchFamily="18" charset="0"/>
                          </a:rPr>
                          <m:t>K</m:t>
                        </m:r>
                      </m:sub>
                    </m:sSub>
                  </m:oMath>
                </a14:m>
                <a:r>
                  <a:rPr lang="en-US" altLang="zh-CN" sz="1600" dirty="0"/>
                  <a:t>(7) = 0.96</a:t>
                </a:r>
                <a:endParaRPr lang="en-US" altLang="zh-CN" sz="1600" dirty="0"/>
              </a:p>
              <a:p>
                <a:pPr marL="342900" indent="-342900" defTabSz="1219200">
                  <a:lnSpc>
                    <a:spcPct val="150000"/>
                  </a:lnSpc>
                  <a:spcBef>
                    <a:spcPts val="600"/>
                  </a:spcBef>
                  <a:buFont typeface="+mj-ea"/>
                  <a:buAutoNum type="circleNumDbPlain" startAt="10"/>
                  <a:defRPr/>
                </a:pPr>
                <a:r>
                  <a:rPr lang="zh-CN" altLang="en-US" sz="1600" dirty="0"/>
                  <a:t>鉴于基于连通性的离群因子越大</a:t>
                </a:r>
                <a:r>
                  <a:rPr lang="en-US" altLang="zh-CN" sz="1600" dirty="0"/>
                  <a:t>, </a:t>
                </a:r>
                <a:r>
                  <a:rPr lang="zh-CN" altLang="en-US" sz="1600" dirty="0"/>
                  <a:t>表示该点与其所在模式的偏离程度越显著</a:t>
                </a:r>
                <a:r>
                  <a:rPr lang="en-US" altLang="zh-CN" sz="1600" dirty="0"/>
                  <a:t>, </a:t>
                </a:r>
                <a:r>
                  <a:rPr lang="zh-CN" altLang="en-US" sz="1600" dirty="0"/>
                  <a:t>因此其被判定为异常点的可能性也就越高。由此推断</a:t>
                </a:r>
                <a:r>
                  <a:rPr lang="en-US" altLang="zh-CN" sz="1600" dirty="0"/>
                  <a:t>, </a:t>
                </a:r>
                <a:r>
                  <a:rPr lang="zh-CN" altLang="en-US" sz="1600" dirty="0"/>
                  <a:t>在前述示例中的数据点 </a:t>
                </a:r>
                <a:r>
                  <a:rPr lang="en-US" altLang="zh-CN" sz="1600" dirty="0"/>
                  <a:t>1, </a:t>
                </a:r>
                <a:r>
                  <a:rPr lang="zh-CN" altLang="en-US" sz="1600" dirty="0"/>
                  <a:t>更有可能被视为异常点</a:t>
                </a:r>
                <a:endParaRPr lang="en-US" altLang="zh-CN" sz="1600" dirty="0"/>
              </a:p>
              <a:p>
                <a:pPr marL="342900" indent="-342900" defTabSz="1219200">
                  <a:lnSpc>
                    <a:spcPct val="150000"/>
                  </a:lnSpc>
                  <a:spcBef>
                    <a:spcPts val="600"/>
                  </a:spcBef>
                  <a:buFont typeface="+mj-ea"/>
                  <a:buAutoNum type="circleNumDbPlain" startAt="10"/>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620395" y="1215704"/>
                <a:ext cx="10951210" cy="4426591"/>
              </a:xfrm>
              <a:prstGeom prst="rect">
                <a:avLst/>
              </a:prstGeom>
              <a:blipFill rotWithShape="1">
                <a:blip r:embed="rId1"/>
                <a:stretch>
                  <a:fillRect t="-696" b="7"/>
                </a:stretch>
              </a:blipFill>
            </p:spPr>
            <p:txBody>
              <a:bodyPr/>
              <a:lstStyle/>
              <a:p>
                <a:r>
                  <a:rPr lang="zh-CN" altLang="en-US">
                    <a:noFill/>
                  </a:rPr>
                  <a:t> </a:t>
                </a:r>
              </a:p>
            </p:txBody>
          </p:sp>
        </mc:Fallback>
      </mc:AlternateContent>
      <p:pic>
        <p:nvPicPr>
          <p:cNvPr id="4" name="图片 3" descr="图形用户界面, 文本&#10;&#10;AI 生成的内容可能不正确。"/>
          <p:cNvPicPr>
            <a:picLocks noChangeAspect="1"/>
          </p:cNvPicPr>
          <p:nvPr/>
        </p:nvPicPr>
        <p:blipFill>
          <a:blip r:embed="rId2"/>
          <a:stretch>
            <a:fillRect/>
          </a:stretch>
        </p:blipFill>
        <p:spPr>
          <a:xfrm>
            <a:off x="2333625" y="3938042"/>
            <a:ext cx="7772400" cy="2713478"/>
          </a:xfrm>
          <a:prstGeom prst="rect">
            <a:avLst/>
          </a:prstGeom>
        </p:spPr>
      </p:pic>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2247"/>
            <a:ext cx="10951210" cy="1341084"/>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算法伪代码</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descr="图形用户界面, 文本&#10;&#10;AI 生成的内容可能不正确。"/>
          <p:cNvPicPr>
            <a:picLocks noChangeAspect="1"/>
          </p:cNvPicPr>
          <p:nvPr/>
        </p:nvPicPr>
        <p:blipFill>
          <a:blip r:embed="rId1"/>
          <a:stretch>
            <a:fillRect/>
          </a:stretch>
        </p:blipFill>
        <p:spPr>
          <a:xfrm>
            <a:off x="1949535" y="1347396"/>
            <a:ext cx="8292930" cy="5421703"/>
          </a:xfrm>
          <a:prstGeom prst="rect">
            <a:avLst/>
          </a:prstGeom>
        </p:spPr>
      </p:pic>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565647"/>
            <a:ext cx="10951210" cy="1682377"/>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LOCI</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算法：基于连通性的异常值检测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算法概述：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LOCI (Fast Outlier Detection Using The Local Correlation Integral)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提供了一个自动的、由数据集决定的阈值来判断数据点是否为异常点。无需像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COF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方法那样人为设定阈值，从而避免了主观选择带来的偏差。</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6383962" cy="1077218"/>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3" name="TextBox 8"/>
              <p:cNvSpPr txBox="1"/>
              <p:nvPr/>
            </p:nvSpPr>
            <p:spPr>
              <a:xfrm>
                <a:off x="545465" y="3609977"/>
                <a:ext cx="10951210" cy="2820967"/>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LOCI</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基本概念</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近邻数量：</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数据点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在指定半径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内的近邻数量，记作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n(p, r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近邻的近邻数量的平均值</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α</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为缩放尺度</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
                    </m:oMathParaPr>
                    <m:oMath xmlns:m="http://schemas.openxmlformats.org/officeDocument/2006/math">
                      <m:acc>
                        <m:accPr>
                          <m:ctrlPr>
                            <a:rPr lang="zh-CN" altLang="en-US"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nary>
                            <m:naryPr>
                              <m:chr m:val="∑"/>
                              <m:supHide m:val="on"/>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7"/>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up/>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nary>
                        </m:num>
                        <m:den>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en>
                      </m:f>
                    </m:oMath>
                  </m:oMathPara>
                </a14:m>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545465" y="3609977"/>
                <a:ext cx="10951210" cy="2820967"/>
              </a:xfrm>
              <a:prstGeom prst="rect">
                <a:avLst/>
              </a:prstGeom>
              <a:blipFill rotWithShape="1">
                <a:blip r:embed="rId1"/>
                <a:stretch>
                  <a:fillRect t="-1081" b="11"/>
                </a:stretch>
              </a:blipFill>
            </p:spPr>
            <p:txBody>
              <a:bodyPr/>
              <a:lstStyle/>
              <a:p>
                <a:r>
                  <a:rPr lang="zh-CN" altLang="en-US">
                    <a:noFill/>
                  </a:rPr>
                  <a:t> </a:t>
                </a:r>
              </a:p>
            </p:txBody>
          </p:sp>
        </mc:Fallback>
      </mc:AlternateContent>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p:cNvSpPr txBox="1"/>
              <p:nvPr/>
            </p:nvSpPr>
            <p:spPr>
              <a:xfrm>
                <a:off x="545465" y="1565647"/>
                <a:ext cx="10951210" cy="5292353"/>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LOCI</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进阶概念</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多粒度偏差因子</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MDEF</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𝑀𝐷𝐸𝐹</m:t>
                      </m:r>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acc>
                            <m:accPr>
                              <m:ctrlP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num>
                        <m:den>
                          <m:acc>
                            <m:accPr>
                              <m:ctrlP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den>
                      </m:f>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e>
                          </m:d>
                        </m:num>
                        <m:den>
                          <m:acc>
                            <m:accPr>
                              <m:ctrlP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den>
                      </m:f>
                    </m:oMath>
                  </m:oMathPara>
                </a14:m>
                <a:endParaRPr lang="en-US" altLang="zh-CN" sz="1600" b="0" i="1"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归一化标准差</a:t>
                </a:r>
                <a14:m>
                  <m:oMath xmlns:m="http://schemas.openxmlformats.org/officeDocument/2006/math">
                    <m:sSub>
                      <m:sSubPr>
                        <m:ctrlPr>
                          <a:rPr lang="en-US" altLang="zh-CN" sz="1600" b="1"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l-GR"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σ</m:t>
                        </m:r>
                      </m:e>
                      <m:sub>
                        <m:r>
                          <a:rPr lang="en-US" altLang="zh-CN" sz="1600" b="1"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𝑴𝑫𝑬𝑭</m:t>
                        </m:r>
                      </m:sub>
                    </m:sSub>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l-GR" altLang="zh-CN"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σ</m:t>
                          </m:r>
                        </m:e>
                        <m:sub>
                          <m:acc>
                            <m:acc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sub>
                      </m:sSub>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ad>
                        <m:radPr>
                          <m:degHide m:val="on"/>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nary>
                                <m:naryPr>
                                  <m:chr m:val="∑"/>
                                  <m:supHide m:val="on"/>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7"/>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𝑜</m:t>
                                  </m:r>
                                  <m: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up/>
                                <m:e>
                                  <m:sSup>
                                    <m:sSup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d>
                                        <m:d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acc>
                                        <m:accPr>
                                          <m:ctrlP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e>
                                    <m:sup>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e>
                              </m:nary>
                            </m:num>
                            <m:den>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den>
                          </m:f>
                        </m:e>
                      </m:rad>
                    </m:oMath>
                  </m:oMathPara>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l-GR"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σ</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𝑀𝐷𝐸𝐹</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α</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l-GR"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σ</m:t>
                              </m:r>
                            </m:e>
                            <m:sub>
                              <m:acc>
                                <m:acc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sub>
                          </m:sSub>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num>
                        <m:den>
                          <m:acc>
                            <m:accPr>
                              <m:ctrlP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𝑛</m:t>
                              </m:r>
                            </m:e>
                          </m:acc>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𝛼</m:t>
                              </m:r>
                            </m:e>
                          </m:d>
                        </m:den>
                      </m:f>
                    </m:oMath>
                  </m:oMathPara>
                </a14:m>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若一个数据点是异常点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则满足式：</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𝑀𝐷𝐸𝐹</m:t>
                    </m:r>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e>
                    </m:d>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&gt;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l-GR"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σ</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𝑀𝐷𝐸𝐹</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α</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Sub>
                    <m:r>
                      <a:rPr lang="zh-CN" altLang="en-US"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是超参数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545465" y="1565647"/>
                <a:ext cx="10951210" cy="5292353"/>
              </a:xfrm>
              <a:prstGeom prst="rect">
                <a:avLst/>
              </a:prstGeom>
              <a:blipFill rotWithShape="1">
                <a:blip r:embed="rId1"/>
                <a:stretch>
                  <a:fillRect t="-583" b="-2736"/>
                </a:stretch>
              </a:blipFill>
            </p:spPr>
            <p:txBody>
              <a:bodyPr/>
              <a:lstStyle/>
              <a:p>
                <a:r>
                  <a:rPr lang="zh-CN" altLang="en-US">
                    <a:noFill/>
                  </a:rPr>
                  <a:t> </a:t>
                </a:r>
              </a:p>
            </p:txBody>
          </p:sp>
        </mc:Fallback>
      </mc:AlternateContent>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3" name="TextBox 8"/>
              <p:cNvSpPr txBox="1"/>
              <p:nvPr/>
            </p:nvSpPr>
            <p:spPr>
              <a:xfrm>
                <a:off x="721021" y="1554052"/>
                <a:ext cx="5474296" cy="4426591"/>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LOCI</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算法举例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r>
                  <a:rPr lang="zh-CN" altLang="en-US" sz="1600" dirty="0"/>
                  <a:t>设</a:t>
                </a:r>
                <a:r>
                  <a:rPr lang="pt-BR" altLang="zh-CN" sz="1600" dirty="0"/>
                  <a:t>n(</a:t>
                </a:r>
                <a14:m>
                  <m:oMath xmlns:m="http://schemas.openxmlformats.org/officeDocument/2006/math">
                    <m:sSub>
                      <m:sSubPr>
                        <m:ctrlPr>
                          <a:rPr lang="pt-BR" altLang="zh-CN" sz="1600" i="1" dirty="0" smtClean="0">
                            <a:latin typeface="Cambria Math" panose="02040503050406030204" pitchFamily="18" charset="0"/>
                          </a:rPr>
                        </m:ctrlPr>
                      </m:sSubPr>
                      <m:e>
                        <m:r>
                          <m:rPr>
                            <m:sty m:val="p"/>
                          </m:rPr>
                          <a:rPr lang="en-US" altLang="zh-CN" sz="1600" i="1" dirty="0">
                            <a:latin typeface="Cambria Math" panose="02040503050406030204" pitchFamily="18" charset="0"/>
                          </a:rPr>
                          <m:t>p</m:t>
                        </m:r>
                      </m:e>
                      <m:sub>
                        <m:r>
                          <a:rPr lang="en-US" altLang="zh-CN" sz="1600" b="0" i="1" dirty="0" smtClean="0">
                            <a:latin typeface="Cambria Math" panose="02040503050406030204" pitchFamily="18" charset="0"/>
                          </a:rPr>
                          <m:t>𝑖</m:t>
                        </m:r>
                      </m:sub>
                    </m:sSub>
                  </m:oMath>
                </a14:m>
                <a:r>
                  <a:rPr lang="pt-BR" altLang="zh-CN" sz="1600" dirty="0"/>
                  <a:t> , r) = 4, n(</a:t>
                </a:r>
                <a14:m>
                  <m:oMath xmlns:m="http://schemas.openxmlformats.org/officeDocument/2006/math">
                    <m:sSub>
                      <m:sSubPr>
                        <m:ctrlPr>
                          <a:rPr lang="pt-BR" altLang="zh-CN" sz="1600" i="1" dirty="0">
                            <a:latin typeface="Cambria Math" panose="02040503050406030204" pitchFamily="18" charset="0"/>
                          </a:rPr>
                        </m:ctrlPr>
                      </m:sSubPr>
                      <m:e>
                        <m:r>
                          <m:rPr>
                            <m:sty m:val="p"/>
                          </m:rPr>
                          <a:rPr lang="en-US" altLang="zh-CN" sz="1600" i="1" dirty="0">
                            <a:latin typeface="Cambria Math" panose="02040503050406030204" pitchFamily="18" charset="0"/>
                          </a:rPr>
                          <m:t>p</m:t>
                        </m:r>
                      </m:e>
                      <m:sub>
                        <m:r>
                          <a:rPr lang="en-US" altLang="zh-CN" sz="1600" i="1" dirty="0">
                            <a:latin typeface="Cambria Math" panose="02040503050406030204" pitchFamily="18" charset="0"/>
                          </a:rPr>
                          <m:t>𝑖</m:t>
                        </m:r>
                      </m:sub>
                    </m:sSub>
                  </m:oMath>
                </a14:m>
                <a:r>
                  <a:rPr lang="pt-BR" altLang="zh-CN" sz="1600" dirty="0"/>
                  <a:t> , αr) = 1</a:t>
                </a:r>
                <a:r>
                  <a:rPr lang="en-US" altLang="zh-CN" sz="1600" dirty="0"/>
                  <a:t>, k=3</a:t>
                </a:r>
                <a:endParaRPr lang="pt-BR" altLang="zh-CN" sz="1600" dirty="0"/>
              </a:p>
              <a:p>
                <a:pPr marL="342900" indent="-342900" defTabSz="1219200">
                  <a:lnSpc>
                    <a:spcPct val="150000"/>
                  </a:lnSpc>
                  <a:spcBef>
                    <a:spcPts val="600"/>
                  </a:spcBef>
                  <a:buFont typeface="+mj-ea"/>
                  <a:buAutoNum type="circleNumDbPlain"/>
                  <a:defRPr/>
                </a:pPr>
                <a:r>
                  <a:rPr lang="pt-BR" altLang="zh-CN" sz="1600" dirty="0"/>
                  <a:t>n(</a:t>
                </a:r>
                <a14:m>
                  <m:oMath xmlns:m="http://schemas.openxmlformats.org/officeDocument/2006/math">
                    <m:sSub>
                      <m:sSubPr>
                        <m:ctrlPr>
                          <a:rPr lang="pt-BR" altLang="zh-CN" sz="1600" i="1" dirty="0">
                            <a:latin typeface="Cambria Math" panose="02040503050406030204" pitchFamily="18" charset="0"/>
                          </a:rPr>
                        </m:ctrlPr>
                      </m:sSubPr>
                      <m:e>
                        <m:r>
                          <m:rPr>
                            <m:sty m:val="p"/>
                          </m:rPr>
                          <a:rPr lang="en-US" altLang="zh-CN" sz="1600" i="1" dirty="0">
                            <a:latin typeface="Cambria Math" panose="02040503050406030204" pitchFamily="18" charset="0"/>
                          </a:rPr>
                          <m:t>p</m:t>
                        </m:r>
                      </m:e>
                      <m:sub>
                        <m:r>
                          <a:rPr lang="en-US" altLang="zh-CN" sz="1600" b="0" i="1" dirty="0" smtClean="0">
                            <a:latin typeface="Cambria Math" panose="02040503050406030204" pitchFamily="18" charset="0"/>
                          </a:rPr>
                          <m:t>1</m:t>
                        </m:r>
                      </m:sub>
                    </m:sSub>
                  </m:oMath>
                </a14:m>
                <a:r>
                  <a:rPr lang="pt-BR" altLang="zh-CN" sz="1600" dirty="0"/>
                  <a:t> , αr) = 5</a:t>
                </a:r>
                <a:r>
                  <a:rPr lang="zh-CN" altLang="en-US" sz="1600" dirty="0"/>
                  <a:t>，</a:t>
                </a:r>
                <a:r>
                  <a:rPr lang="pt-BR" altLang="zh-CN" sz="1600" dirty="0"/>
                  <a:t>n(</a:t>
                </a:r>
                <a14:m>
                  <m:oMath xmlns:m="http://schemas.openxmlformats.org/officeDocument/2006/math">
                    <m:sSub>
                      <m:sSubPr>
                        <m:ctrlPr>
                          <a:rPr lang="pt-BR" altLang="zh-CN" sz="1600" i="1" dirty="0">
                            <a:latin typeface="Cambria Math" panose="02040503050406030204" pitchFamily="18" charset="0"/>
                          </a:rPr>
                        </m:ctrlPr>
                      </m:sSubPr>
                      <m:e>
                        <m:r>
                          <m:rPr>
                            <m:sty m:val="p"/>
                          </m:rPr>
                          <a:rPr lang="en-US" altLang="zh-CN" sz="1600" i="1" dirty="0">
                            <a:latin typeface="Cambria Math" panose="02040503050406030204" pitchFamily="18" charset="0"/>
                          </a:rPr>
                          <m:t>p</m:t>
                        </m:r>
                      </m:e>
                      <m:sub>
                        <m:r>
                          <a:rPr lang="en-US" altLang="zh-CN" sz="1600" b="0" i="1" dirty="0" smtClean="0">
                            <a:latin typeface="Cambria Math" panose="02040503050406030204" pitchFamily="18" charset="0"/>
                          </a:rPr>
                          <m:t>2</m:t>
                        </m:r>
                      </m:sub>
                    </m:sSub>
                  </m:oMath>
                </a14:m>
                <a:r>
                  <a:rPr lang="pt-BR" altLang="zh-CN" sz="1600" dirty="0"/>
                  <a:t> , αr) = 3</a:t>
                </a:r>
                <a:r>
                  <a:rPr lang="zh-CN" altLang="en-US" sz="1600" dirty="0"/>
                  <a:t>，</a:t>
                </a:r>
                <a:r>
                  <a:rPr lang="pt-BR" altLang="zh-CN" sz="1600" dirty="0"/>
                  <a:t>n(</a:t>
                </a:r>
                <a14:m>
                  <m:oMath xmlns:m="http://schemas.openxmlformats.org/officeDocument/2006/math">
                    <m:sSub>
                      <m:sSubPr>
                        <m:ctrlPr>
                          <a:rPr lang="pt-BR" altLang="zh-CN" sz="1600" i="1" dirty="0">
                            <a:latin typeface="Cambria Math" panose="02040503050406030204" pitchFamily="18" charset="0"/>
                          </a:rPr>
                        </m:ctrlPr>
                      </m:sSubPr>
                      <m:e>
                        <m:r>
                          <m:rPr>
                            <m:sty m:val="p"/>
                          </m:rPr>
                          <a:rPr lang="en-US" altLang="zh-CN" sz="1600" i="1" dirty="0">
                            <a:latin typeface="Cambria Math" panose="02040503050406030204" pitchFamily="18" charset="0"/>
                          </a:rPr>
                          <m:t>p</m:t>
                        </m:r>
                      </m:e>
                      <m:sub>
                        <m:r>
                          <a:rPr lang="en-US" altLang="zh-CN" sz="1600" b="0" i="1" dirty="0" smtClean="0">
                            <a:latin typeface="Cambria Math" panose="02040503050406030204" pitchFamily="18" charset="0"/>
                          </a:rPr>
                          <m:t>3</m:t>
                        </m:r>
                      </m:sub>
                    </m:sSub>
                  </m:oMath>
                </a14:m>
                <a:r>
                  <a:rPr lang="pt-BR" altLang="zh-CN" sz="1600" dirty="0"/>
                  <a:t> , αr) = 1</a:t>
                </a:r>
                <a:endParaRPr lang="pt-BR" altLang="zh-CN" sz="1600" dirty="0"/>
              </a:p>
              <a:p>
                <a:pPr marL="342900" indent="-342900" defTabSz="1219200">
                  <a:lnSpc>
                    <a:spcPct val="150000"/>
                  </a:lnSpc>
                  <a:spcBef>
                    <a:spcPts val="600"/>
                  </a:spcBef>
                  <a:buFont typeface="+mj-ea"/>
                  <a:buAutoNum type="circleNumDbPlain"/>
                  <a:defRPr/>
                </a:pPr>
                <a14:m>
                  <m:oMath xmlns:m="http://schemas.openxmlformats.org/officeDocument/2006/math">
                    <m:acc>
                      <m:accPr>
                        <m:ctrlPr>
                          <a:rPr lang="zh-CN" altLang="en-US"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n</m:t>
                        </m:r>
                      </m:e>
                    </m:acc>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sSub>
                          <m:sSubPr>
                            <m:ctrlPr>
                              <a:rPr lang="pt-BR" altLang="zh-CN" sz="1600" i="1" dirty="0">
                                <a:latin typeface="Cambria Math" panose="02040503050406030204" pitchFamily="18" charset="0"/>
                              </a:rPr>
                            </m:ctrlPr>
                          </m:sSubPr>
                          <m:e>
                            <m:r>
                              <m:rPr>
                                <m:sty m:val="p"/>
                              </m:rPr>
                              <a:rPr lang="en-US" altLang="zh-CN" sz="1600" i="0" dirty="0">
                                <a:latin typeface="Cambria Math" panose="02040503050406030204" pitchFamily="18" charset="0"/>
                              </a:rPr>
                              <m:t>p</m:t>
                            </m:r>
                          </m:e>
                          <m:sub>
                            <m:r>
                              <m:rPr>
                                <m:sty m:val="p"/>
                              </m:rPr>
                              <a:rPr lang="en-US" altLang="zh-CN" sz="1600" i="0" dirty="0">
                                <a:latin typeface="Cambria Math" panose="02040503050406030204" pitchFamily="18" charset="0"/>
                              </a:rPr>
                              <m:t>i</m:t>
                            </m:r>
                          </m:sub>
                        </m:sSub>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r</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α</m:t>
                        </m:r>
                      </m:e>
                    </m:d>
                  </m:oMath>
                </a14:m>
                <a:r>
                  <a:rPr lang="pt-BR" altLang="zh-CN" sz="1600" dirty="0"/>
                  <a:t> = </a:t>
                </a:r>
                <a:r>
                  <a:rPr lang="en-US" altLang="zh-CN" sz="1600" dirty="0"/>
                  <a:t>(1+5+3+1)/4 = 2.5</a:t>
                </a:r>
                <a:endParaRPr lang="en-US" altLang="zh-CN" sz="1600" dirty="0"/>
              </a:p>
              <a:p>
                <a:pPr marL="342900" indent="-342900" defTabSz="1219200">
                  <a:lnSpc>
                    <a:spcPct val="150000"/>
                  </a:lnSpc>
                  <a:spcBef>
                    <a:spcPts val="600"/>
                  </a:spcBef>
                  <a:buFont typeface="+mj-ea"/>
                  <a:buAutoNum type="circleNumDbPlain"/>
                  <a:defRPr/>
                </a:pPr>
                <a14:m>
                  <m:oMath xmlns:m="http://schemas.openxmlformats.org/officeDocument/2006/math">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MDEF</m:t>
                    </m:r>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pt-BR" altLang="zh-CN" sz="1600" i="1" dirty="0">
                                <a:latin typeface="Cambria Math" panose="02040503050406030204" pitchFamily="18" charset="0"/>
                              </a:rPr>
                            </m:ctrlPr>
                          </m:sSubPr>
                          <m:e>
                            <m:r>
                              <m:rPr>
                                <m:sty m:val="p"/>
                              </m:rPr>
                              <a:rPr lang="en-US" altLang="zh-CN" sz="1600" dirty="0">
                                <a:latin typeface="Cambria Math" panose="02040503050406030204" pitchFamily="18" charset="0"/>
                              </a:rPr>
                              <m:t>p</m:t>
                            </m:r>
                          </m:e>
                          <m:sub>
                            <m:r>
                              <m:rPr>
                                <m:sty m:val="p"/>
                              </m:rPr>
                              <a:rPr lang="en-US" altLang="zh-CN" sz="1600" dirty="0">
                                <a:latin typeface="Cambria Math" panose="02040503050406030204" pitchFamily="18" charset="0"/>
                              </a:rPr>
                              <m:t>i</m:t>
                            </m:r>
                          </m:sub>
                        </m:sSub>
                        <m:r>
                          <a:rPr lang="en-US" altLang="zh-CN" sz="1600" i="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r</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α</m:t>
                        </m:r>
                      </m:e>
                    </m:d>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den>
                    </m:f>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oMath>
                </a14:m>
                <a:endParaRPr lang="en-US" altLang="zh-CN" sz="1600" b="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14:m>
                  <m:oMath xmlns:m="http://schemas.openxmlformats.org/officeDocument/2006/math">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l-GR"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σ</m:t>
                        </m:r>
                      </m:e>
                      <m:sub>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MDEF</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p</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r</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α</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Sub>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ad>
                      <m:radPr>
                        <m:degHide m:val="on"/>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f>
                          <m:f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sSup>
                                  <m:sSup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5</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5</m:t>
                                        </m:r>
                                      </m:e>
                                    </m:d>
                                  </m:e>
                                  <m:sup>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p>
                                  <m:sSup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3</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5</m:t>
                                        </m:r>
                                      </m:e>
                                    </m:d>
                                  </m:e>
                                  <m:sup>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p>
                                  <m:sSup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5</m:t>
                                        </m:r>
                                      </m:e>
                                    </m:d>
                                  </m:e>
                                  <m:sup>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e>
                            </m:d>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p>
                              <m:sSup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5</m:t>
                                    </m:r>
                                  </m:e>
                                </m:d>
                              </m:e>
                              <m:sup>
                                <m:r>
                                  <a:rPr lang="en-US" altLang="zh-CN"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num>
                          <m:den>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4</m:t>
                            </m:r>
                          </m:den>
                        </m:f>
                      </m:e>
                    </m:rad>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5</m:t>
                    </m:r>
                    <m:r>
                      <a:rPr lang="zh-CN" altLang="en-US" sz="1600" i="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0</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b="0" i="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6633</m:t>
                    </m:r>
                  </m:oMath>
                </a14:m>
                <a:endParaRPr lang="pt-BR" altLang="zh-CN" sz="1600" dirty="0"/>
              </a:p>
              <a:p>
                <a:pPr marL="342900" indent="-342900" defTabSz="1219200">
                  <a:lnSpc>
                    <a:spcPct val="150000"/>
                  </a:lnSpc>
                  <a:spcBef>
                    <a:spcPts val="600"/>
                  </a:spcBef>
                  <a:buFont typeface="+mj-ea"/>
                  <a:buAutoNum type="circleNumDbPlain"/>
                  <a:defRPr/>
                </a:pPr>
                <a14:m>
                  <m:oMath xmlns:m="http://schemas.openxmlformats.org/officeDocument/2006/math">
                    <m:r>
                      <m:rPr>
                        <m:sty m:val="p"/>
                      </m:rP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MDEF</m:t>
                    </m:r>
                    <m:d>
                      <m:d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pt-BR" altLang="zh-CN" sz="1600" i="1" dirty="0">
                                <a:latin typeface="Cambria Math" panose="02040503050406030204" pitchFamily="18" charset="0"/>
                              </a:rPr>
                            </m:ctrlPr>
                          </m:sSubPr>
                          <m:e>
                            <m:r>
                              <m:rPr>
                                <m:sty m:val="p"/>
                              </m:rPr>
                              <a:rPr lang="en-US" altLang="zh-CN" sz="1600" dirty="0">
                                <a:latin typeface="Cambria Math" panose="02040503050406030204" pitchFamily="18" charset="0"/>
                              </a:rPr>
                              <m:t>p</m:t>
                            </m:r>
                          </m:e>
                          <m:sub>
                            <m:r>
                              <m:rPr>
                                <m:sty m:val="p"/>
                              </m:rPr>
                              <a:rPr lang="en-US" altLang="zh-CN" sz="1600" dirty="0">
                                <a:latin typeface="Cambria Math" panose="02040503050406030204" pitchFamily="18" charset="0"/>
                              </a:rPr>
                              <m:t>i</m:t>
                            </m:r>
                          </m:sub>
                        </m:sSub>
                        <m: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r</m:t>
                        </m:r>
                        <m: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α</m:t>
                        </m:r>
                      </m:e>
                    </m:d>
                    <m:r>
                      <a:rPr lang="zh-CN" altLang="en-US"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nor/>
                          </m:rPr>
                          <a:rPr lang="el-GR"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m:t>σ</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𝑀𝐷𝐸𝐹</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𝑝</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𝑟</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α</m:t>
                        </m:r>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ub>
                    </m:sSub>
                  </m:oMath>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14:m>
                  <m:oMath xmlns:m="http://schemas.openxmlformats.org/officeDocument/2006/math">
                    <m:sSub>
                      <m:sSubPr>
                        <m:ctrlPr>
                          <a:rPr lang="pt-BR" altLang="zh-CN" sz="1600" i="1" dirty="0">
                            <a:latin typeface="Cambria Math" panose="02040503050406030204" pitchFamily="18" charset="0"/>
                          </a:rPr>
                        </m:ctrlPr>
                      </m:sSubPr>
                      <m:e>
                        <m:r>
                          <m:rPr>
                            <m:sty m:val="p"/>
                          </m:rPr>
                          <a:rPr lang="en-US" altLang="zh-CN" sz="1600" i="0" dirty="0">
                            <a:latin typeface="Cambria Math" panose="02040503050406030204" pitchFamily="18" charset="0"/>
                          </a:rPr>
                          <m:t>p</m:t>
                        </m:r>
                      </m:e>
                      <m:sub>
                        <m:r>
                          <m:rPr>
                            <m:sty m:val="p"/>
                          </m:rPr>
                          <a:rPr lang="en-US" altLang="zh-CN" sz="1600" i="0" dirty="0">
                            <a:latin typeface="Cambria Math" panose="02040503050406030204" pitchFamily="18" charset="0"/>
                          </a:rPr>
                          <m:t>i</m:t>
                        </m:r>
                      </m:sub>
                    </m:sSub>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不是异常点</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endParaRPr lang="pt-BR" altLang="zh-CN" sz="1600" dirty="0"/>
              </a:p>
              <a:p>
                <a:pPr marL="342900" indent="-342900" defTabSz="1219200">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endParaRPr lang="pt-BR" altLang="zh-CN" sz="1600" dirty="0"/>
              </a:p>
              <a:p>
                <a:pPr marL="342900" indent="-342900" defTabSz="1219200">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3" name="TextBox 8"/>
              <p:cNvSpPr txBox="1">
                <a:spLocks noRot="1" noChangeAspect="1" noMove="1" noResize="1" noEditPoints="1" noAdjustHandles="1" noChangeArrowheads="1" noChangeShapeType="1" noTextEdit="1"/>
              </p:cNvSpPr>
              <p:nvPr/>
            </p:nvSpPr>
            <p:spPr>
              <a:xfrm>
                <a:off x="721021" y="1554052"/>
                <a:ext cx="5474296" cy="4426591"/>
              </a:xfrm>
              <a:prstGeom prst="rect">
                <a:avLst/>
              </a:prstGeom>
              <a:blipFill rotWithShape="1">
                <a:blip r:embed="rId1"/>
                <a:stretch>
                  <a:fillRect l="-5" t="-693" r="5" b="-65925"/>
                </a:stretch>
              </a:blipFill>
            </p:spPr>
            <p:txBody>
              <a:bodyPr/>
              <a:lstStyle/>
              <a:p>
                <a:r>
                  <a:rPr lang="zh-CN" altLang="en-US">
                    <a:noFill/>
                  </a:rPr>
                  <a:t> </a:t>
                </a:r>
              </a:p>
            </p:txBody>
          </p:sp>
        </mc:Fallback>
      </mc:AlternateContent>
      <p:pic>
        <p:nvPicPr>
          <p:cNvPr id="5" name="图片 4" descr="图示, 维恩图&#10;&#10;AI 生成的内容可能不正确。"/>
          <p:cNvPicPr>
            <a:picLocks noChangeAspect="1"/>
          </p:cNvPicPr>
          <p:nvPr/>
        </p:nvPicPr>
        <p:blipFill>
          <a:blip r:embed="rId2"/>
          <a:stretch>
            <a:fillRect/>
          </a:stretch>
        </p:blipFill>
        <p:spPr>
          <a:xfrm>
            <a:off x="6195317" y="1270805"/>
            <a:ext cx="5731855" cy="4993083"/>
          </a:xfrm>
          <a:prstGeom prst="rect">
            <a:avLst/>
          </a:prstGeom>
        </p:spPr>
      </p:pic>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2247"/>
            <a:ext cx="10951210" cy="1341084"/>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LOCI</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算法伪代码</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6383962" cy="1569660"/>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基于密度的异常检测方法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descr="文本&#10;&#10;AI 生成的内容可能不正确。"/>
          <p:cNvPicPr>
            <a:picLocks noChangeAspect="1"/>
          </p:cNvPicPr>
          <p:nvPr/>
        </p:nvPicPr>
        <p:blipFill>
          <a:blip r:embed="rId1"/>
          <a:stretch>
            <a:fillRect/>
          </a:stretch>
        </p:blipFill>
        <p:spPr>
          <a:xfrm>
            <a:off x="2420833" y="1302918"/>
            <a:ext cx="7350334" cy="5396332"/>
          </a:xfrm>
          <a:prstGeom prst="rect">
            <a:avLst/>
          </a:prstGeom>
        </p:spPr>
      </p:pic>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293077" y="3029893"/>
            <a:ext cx="11605845" cy="3139321"/>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Anomaly Detection Based on Deep Learning</a:t>
            </a:r>
            <a:endPar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34697" y="1249495"/>
            <a:ext cx="10951210" cy="1738722"/>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传统异常检测方法的局限</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特征工程瓶颈：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在处理高维、非线性及复杂结构数据时，传统方法对特征的表达能力有限，难以充分刻画数据中蕴含的复杂结构特征与潜在模式</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检测效果受限：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随着数据规模的爆炸式增长，传统异常检测算法在计算复杂度与扩展性方面面临挑战，难以高效处理海量数据，导致检测效率下降，并可能遗漏关键异常信息</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TextBox 8"/>
          <p:cNvSpPr txBox="1"/>
          <p:nvPr/>
        </p:nvSpPr>
        <p:spPr>
          <a:xfrm>
            <a:off x="787400" y="3654912"/>
            <a:ext cx="10951210" cy="234859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核心思想</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利用深度神经网络强大的特征学习能力，自动学习数据的复杂模式和表示，从海量数据中挖掘潜在规律</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spcBef>
                <a:spcPct val="20000"/>
              </a:spcBef>
              <a:defRPr/>
            </a:pPr>
            <a:endParaRPr lang="en-US" altLang="zh-CN" sz="1600" dirty="0"/>
          </a:p>
          <a:p>
            <a:pPr marL="285750"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734697" y="5058153"/>
            <a:ext cx="10951210" cy="234859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主流方法</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自编码器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、生成对抗网络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(GAN)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、循环神经网络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(RNN)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等。</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34697" y="905246"/>
            <a:ext cx="10951210" cy="531267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基于自编码器的方法</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核心思想：</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通过学习恒等函数并构建瓶颈结构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从数据中提取显著特征</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自编码器构成</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编码器：将输入数据压缩为低维特征表示</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解码器：尝试从低维特征中重构原始输入数据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6" name="图片 5" descr="社交网络的手机截图&#10;&#10;AI 生成的内容可能不正确。"/>
          <p:cNvPicPr>
            <a:picLocks noChangeAspect="1"/>
          </p:cNvPicPr>
          <p:nvPr/>
        </p:nvPicPr>
        <p:blipFill>
          <a:blip r:embed="rId1"/>
          <a:stretch>
            <a:fillRect/>
          </a:stretch>
        </p:blipFill>
        <p:spPr>
          <a:xfrm>
            <a:off x="1423464" y="3183122"/>
            <a:ext cx="9573676" cy="3255232"/>
          </a:xfrm>
          <a:prstGeom prst="rect">
            <a:avLst/>
          </a:prstGeom>
        </p:spPr>
      </p:pic>
    </p:spTree>
    <p:custDataLst>
      <p:tags r:id="rId2"/>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34697" y="1259576"/>
            <a:ext cx="10951210" cy="531267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基于自编码器的方法</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原理： </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训练阶段：仅使用正常数据训练模型，学习正常的模式分布：</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检测阶段：计算重构数据与原始数据的误差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(MSE)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判定逻辑：重构误差越大，样本越偏离正常，异常可能性越高</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2" name="图片 11" descr="文本, 信件&#10;&#10;AI 生成的内容可能不正确。"/>
          <p:cNvPicPr>
            <a:picLocks noChangeAspect="1"/>
          </p:cNvPicPr>
          <p:nvPr/>
        </p:nvPicPr>
        <p:blipFill>
          <a:blip r:embed="rId1"/>
          <a:stretch>
            <a:fillRect/>
          </a:stretch>
        </p:blipFill>
        <p:spPr>
          <a:xfrm>
            <a:off x="3898526" y="4848399"/>
            <a:ext cx="4394947" cy="588262"/>
          </a:xfrm>
          <a:prstGeom prst="rect">
            <a:avLst/>
          </a:prstGeom>
        </p:spPr>
      </p:pic>
      <p:pic>
        <p:nvPicPr>
          <p:cNvPr id="15" name="图片 14" descr="文本, 信件&#10;&#10;AI 生成的内容可能不正确。"/>
          <p:cNvPicPr>
            <a:picLocks noChangeAspect="1"/>
          </p:cNvPicPr>
          <p:nvPr/>
        </p:nvPicPr>
        <p:blipFill>
          <a:blip r:embed="rId2"/>
          <a:stretch>
            <a:fillRect/>
          </a:stretch>
        </p:blipFill>
        <p:spPr>
          <a:xfrm>
            <a:off x="3560445" y="2868607"/>
            <a:ext cx="4842510" cy="938236"/>
          </a:xfrm>
          <a:prstGeom prst="rect">
            <a:avLst/>
          </a:prstGeom>
        </p:spPr>
      </p:pic>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34697" y="1272276"/>
            <a:ext cx="10951210" cy="531267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不同的自编码器</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5" name="图片 4" descr="表格&#10;&#10;AI 生成的内容可能不正确。"/>
          <p:cNvPicPr>
            <a:picLocks noChangeAspect="1"/>
          </p:cNvPicPr>
          <p:nvPr/>
        </p:nvPicPr>
        <p:blipFill>
          <a:blip r:embed="rId1"/>
          <a:stretch>
            <a:fillRect/>
          </a:stretch>
        </p:blipFill>
        <p:spPr>
          <a:xfrm>
            <a:off x="184150" y="1960390"/>
            <a:ext cx="11823700" cy="3516662"/>
          </a:xfrm>
          <a:prstGeom prst="rect">
            <a:avLst/>
          </a:prstGeom>
        </p:spPr>
      </p:pic>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34697" y="905246"/>
            <a:ext cx="10951210" cy="1271897"/>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基于单类分类的方法</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动机</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：基于自编码器的异常检测方法面临着一个缺陷</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即模型训练的目标并不是为异常检测设计的，可以直接学习一个二分类器来判断样本是否异常。</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Deep SVDD</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就是一种经典的基于单类分类的方法</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TextBox 8"/>
          <p:cNvSpPr txBox="1"/>
          <p:nvPr/>
        </p:nvSpPr>
        <p:spPr>
          <a:xfrm>
            <a:off x="734697" y="2472188"/>
            <a:ext cx="10951210" cy="3275469"/>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Deep SVDD</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核心思想</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：学得特征空间中的一个最小超球面</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使绝大部分训练数据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正常样本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的特征都能包含在这个超球面当中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这样一来就可以根据测试数据特征是否落在超球面外来判断其是否为异常数据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5" name="图片 4" descr="图表, 散点图&#10;&#10;AI 生成的内容可能不正确。"/>
          <p:cNvPicPr>
            <a:picLocks noChangeAspect="1"/>
          </p:cNvPicPr>
          <p:nvPr/>
        </p:nvPicPr>
        <p:blipFill>
          <a:blip r:embed="rId1"/>
          <a:stretch>
            <a:fillRect/>
          </a:stretch>
        </p:blipFill>
        <p:spPr>
          <a:xfrm>
            <a:off x="3359103" y="3753630"/>
            <a:ext cx="5473793" cy="2897890"/>
          </a:xfrm>
          <a:prstGeom prst="rect">
            <a:avLst/>
          </a:prstGeom>
        </p:spPr>
      </p:pic>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2" name="TextBox 8"/>
              <p:cNvSpPr txBox="1"/>
              <p:nvPr/>
            </p:nvSpPr>
            <p:spPr>
              <a:xfrm>
                <a:off x="924242" y="1136874"/>
                <a:ext cx="10951210" cy="3275469"/>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Deep SVDD</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优化目标</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：第一项利用合页损失约束训练样本落在超球面内，第三项约束模型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ϕ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的复杂度，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λ</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是控制各项之间权</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重的超参数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第三项最小化超球面的体积</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简化优化目标</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：当假设全部无监督样本都是正常样本时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优化目标可以进一步简化为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lnSpc>
                    <a:spcPct val="150000"/>
                  </a:lnSpc>
                  <a:spcBef>
                    <a:spcPct val="200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在测试阶段，给定一个测试样本</a:t>
                </a:r>
                <a14:m>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x</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𝑡𝑒𝑠𝑡</m:t>
                        </m:r>
                      </m:sub>
                    </m:sSub>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可以根据下列公式计算其异常分数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将异常分数大于阈值的样本分类为异常样本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lnSpc>
                    <a:spcPct val="150000"/>
                  </a:lnSpc>
                  <a:spcBef>
                    <a:spcPct val="200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2" name="TextBox 8"/>
              <p:cNvSpPr txBox="1">
                <a:spLocks noRot="1" noChangeAspect="1" noMove="1" noResize="1" noEditPoints="1" noAdjustHandles="1" noChangeArrowheads="1" noChangeShapeType="1" noTextEdit="1"/>
              </p:cNvSpPr>
              <p:nvPr/>
            </p:nvSpPr>
            <p:spPr>
              <a:xfrm>
                <a:off x="924242" y="1136874"/>
                <a:ext cx="10951210" cy="3275469"/>
              </a:xfrm>
              <a:prstGeom prst="rect">
                <a:avLst/>
              </a:prstGeom>
              <a:blipFill rotWithShape="1">
                <a:blip r:embed="rId1"/>
                <a:stretch>
                  <a:fillRect l="-3" t="-937" r="3" b="-60979"/>
                </a:stretch>
              </a:blipFill>
            </p:spPr>
            <p:txBody>
              <a:bodyPr/>
              <a:lstStyle/>
              <a:p>
                <a:r>
                  <a:rPr lang="zh-CN" altLang="en-US">
                    <a:noFill/>
                  </a:rPr>
                  <a:t> </a:t>
                </a:r>
              </a:p>
            </p:txBody>
          </p:sp>
        </mc:Fallback>
      </mc:AlternateContent>
      <p:pic>
        <p:nvPicPr>
          <p:cNvPr id="6" name="图片 5" descr="手机屏幕截图&#10;&#10;AI 生成的内容可能不正确。"/>
          <p:cNvPicPr>
            <a:picLocks noChangeAspect="1"/>
          </p:cNvPicPr>
          <p:nvPr/>
        </p:nvPicPr>
        <p:blipFill>
          <a:blip r:embed="rId2"/>
          <a:stretch>
            <a:fillRect/>
          </a:stretch>
        </p:blipFill>
        <p:spPr>
          <a:xfrm>
            <a:off x="4151539" y="3902707"/>
            <a:ext cx="3660321" cy="1019272"/>
          </a:xfrm>
          <a:prstGeom prst="rect">
            <a:avLst/>
          </a:prstGeom>
        </p:spPr>
      </p:pic>
      <p:pic>
        <p:nvPicPr>
          <p:cNvPr id="9" name="图片 8" descr="文本&#10;&#10;AI 生成的内容可能不正确。"/>
          <p:cNvPicPr>
            <a:picLocks noChangeAspect="1"/>
          </p:cNvPicPr>
          <p:nvPr/>
        </p:nvPicPr>
        <p:blipFill>
          <a:blip r:embed="rId3"/>
          <a:stretch>
            <a:fillRect/>
          </a:stretch>
        </p:blipFill>
        <p:spPr>
          <a:xfrm>
            <a:off x="4608512" y="5703471"/>
            <a:ext cx="2746374" cy="682432"/>
          </a:xfrm>
          <a:prstGeom prst="rect">
            <a:avLst/>
          </a:prstGeom>
        </p:spPr>
      </p:pic>
      <p:pic>
        <p:nvPicPr>
          <p:cNvPr id="10" name="图片 9" descr="文本&#10;&#10;AI 生成的内容可能不正确。"/>
          <p:cNvPicPr>
            <a:picLocks noChangeAspect="1"/>
          </p:cNvPicPr>
          <p:nvPr/>
        </p:nvPicPr>
        <p:blipFill>
          <a:blip r:embed="rId4"/>
          <a:stretch>
            <a:fillRect/>
          </a:stretch>
        </p:blipFill>
        <p:spPr>
          <a:xfrm>
            <a:off x="3662950" y="2291853"/>
            <a:ext cx="5473793" cy="829362"/>
          </a:xfrm>
          <a:prstGeom prst="rect">
            <a:avLst/>
          </a:prstGeom>
        </p:spPr>
      </p:pic>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87400" y="1558407"/>
            <a:ext cx="10951210" cy="1271897"/>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分布外检测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动机</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t>检测那些输入样本不属于模型训练时使用类型的样本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 name="TextBox 8"/>
          <p:cNvSpPr txBox="1"/>
          <p:nvPr/>
        </p:nvSpPr>
        <p:spPr>
          <a:xfrm>
            <a:off x="787400" y="3429000"/>
            <a:ext cx="10951210" cy="2160767"/>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基本概念</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数据分布迁移</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特征分布迁移：</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特征空间边缘概率分布发生改变</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标签分布迁移：</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标签空间边缘概率分布，由于标签空间的变化往往伴随着新类别数据的出现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所以标签分布迁移往往也伴随着特征分布迁移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mc:AlternateContent xmlns:mc="http://schemas.openxmlformats.org/markup-compatibility/2006">
        <mc:Choice xmlns:a14="http://schemas.microsoft.com/office/drawing/2010/main" Requires="a14">
          <p:sp>
            <p:nvSpPr>
              <p:cNvPr id="6" name="TextBox 8"/>
              <p:cNvSpPr txBox="1"/>
              <p:nvPr/>
            </p:nvSpPr>
            <p:spPr>
              <a:xfrm>
                <a:off x="787400" y="1215737"/>
                <a:ext cx="10951210" cy="5010891"/>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分布外检测方法</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根据模型的输出来识别未知类别样本</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给定一个测试样本</a:t>
                </a:r>
                <a14:m>
                  <m:oMath xmlns:m="http://schemas.openxmlformats.org/officeDocument/2006/math">
                    <m:sSub>
                      <m:sSubPr>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x</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𝑡𝑒𝑠𝑡</m:t>
                        </m:r>
                      </m:sub>
                    </m:sSub>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，其检测分数可以表示为该测试样本在模型上的 </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Softmax</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输出的最大值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lvl="1" defTabSz="1219200">
                  <a:lnSpc>
                    <a:spcPct val="150000"/>
                  </a:lnSpc>
                  <a:spcBef>
                    <a:spcPct val="200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训练时进行异常值曝光</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在训练中引入一组不同于正常样本分布的辅助数据集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并在训练模型的同时让模型能够区分这些异常值，这种异常值曝光的训练形式可以让模型的分布外检测能力泛化到测试集中</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训练模型的目标函数如下：</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p:sp>
            <p:nvSpPr>
              <p:cNvPr id="6" name="TextBox 8"/>
              <p:cNvSpPr txBox="1">
                <a:spLocks noRot="1" noChangeAspect="1" noMove="1" noResize="1" noEditPoints="1" noAdjustHandles="1" noChangeArrowheads="1" noChangeShapeType="1" noTextEdit="1"/>
              </p:cNvSpPr>
              <p:nvPr/>
            </p:nvSpPr>
            <p:spPr>
              <a:xfrm>
                <a:off x="787400" y="1215737"/>
                <a:ext cx="10951210" cy="5010891"/>
              </a:xfrm>
              <a:prstGeom prst="rect">
                <a:avLst/>
              </a:prstGeom>
              <a:blipFill rotWithShape="1">
                <a:blip r:embed="rId1"/>
                <a:stretch>
                  <a:fillRect t="-615" b="9"/>
                </a:stretch>
              </a:blipFill>
            </p:spPr>
            <p:txBody>
              <a:bodyPr/>
              <a:lstStyle/>
              <a:p>
                <a:r>
                  <a:rPr lang="zh-CN" altLang="en-US">
                    <a:noFill/>
                  </a:rPr>
                  <a:t> </a:t>
                </a:r>
              </a:p>
            </p:txBody>
          </p:sp>
        </mc:Fallback>
      </mc:AlternateContent>
      <p:pic>
        <p:nvPicPr>
          <p:cNvPr id="8" name="图片 7" descr="文本, 信件&#10;&#10;AI 生成的内容可能不正确。"/>
          <p:cNvPicPr>
            <a:picLocks noChangeAspect="1"/>
          </p:cNvPicPr>
          <p:nvPr/>
        </p:nvPicPr>
        <p:blipFill>
          <a:blip r:embed="rId2"/>
          <a:stretch>
            <a:fillRect/>
          </a:stretch>
        </p:blipFill>
        <p:spPr>
          <a:xfrm>
            <a:off x="3904342" y="2463571"/>
            <a:ext cx="3398837" cy="965429"/>
          </a:xfrm>
          <a:prstGeom prst="rect">
            <a:avLst/>
          </a:prstGeom>
        </p:spPr>
      </p:pic>
      <p:pic>
        <p:nvPicPr>
          <p:cNvPr id="5" name="图片 4"/>
          <p:cNvPicPr>
            <a:picLocks noChangeAspect="1"/>
          </p:cNvPicPr>
          <p:nvPr/>
        </p:nvPicPr>
        <p:blipFill>
          <a:blip r:embed="rId3"/>
          <a:stretch>
            <a:fillRect/>
          </a:stretch>
        </p:blipFill>
        <p:spPr>
          <a:xfrm>
            <a:off x="3125288" y="5315184"/>
            <a:ext cx="5941423" cy="654157"/>
          </a:xfrm>
          <a:prstGeom prst="rect">
            <a:avLst/>
          </a:prstGeom>
        </p:spPr>
      </p:pic>
    </p:spTree>
    <p:custDataLst>
      <p:tags r:id="rId4"/>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87400" y="1055212"/>
            <a:ext cx="10951210" cy="6637359"/>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广义分布外检测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新类别检测</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定义：在已知类别基础上，判断测试样本是否来自“未见过的新类别”</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本质：已知类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vs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未知类（二分类）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特点：训练集仅含已知类别</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新类别发现</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定义：在已有部分标注类别的情况下，从未标注数据中发现新的类别结构</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数据：有标签（已知类）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无标签（未知类）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特点：无标签数据只包含未知类别</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广义类别发现</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定义：在现实场景中，从未标注数据中同时识别已知类别与未知类别</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数据：无标签数据包含已知类和未知类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特点：更贴近真实开放环境</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1569660"/>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基于深度学习的异常检测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a:p>
            <a:pPr lvl="0" algn="l">
              <a:buClrTx/>
              <a:buSzTx/>
              <a:buFontTx/>
            </a:pP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TextBox 8"/>
          <p:cNvSpPr txBox="1"/>
          <p:nvPr/>
        </p:nvSpPr>
        <p:spPr>
          <a:xfrm>
            <a:off x="787400" y="1055212"/>
            <a:ext cx="10951210" cy="6637359"/>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不同的广义分布外检测任务</a:t>
            </a:r>
            <a:endPar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spcBef>
                <a:spcPct val="20000"/>
              </a:spcBef>
              <a:defRPr/>
            </a:pP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6" name="图片 5" descr="QR 代码&#10;&#10;AI 生成的内容可能不正确。"/>
          <p:cNvPicPr>
            <a:picLocks noChangeAspect="1"/>
          </p:cNvPicPr>
          <p:nvPr/>
        </p:nvPicPr>
        <p:blipFill>
          <a:blip r:embed="rId1"/>
          <a:stretch>
            <a:fillRect/>
          </a:stretch>
        </p:blipFill>
        <p:spPr>
          <a:xfrm>
            <a:off x="331570" y="1776140"/>
            <a:ext cx="11738610" cy="3878675"/>
          </a:xfrm>
          <a:prstGeom prst="rect">
            <a:avLst/>
          </a:prstGeom>
        </p:spPr>
      </p:pic>
    </p:spTree>
    <p:custDataLst>
      <p:tags r:id="rId2"/>
    </p:custDataLst>
  </p:cSld>
  <p:clrMapOvr>
    <a:masterClrMapping/>
  </p:clrMapOvr>
</p:sld>
</file>

<file path=ppt/tags/tag1.xml><?xml version="1.0" encoding="utf-8"?>
<p:tagLst xmlns:p="http://schemas.openxmlformats.org/presentationml/2006/main">
  <p:tag name="ISLIDE.ICON" val="#407207;"/>
</p:tagLst>
</file>

<file path=ppt/tags/tag2.xml><?xml version="1.0" encoding="utf-8"?>
<p:tagLst xmlns:p="http://schemas.openxmlformats.org/presentationml/2006/main">
  <p:tag name="KSO_WM_DIAGRAM_VIRTUALLY_FRAME" val="{&quot;height&quot;:317.7314960629921,&quot;left&quot;:417.32039370078735,&quot;top&quot;:94.5,&quot;width&quot;:359.1841732283465}"/>
</p:tagLst>
</file>

<file path=ppt/tags/tag3.xml><?xml version="1.0" encoding="utf-8"?>
<p:tagLst xmlns:p="http://schemas.openxmlformats.org/presentationml/2006/main">
  <p:tag name="KSO_WM_DIAGRAM_VIRTUALLY_FRAME" val="{&quot;height&quot;:317.7314960629921,&quot;left&quot;:417.32039370078735,&quot;top&quot;:94.5,&quot;width&quot;:359.1841732283465}"/>
</p:tagLst>
</file>

<file path=ppt/tags/tag4.xml><?xml version="1.0" encoding="utf-8"?>
<p:tagLst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p="http://schemas.openxmlformats.org/presentationml/2006/main">
  <p:tag name="KSO_WM_DIAGRAM_VIRTUALLY_FRAME" val="{&quot;height&quot;:317.7314960629921,&quot;left&quot;:417.32039370078735,&quot;top&quot;:94.5,&quot;width&quot;:359.1841732283465}"/>
</p:tagLst>
</file>

<file path=ppt/tags/tag15.xml><?xml version="1.0" encoding="utf-8"?>
<p:tagLst xmlns:p="http://schemas.openxmlformats.org/presentationml/2006/main">
  <p:tag name="KSO_WM_DIAGRAM_VIRTUALLY_FRAME" val="{&quot;height&quot;:317.7314960629921,&quot;left&quot;:417.32039370078735,&quot;top&quot;:94.5,&quot;width&quot;:359.1841732283465}"/>
</p:tagLst>
</file>

<file path=ppt/tags/tag16.xml><?xml version="1.0" encoding="utf-8"?>
<p:tagLst xmlns:p="http://schemas.openxmlformats.org/presentationml/2006/main">
  <p:tag name="KSO_WM_DIAGRAM_VIRTUALLY_FRAME" val="{&quot;height&quot;:317.7314960629921,&quot;left&quot;:417.32039370078735,&quot;top&quot;:94.5,&quot;width&quot;:359.1841732283465}"/>
</p:tagLst>
</file>

<file path=ppt/tags/tag17.xml><?xml version="1.0" encoding="utf-8"?>
<p:tagLst xmlns:p="http://schemas.openxmlformats.org/presentationml/2006/main">
  <p:tag name="ISLIDE.ICON" val="#407207;"/>
</p:tagLst>
</file>

<file path=ppt/tags/tag18.xml><?xml version="1.0" encoding="utf-8"?>
<p:tagLst xmlns:p="http://schemas.openxmlformats.org/presentationml/2006/main">
  <p:tag name="ISLIDE.ICON" val="#407207;"/>
</p:tagLst>
</file>

<file path=ppt/tags/tag19.xml><?xml version="1.0" encoding="utf-8"?>
<p:tagLst xmlns:p="http://schemas.openxmlformats.org/presentationml/2006/main">
  <p:tag name="ISLIDE.ICON" val="#407207;"/>
</p:tagLst>
</file>

<file path=ppt/tags/tag20.xml><?xml version="1.0" encoding="utf-8"?>
<p:tagLst xmlns:p="http://schemas.openxmlformats.org/presentationml/2006/main">
  <p:tag name="ISLIDE.ICON" val="#407207;"/>
</p:tagLst>
</file>

<file path=ppt/tags/tag21.xml><?xml version="1.0" encoding="utf-8"?>
<p:tagLst xmlns:p="http://schemas.openxmlformats.org/presentationml/2006/main">
  <p:tag name="ISLIDE.ICON" val="#407207;"/>
</p:tagLst>
</file>

<file path=ppt/tags/tag22.xml><?xml version="1.0" encoding="utf-8"?>
<p:tagLst xmlns:p="http://schemas.openxmlformats.org/presentationml/2006/main">
  <p:tag name="ISLIDE.ICON" val="#407207;"/>
</p:tagLst>
</file>

<file path=ppt/tags/tag23.xml><?xml version="1.0" encoding="utf-8"?>
<p:tagLst xmlns:p="http://schemas.openxmlformats.org/presentationml/2006/main">
  <p:tag name="ISLIDE.ICON" val="#407207;"/>
</p:tagLst>
</file>

<file path=ppt/tags/tag24.xml><?xml version="1.0" encoding="utf-8"?>
<p:tagLst xmlns:p="http://schemas.openxmlformats.org/presentationml/2006/main">
  <p:tag name="ISLIDE.ICON" val="#407207;"/>
</p:tagLst>
</file>

<file path=ppt/tags/tag25.xml><?xml version="1.0" encoding="utf-8"?>
<p:tagLst xmlns:p="http://schemas.openxmlformats.org/presentationml/2006/main">
  <p:tag name="ISLIDE.ICON" val="#407207;"/>
</p:tagLst>
</file>

<file path=ppt/tags/tag26.xml><?xml version="1.0" encoding="utf-8"?>
<p:tagLst xmlns:p="http://schemas.openxmlformats.org/presentationml/2006/main">
  <p:tag name="ISLIDE.ICON" val="#407207;"/>
</p:tagLst>
</file>

<file path=ppt/tags/tag27.xml><?xml version="1.0" encoding="utf-8"?>
<p:tagLst xmlns:p="http://schemas.openxmlformats.org/presentationml/2006/main">
  <p:tag name="ISLIDE.ICON" val="#407207;"/>
</p:tagLst>
</file>

<file path=ppt/tags/tag28.xml><?xml version="1.0" encoding="utf-8"?>
<p:tagLst xmlns:p="http://schemas.openxmlformats.org/presentationml/2006/main">
  <p:tag name="ISLIDE.ICON" val="#407207;"/>
</p:tagLst>
</file>

<file path=ppt/tags/tag29.xml><?xml version="1.0" encoding="utf-8"?>
<p:tagLst xmlns:p="http://schemas.openxmlformats.org/presentationml/2006/main">
  <p:tag name="ISLIDE.ICON" val="#407207;"/>
</p:tagLst>
</file>

<file path=ppt/tags/tag30.xml><?xml version="1.0" encoding="utf-8"?>
<p:tagLst xmlns:p="http://schemas.openxmlformats.org/presentationml/2006/main">
  <p:tag name="ISLIDE.ICON" val="#407207;"/>
</p:tagLst>
</file>

<file path=ppt/tags/tag31.xml><?xml version="1.0" encoding="utf-8"?>
<p:tagLst xmlns:p="http://schemas.openxmlformats.org/presentationml/2006/main">
  <p:tag name="ISLIDE.ICON" val="#407207;"/>
</p:tagLst>
</file>

<file path=ppt/tags/tag32.xml><?xml version="1.0" encoding="utf-8"?>
<p:tagLst xmlns:p="http://schemas.openxmlformats.org/presentationml/2006/main">
  <p:tag name="ISLIDE.ICON" val="#407207;"/>
</p:tagLst>
</file>

<file path=ppt/tags/tag33.xml><?xml version="1.0" encoding="utf-8"?>
<p:tagLst xmlns:p="http://schemas.openxmlformats.org/presentationml/2006/main">
  <p:tag name="ISLIDE.ICON" val="#407207;"/>
</p:tagLst>
</file>

<file path=ppt/tags/tag34.xml><?xml version="1.0" encoding="utf-8"?>
<p:tagLst xmlns:p="http://schemas.openxmlformats.org/presentationml/2006/main">
  <p:tag name="ISLIDE.ICON" val="#407207;"/>
</p:tagLst>
</file>

<file path=ppt/tags/tag35.xml><?xml version="1.0" encoding="utf-8"?>
<p:tagLst xmlns:p="http://schemas.openxmlformats.org/presentationml/2006/main">
  <p:tag name="ISLIDE.ICON" val="#407207;"/>
</p:tagLst>
</file>

<file path=ppt/tags/tag36.xml><?xml version="1.0" encoding="utf-8"?>
<p:tagLst xmlns:p="http://schemas.openxmlformats.org/presentationml/2006/main">
  <p:tag name="ISLIDE.ICON" val="#407207;"/>
</p:tagLst>
</file>

<file path=ppt/tags/tag37.xml><?xml version="1.0" encoding="utf-8"?>
<p:tagLst xmlns:p="http://schemas.openxmlformats.org/presentationml/2006/main">
  <p:tag name="ISLIDE.ICON" val="#407207;"/>
</p:tagLst>
</file>

<file path=ppt/tags/tag38.xml><?xml version="1.0" encoding="utf-8"?>
<p:tagLst xmlns:p="http://schemas.openxmlformats.org/presentationml/2006/main">
  <p:tag name="ISLIDE.ICON" val="#407207;"/>
</p:tagLst>
</file>

<file path=ppt/tags/tag39.xml><?xml version="1.0" encoding="utf-8"?>
<p:tagLst xmlns:p="http://schemas.openxmlformats.org/presentationml/2006/main">
  <p:tag name="ISLIDE.ICON" val="#407207;"/>
</p:tagLst>
</file>

<file path=ppt/tags/tag40.xml><?xml version="1.0" encoding="utf-8"?>
<p:tagLst xmlns:p="http://schemas.openxmlformats.org/presentationml/2006/main">
  <p:tag name="ISLIDE.ICON" val="#407207;"/>
</p:tagLst>
</file>

<file path=ppt/tags/tag41.xml><?xml version="1.0" encoding="utf-8"?>
<p:tagLst xmlns:p="http://schemas.openxmlformats.org/presentationml/2006/main">
  <p:tag name="ISLIDE.ICON" val="#407207;"/>
</p:tagLst>
</file>

<file path=ppt/tags/tag42.xml><?xml version="1.0" encoding="utf-8"?>
<p:tagLst xmlns:p="http://schemas.openxmlformats.org/presentationml/2006/main">
  <p:tag name="ISLIDE.ICON" val="#407207;"/>
</p:tagLst>
</file>

<file path=ppt/tags/tag43.xml><?xml version="1.0" encoding="utf-8"?>
<p:tagLst xmlns:p="http://schemas.openxmlformats.org/presentationml/2006/main">
  <p:tag name="ISLIDE.ICON" val="#407207;"/>
</p:tagLst>
</file>

<file path=ppt/tags/tag44.xml><?xml version="1.0" encoding="utf-8"?>
<p:tagLst xmlns:p="http://schemas.openxmlformats.org/presentationml/2006/main">
  <p:tag name="ISLIDE.ICON" val="#407207;"/>
</p:tagLst>
</file>

<file path=ppt/tags/tag45.xml><?xml version="1.0" encoding="utf-8"?>
<p:tagLst xmlns:p="http://schemas.openxmlformats.org/presentationml/2006/main">
  <p:tag name="ISLIDE.ICON" val="#407207;"/>
</p:tagLst>
</file>

<file path=ppt/tags/tag46.xml><?xml version="1.0" encoding="utf-8"?>
<p:tagLst xmlns:p="http://schemas.openxmlformats.org/presentationml/2006/main">
  <p:tag name="ISLIDE.ICON" val="#407207;"/>
</p:tagLst>
</file>

<file path=ppt/tags/tag47.xml><?xml version="1.0" encoding="utf-8"?>
<p:tagLst xmlns:p="http://schemas.openxmlformats.org/presentationml/2006/main">
  <p:tag name="ISLIDE.ICON" val="#407207;"/>
</p:tagLst>
</file>

<file path=ppt/tags/tag48.xml><?xml version="1.0" encoding="utf-8"?>
<p:tagLst xmlns:p="http://schemas.openxmlformats.org/presentationml/2006/main">
  <p:tag name="ISLIDE.ICON" val="#407207;"/>
</p:tagLst>
</file>

<file path=ppt/tags/tag49.xml><?xml version="1.0" encoding="utf-8"?>
<p:tagLst xmlns:p="http://schemas.openxmlformats.org/presentationml/2006/main">
  <p:tag name="ISLIDE.ICON" val="#407207;"/>
</p:tagLst>
</file>

<file path=ppt/tags/tag50.xml><?xml version="1.0" encoding="utf-8"?>
<p:tagLst xmlns:p="http://schemas.openxmlformats.org/presentationml/2006/main">
  <p:tag name="ISLIDE.ICON" val="#407207;"/>
</p:tagLst>
</file>

<file path=ppt/tags/tag51.xml><?xml version="1.0" encoding="utf-8"?>
<p:tagLst xmlns:p="http://schemas.openxmlformats.org/presentationml/2006/main">
  <p:tag name="ISLIDE.ICON" val="#407207;"/>
</p:tagLst>
</file>

<file path=ppt/tags/tag52.xml><?xml version="1.0" encoding="utf-8"?>
<p:tagLst xmlns:p="http://schemas.openxmlformats.org/presentationml/2006/main">
  <p:tag name="ISLIDE.ICON" val="#407207;"/>
</p:tagLst>
</file>

<file path=ppt/tags/tag53.xml><?xml version="1.0" encoding="utf-8"?>
<p:tagLst xmlns:p="http://schemas.openxmlformats.org/presentationml/2006/main">
  <p:tag name="ISLIDE.ICON" val="#407207;"/>
</p:tagLst>
</file>

<file path=ppt/tags/tag54.xml><?xml version="1.0" encoding="utf-8"?>
<p:tagLst xmlns:p="http://schemas.openxmlformats.org/presentationml/2006/main">
  <p:tag name="ISLIDE.ICON" val="#407207;"/>
</p:tagLst>
</file>

<file path=ppt/tags/tag55.xml><?xml version="1.0" encoding="utf-8"?>
<p:tagLst xmlns:p="http://schemas.openxmlformats.org/presentationml/2006/main">
  <p:tag name="ISLIDE.ICON" val="#407207;"/>
</p:tagLst>
</file>

<file path=ppt/tags/tag56.xml><?xml version="1.0" encoding="utf-8"?>
<p:tagLst xmlns:p="http://schemas.openxmlformats.org/presentationml/2006/main">
  <p:tag name="ISLIDE.ICON" val="#407207;"/>
</p:tagLst>
</file>

<file path=ppt/tags/tag57.xml><?xml version="1.0" encoding="utf-8"?>
<p:tagLst xmlns:p="http://schemas.openxmlformats.org/presentationml/2006/main">
  <p:tag name="ISLIDE.ICON" val="#407207;"/>
</p:tagLst>
</file>

<file path=ppt/tags/tag58.xml><?xml version="1.0" encoding="utf-8"?>
<p:tagLst xmlns:p="http://schemas.openxmlformats.org/presentationml/2006/main">
  <p:tag name="ISLIDE.ICON" val="#407207;"/>
</p:tagLst>
</file>

<file path=ppt/tags/tag59.xml><?xml version="1.0" encoding="utf-8"?>
<p:tagLst xmlns:p="http://schemas.openxmlformats.org/presentationml/2006/main">
  <p:tag name="ISLIDE.ICON" val="#407207;"/>
</p:tagLst>
</file>

<file path=ppt/tags/tag60.xml><?xml version="1.0" encoding="utf-8"?>
<p:tagLst xmlns:p="http://schemas.openxmlformats.org/presentationml/2006/main">
  <p:tag name="ISLIDE.ICON" val="#407207;"/>
</p:tagLst>
</file>

<file path=ppt/tags/tag61.xml><?xml version="1.0" encoding="utf-8"?>
<p:tagLst xmlns:p="http://schemas.openxmlformats.org/presentationml/2006/main">
  <p:tag name="ISLIDE.ICON" val="#407207;"/>
</p:tagLst>
</file>

<file path=ppt/tags/tag62.xml><?xml version="1.0" encoding="utf-8"?>
<p:tagLst xmlns:p="http://schemas.openxmlformats.org/presentationml/2006/main">
  <p:tag name="ISLIDE.ICON" val="#407207;"/>
</p:tagLst>
</file>

<file path=ppt/tags/tag63.xml><?xml version="1.0" encoding="utf-8"?>
<p:tagLst xmlns:p="http://schemas.openxmlformats.org/presentationml/2006/main">
  <p:tag name="ISLIDE.ICON" val="#407207;"/>
</p:tagLst>
</file>

<file path=ppt/tags/tag64.xml><?xml version="1.0" encoding="utf-8"?>
<p:tagLst xmlns:p="http://schemas.openxmlformats.org/presentationml/2006/main">
  <p:tag name="KSO_WPP_MARK_KEY" val="be449126-64c9-4d19-a63f-f572ce796e9d"/>
  <p:tag name="COMMONDATA" val="eyJoZGlkIjoiNTQ0MDc3NzBkNTM1ZjYzYmNhY2VjZGI2NTUwOWI0NjkifQ=="/>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11299</Words>
  <Application>WPS 演示</Application>
  <PresentationFormat>宽屏</PresentationFormat>
  <Paragraphs>699</Paragraphs>
  <Slides>48</Slides>
  <Notes>48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48</vt:i4>
      </vt:variant>
    </vt:vector>
  </HeadingPairs>
  <TitlesOfParts>
    <vt:vector size="57" baseType="lpstr">
      <vt:lpstr>Arial</vt:lpstr>
      <vt:lpstr>宋体</vt:lpstr>
      <vt:lpstr>Wingdings</vt:lpstr>
      <vt:lpstr>思源黑体 CN Regular</vt:lpstr>
      <vt:lpstr>Cambria Math</vt:lpstr>
      <vt:lpstr>Impact</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张海波</cp:lastModifiedBy>
  <cp:revision>90</cp:revision>
  <dcterms:created xsi:type="dcterms:W3CDTF">2025-12-27T06:12:00Z</dcterms:created>
  <dcterms:modified xsi:type="dcterms:W3CDTF">2026-03-05T06:32:40Z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FA0D7DC21BEC4B2A15764F69A6625F4E_43</vt:lpwstr>
  </property>
  <property fmtid="{D5CDD505-2E9C-101B-9397-08002B2CF9AE}" pid="4" name="KSOTemplateUUID">
    <vt:lpwstr>v1.0_mb_8FD/Rqav6PdV2YvimblSqQ==</vt:lpwstr>
  </property>
</Properties>
</file>