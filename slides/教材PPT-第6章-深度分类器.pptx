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handoutMasterIdLst>
    <p:handoutMasterId r:id="rId38"/>
  </p:handoutMasterIdLst>
  <p:sldIdLst>
    <p:sldId id="256" r:id="rId3"/>
    <p:sldId id="257" r:id="rId5"/>
    <p:sldId id="331" r:id="rId6"/>
    <p:sldId id="332" r:id="rId7"/>
    <p:sldId id="333" r:id="rId8"/>
    <p:sldId id="266" r:id="rId9"/>
    <p:sldId id="303" r:id="rId10"/>
    <p:sldId id="287" r:id="rId11"/>
    <p:sldId id="304" r:id="rId12"/>
    <p:sldId id="301" r:id="rId13"/>
    <p:sldId id="305" r:id="rId14"/>
    <p:sldId id="306" r:id="rId15"/>
    <p:sldId id="308" r:id="rId16"/>
    <p:sldId id="309" r:id="rId17"/>
    <p:sldId id="310" r:id="rId18"/>
    <p:sldId id="307" r:id="rId19"/>
    <p:sldId id="311" r:id="rId20"/>
    <p:sldId id="312" r:id="rId21"/>
    <p:sldId id="313" r:id="rId22"/>
    <p:sldId id="314" r:id="rId23"/>
    <p:sldId id="315" r:id="rId24"/>
    <p:sldId id="319" r:id="rId25"/>
    <p:sldId id="320" r:id="rId26"/>
    <p:sldId id="316" r:id="rId27"/>
    <p:sldId id="321" r:id="rId28"/>
    <p:sldId id="322" r:id="rId29"/>
    <p:sldId id="318" r:id="rId30"/>
    <p:sldId id="323" r:id="rId31"/>
    <p:sldId id="324" r:id="rId32"/>
    <p:sldId id="328" r:id="rId33"/>
    <p:sldId id="329" r:id="rId34"/>
    <p:sldId id="330" r:id="rId35"/>
    <p:sldId id="327" r:id="rId36"/>
    <p:sldId id="300" r:id="rId37"/>
  </p:sldIdLst>
  <p:sldSz cx="12192000" cy="6858000"/>
  <p:notesSz cx="6858000" cy="9144000"/>
  <p:embeddedFontLst>
    <p:embeddedFont>
      <p:font typeface="思源黑体 CN Regular" panose="020B0500000000000000" charset="-122"/>
      <p:regular r:id="rId42"/>
    </p:embeddedFont>
  </p:embeddedFontLst>
  <p:custDataLst>
    <p:tags r:id="rId4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68A"/>
    <a:srgbClr val="006FAE"/>
    <a:srgbClr val="05B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12" autoAdjust="0"/>
    <p:restoredTop sz="94169" autoAdjust="0"/>
  </p:normalViewPr>
  <p:slideViewPr>
    <p:cSldViewPr snapToGrid="0">
      <p:cViewPr varScale="1">
        <p:scale>
          <a:sx n="117" d="100"/>
          <a:sy n="117" d="100"/>
        </p:scale>
        <p:origin x="562"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3" Type="http://schemas.openxmlformats.org/officeDocument/2006/relationships/tags" Target="tags/tag53.xml"/><Relationship Id="rId42" Type="http://schemas.openxmlformats.org/officeDocument/2006/relationships/font" Target="fonts/font1.fntdata"/><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notesMaster" Target="notesMasters/notesMaster1.xml"/><Relationship Id="rId39" Type="http://schemas.openxmlformats.org/officeDocument/2006/relationships/presProps" Target="presProps.xml"/><Relationship Id="rId38" Type="http://schemas.openxmlformats.org/officeDocument/2006/relationships/handoutMaster" Target="handoutMasters/handoutMaster1.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7" Type="http://schemas.openxmlformats.org/officeDocument/2006/relationships/image" Target="../media/image4.wmf"/><Relationship Id="rId6" Type="http://schemas.openxmlformats.org/officeDocument/2006/relationships/image" Target="../media/image14.wmf"/><Relationship Id="rId5" Type="http://schemas.openxmlformats.org/officeDocument/2006/relationships/image" Target="../media/image13.wmf"/><Relationship Id="rId4" Type="http://schemas.openxmlformats.org/officeDocument/2006/relationships/image" Target="../media/image12.wmf"/><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emf"/></Relationships>
</file>

<file path=ppt/drawings/_rels/vmlDrawing4.vml.rels><?xml version="1.0" encoding="UTF-8" standalone="yes"?>
<Relationships xmlns="http://schemas.openxmlformats.org/package/2006/relationships"><Relationship Id="rId9" Type="http://schemas.openxmlformats.org/officeDocument/2006/relationships/image" Target="../media/image23.wmf"/><Relationship Id="rId8" Type="http://schemas.openxmlformats.org/officeDocument/2006/relationships/image" Target="../media/image22.wmf"/><Relationship Id="rId7" Type="http://schemas.openxmlformats.org/officeDocument/2006/relationships/image" Target="../media/image21.wmf"/><Relationship Id="rId6" Type="http://schemas.openxmlformats.org/officeDocument/2006/relationships/image" Target="../media/image20.wmf"/><Relationship Id="rId5" Type="http://schemas.openxmlformats.org/officeDocument/2006/relationships/image" Target="../media/image19.wmf"/><Relationship Id="rId4" Type="http://schemas.openxmlformats.org/officeDocument/2006/relationships/image" Target="../media/image18.wmf"/><Relationship Id="rId3" Type="http://schemas.openxmlformats.org/officeDocument/2006/relationships/image" Target="../media/image17.wmf"/><Relationship Id="rId2" Type="http://schemas.openxmlformats.org/officeDocument/2006/relationships/image" Target="../media/image16.wmf"/><Relationship Id="rId10" Type="http://schemas.openxmlformats.org/officeDocument/2006/relationships/image" Target="../media/image24.wmf"/><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6" Type="http://schemas.openxmlformats.org/officeDocument/2006/relationships/image" Target="../media/image30.wmf"/><Relationship Id="rId5" Type="http://schemas.openxmlformats.org/officeDocument/2006/relationships/image" Target="../media/image29.wmf"/><Relationship Id="rId4" Type="http://schemas.openxmlformats.org/officeDocument/2006/relationships/image" Target="../media/image28.wmf"/><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5.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10.vml.rels><?xml version="1.0" encoding="UTF-8" standalone="yes"?>
<Relationships xmlns="http://schemas.openxmlformats.org/package/2006/relationships"><Relationship Id="rId5" Type="http://schemas.openxmlformats.org/officeDocument/2006/relationships/image" Target="../media/image52.wmf"/><Relationship Id="rId4" Type="http://schemas.openxmlformats.org/officeDocument/2006/relationships/image" Target="../media/image51.wmf"/><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10.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image" Target="../media/image57.wmf"/></Relationships>
</file>

<file path=ppt/drawings/_rels/vmlDrawing13.vml.rels><?xml version="1.0" encoding="UTF-8" standalone="yes"?>
<Relationships xmlns="http://schemas.openxmlformats.org/package/2006/relationships"><Relationship Id="rId5" Type="http://schemas.openxmlformats.org/officeDocument/2006/relationships/image" Target="../media/image65.wmf"/><Relationship Id="rId4" Type="http://schemas.openxmlformats.org/officeDocument/2006/relationships/image" Target="../media/image64.wmf"/><Relationship Id="rId3" Type="http://schemas.openxmlformats.org/officeDocument/2006/relationships/image" Target="../media/image63.wmf"/><Relationship Id="rId2" Type="http://schemas.openxmlformats.org/officeDocument/2006/relationships/image" Target="../media/image62.wmf"/><Relationship Id="rId1" Type="http://schemas.openxmlformats.org/officeDocument/2006/relationships/image" Target="../media/image61.wmf"/></Relationships>
</file>

<file path=ppt/drawings/_rels/vmlDrawing14.vml.rels><?xml version="1.0" encoding="UTF-8" standalone="yes"?>
<Relationships xmlns="http://schemas.openxmlformats.org/package/2006/relationships"><Relationship Id="rId7" Type="http://schemas.openxmlformats.org/officeDocument/2006/relationships/image" Target="../media/image73.wmf"/><Relationship Id="rId6" Type="http://schemas.openxmlformats.org/officeDocument/2006/relationships/image" Target="../media/image72.wmf"/><Relationship Id="rId5" Type="http://schemas.openxmlformats.org/officeDocument/2006/relationships/image" Target="../media/image71.wmf"/><Relationship Id="rId4" Type="http://schemas.openxmlformats.org/officeDocument/2006/relationships/image" Target="../media/image70.wmf"/><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78.wmf"/></Relationships>
</file>

<file path=ppt/drawings/_rels/vmlDrawing16.vml.rels><?xml version="1.0" encoding="UTF-8" standalone="yes"?>
<Relationships xmlns="http://schemas.openxmlformats.org/package/2006/relationships"><Relationship Id="rId9" Type="http://schemas.openxmlformats.org/officeDocument/2006/relationships/image" Target="../media/image87.wmf"/><Relationship Id="rId8" Type="http://schemas.openxmlformats.org/officeDocument/2006/relationships/image" Target="../media/image86.wmf"/><Relationship Id="rId7" Type="http://schemas.openxmlformats.org/officeDocument/2006/relationships/image" Target="../media/image85.wmf"/><Relationship Id="rId6" Type="http://schemas.openxmlformats.org/officeDocument/2006/relationships/image" Target="../media/image84.wmf"/><Relationship Id="rId5" Type="http://schemas.openxmlformats.org/officeDocument/2006/relationships/image" Target="../media/image83.wmf"/><Relationship Id="rId4" Type="http://schemas.openxmlformats.org/officeDocument/2006/relationships/image" Target="../media/image82.wmf"/><Relationship Id="rId3" Type="http://schemas.openxmlformats.org/officeDocument/2006/relationships/image" Target="../media/image81.wmf"/><Relationship Id="rId2" Type="http://schemas.openxmlformats.org/officeDocument/2006/relationships/image" Target="../media/image80.wmf"/><Relationship Id="rId15" Type="http://schemas.openxmlformats.org/officeDocument/2006/relationships/image" Target="../media/image93.wmf"/><Relationship Id="rId14" Type="http://schemas.openxmlformats.org/officeDocument/2006/relationships/image" Target="../media/image92.wmf"/><Relationship Id="rId13" Type="http://schemas.openxmlformats.org/officeDocument/2006/relationships/image" Target="../media/image91.wmf"/><Relationship Id="rId12" Type="http://schemas.openxmlformats.org/officeDocument/2006/relationships/image" Target="../media/image90.wmf"/><Relationship Id="rId11" Type="http://schemas.openxmlformats.org/officeDocument/2006/relationships/image" Target="../media/image89.wmf"/><Relationship Id="rId10" Type="http://schemas.openxmlformats.org/officeDocument/2006/relationships/image" Target="../media/image88.wmf"/><Relationship Id="rId1" Type="http://schemas.openxmlformats.org/officeDocument/2006/relationships/image" Target="../media/image7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黑体 CN Regular" panose="020B0500000000000000" charset="-122"/>
              <a:ea typeface="思源黑体 CN Regular" panose="020B0500000000000000" charset="-122"/>
              <a:cs typeface="思源黑体 CN Regular" panose="020B0500000000000000"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cs typeface="思源黑体 CN Regular" panose="020B0500000000000000" charset="-122"/>
              </a:rPr>
            </a:fld>
            <a:endParaRPr lang="zh-CN" altLang="en-US">
              <a:cs typeface="思源黑体 CN Regular" panose="020B0500000000000000"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黑体 CN Regular" panose="020B0500000000000000" charset="-122"/>
              <a:ea typeface="思源黑体 CN Regular" panose="020B0500000000000000" charset="-122"/>
              <a:cs typeface="思源黑体 CN Regular" panose="020B0500000000000000"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cs typeface="思源黑体 CN Regular" panose="020B0500000000000000" charset="-122"/>
              </a:rPr>
            </a:fld>
            <a:endParaRPr lang="zh-CN" altLang="en-US">
              <a:cs typeface="思源黑体 CN Regular" panose="020B0500000000000000"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CN Regular" panose="020B0500000000000000" charset="-122"/>
                <a:ea typeface="思源黑体 CN Regular" panose="020B0500000000000000" charset="-122"/>
                <a:cs typeface="思源黑体 CN Regular" panose="020B0500000000000000"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CN Regular" panose="020B0500000000000000" charset="-122"/>
                <a:ea typeface="思源黑体 CN Regular" panose="020B0500000000000000" charset="-122"/>
                <a:cs typeface="思源黑体 CN Regular" panose="020B0500000000000000" charset="-122"/>
              </a:defRPr>
            </a:lvl1pPr>
          </a:lstStyle>
          <a:p>
            <a:fld id="{AC6BB1A7-0D1B-4F2D-B557-917D931FD80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CN Regular" panose="020B0500000000000000" charset="-122"/>
                <a:ea typeface="思源黑体 CN Regular" panose="020B0500000000000000" charset="-122"/>
                <a:cs typeface="思源黑体 CN Regular" panose="020B0500000000000000"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CN Regular" panose="020B0500000000000000" charset="-122"/>
                <a:ea typeface="思源黑体 CN Regular" panose="020B0500000000000000" charset="-122"/>
                <a:cs typeface="思源黑体 CN Regular" panose="020B0500000000000000" charset="-122"/>
              </a:defRPr>
            </a:lvl1pPr>
          </a:lstStyle>
          <a:p>
            <a:fld id="{24E404EE-387A-4429-A950-C98FCE955E0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1pPr>
    <a:lvl2pPr marL="4572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2pPr>
    <a:lvl3pPr marL="9144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3pPr>
    <a:lvl4pPr marL="13716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4pPr>
    <a:lvl5pPr marL="18288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4E404EE-387A-4429-A950-C98FCE955E02}"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2E8E436A-E919-4421-9BC7-04029FF8AF7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29329AE-01FF-4B06-A12C-DAE64B6F6607}"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pn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黑体 CN Regular" panose="020B0500000000000000" charset="-122"/>
                <a:ea typeface="思源黑体 CN Regular" panose="020B0500000000000000" charset="-122"/>
                <a:cs typeface="思源黑体 CN Regular" panose="020B0500000000000000" charset="-122"/>
              </a:defRPr>
            </a:lvl1pPr>
          </a:lstStyle>
          <a:p>
            <a:fld id="{2E8E436A-E919-4421-9BC7-04029FF8AF7D}"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黑体 CN Regular" panose="020B0500000000000000" charset="-122"/>
                <a:ea typeface="思源黑体 CN Regular" panose="020B0500000000000000" charset="-122"/>
                <a:cs typeface="思源黑体 CN Regular" panose="020B0500000000000000"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黑体 CN Regular" panose="020B0500000000000000" charset="-122"/>
                <a:ea typeface="思源黑体 CN Regular" panose="020B0500000000000000" charset="-122"/>
                <a:cs typeface="思源黑体 CN Regular" panose="020B0500000000000000" charset="-122"/>
              </a:defRPr>
            </a:lvl1pPr>
          </a:lstStyle>
          <a:p>
            <a:fld id="{B29329AE-01FF-4B06-A12C-DAE64B6F6607}" type="slidenum">
              <a:rPr lang="zh-CN" altLang="en-US" smtClean="0"/>
            </a:fld>
            <a:endParaRPr lang="zh-CN" altLang="en-US"/>
          </a:p>
        </p:txBody>
      </p:sp>
      <p:grpSp>
        <p:nvGrpSpPr>
          <p:cNvPr id="7" name="组合 6"/>
          <p:cNvGrpSpPr/>
          <p:nvPr userDrawn="1"/>
        </p:nvGrpSpPr>
        <p:grpSpPr>
          <a:xfrm>
            <a:off x="0" y="0"/>
            <a:ext cx="12192000" cy="6858000"/>
            <a:chOff x="0" y="0"/>
            <a:chExt cx="12192000" cy="6858000"/>
          </a:xfrm>
        </p:grpSpPr>
        <p:grpSp>
          <p:nvGrpSpPr>
            <p:cNvPr id="8" name="组合 7"/>
            <p:cNvGrpSpPr/>
            <p:nvPr/>
          </p:nvGrpSpPr>
          <p:grpSpPr>
            <a:xfrm rot="16200000">
              <a:off x="2667000" y="-2667000"/>
              <a:ext cx="6858000" cy="12192000"/>
              <a:chOff x="0" y="0"/>
              <a:chExt cx="12192000" cy="6858000"/>
            </a:xfrm>
          </p:grpSpPr>
          <p:pic>
            <p:nvPicPr>
              <p:cNvPr id="10" name="图片 9"/>
              <p:cNvPicPr>
                <a:picLocks noChangeAspect="1"/>
              </p:cNvPicPr>
              <p:nvPr/>
            </p:nvPicPr>
            <p:blipFill rotWithShape="1">
              <a:blip r:embed="rId2">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11" name="图片 10"/>
              <p:cNvPicPr>
                <a:picLocks noChangeAspect="1"/>
              </p:cNvPicPr>
              <p:nvPr/>
            </p:nvPicPr>
            <p:blipFill rotWithShape="1">
              <a:blip r:embed="rId2">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9" name="矩形 8"/>
            <p:cNvSpPr/>
            <p:nvPr/>
          </p:nvSpPr>
          <p:spPr>
            <a:xfrm>
              <a:off x="50800" y="29138"/>
              <a:ext cx="12090400" cy="6800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思源黑体 CN Regular" panose="020B0500000000000000" charset="-122"/>
                <a:ea typeface="思源黑体 CN Regular" panose="020B0500000000000000" charset="-122"/>
                <a:cs typeface="思源黑体 CN Regular" panose="020B0500000000000000" charset="-122"/>
              </a:endParaRPr>
            </a:p>
          </p:txBody>
        </p:sp>
      </p:grpSp>
      <p:grpSp>
        <p:nvGrpSpPr>
          <p:cNvPr id="12" name="组合 11"/>
          <p:cNvGrpSpPr/>
          <p:nvPr userDrawn="1"/>
        </p:nvGrpSpPr>
        <p:grpSpPr>
          <a:xfrm>
            <a:off x="215427" y="228549"/>
            <a:ext cx="526193" cy="526193"/>
            <a:chOff x="5643770" y="2158950"/>
            <a:chExt cx="904461" cy="904461"/>
          </a:xfrm>
        </p:grpSpPr>
        <p:sp>
          <p:nvSpPr>
            <p:cNvPr id="13" name="椭圆 12"/>
            <p:cNvSpPr/>
            <p:nvPr/>
          </p:nvSpPr>
          <p:spPr>
            <a:xfrm>
              <a:off x="5643770" y="2158950"/>
              <a:ext cx="904461" cy="904461"/>
            </a:xfrm>
            <a:prstGeom prst="ellipse">
              <a:avLst/>
            </a:prstGeom>
            <a:solidFill>
              <a:srgbClr val="006F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Regular" panose="020B0500000000000000" charset="-122"/>
                <a:ea typeface="思源黑体 CN Regular" panose="020B0500000000000000" charset="-122"/>
                <a:cs typeface="思源黑体 CN Regular" panose="020B0500000000000000" charset="-122"/>
              </a:endParaRPr>
            </a:p>
          </p:txBody>
        </p:sp>
        <p:sp>
          <p:nvSpPr>
            <p:cNvPr id="14" name="Oval 14"/>
            <p:cNvSpPr/>
            <p:nvPr/>
          </p:nvSpPr>
          <p:spPr>
            <a:xfrm>
              <a:off x="5825435" y="2359230"/>
              <a:ext cx="541130" cy="503901"/>
            </a:xfrm>
            <a:custGeom>
              <a:avLst/>
              <a:gdLst>
                <a:gd name="T0" fmla="*/ 8052 w 11204"/>
                <a:gd name="T1" fmla="*/ 701 h 10433"/>
                <a:gd name="T2" fmla="*/ 7702 w 11204"/>
                <a:gd name="T3" fmla="*/ 6 h 10433"/>
                <a:gd name="T4" fmla="*/ 7352 w 11204"/>
                <a:gd name="T5" fmla="*/ 701 h 10433"/>
                <a:gd name="T6" fmla="*/ 3854 w 11204"/>
                <a:gd name="T7" fmla="*/ 353 h 10433"/>
                <a:gd name="T8" fmla="*/ 3504 w 11204"/>
                <a:gd name="T9" fmla="*/ 6 h 10433"/>
                <a:gd name="T10" fmla="*/ 3154 w 11204"/>
                <a:gd name="T11" fmla="*/ 353 h 10433"/>
                <a:gd name="T12" fmla="*/ 1755 w 11204"/>
                <a:gd name="T13" fmla="*/ 701 h 10433"/>
                <a:gd name="T14" fmla="*/ 5 w 11204"/>
                <a:gd name="T15" fmla="*/ 2438 h 10433"/>
                <a:gd name="T16" fmla="*/ 513 w 11204"/>
                <a:gd name="T17" fmla="*/ 9925 h 10433"/>
                <a:gd name="T18" fmla="*/ 9450 w 11204"/>
                <a:gd name="T19" fmla="*/ 10428 h 10433"/>
                <a:gd name="T20" fmla="*/ 11200 w 11204"/>
                <a:gd name="T21" fmla="*/ 8691 h 10433"/>
                <a:gd name="T22" fmla="*/ 10693 w 11204"/>
                <a:gd name="T23" fmla="*/ 1205 h 10433"/>
                <a:gd name="T24" fmla="*/ 707 w 11204"/>
                <a:gd name="T25" fmla="*/ 2438 h 10433"/>
                <a:gd name="T26" fmla="*/ 3155 w 11204"/>
                <a:gd name="T27" fmla="*/ 1396 h 10433"/>
                <a:gd name="T28" fmla="*/ 3252 w 11204"/>
                <a:gd name="T29" fmla="*/ 1996 h 10433"/>
                <a:gd name="T30" fmla="*/ 3759 w 11204"/>
                <a:gd name="T31" fmla="*/ 1996 h 10433"/>
                <a:gd name="T32" fmla="*/ 3855 w 11204"/>
                <a:gd name="T33" fmla="*/ 1396 h 10433"/>
                <a:gd name="T34" fmla="*/ 7353 w 11204"/>
                <a:gd name="T35" fmla="*/ 1743 h 10433"/>
                <a:gd name="T36" fmla="*/ 7950 w 11204"/>
                <a:gd name="T37" fmla="*/ 1990 h 10433"/>
                <a:gd name="T38" fmla="*/ 8053 w 11204"/>
                <a:gd name="T39" fmla="*/ 1396 h 10433"/>
                <a:gd name="T40" fmla="*/ 10500 w 11204"/>
                <a:gd name="T41" fmla="*/ 2438 h 10433"/>
                <a:gd name="T42" fmla="*/ 707 w 11204"/>
                <a:gd name="T43" fmla="*/ 3480 h 10433"/>
                <a:gd name="T44" fmla="*/ 10499 w 11204"/>
                <a:gd name="T45" fmla="*/ 8691 h 10433"/>
                <a:gd name="T46" fmla="*/ 1757 w 11204"/>
                <a:gd name="T47" fmla="*/ 9733 h 10433"/>
                <a:gd name="T48" fmla="*/ 707 w 11204"/>
                <a:gd name="T49" fmla="*/ 4175 h 10433"/>
                <a:gd name="T50" fmla="*/ 10499 w 11204"/>
                <a:gd name="T51" fmla="*/ 8691 h 10433"/>
                <a:gd name="T52" fmla="*/ 2504 w 11204"/>
                <a:gd name="T53" fmla="*/ 8691 h 10433"/>
                <a:gd name="T54" fmla="*/ 3202 w 11204"/>
                <a:gd name="T55" fmla="*/ 7996 h 10433"/>
                <a:gd name="T56" fmla="*/ 2502 w 11204"/>
                <a:gd name="T57" fmla="*/ 7301 h 10433"/>
                <a:gd name="T58" fmla="*/ 1802 w 11204"/>
                <a:gd name="T59" fmla="*/ 7996 h 10433"/>
                <a:gd name="T60" fmla="*/ 2504 w 11204"/>
                <a:gd name="T61" fmla="*/ 8691 h 10433"/>
                <a:gd name="T62" fmla="*/ 2991 w 11204"/>
                <a:gd name="T63" fmla="*/ 6398 h 10433"/>
                <a:gd name="T64" fmla="*/ 2991 w 11204"/>
                <a:gd name="T65" fmla="*/ 5426 h 10433"/>
                <a:gd name="T66" fmla="*/ 2012 w 11204"/>
                <a:gd name="T67" fmla="*/ 5426 h 10433"/>
                <a:gd name="T68" fmla="*/ 2012 w 11204"/>
                <a:gd name="T69" fmla="*/ 6398 h 10433"/>
                <a:gd name="T70" fmla="*/ 5646 w 11204"/>
                <a:gd name="T71" fmla="*/ 8691 h 10433"/>
                <a:gd name="T72" fmla="*/ 6136 w 11204"/>
                <a:gd name="T73" fmla="*/ 7510 h 10433"/>
                <a:gd name="T74" fmla="*/ 5156 w 11204"/>
                <a:gd name="T75" fmla="*/ 7510 h 10433"/>
                <a:gd name="T76" fmla="*/ 5156 w 11204"/>
                <a:gd name="T77" fmla="*/ 8482 h 10433"/>
                <a:gd name="T78" fmla="*/ 5646 w 11204"/>
                <a:gd name="T79" fmla="*/ 6606 h 10433"/>
                <a:gd name="T80" fmla="*/ 6139 w 11204"/>
                <a:gd name="T81" fmla="*/ 5426 h 10433"/>
                <a:gd name="T82" fmla="*/ 5159 w 11204"/>
                <a:gd name="T83" fmla="*/ 5426 h 10433"/>
                <a:gd name="T84" fmla="*/ 5154 w 11204"/>
                <a:gd name="T85" fmla="*/ 6398 h 10433"/>
                <a:gd name="T86" fmla="*/ 8630 w 11204"/>
                <a:gd name="T87" fmla="*/ 8691 h 10433"/>
                <a:gd name="T88" fmla="*/ 9330 w 11204"/>
                <a:gd name="T89" fmla="*/ 7996 h 10433"/>
                <a:gd name="T90" fmla="*/ 8630 w 11204"/>
                <a:gd name="T91" fmla="*/ 7301 h 10433"/>
                <a:gd name="T92" fmla="*/ 7930 w 11204"/>
                <a:gd name="T93" fmla="*/ 7996 h 10433"/>
                <a:gd name="T94" fmla="*/ 8630 w 11204"/>
                <a:gd name="T95" fmla="*/ 8691 h 10433"/>
                <a:gd name="T96" fmla="*/ 9329 w 11204"/>
                <a:gd name="T97" fmla="*/ 5912 h 10433"/>
                <a:gd name="T98" fmla="*/ 8629 w 11204"/>
                <a:gd name="T99" fmla="*/ 5217 h 10433"/>
                <a:gd name="T100" fmla="*/ 7929 w 11204"/>
                <a:gd name="T101" fmla="*/ 5912 h 10433"/>
                <a:gd name="T102" fmla="*/ 8630 w 11204"/>
                <a:gd name="T103" fmla="*/ 6606 h 10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1204" h="10433">
                  <a:moveTo>
                    <a:pt x="9450" y="701"/>
                  </a:moveTo>
                  <a:lnTo>
                    <a:pt x="8052" y="701"/>
                  </a:lnTo>
                  <a:lnTo>
                    <a:pt x="8052" y="353"/>
                  </a:lnTo>
                  <a:cubicBezTo>
                    <a:pt x="8052" y="161"/>
                    <a:pt x="7895" y="6"/>
                    <a:pt x="7702" y="6"/>
                  </a:cubicBezTo>
                  <a:cubicBezTo>
                    <a:pt x="7509" y="6"/>
                    <a:pt x="7353" y="161"/>
                    <a:pt x="7352" y="353"/>
                  </a:cubicBezTo>
                  <a:lnTo>
                    <a:pt x="7352" y="701"/>
                  </a:lnTo>
                  <a:lnTo>
                    <a:pt x="3854" y="701"/>
                  </a:lnTo>
                  <a:lnTo>
                    <a:pt x="3854" y="353"/>
                  </a:lnTo>
                  <a:cubicBezTo>
                    <a:pt x="3860" y="260"/>
                    <a:pt x="3825" y="167"/>
                    <a:pt x="3758" y="101"/>
                  </a:cubicBezTo>
                  <a:cubicBezTo>
                    <a:pt x="3690" y="35"/>
                    <a:pt x="3598" y="0"/>
                    <a:pt x="3504" y="6"/>
                  </a:cubicBezTo>
                  <a:cubicBezTo>
                    <a:pt x="3410" y="0"/>
                    <a:pt x="3318" y="35"/>
                    <a:pt x="3250" y="101"/>
                  </a:cubicBezTo>
                  <a:cubicBezTo>
                    <a:pt x="3184" y="167"/>
                    <a:pt x="3149" y="260"/>
                    <a:pt x="3154" y="353"/>
                  </a:cubicBezTo>
                  <a:lnTo>
                    <a:pt x="3154" y="701"/>
                  </a:lnTo>
                  <a:lnTo>
                    <a:pt x="1755" y="701"/>
                  </a:lnTo>
                  <a:cubicBezTo>
                    <a:pt x="1290" y="696"/>
                    <a:pt x="843" y="877"/>
                    <a:pt x="513" y="1205"/>
                  </a:cubicBezTo>
                  <a:cubicBezTo>
                    <a:pt x="184" y="1531"/>
                    <a:pt x="2" y="1975"/>
                    <a:pt x="5" y="2438"/>
                  </a:cubicBezTo>
                  <a:lnTo>
                    <a:pt x="5" y="8691"/>
                  </a:lnTo>
                  <a:cubicBezTo>
                    <a:pt x="0" y="9153"/>
                    <a:pt x="184" y="9598"/>
                    <a:pt x="513" y="9925"/>
                  </a:cubicBezTo>
                  <a:cubicBezTo>
                    <a:pt x="843" y="10252"/>
                    <a:pt x="1290" y="10433"/>
                    <a:pt x="1755" y="10428"/>
                  </a:cubicBezTo>
                  <a:lnTo>
                    <a:pt x="9450" y="10428"/>
                  </a:lnTo>
                  <a:cubicBezTo>
                    <a:pt x="9915" y="10433"/>
                    <a:pt x="10363" y="10252"/>
                    <a:pt x="10693" y="9925"/>
                  </a:cubicBezTo>
                  <a:cubicBezTo>
                    <a:pt x="11022" y="9598"/>
                    <a:pt x="11204" y="9155"/>
                    <a:pt x="11200" y="8691"/>
                  </a:cubicBezTo>
                  <a:lnTo>
                    <a:pt x="11200" y="2438"/>
                  </a:lnTo>
                  <a:cubicBezTo>
                    <a:pt x="11204" y="1976"/>
                    <a:pt x="11022" y="1531"/>
                    <a:pt x="10693" y="1205"/>
                  </a:cubicBezTo>
                  <a:cubicBezTo>
                    <a:pt x="10362" y="878"/>
                    <a:pt x="9915" y="697"/>
                    <a:pt x="9450" y="701"/>
                  </a:cubicBezTo>
                  <a:close/>
                  <a:moveTo>
                    <a:pt x="707" y="2438"/>
                  </a:moveTo>
                  <a:cubicBezTo>
                    <a:pt x="720" y="1868"/>
                    <a:pt x="1183" y="1410"/>
                    <a:pt x="1757" y="1396"/>
                  </a:cubicBezTo>
                  <a:lnTo>
                    <a:pt x="3155" y="1396"/>
                  </a:lnTo>
                  <a:lnTo>
                    <a:pt x="3155" y="1743"/>
                  </a:lnTo>
                  <a:cubicBezTo>
                    <a:pt x="3149" y="1837"/>
                    <a:pt x="3184" y="1930"/>
                    <a:pt x="3252" y="1996"/>
                  </a:cubicBezTo>
                  <a:cubicBezTo>
                    <a:pt x="3319" y="2062"/>
                    <a:pt x="3410" y="2097"/>
                    <a:pt x="3505" y="2091"/>
                  </a:cubicBezTo>
                  <a:cubicBezTo>
                    <a:pt x="3599" y="2097"/>
                    <a:pt x="3692" y="2062"/>
                    <a:pt x="3759" y="1996"/>
                  </a:cubicBezTo>
                  <a:cubicBezTo>
                    <a:pt x="3827" y="1930"/>
                    <a:pt x="3862" y="1837"/>
                    <a:pt x="3855" y="1743"/>
                  </a:cubicBezTo>
                  <a:lnTo>
                    <a:pt x="3855" y="1396"/>
                  </a:lnTo>
                  <a:lnTo>
                    <a:pt x="7353" y="1396"/>
                  </a:lnTo>
                  <a:lnTo>
                    <a:pt x="7353" y="1743"/>
                  </a:lnTo>
                  <a:cubicBezTo>
                    <a:pt x="7353" y="1936"/>
                    <a:pt x="7509" y="2091"/>
                    <a:pt x="7703" y="2091"/>
                  </a:cubicBezTo>
                  <a:cubicBezTo>
                    <a:pt x="7795" y="2091"/>
                    <a:pt x="7884" y="2055"/>
                    <a:pt x="7950" y="1990"/>
                  </a:cubicBezTo>
                  <a:cubicBezTo>
                    <a:pt x="8015" y="1925"/>
                    <a:pt x="8053" y="1836"/>
                    <a:pt x="8053" y="1743"/>
                  </a:cubicBezTo>
                  <a:lnTo>
                    <a:pt x="8053" y="1396"/>
                  </a:lnTo>
                  <a:lnTo>
                    <a:pt x="9452" y="1396"/>
                  </a:lnTo>
                  <a:cubicBezTo>
                    <a:pt x="10025" y="1410"/>
                    <a:pt x="10486" y="1868"/>
                    <a:pt x="10500" y="2438"/>
                  </a:cubicBezTo>
                  <a:lnTo>
                    <a:pt x="10500" y="3480"/>
                  </a:lnTo>
                  <a:lnTo>
                    <a:pt x="707" y="3480"/>
                  </a:lnTo>
                  <a:lnTo>
                    <a:pt x="707" y="2438"/>
                  </a:lnTo>
                  <a:close/>
                  <a:moveTo>
                    <a:pt x="10499" y="8691"/>
                  </a:moveTo>
                  <a:cubicBezTo>
                    <a:pt x="10485" y="9261"/>
                    <a:pt x="10023" y="9718"/>
                    <a:pt x="9450" y="9733"/>
                  </a:cubicBezTo>
                  <a:lnTo>
                    <a:pt x="1757" y="9733"/>
                  </a:lnTo>
                  <a:cubicBezTo>
                    <a:pt x="1183" y="9720"/>
                    <a:pt x="720" y="9261"/>
                    <a:pt x="707" y="8691"/>
                  </a:cubicBezTo>
                  <a:lnTo>
                    <a:pt x="707" y="4175"/>
                  </a:lnTo>
                  <a:lnTo>
                    <a:pt x="10500" y="4175"/>
                  </a:lnTo>
                  <a:lnTo>
                    <a:pt x="10499" y="8691"/>
                  </a:lnTo>
                  <a:close/>
                  <a:moveTo>
                    <a:pt x="10499" y="8691"/>
                  </a:moveTo>
                  <a:close/>
                  <a:moveTo>
                    <a:pt x="2504" y="8691"/>
                  </a:moveTo>
                  <a:cubicBezTo>
                    <a:pt x="2689" y="8696"/>
                    <a:pt x="2868" y="8620"/>
                    <a:pt x="2991" y="8482"/>
                  </a:cubicBezTo>
                  <a:cubicBezTo>
                    <a:pt x="3125" y="8356"/>
                    <a:pt x="3202" y="8179"/>
                    <a:pt x="3202" y="7996"/>
                  </a:cubicBezTo>
                  <a:cubicBezTo>
                    <a:pt x="3202" y="7812"/>
                    <a:pt x="3125" y="7636"/>
                    <a:pt x="2991" y="7510"/>
                  </a:cubicBezTo>
                  <a:cubicBezTo>
                    <a:pt x="2864" y="7376"/>
                    <a:pt x="2687" y="7301"/>
                    <a:pt x="2502" y="7301"/>
                  </a:cubicBezTo>
                  <a:cubicBezTo>
                    <a:pt x="2316" y="7301"/>
                    <a:pt x="2140" y="7376"/>
                    <a:pt x="2012" y="7510"/>
                  </a:cubicBezTo>
                  <a:cubicBezTo>
                    <a:pt x="1878" y="7636"/>
                    <a:pt x="1802" y="7812"/>
                    <a:pt x="1802" y="7996"/>
                  </a:cubicBezTo>
                  <a:cubicBezTo>
                    <a:pt x="1802" y="8179"/>
                    <a:pt x="1878" y="8356"/>
                    <a:pt x="2012" y="8482"/>
                  </a:cubicBezTo>
                  <a:cubicBezTo>
                    <a:pt x="2137" y="8621"/>
                    <a:pt x="2317" y="8697"/>
                    <a:pt x="2504" y="8691"/>
                  </a:cubicBezTo>
                  <a:close/>
                  <a:moveTo>
                    <a:pt x="2504" y="6606"/>
                  </a:moveTo>
                  <a:cubicBezTo>
                    <a:pt x="2689" y="6611"/>
                    <a:pt x="2868" y="6535"/>
                    <a:pt x="2991" y="6398"/>
                  </a:cubicBezTo>
                  <a:cubicBezTo>
                    <a:pt x="3118" y="6267"/>
                    <a:pt x="3193" y="6095"/>
                    <a:pt x="3202" y="5912"/>
                  </a:cubicBezTo>
                  <a:cubicBezTo>
                    <a:pt x="3194" y="5730"/>
                    <a:pt x="3119" y="5557"/>
                    <a:pt x="2991" y="5426"/>
                  </a:cubicBezTo>
                  <a:cubicBezTo>
                    <a:pt x="2864" y="5292"/>
                    <a:pt x="2687" y="5217"/>
                    <a:pt x="2502" y="5217"/>
                  </a:cubicBezTo>
                  <a:cubicBezTo>
                    <a:pt x="2316" y="5217"/>
                    <a:pt x="2139" y="5292"/>
                    <a:pt x="2012" y="5426"/>
                  </a:cubicBezTo>
                  <a:cubicBezTo>
                    <a:pt x="1885" y="5557"/>
                    <a:pt x="1810" y="5730"/>
                    <a:pt x="1802" y="5912"/>
                  </a:cubicBezTo>
                  <a:cubicBezTo>
                    <a:pt x="1810" y="6095"/>
                    <a:pt x="1884" y="6267"/>
                    <a:pt x="2012" y="6398"/>
                  </a:cubicBezTo>
                  <a:cubicBezTo>
                    <a:pt x="2137" y="6536"/>
                    <a:pt x="2317" y="6612"/>
                    <a:pt x="2504" y="6606"/>
                  </a:cubicBezTo>
                  <a:close/>
                  <a:moveTo>
                    <a:pt x="5646" y="8691"/>
                  </a:moveTo>
                  <a:cubicBezTo>
                    <a:pt x="5929" y="8695"/>
                    <a:pt x="6185" y="8526"/>
                    <a:pt x="6294" y="8265"/>
                  </a:cubicBezTo>
                  <a:cubicBezTo>
                    <a:pt x="6401" y="8005"/>
                    <a:pt x="6339" y="7705"/>
                    <a:pt x="6136" y="7510"/>
                  </a:cubicBezTo>
                  <a:cubicBezTo>
                    <a:pt x="6009" y="7376"/>
                    <a:pt x="5831" y="7301"/>
                    <a:pt x="5646" y="7301"/>
                  </a:cubicBezTo>
                  <a:cubicBezTo>
                    <a:pt x="5461" y="7301"/>
                    <a:pt x="5284" y="7376"/>
                    <a:pt x="5156" y="7510"/>
                  </a:cubicBezTo>
                  <a:cubicBezTo>
                    <a:pt x="5023" y="7636"/>
                    <a:pt x="4946" y="7812"/>
                    <a:pt x="4946" y="7996"/>
                  </a:cubicBezTo>
                  <a:cubicBezTo>
                    <a:pt x="4946" y="8179"/>
                    <a:pt x="5023" y="8356"/>
                    <a:pt x="5156" y="8482"/>
                  </a:cubicBezTo>
                  <a:cubicBezTo>
                    <a:pt x="5281" y="8621"/>
                    <a:pt x="5461" y="8696"/>
                    <a:pt x="5646" y="8691"/>
                  </a:cubicBezTo>
                  <a:close/>
                  <a:moveTo>
                    <a:pt x="5646" y="6606"/>
                  </a:moveTo>
                  <a:cubicBezTo>
                    <a:pt x="6030" y="6598"/>
                    <a:pt x="6339" y="6292"/>
                    <a:pt x="6349" y="5912"/>
                  </a:cubicBezTo>
                  <a:cubicBezTo>
                    <a:pt x="6340" y="5730"/>
                    <a:pt x="6267" y="5557"/>
                    <a:pt x="6139" y="5426"/>
                  </a:cubicBezTo>
                  <a:cubicBezTo>
                    <a:pt x="6012" y="5292"/>
                    <a:pt x="5834" y="5217"/>
                    <a:pt x="5649" y="5217"/>
                  </a:cubicBezTo>
                  <a:cubicBezTo>
                    <a:pt x="5464" y="5217"/>
                    <a:pt x="5288" y="5292"/>
                    <a:pt x="5159" y="5426"/>
                  </a:cubicBezTo>
                  <a:cubicBezTo>
                    <a:pt x="5032" y="5557"/>
                    <a:pt x="4958" y="5730"/>
                    <a:pt x="4949" y="5912"/>
                  </a:cubicBezTo>
                  <a:cubicBezTo>
                    <a:pt x="4957" y="6093"/>
                    <a:pt x="5029" y="6266"/>
                    <a:pt x="5154" y="6398"/>
                  </a:cubicBezTo>
                  <a:cubicBezTo>
                    <a:pt x="5280" y="6536"/>
                    <a:pt x="5460" y="6612"/>
                    <a:pt x="5646" y="6606"/>
                  </a:cubicBezTo>
                  <a:close/>
                  <a:moveTo>
                    <a:pt x="8630" y="8691"/>
                  </a:moveTo>
                  <a:cubicBezTo>
                    <a:pt x="8817" y="8696"/>
                    <a:pt x="8995" y="8620"/>
                    <a:pt x="9120" y="8482"/>
                  </a:cubicBezTo>
                  <a:cubicBezTo>
                    <a:pt x="9254" y="8356"/>
                    <a:pt x="9330" y="8179"/>
                    <a:pt x="9330" y="7996"/>
                  </a:cubicBezTo>
                  <a:cubicBezTo>
                    <a:pt x="9330" y="7812"/>
                    <a:pt x="9254" y="7636"/>
                    <a:pt x="9120" y="7510"/>
                  </a:cubicBezTo>
                  <a:cubicBezTo>
                    <a:pt x="8993" y="7376"/>
                    <a:pt x="8815" y="7301"/>
                    <a:pt x="8630" y="7301"/>
                  </a:cubicBezTo>
                  <a:cubicBezTo>
                    <a:pt x="8445" y="7301"/>
                    <a:pt x="8268" y="7376"/>
                    <a:pt x="8140" y="7510"/>
                  </a:cubicBezTo>
                  <a:cubicBezTo>
                    <a:pt x="8003" y="7633"/>
                    <a:pt x="7925" y="7811"/>
                    <a:pt x="7930" y="7996"/>
                  </a:cubicBezTo>
                  <a:cubicBezTo>
                    <a:pt x="7939" y="8178"/>
                    <a:pt x="8013" y="8351"/>
                    <a:pt x="8140" y="8482"/>
                  </a:cubicBezTo>
                  <a:cubicBezTo>
                    <a:pt x="8265" y="8620"/>
                    <a:pt x="8444" y="8696"/>
                    <a:pt x="8630" y="8691"/>
                  </a:cubicBezTo>
                  <a:close/>
                  <a:moveTo>
                    <a:pt x="8630" y="6606"/>
                  </a:moveTo>
                  <a:cubicBezTo>
                    <a:pt x="9013" y="6597"/>
                    <a:pt x="9320" y="6291"/>
                    <a:pt x="9329" y="5912"/>
                  </a:cubicBezTo>
                  <a:cubicBezTo>
                    <a:pt x="9320" y="5730"/>
                    <a:pt x="9247" y="5557"/>
                    <a:pt x="9119" y="5426"/>
                  </a:cubicBezTo>
                  <a:cubicBezTo>
                    <a:pt x="8992" y="5292"/>
                    <a:pt x="8814" y="5217"/>
                    <a:pt x="8629" y="5217"/>
                  </a:cubicBezTo>
                  <a:cubicBezTo>
                    <a:pt x="8444" y="5217"/>
                    <a:pt x="8267" y="5292"/>
                    <a:pt x="8139" y="5426"/>
                  </a:cubicBezTo>
                  <a:cubicBezTo>
                    <a:pt x="8013" y="5557"/>
                    <a:pt x="7938" y="5730"/>
                    <a:pt x="7929" y="5912"/>
                  </a:cubicBezTo>
                  <a:cubicBezTo>
                    <a:pt x="7938" y="6095"/>
                    <a:pt x="8012" y="6267"/>
                    <a:pt x="8139" y="6398"/>
                  </a:cubicBezTo>
                  <a:cubicBezTo>
                    <a:pt x="8265" y="6536"/>
                    <a:pt x="8444" y="6612"/>
                    <a:pt x="8630" y="6606"/>
                  </a:cubicBezTo>
                  <a:close/>
                  <a:moveTo>
                    <a:pt x="8630" y="6606"/>
                  </a:move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思源黑体 CN Regular" panose="020B0500000000000000" charset="-122"/>
                <a:ea typeface="思源黑体 CN Regular" panose="020B0500000000000000" charset="-122"/>
                <a:cs typeface="思源黑体 CN Regular" panose="020B0500000000000000" charset="-122"/>
              </a:endParaRPr>
            </a:p>
          </p:txBody>
        </p:sp>
      </p:gr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Regular" panose="020B0500000000000000" charset="-122"/>
          <a:ea typeface="思源黑体 CN Regular" panose="020B0500000000000000" charset="-122"/>
          <a:cs typeface="思源黑体 CN Regular" panose="020B05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2" Type="http://schemas.openxmlformats.org/officeDocument/2006/relationships/notesSlide" Target="../notesSlides/notesSlide2.xml"/><Relationship Id="rId21" Type="http://schemas.openxmlformats.org/officeDocument/2006/relationships/slideLayout" Target="../slideLayouts/slideLayout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tags" Target="../tags/tag2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vmlDrawing" Target="../drawings/vmlDrawing1.vml"/><Relationship Id="rId6" Type="http://schemas.openxmlformats.org/officeDocument/2006/relationships/slideLayout" Target="../slideLayouts/slideLayout1.xml"/><Relationship Id="rId5" Type="http://schemas.openxmlformats.org/officeDocument/2006/relationships/tags" Target="../tags/tag22.xml"/><Relationship Id="rId4" Type="http://schemas.openxmlformats.org/officeDocument/2006/relationships/image" Target="../media/image5.png"/><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slideLayout" Target="../slideLayouts/slideLayout1.xml"/><Relationship Id="rId7" Type="http://schemas.openxmlformats.org/officeDocument/2006/relationships/tags" Target="../tags/tag2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4.wmf"/><Relationship Id="rId2" Type="http://schemas.openxmlformats.org/officeDocument/2006/relationships/oleObject" Target="../embeddings/oleObject2.bin"/><Relationship Id="rId10" Type="http://schemas.openxmlformats.org/officeDocument/2006/relationships/notesSlide" Target="../notesSlides/notesSlide5.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tags" Target="../tags/tag24.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9" Type="http://schemas.openxmlformats.org/officeDocument/2006/relationships/image" Target="../media/image12.wmf"/><Relationship Id="rId8" Type="http://schemas.openxmlformats.org/officeDocument/2006/relationships/oleObject" Target="../embeddings/oleObject7.bin"/><Relationship Id="rId7" Type="http://schemas.openxmlformats.org/officeDocument/2006/relationships/image" Target="../media/image11.wmf"/><Relationship Id="rId6" Type="http://schemas.openxmlformats.org/officeDocument/2006/relationships/oleObject" Target="../embeddings/oleObject6.bin"/><Relationship Id="rId5" Type="http://schemas.openxmlformats.org/officeDocument/2006/relationships/oleObject" Target="../embeddings/oleObject5.bin"/><Relationship Id="rId4" Type="http://schemas.openxmlformats.org/officeDocument/2006/relationships/image" Target="../media/image10.wmf"/><Relationship Id="rId3" Type="http://schemas.openxmlformats.org/officeDocument/2006/relationships/oleObject" Target="../embeddings/oleObject4.bin"/><Relationship Id="rId20" Type="http://schemas.openxmlformats.org/officeDocument/2006/relationships/notesSlide" Target="../notesSlides/notesSlide7.xml"/><Relationship Id="rId2" Type="http://schemas.openxmlformats.org/officeDocument/2006/relationships/image" Target="../media/image9.emf"/><Relationship Id="rId19" Type="http://schemas.openxmlformats.org/officeDocument/2006/relationships/vmlDrawing" Target="../drawings/vmlDrawing3.vml"/><Relationship Id="rId18" Type="http://schemas.openxmlformats.org/officeDocument/2006/relationships/slideLayout" Target="../slideLayouts/slideLayout1.xml"/><Relationship Id="rId17" Type="http://schemas.openxmlformats.org/officeDocument/2006/relationships/tags" Target="../tags/tag25.xml"/><Relationship Id="rId16" Type="http://schemas.openxmlformats.org/officeDocument/2006/relationships/image" Target="../media/image4.wmf"/><Relationship Id="rId15" Type="http://schemas.openxmlformats.org/officeDocument/2006/relationships/oleObject" Target="../embeddings/oleObject10.bin"/><Relationship Id="rId14" Type="http://schemas.openxmlformats.org/officeDocument/2006/relationships/image" Target="../media/image3.png"/><Relationship Id="rId13" Type="http://schemas.openxmlformats.org/officeDocument/2006/relationships/image" Target="../media/image14.wmf"/><Relationship Id="rId12" Type="http://schemas.openxmlformats.org/officeDocument/2006/relationships/oleObject" Target="../embeddings/oleObject9.bin"/><Relationship Id="rId11" Type="http://schemas.openxmlformats.org/officeDocument/2006/relationships/image" Target="../media/image13.wmf"/><Relationship Id="rId10" Type="http://schemas.openxmlformats.org/officeDocument/2006/relationships/oleObject" Target="../embeddings/oleObject8.bin"/><Relationship Id="rId1" Type="http://schemas.openxmlformats.org/officeDocument/2006/relationships/oleObject" Target="../embeddings/oleObject3.bin"/></Relationships>
</file>

<file path=ppt/slides/_rels/slide8.xml.rels><?xml version="1.0" encoding="UTF-8" standalone="yes"?>
<Relationships xmlns="http://schemas.openxmlformats.org/package/2006/relationships"><Relationship Id="rId9" Type="http://schemas.openxmlformats.org/officeDocument/2006/relationships/oleObject" Target="../embeddings/oleObject15.bin"/><Relationship Id="rId8" Type="http://schemas.openxmlformats.org/officeDocument/2006/relationships/image" Target="../media/image18.wmf"/><Relationship Id="rId7" Type="http://schemas.openxmlformats.org/officeDocument/2006/relationships/oleObject" Target="../embeddings/oleObject14.bin"/><Relationship Id="rId6" Type="http://schemas.openxmlformats.org/officeDocument/2006/relationships/image" Target="../media/image17.wmf"/><Relationship Id="rId5" Type="http://schemas.openxmlformats.org/officeDocument/2006/relationships/oleObject" Target="../embeddings/oleObject13.bin"/><Relationship Id="rId4" Type="http://schemas.openxmlformats.org/officeDocument/2006/relationships/image" Target="../media/image16.wmf"/><Relationship Id="rId3" Type="http://schemas.openxmlformats.org/officeDocument/2006/relationships/oleObject" Target="../embeddings/oleObject12.bin"/><Relationship Id="rId24" Type="http://schemas.openxmlformats.org/officeDocument/2006/relationships/notesSlide" Target="../notesSlides/notesSlide8.xml"/><Relationship Id="rId23" Type="http://schemas.openxmlformats.org/officeDocument/2006/relationships/vmlDrawing" Target="../drawings/vmlDrawing4.vml"/><Relationship Id="rId22" Type="http://schemas.openxmlformats.org/officeDocument/2006/relationships/slideLayout" Target="../slideLayouts/slideLayout1.xml"/><Relationship Id="rId21" Type="http://schemas.openxmlformats.org/officeDocument/2006/relationships/tags" Target="../tags/tag26.xml"/><Relationship Id="rId20" Type="http://schemas.openxmlformats.org/officeDocument/2006/relationships/image" Target="../media/image24.wmf"/><Relationship Id="rId2" Type="http://schemas.openxmlformats.org/officeDocument/2006/relationships/image" Target="../media/image15.wmf"/><Relationship Id="rId19" Type="http://schemas.openxmlformats.org/officeDocument/2006/relationships/oleObject" Target="../embeddings/oleObject20.bin"/><Relationship Id="rId18" Type="http://schemas.openxmlformats.org/officeDocument/2006/relationships/image" Target="../media/image23.wmf"/><Relationship Id="rId17" Type="http://schemas.openxmlformats.org/officeDocument/2006/relationships/oleObject" Target="../embeddings/oleObject19.bin"/><Relationship Id="rId16" Type="http://schemas.openxmlformats.org/officeDocument/2006/relationships/image" Target="../media/image22.wmf"/><Relationship Id="rId15" Type="http://schemas.openxmlformats.org/officeDocument/2006/relationships/oleObject" Target="../embeddings/oleObject18.bin"/><Relationship Id="rId14" Type="http://schemas.openxmlformats.org/officeDocument/2006/relationships/image" Target="../media/image21.wmf"/><Relationship Id="rId13" Type="http://schemas.openxmlformats.org/officeDocument/2006/relationships/oleObject" Target="../embeddings/oleObject17.bin"/><Relationship Id="rId12" Type="http://schemas.openxmlformats.org/officeDocument/2006/relationships/image" Target="../media/image20.wmf"/><Relationship Id="rId11" Type="http://schemas.openxmlformats.org/officeDocument/2006/relationships/oleObject" Target="../embeddings/oleObject16.bin"/><Relationship Id="rId10" Type="http://schemas.openxmlformats.org/officeDocument/2006/relationships/image" Target="../media/image19.wmf"/><Relationship Id="rId1" Type="http://schemas.openxmlformats.org/officeDocument/2006/relationships/oleObject" Target="../embeddings/oleObject11.bin"/></Relationships>
</file>

<file path=ppt/slides/_rels/slide9.xml.rels><?xml version="1.0" encoding="UTF-8" standalone="yes"?>
<Relationships xmlns="http://schemas.openxmlformats.org/package/2006/relationships"><Relationship Id="rId9" Type="http://schemas.openxmlformats.org/officeDocument/2006/relationships/oleObject" Target="../embeddings/oleObject25.bin"/><Relationship Id="rId8" Type="http://schemas.openxmlformats.org/officeDocument/2006/relationships/image" Target="../media/image28.wmf"/><Relationship Id="rId7" Type="http://schemas.openxmlformats.org/officeDocument/2006/relationships/oleObject" Target="../embeddings/oleObject24.bin"/><Relationship Id="rId6" Type="http://schemas.openxmlformats.org/officeDocument/2006/relationships/image" Target="../media/image27.wmf"/><Relationship Id="rId5" Type="http://schemas.openxmlformats.org/officeDocument/2006/relationships/oleObject" Target="../embeddings/oleObject23.bin"/><Relationship Id="rId4" Type="http://schemas.openxmlformats.org/officeDocument/2006/relationships/image" Target="../media/image26.wmf"/><Relationship Id="rId3" Type="http://schemas.openxmlformats.org/officeDocument/2006/relationships/oleObject" Target="../embeddings/oleObject22.bin"/><Relationship Id="rId2" Type="http://schemas.openxmlformats.org/officeDocument/2006/relationships/image" Target="../media/image25.wmf"/><Relationship Id="rId19" Type="http://schemas.openxmlformats.org/officeDocument/2006/relationships/notesSlide" Target="../notesSlides/notesSlide9.xml"/><Relationship Id="rId18" Type="http://schemas.openxmlformats.org/officeDocument/2006/relationships/vmlDrawing" Target="../drawings/vmlDrawing5.vml"/><Relationship Id="rId17" Type="http://schemas.openxmlformats.org/officeDocument/2006/relationships/slideLayout" Target="../slideLayouts/slideLayout1.xml"/><Relationship Id="rId16" Type="http://schemas.openxmlformats.org/officeDocument/2006/relationships/tags" Target="../tags/tag27.xml"/><Relationship Id="rId15" Type="http://schemas.openxmlformats.org/officeDocument/2006/relationships/image" Target="../media/image31.png"/><Relationship Id="rId14" Type="http://schemas.openxmlformats.org/officeDocument/2006/relationships/image" Target="../media/image30.wmf"/><Relationship Id="rId13" Type="http://schemas.openxmlformats.org/officeDocument/2006/relationships/oleObject" Target="../embeddings/oleObject28.bin"/><Relationship Id="rId12" Type="http://schemas.openxmlformats.org/officeDocument/2006/relationships/image" Target="../media/image29.wmf"/><Relationship Id="rId11" Type="http://schemas.openxmlformats.org/officeDocument/2006/relationships/oleObject" Target="../embeddings/oleObject27.bin"/><Relationship Id="rId10" Type="http://schemas.openxmlformats.org/officeDocument/2006/relationships/oleObject" Target="../embeddings/oleObject26.bin"/><Relationship Id="rId1" Type="http://schemas.openxmlformats.org/officeDocument/2006/relationships/oleObject" Target="../embeddings/oleObject21.bin"/></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tags" Target="../tags/tag28.xml"/><Relationship Id="rId1" Type="http://schemas.openxmlformats.org/officeDocument/2006/relationships/image" Target="../media/image32.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tags" Target="../tags/tag29.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xml"/><Relationship Id="rId3" Type="http://schemas.openxmlformats.org/officeDocument/2006/relationships/tags" Target="../tags/tag30.xml"/><Relationship Id="rId2" Type="http://schemas.openxmlformats.org/officeDocument/2006/relationships/image" Target="../media/image34.png"/><Relationship Id="rId1" Type="http://schemas.openxmlformats.org/officeDocument/2006/relationships/image" Target="../media/image33.png"/></Relationships>
</file>

<file path=ppt/slides/_rels/slide13.xml.rels><?xml version="1.0" encoding="UTF-8" standalone="yes"?>
<Relationships xmlns="http://schemas.openxmlformats.org/package/2006/relationships"><Relationship Id="rId9" Type="http://schemas.openxmlformats.org/officeDocument/2006/relationships/notesSlide" Target="../notesSlides/notesSlide13.xml"/><Relationship Id="rId8" Type="http://schemas.openxmlformats.org/officeDocument/2006/relationships/vmlDrawing" Target="../drawings/vmlDrawing6.vml"/><Relationship Id="rId7" Type="http://schemas.openxmlformats.org/officeDocument/2006/relationships/slideLayout" Target="../slideLayouts/slideLayout1.xml"/><Relationship Id="rId6" Type="http://schemas.openxmlformats.org/officeDocument/2006/relationships/tags" Target="../tags/tag31.xml"/><Relationship Id="rId5" Type="http://schemas.openxmlformats.org/officeDocument/2006/relationships/image" Target="../media/image37.wmf"/><Relationship Id="rId4" Type="http://schemas.openxmlformats.org/officeDocument/2006/relationships/oleObject" Target="../embeddings/oleObject30.bin"/><Relationship Id="rId3" Type="http://schemas.openxmlformats.org/officeDocument/2006/relationships/image" Target="../media/image36.png"/><Relationship Id="rId2" Type="http://schemas.openxmlformats.org/officeDocument/2006/relationships/image" Target="../media/image35.wmf"/><Relationship Id="rId1" Type="http://schemas.openxmlformats.org/officeDocument/2006/relationships/oleObject" Target="../embeddings/oleObject29.bin"/></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vmlDrawing" Target="../drawings/vmlDrawing7.vml"/><Relationship Id="rId6" Type="http://schemas.openxmlformats.org/officeDocument/2006/relationships/slideLayout" Target="../slideLayouts/slideLayout1.xml"/><Relationship Id="rId5" Type="http://schemas.openxmlformats.org/officeDocument/2006/relationships/tags" Target="../tags/tag32.xml"/><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37.wmf"/><Relationship Id="rId1" Type="http://schemas.openxmlformats.org/officeDocument/2006/relationships/oleObject" Target="../embeddings/oleObject31.bin"/></Relationships>
</file>

<file path=ppt/slides/_rels/slide15.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image" Target="../media/image43.wmf"/><Relationship Id="rId7" Type="http://schemas.openxmlformats.org/officeDocument/2006/relationships/oleObject" Target="../embeddings/oleObject34.bin"/><Relationship Id="rId6" Type="http://schemas.openxmlformats.org/officeDocument/2006/relationships/image" Target="../media/image42.wmf"/><Relationship Id="rId5" Type="http://schemas.openxmlformats.org/officeDocument/2006/relationships/oleObject" Target="../embeddings/oleObject33.bin"/><Relationship Id="rId4" Type="http://schemas.openxmlformats.org/officeDocument/2006/relationships/image" Target="../media/image41.wmf"/><Relationship Id="rId3" Type="http://schemas.openxmlformats.org/officeDocument/2006/relationships/oleObject" Target="../embeddings/oleObject32.bin"/><Relationship Id="rId2" Type="http://schemas.openxmlformats.org/officeDocument/2006/relationships/image" Target="../media/image6.png"/><Relationship Id="rId12" Type="http://schemas.openxmlformats.org/officeDocument/2006/relationships/notesSlide" Target="../notesSlides/notesSlide15.xml"/><Relationship Id="rId11" Type="http://schemas.openxmlformats.org/officeDocument/2006/relationships/vmlDrawing" Target="../drawings/vmlDrawing8.vml"/><Relationship Id="rId10" Type="http://schemas.openxmlformats.org/officeDocument/2006/relationships/slideLayout" Target="../slideLayouts/slideLayout1.xml"/><Relationship Id="rId1" Type="http://schemas.openxmlformats.org/officeDocument/2006/relationships/image" Target="../media/image40.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tags" Target="../tags/tag34.xml"/><Relationship Id="rId1" Type="http://schemas.openxmlformats.org/officeDocument/2006/relationships/image" Target="../media/image44.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tags" Target="../tags/tag35.xml"/><Relationship Id="rId1" Type="http://schemas.openxmlformats.org/officeDocument/2006/relationships/image" Target="../media/image45.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tags" Target="../tags/tag36.xml"/><Relationship Id="rId1" Type="http://schemas.openxmlformats.org/officeDocument/2006/relationships/image" Target="../media/image46.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tags" Target="../tags/tag37.xml"/><Relationship Id="rId1" Type="http://schemas.openxmlformats.org/officeDocument/2006/relationships/image" Target="../media/image47.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tags" Target="../tags/tag38.xml"/><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21.xml"/><Relationship Id="rId6" Type="http://schemas.openxmlformats.org/officeDocument/2006/relationships/vmlDrawing" Target="../drawings/vmlDrawing9.vml"/><Relationship Id="rId5" Type="http://schemas.openxmlformats.org/officeDocument/2006/relationships/slideLayout" Target="../slideLayouts/slideLayout1.xml"/><Relationship Id="rId4" Type="http://schemas.openxmlformats.org/officeDocument/2006/relationships/tags" Target="../tags/tag39.xml"/><Relationship Id="rId3" Type="http://schemas.openxmlformats.org/officeDocument/2006/relationships/image" Target="../media/image48.png"/><Relationship Id="rId2" Type="http://schemas.openxmlformats.org/officeDocument/2006/relationships/image" Target="../media/image10.wmf"/><Relationship Id="rId1" Type="http://schemas.openxmlformats.org/officeDocument/2006/relationships/oleObject" Target="../embeddings/oleObject35.bin"/></Relationships>
</file>

<file path=ppt/slides/_rels/slide22.xml.rels><?xml version="1.0" encoding="UTF-8" standalone="yes"?>
<Relationships xmlns="http://schemas.openxmlformats.org/package/2006/relationships"><Relationship Id="rId9" Type="http://schemas.openxmlformats.org/officeDocument/2006/relationships/oleObject" Target="../embeddings/oleObject40.bin"/><Relationship Id="rId8" Type="http://schemas.openxmlformats.org/officeDocument/2006/relationships/image" Target="../media/image51.wmf"/><Relationship Id="rId7" Type="http://schemas.openxmlformats.org/officeDocument/2006/relationships/oleObject" Target="../embeddings/oleObject39.bin"/><Relationship Id="rId6" Type="http://schemas.openxmlformats.org/officeDocument/2006/relationships/image" Target="../media/image50.wmf"/><Relationship Id="rId5" Type="http://schemas.openxmlformats.org/officeDocument/2006/relationships/oleObject" Target="../embeddings/oleObject38.bin"/><Relationship Id="rId4" Type="http://schemas.openxmlformats.org/officeDocument/2006/relationships/image" Target="../media/image49.wmf"/><Relationship Id="rId3" Type="http://schemas.openxmlformats.org/officeDocument/2006/relationships/oleObject" Target="../embeddings/oleObject37.bin"/><Relationship Id="rId2" Type="http://schemas.openxmlformats.org/officeDocument/2006/relationships/image" Target="../media/image10.wmf"/><Relationship Id="rId15" Type="http://schemas.openxmlformats.org/officeDocument/2006/relationships/notesSlide" Target="../notesSlides/notesSlide22.xml"/><Relationship Id="rId14" Type="http://schemas.openxmlformats.org/officeDocument/2006/relationships/vmlDrawing" Target="../drawings/vmlDrawing10.vml"/><Relationship Id="rId13" Type="http://schemas.openxmlformats.org/officeDocument/2006/relationships/slideLayout" Target="../slideLayouts/slideLayout1.xml"/><Relationship Id="rId12" Type="http://schemas.openxmlformats.org/officeDocument/2006/relationships/tags" Target="../tags/tag40.xml"/><Relationship Id="rId11" Type="http://schemas.openxmlformats.org/officeDocument/2006/relationships/image" Target="../media/image7.png"/><Relationship Id="rId10" Type="http://schemas.openxmlformats.org/officeDocument/2006/relationships/image" Target="../media/image52.wmf"/><Relationship Id="rId1" Type="http://schemas.openxmlformats.org/officeDocument/2006/relationships/oleObject" Target="../embeddings/oleObject36.bin"/></Relationships>
</file>

<file path=ppt/slides/_rels/slide23.xml.rels><?xml version="1.0" encoding="UTF-8" standalone="yes"?>
<Relationships xmlns="http://schemas.openxmlformats.org/package/2006/relationships"><Relationship Id="rId9" Type="http://schemas.openxmlformats.org/officeDocument/2006/relationships/notesSlide" Target="../notesSlides/notesSlide23.xml"/><Relationship Id="rId8" Type="http://schemas.openxmlformats.org/officeDocument/2006/relationships/vmlDrawing" Target="../drawings/vmlDrawing11.vml"/><Relationship Id="rId7" Type="http://schemas.openxmlformats.org/officeDocument/2006/relationships/slideLayout" Target="../slideLayouts/slideLayout1.xml"/><Relationship Id="rId6" Type="http://schemas.openxmlformats.org/officeDocument/2006/relationships/tags" Target="../tags/tag41.xml"/><Relationship Id="rId5" Type="http://schemas.openxmlformats.org/officeDocument/2006/relationships/image" Target="../media/image55.png"/><Relationship Id="rId4" Type="http://schemas.openxmlformats.org/officeDocument/2006/relationships/image" Target="../media/image54.png"/><Relationship Id="rId3" Type="http://schemas.openxmlformats.org/officeDocument/2006/relationships/image" Target="../media/image53.png"/><Relationship Id="rId2" Type="http://schemas.openxmlformats.org/officeDocument/2006/relationships/image" Target="../media/image10.wmf"/><Relationship Id="rId1" Type="http://schemas.openxmlformats.org/officeDocument/2006/relationships/oleObject" Target="../embeddings/oleObject41.bin"/></Relationships>
</file>

<file path=ppt/slides/_rels/slide24.xml.rels><?xml version="1.0" encoding="UTF-8" standalone="yes"?>
<Relationships xmlns="http://schemas.openxmlformats.org/package/2006/relationships"><Relationship Id="rId9" Type="http://schemas.openxmlformats.org/officeDocument/2006/relationships/notesSlide" Target="../notesSlides/notesSlide24.xml"/><Relationship Id="rId8" Type="http://schemas.openxmlformats.org/officeDocument/2006/relationships/vmlDrawing" Target="../drawings/vmlDrawing12.vml"/><Relationship Id="rId7" Type="http://schemas.openxmlformats.org/officeDocument/2006/relationships/slideLayout" Target="../slideLayouts/slideLayout1.xml"/><Relationship Id="rId6" Type="http://schemas.openxmlformats.org/officeDocument/2006/relationships/tags" Target="../tags/tag42.xml"/><Relationship Id="rId5" Type="http://schemas.openxmlformats.org/officeDocument/2006/relationships/image" Target="../media/image58.wmf"/><Relationship Id="rId4" Type="http://schemas.openxmlformats.org/officeDocument/2006/relationships/oleObject" Target="../embeddings/oleObject43.bin"/><Relationship Id="rId3" Type="http://schemas.openxmlformats.org/officeDocument/2006/relationships/image" Target="../media/image57.wmf"/><Relationship Id="rId2" Type="http://schemas.openxmlformats.org/officeDocument/2006/relationships/oleObject" Target="../embeddings/oleObject42.bin"/><Relationship Id="rId1" Type="http://schemas.openxmlformats.org/officeDocument/2006/relationships/image" Target="../media/image56.png"/></Relationships>
</file>

<file path=ppt/slides/_rels/slide25.xml.rels><?xml version="1.0" encoding="UTF-8" standalone="yes"?>
<Relationships xmlns="http://schemas.openxmlformats.org/package/2006/relationships"><Relationship Id="rId9" Type="http://schemas.openxmlformats.org/officeDocument/2006/relationships/oleObject" Target="../embeddings/oleObject47.bin"/><Relationship Id="rId8" Type="http://schemas.openxmlformats.org/officeDocument/2006/relationships/image" Target="../media/image63.wmf"/><Relationship Id="rId7" Type="http://schemas.openxmlformats.org/officeDocument/2006/relationships/oleObject" Target="../embeddings/oleObject46.bin"/><Relationship Id="rId6" Type="http://schemas.openxmlformats.org/officeDocument/2006/relationships/image" Target="../media/image62.wmf"/><Relationship Id="rId5" Type="http://schemas.openxmlformats.org/officeDocument/2006/relationships/oleObject" Target="../embeddings/oleObject45.bin"/><Relationship Id="rId4" Type="http://schemas.openxmlformats.org/officeDocument/2006/relationships/image" Target="../media/image61.wmf"/><Relationship Id="rId3" Type="http://schemas.openxmlformats.org/officeDocument/2006/relationships/oleObject" Target="../embeddings/oleObject44.bin"/><Relationship Id="rId2" Type="http://schemas.openxmlformats.org/officeDocument/2006/relationships/image" Target="../media/image60.png"/><Relationship Id="rId16" Type="http://schemas.openxmlformats.org/officeDocument/2006/relationships/notesSlide" Target="../notesSlides/notesSlide25.xml"/><Relationship Id="rId15" Type="http://schemas.openxmlformats.org/officeDocument/2006/relationships/vmlDrawing" Target="../drawings/vmlDrawing13.vml"/><Relationship Id="rId14" Type="http://schemas.openxmlformats.org/officeDocument/2006/relationships/slideLayout" Target="../slideLayouts/slideLayout1.xml"/><Relationship Id="rId13" Type="http://schemas.openxmlformats.org/officeDocument/2006/relationships/tags" Target="../tags/tag43.xml"/><Relationship Id="rId12" Type="http://schemas.openxmlformats.org/officeDocument/2006/relationships/image" Target="../media/image65.wmf"/><Relationship Id="rId11" Type="http://schemas.openxmlformats.org/officeDocument/2006/relationships/oleObject" Target="../embeddings/oleObject48.bin"/><Relationship Id="rId10" Type="http://schemas.openxmlformats.org/officeDocument/2006/relationships/image" Target="../media/image64.wmf"/><Relationship Id="rId1" Type="http://schemas.openxmlformats.org/officeDocument/2006/relationships/image" Target="../media/image59.png"/></Relationships>
</file>

<file path=ppt/slides/_rels/slide26.xml.rels><?xml version="1.0" encoding="UTF-8" standalone="yes"?>
<Relationships xmlns="http://schemas.openxmlformats.org/package/2006/relationships"><Relationship Id="rId9" Type="http://schemas.openxmlformats.org/officeDocument/2006/relationships/image" Target="../media/image70.wmf"/><Relationship Id="rId8" Type="http://schemas.openxmlformats.org/officeDocument/2006/relationships/oleObject" Target="../embeddings/oleObject52.bin"/><Relationship Id="rId7" Type="http://schemas.openxmlformats.org/officeDocument/2006/relationships/image" Target="../media/image69.wmf"/><Relationship Id="rId6" Type="http://schemas.openxmlformats.org/officeDocument/2006/relationships/oleObject" Target="../embeddings/oleObject51.bin"/><Relationship Id="rId5" Type="http://schemas.openxmlformats.org/officeDocument/2006/relationships/image" Target="../media/image68.wmf"/><Relationship Id="rId4" Type="http://schemas.openxmlformats.org/officeDocument/2006/relationships/oleObject" Target="../embeddings/oleObject50.bin"/><Relationship Id="rId3" Type="http://schemas.openxmlformats.org/officeDocument/2006/relationships/image" Target="../media/image67.wmf"/><Relationship Id="rId2" Type="http://schemas.openxmlformats.org/officeDocument/2006/relationships/oleObject" Target="../embeddings/oleObject49.bin"/><Relationship Id="rId19" Type="http://schemas.openxmlformats.org/officeDocument/2006/relationships/notesSlide" Target="../notesSlides/notesSlide26.xml"/><Relationship Id="rId18" Type="http://schemas.openxmlformats.org/officeDocument/2006/relationships/vmlDrawing" Target="../drawings/vmlDrawing14.vml"/><Relationship Id="rId17" Type="http://schemas.openxmlformats.org/officeDocument/2006/relationships/slideLayout" Target="../slideLayouts/slideLayout1.xml"/><Relationship Id="rId16" Type="http://schemas.openxmlformats.org/officeDocument/2006/relationships/tags" Target="../tags/tag44.xml"/><Relationship Id="rId15" Type="http://schemas.openxmlformats.org/officeDocument/2006/relationships/image" Target="../media/image73.wmf"/><Relationship Id="rId14" Type="http://schemas.openxmlformats.org/officeDocument/2006/relationships/oleObject" Target="../embeddings/oleObject55.bin"/><Relationship Id="rId13" Type="http://schemas.openxmlformats.org/officeDocument/2006/relationships/image" Target="../media/image72.wmf"/><Relationship Id="rId12" Type="http://schemas.openxmlformats.org/officeDocument/2006/relationships/oleObject" Target="../embeddings/oleObject54.bin"/><Relationship Id="rId11" Type="http://schemas.openxmlformats.org/officeDocument/2006/relationships/image" Target="../media/image71.wmf"/><Relationship Id="rId10" Type="http://schemas.openxmlformats.org/officeDocument/2006/relationships/oleObject" Target="../embeddings/oleObject53.bin"/><Relationship Id="rId1" Type="http://schemas.openxmlformats.org/officeDocument/2006/relationships/image" Target="../media/image66.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xml"/><Relationship Id="rId2" Type="http://schemas.openxmlformats.org/officeDocument/2006/relationships/tags" Target="../tags/tag45.xml"/><Relationship Id="rId1" Type="http://schemas.openxmlformats.org/officeDocument/2006/relationships/image" Target="../media/image74.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xml"/><Relationship Id="rId2" Type="http://schemas.openxmlformats.org/officeDocument/2006/relationships/tags" Target="../tags/tag46.xml"/><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xml"/><Relationship Id="rId2" Type="http://schemas.openxmlformats.org/officeDocument/2006/relationships/tags" Target="../tags/tag47.xml"/><Relationship Id="rId1" Type="http://schemas.openxmlformats.org/officeDocument/2006/relationships/image" Target="../media/image75.png"/></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1.xml"/><Relationship Id="rId3" Type="http://schemas.openxmlformats.org/officeDocument/2006/relationships/tags" Target="../tags/tag48.xml"/><Relationship Id="rId2" Type="http://schemas.openxmlformats.org/officeDocument/2006/relationships/image" Target="../media/image76.png"/><Relationship Id="rId1" Type="http://schemas.openxmlformats.org/officeDocument/2006/relationships/image" Target="../media/image75.png"/></Relationships>
</file>

<file path=ppt/slides/_rels/slide31.xml.rels><?xml version="1.0" encoding="UTF-8" standalone="yes"?>
<Relationships xmlns="http://schemas.openxmlformats.org/package/2006/relationships"><Relationship Id="rId7" Type="http://schemas.openxmlformats.org/officeDocument/2006/relationships/notesSlide" Target="../notesSlides/notesSlide31.xml"/><Relationship Id="rId6" Type="http://schemas.openxmlformats.org/officeDocument/2006/relationships/vmlDrawing" Target="../drawings/vmlDrawing15.vml"/><Relationship Id="rId5" Type="http://schemas.openxmlformats.org/officeDocument/2006/relationships/slideLayout" Target="../slideLayouts/slideLayout1.xml"/><Relationship Id="rId4" Type="http://schemas.openxmlformats.org/officeDocument/2006/relationships/tags" Target="../tags/tag49.xml"/><Relationship Id="rId3" Type="http://schemas.openxmlformats.org/officeDocument/2006/relationships/image" Target="../media/image78.wmf"/><Relationship Id="rId2" Type="http://schemas.openxmlformats.org/officeDocument/2006/relationships/oleObject" Target="../embeddings/oleObject56.bin"/><Relationship Id="rId1" Type="http://schemas.openxmlformats.org/officeDocument/2006/relationships/image" Target="../media/image77.png"/></Relationships>
</file>

<file path=ppt/slides/_rels/slide32.xml.rels><?xml version="1.0" encoding="UTF-8" standalone="yes"?>
<Relationships xmlns="http://schemas.openxmlformats.org/package/2006/relationships"><Relationship Id="rId9" Type="http://schemas.openxmlformats.org/officeDocument/2006/relationships/oleObject" Target="../embeddings/oleObject61.bin"/><Relationship Id="rId8" Type="http://schemas.openxmlformats.org/officeDocument/2006/relationships/image" Target="../media/image82.wmf"/><Relationship Id="rId7" Type="http://schemas.openxmlformats.org/officeDocument/2006/relationships/oleObject" Target="../embeddings/oleObject60.bin"/><Relationship Id="rId6" Type="http://schemas.openxmlformats.org/officeDocument/2006/relationships/image" Target="../media/image81.wmf"/><Relationship Id="rId5" Type="http://schemas.openxmlformats.org/officeDocument/2006/relationships/oleObject" Target="../embeddings/oleObject59.bin"/><Relationship Id="rId4" Type="http://schemas.openxmlformats.org/officeDocument/2006/relationships/image" Target="../media/image80.wmf"/><Relationship Id="rId34" Type="http://schemas.openxmlformats.org/officeDocument/2006/relationships/notesSlide" Target="../notesSlides/notesSlide32.xml"/><Relationship Id="rId33" Type="http://schemas.openxmlformats.org/officeDocument/2006/relationships/vmlDrawing" Target="../drawings/vmlDrawing16.vml"/><Relationship Id="rId32" Type="http://schemas.openxmlformats.org/officeDocument/2006/relationships/slideLayout" Target="../slideLayouts/slideLayout1.xml"/><Relationship Id="rId31" Type="http://schemas.openxmlformats.org/officeDocument/2006/relationships/tags" Target="../tags/tag50.xml"/><Relationship Id="rId30" Type="http://schemas.openxmlformats.org/officeDocument/2006/relationships/image" Target="../media/image93.wmf"/><Relationship Id="rId3" Type="http://schemas.openxmlformats.org/officeDocument/2006/relationships/oleObject" Target="../embeddings/oleObject58.bin"/><Relationship Id="rId29" Type="http://schemas.openxmlformats.org/officeDocument/2006/relationships/oleObject" Target="../embeddings/oleObject71.bin"/><Relationship Id="rId28" Type="http://schemas.openxmlformats.org/officeDocument/2006/relationships/image" Target="../media/image92.wmf"/><Relationship Id="rId27" Type="http://schemas.openxmlformats.org/officeDocument/2006/relationships/oleObject" Target="../embeddings/oleObject70.bin"/><Relationship Id="rId26" Type="http://schemas.openxmlformats.org/officeDocument/2006/relationships/image" Target="../media/image91.wmf"/><Relationship Id="rId25" Type="http://schemas.openxmlformats.org/officeDocument/2006/relationships/oleObject" Target="../embeddings/oleObject69.bin"/><Relationship Id="rId24" Type="http://schemas.openxmlformats.org/officeDocument/2006/relationships/image" Target="../media/image90.wmf"/><Relationship Id="rId23" Type="http://schemas.openxmlformats.org/officeDocument/2006/relationships/oleObject" Target="../embeddings/oleObject68.bin"/><Relationship Id="rId22" Type="http://schemas.openxmlformats.org/officeDocument/2006/relationships/image" Target="../media/image89.wmf"/><Relationship Id="rId21" Type="http://schemas.openxmlformats.org/officeDocument/2006/relationships/oleObject" Target="../embeddings/oleObject67.bin"/><Relationship Id="rId20" Type="http://schemas.openxmlformats.org/officeDocument/2006/relationships/image" Target="../media/image88.wmf"/><Relationship Id="rId2" Type="http://schemas.openxmlformats.org/officeDocument/2006/relationships/image" Target="../media/image79.wmf"/><Relationship Id="rId19" Type="http://schemas.openxmlformats.org/officeDocument/2006/relationships/oleObject" Target="../embeddings/oleObject66.bin"/><Relationship Id="rId18" Type="http://schemas.openxmlformats.org/officeDocument/2006/relationships/image" Target="../media/image87.wmf"/><Relationship Id="rId17" Type="http://schemas.openxmlformats.org/officeDocument/2006/relationships/oleObject" Target="../embeddings/oleObject65.bin"/><Relationship Id="rId16" Type="http://schemas.openxmlformats.org/officeDocument/2006/relationships/image" Target="../media/image86.wmf"/><Relationship Id="rId15" Type="http://schemas.openxmlformats.org/officeDocument/2006/relationships/oleObject" Target="../embeddings/oleObject64.bin"/><Relationship Id="rId14" Type="http://schemas.openxmlformats.org/officeDocument/2006/relationships/image" Target="../media/image85.wmf"/><Relationship Id="rId13" Type="http://schemas.openxmlformats.org/officeDocument/2006/relationships/oleObject" Target="../embeddings/oleObject63.bin"/><Relationship Id="rId12" Type="http://schemas.openxmlformats.org/officeDocument/2006/relationships/image" Target="../media/image84.wmf"/><Relationship Id="rId11" Type="http://schemas.openxmlformats.org/officeDocument/2006/relationships/oleObject" Target="../embeddings/oleObject62.bin"/><Relationship Id="rId10" Type="http://schemas.openxmlformats.org/officeDocument/2006/relationships/image" Target="../media/image83.wmf"/><Relationship Id="rId1" Type="http://schemas.openxmlformats.org/officeDocument/2006/relationships/oleObject" Target="../embeddings/oleObject57.bin"/></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xml"/><Relationship Id="rId2" Type="http://schemas.openxmlformats.org/officeDocument/2006/relationships/tags" Target="../tags/tag51.xml"/><Relationship Id="rId1" Type="http://schemas.openxmlformats.org/officeDocument/2006/relationships/image" Target="../media/image8.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tags" Target="../tags/tag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7" name="矩形 16"/>
          <p:cNvSpPr/>
          <p:nvPr/>
        </p:nvSpPr>
        <p:spPr>
          <a:xfrm>
            <a:off x="1621753" y="3328538"/>
            <a:ext cx="8948494" cy="737235"/>
          </a:xfrm>
          <a:prstGeom prst="rect">
            <a:avLst/>
          </a:prstGeom>
        </p:spPr>
        <p:txBody>
          <a:bodyPr wrap="square">
            <a:spAutoFit/>
          </a:bodyPr>
          <a:lstStyle/>
          <a:p>
            <a:pPr algn="ctr">
              <a:lnSpc>
                <a:spcPct val="150000"/>
              </a:lnSpc>
              <a:defRPr/>
            </a:pP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第</a:t>
            </a:r>
            <a:r>
              <a:rPr lang="en-US" altLang="zh-CN"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6</a:t>
            </a: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章</a:t>
            </a:r>
            <a:r>
              <a:rPr lang="en-US" altLang="zh-CN"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    </a:t>
            </a: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深度分类器</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19" name="矩形 18"/>
          <p:cNvSpPr/>
          <p:nvPr/>
        </p:nvSpPr>
        <p:spPr>
          <a:xfrm>
            <a:off x="2912110" y="2776220"/>
            <a:ext cx="6367780" cy="368300"/>
          </a:xfrm>
          <a:prstGeom prst="rect">
            <a:avLst/>
          </a:prstGeom>
        </p:spPr>
        <p:txBody>
          <a:bodyPr wrap="square">
            <a:spAutoFit/>
          </a:bodyPr>
          <a:lstStyle/>
          <a:p>
            <a:pPr algn="dist"/>
            <a:r>
              <a:rPr lang="en-US" altLang="zh-CN"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Pattern Recognition and Data Mining</a:t>
            </a:r>
            <a:endParaRPr lang="en-US" altLang="zh-CN"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8" name="矩形 27"/>
          <p:cNvSpPr/>
          <p:nvPr/>
        </p:nvSpPr>
        <p:spPr>
          <a:xfrm>
            <a:off x="1520327" y="1743492"/>
            <a:ext cx="9151347" cy="1106805"/>
          </a:xfrm>
          <a:prstGeom prst="rect">
            <a:avLst/>
          </a:prstGeom>
        </p:spPr>
        <p:txBody>
          <a:bodyPr wrap="square">
            <a:spAutoFit/>
          </a:bodyPr>
          <a:lstStyle/>
          <a:p>
            <a:pPr algn="ctr"/>
            <a:r>
              <a:rPr lang="zh-CN" altLang="en-US" sz="6600" dirty="0">
                <a:solidFill>
                  <a:srgbClr val="00568A"/>
                </a:solidFill>
                <a:latin typeface="思源黑体 CN Regular" panose="020B0500000000000000" charset="-122"/>
                <a:ea typeface="思源黑体 CN Regular" panose="020B0500000000000000" charset="-122"/>
                <a:cs typeface="+mn-ea"/>
                <a:sym typeface="+mn-lt"/>
              </a:rPr>
              <a:t>模式识别与数据挖掘</a:t>
            </a:r>
            <a:endParaRPr lang="zh-CN" altLang="en-US" sz="6600" dirty="0">
              <a:solidFill>
                <a:srgbClr val="00568A"/>
              </a:solidFill>
              <a:latin typeface="思源黑体 CN Regular" panose="020B0500000000000000" charset="-122"/>
              <a:ea typeface="思源黑体 CN Regular" panose="020B0500000000000000" charset="-122"/>
              <a:cs typeface="+mn-ea"/>
              <a:sym typeface="+mn-lt"/>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0" y="0"/>
            <a:ext cx="12192000" cy="6858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grpSp>
        <p:nvGrpSpPr>
          <p:cNvPr id="29" name="组合 28"/>
          <p:cNvGrpSpPr/>
          <p:nvPr/>
        </p:nvGrpSpPr>
        <p:grpSpPr>
          <a:xfrm>
            <a:off x="1001337" y="2483266"/>
            <a:ext cx="2462530" cy="1322704"/>
            <a:chOff x="1873898" y="1323128"/>
            <a:chExt cx="1670063" cy="897045"/>
          </a:xfrm>
        </p:grpSpPr>
        <p:sp>
          <p:nvSpPr>
            <p:cNvPr id="30" name="椭圆 29"/>
            <p:cNvSpPr/>
            <p:nvPr/>
          </p:nvSpPr>
          <p:spPr>
            <a:xfrm>
              <a:off x="2123668" y="1323128"/>
              <a:ext cx="512352" cy="512352"/>
            </a:xfrm>
            <a:prstGeom prst="ellipse">
              <a:avLst/>
            </a:prstGeom>
            <a:solidFill>
              <a:srgbClr val="00568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solidFill>
                    <a:schemeClr val="bg1"/>
                  </a:solidFill>
                  <a:latin typeface="思源黑体 CN Regular" panose="020B0500000000000000" charset="-122"/>
                  <a:ea typeface="思源黑体 CN Regular" panose="020B0500000000000000" charset="-122"/>
                  <a:cs typeface="+mn-ea"/>
                  <a:sym typeface="Arial" panose="020B0604020202020204" pitchFamily="34" charset="0"/>
                </a:rPr>
                <a:t>目</a:t>
              </a:r>
              <a:endParaRPr lang="zh-CN" altLang="en-US" sz="4000" dirty="0">
                <a:solidFill>
                  <a:schemeClr val="bg1"/>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1" name="椭圆 30"/>
            <p:cNvSpPr/>
            <p:nvPr/>
          </p:nvSpPr>
          <p:spPr>
            <a:xfrm>
              <a:off x="2636020" y="1323128"/>
              <a:ext cx="512352" cy="512352"/>
            </a:xfrm>
            <a:prstGeom prst="ellipse">
              <a:avLst/>
            </a:prstGeom>
            <a:solidFill>
              <a:srgbClr val="00568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solidFill>
                    <a:schemeClr val="bg1"/>
                  </a:solidFill>
                  <a:latin typeface="思源黑体 CN Regular" panose="020B0500000000000000" charset="-122"/>
                  <a:ea typeface="思源黑体 CN Regular" panose="020B0500000000000000" charset="-122"/>
                  <a:cs typeface="+mn-ea"/>
                  <a:sym typeface="Arial" panose="020B0604020202020204" pitchFamily="34" charset="0"/>
                </a:rPr>
                <a:t>录</a:t>
              </a:r>
              <a:endParaRPr lang="zh-CN" altLang="en-US" sz="4000" dirty="0">
                <a:solidFill>
                  <a:schemeClr val="bg1"/>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2" name="矩形 31"/>
            <p:cNvSpPr/>
            <p:nvPr/>
          </p:nvSpPr>
          <p:spPr>
            <a:xfrm>
              <a:off x="1873898" y="1740859"/>
              <a:ext cx="1670063" cy="479314"/>
            </a:xfrm>
            <a:prstGeom prst="rect">
              <a:avLst/>
            </a:prstGeom>
          </p:spPr>
          <p:txBody>
            <a:bodyPr vert="horz" wrap="square">
              <a:spAutoFit/>
            </a:bodyPr>
            <a:lstStyle/>
            <a:p>
              <a:r>
                <a:rPr lang="zh-CN" altLang="en-US" sz="4000"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Contents</a:t>
              </a:r>
              <a:endParaRPr lang="zh-CN" altLang="en-US" sz="4000"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grpSp>
      <p:sp>
        <p:nvSpPr>
          <p:cNvPr id="33" name="文本框"/>
          <p:cNvSpPr/>
          <p:nvPr>
            <p:custDataLst>
              <p:tags r:id="rId2"/>
            </p:custDataLst>
          </p:nvPr>
        </p:nvSpPr>
        <p:spPr>
          <a:xfrm>
            <a:off x="4766945" y="1414780"/>
            <a:ext cx="3765608" cy="521970"/>
          </a:xfrm>
          <a:prstGeom prst="rect">
            <a:avLst/>
          </a:prstGeom>
        </p:spPr>
        <p:txBody>
          <a:bodyPr wrap="square">
            <a:spAutoFit/>
          </a:bodyPr>
          <a:lstStyle/>
          <a:p>
            <a:pPr lvl="0" algn="l">
              <a:buClrTx/>
              <a:buSzTx/>
              <a:buFontTx/>
            </a:pP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引言</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4" name="矩形 33"/>
          <p:cNvSpPr/>
          <p:nvPr>
            <p:custDataLst>
              <p:tags r:id="rId3"/>
            </p:custDataLst>
          </p:nvPr>
        </p:nvSpPr>
        <p:spPr>
          <a:xfrm flipH="1">
            <a:off x="4766945" y="1845648"/>
            <a:ext cx="3550472" cy="300990"/>
          </a:xfrm>
          <a:prstGeom prst="rect">
            <a:avLst/>
          </a:prstGeom>
        </p:spPr>
        <p:txBody>
          <a:bodyPr wrap="square">
            <a:spAutoFit/>
          </a:bodyPr>
          <a:lstStyle/>
          <a:p>
            <a:pPr lvl="0">
              <a:lnSpc>
                <a:spcPct val="130000"/>
              </a:lnSpc>
              <a:defRPr/>
            </a:pPr>
            <a:r>
              <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Introduction</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5" name="文本框"/>
          <p:cNvSpPr/>
          <p:nvPr>
            <p:custDataLst>
              <p:tags r:id="rId4"/>
            </p:custDataLst>
          </p:nvPr>
        </p:nvSpPr>
        <p:spPr>
          <a:xfrm>
            <a:off x="4766945" y="2515891"/>
            <a:ext cx="3765608" cy="521970"/>
          </a:xfrm>
          <a:prstGeom prst="rect">
            <a:avLst/>
          </a:prstGeom>
        </p:spPr>
        <p:txBody>
          <a:bodyPr wrap="square">
            <a:spAutoFit/>
          </a:bodyPr>
          <a:lstStyle/>
          <a:p>
            <a:pPr lvl="0"/>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深度自编码网络</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6" name="矩形 35"/>
          <p:cNvSpPr/>
          <p:nvPr>
            <p:custDataLst>
              <p:tags r:id="rId5"/>
            </p:custDataLst>
          </p:nvPr>
        </p:nvSpPr>
        <p:spPr>
          <a:xfrm flipH="1">
            <a:off x="4766945" y="2946759"/>
            <a:ext cx="3550472" cy="285271"/>
          </a:xfrm>
          <a:prstGeom prst="rect">
            <a:avLst/>
          </a:prstGeom>
        </p:spPr>
        <p:txBody>
          <a:bodyPr wrap="square">
            <a:spAutoFit/>
          </a:bodyPr>
          <a:lstStyle/>
          <a:p>
            <a:pPr lvl="0">
              <a:lnSpc>
                <a:spcPct val="130000"/>
              </a:lnSpc>
              <a:defRPr/>
            </a:pPr>
            <a:r>
              <a:rPr lang="en-US" altLang="zh-CN" sz="1050"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Deep autoencoder network</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7" name="文本框"/>
          <p:cNvSpPr/>
          <p:nvPr>
            <p:custDataLst>
              <p:tags r:id="rId6"/>
            </p:custDataLst>
          </p:nvPr>
        </p:nvSpPr>
        <p:spPr>
          <a:xfrm>
            <a:off x="4766945" y="3617002"/>
            <a:ext cx="3765608" cy="521970"/>
          </a:xfrm>
          <a:prstGeom prst="rect">
            <a:avLst/>
          </a:prstGeom>
        </p:spPr>
        <p:txBody>
          <a:bodyPr wrap="square">
            <a:spAutoFit/>
          </a:bodyPr>
          <a:lstStyle/>
          <a:p>
            <a:pPr lvl="0"/>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深度卷积神经网络</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8" name="矩形 37"/>
          <p:cNvSpPr/>
          <p:nvPr>
            <p:custDataLst>
              <p:tags r:id="rId7"/>
            </p:custDataLst>
          </p:nvPr>
        </p:nvSpPr>
        <p:spPr>
          <a:xfrm flipH="1">
            <a:off x="4766945" y="4047870"/>
            <a:ext cx="3550472" cy="285271"/>
          </a:xfrm>
          <a:prstGeom prst="rect">
            <a:avLst/>
          </a:prstGeom>
        </p:spPr>
        <p:txBody>
          <a:bodyPr wrap="square">
            <a:spAutoFit/>
          </a:bodyPr>
          <a:lstStyle/>
          <a:p>
            <a:pPr lvl="0">
              <a:lnSpc>
                <a:spcPct val="130000"/>
              </a:lnSpc>
              <a:defRPr/>
            </a:pPr>
            <a:r>
              <a:rPr lang="en-US" altLang="zh-CN" sz="1050"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Deep Convolutional Neural Network</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9" name="文本框"/>
          <p:cNvSpPr/>
          <p:nvPr>
            <p:custDataLst>
              <p:tags r:id="rId8"/>
            </p:custDataLst>
          </p:nvPr>
        </p:nvSpPr>
        <p:spPr>
          <a:xfrm>
            <a:off x="4766945" y="4718112"/>
            <a:ext cx="3765608" cy="521970"/>
          </a:xfrm>
          <a:prstGeom prst="rect">
            <a:avLst/>
          </a:prstGeom>
        </p:spPr>
        <p:txBody>
          <a:bodyPr wrap="square">
            <a:spAutoFit/>
          </a:bodyPr>
          <a:lstStyle/>
          <a:p>
            <a:pPr lvl="0"/>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深度循环神经网络</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40" name="矩形 39"/>
          <p:cNvSpPr/>
          <p:nvPr>
            <p:custDataLst>
              <p:tags r:id="rId9"/>
            </p:custDataLst>
          </p:nvPr>
        </p:nvSpPr>
        <p:spPr>
          <a:xfrm flipH="1">
            <a:off x="4766945" y="5148980"/>
            <a:ext cx="3550472" cy="285271"/>
          </a:xfrm>
          <a:prstGeom prst="rect">
            <a:avLst/>
          </a:prstGeom>
        </p:spPr>
        <p:txBody>
          <a:bodyPr wrap="square">
            <a:spAutoFit/>
          </a:bodyPr>
          <a:lstStyle/>
          <a:p>
            <a:pPr lvl="0">
              <a:lnSpc>
                <a:spcPct val="130000"/>
              </a:lnSpc>
              <a:defRPr/>
            </a:pPr>
            <a:r>
              <a:rPr lang="en-US" altLang="zh-CN" sz="1050"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Deep Recurrent Neural Network</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41" name="椭圆 40"/>
          <p:cNvSpPr/>
          <p:nvPr>
            <p:custDataLst>
              <p:tags r:id="rId10"/>
            </p:custDataLst>
          </p:nvPr>
        </p:nvSpPr>
        <p:spPr>
          <a:xfrm>
            <a:off x="3970914" y="1414780"/>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01</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42" name="椭圆 41"/>
          <p:cNvSpPr/>
          <p:nvPr>
            <p:custDataLst>
              <p:tags r:id="rId11"/>
            </p:custDataLst>
          </p:nvPr>
        </p:nvSpPr>
        <p:spPr>
          <a:xfrm>
            <a:off x="3970914" y="2515891"/>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02</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43" name="椭圆 42"/>
          <p:cNvSpPr/>
          <p:nvPr>
            <p:custDataLst>
              <p:tags r:id="rId12"/>
            </p:custDataLst>
          </p:nvPr>
        </p:nvSpPr>
        <p:spPr>
          <a:xfrm>
            <a:off x="3970914" y="3617002"/>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03</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44" name="椭圆 43"/>
          <p:cNvSpPr/>
          <p:nvPr>
            <p:custDataLst>
              <p:tags r:id="rId13"/>
            </p:custDataLst>
          </p:nvPr>
        </p:nvSpPr>
        <p:spPr>
          <a:xfrm>
            <a:off x="3970914" y="4718112"/>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04</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文本框"/>
          <p:cNvSpPr/>
          <p:nvPr>
            <p:custDataLst>
              <p:tags r:id="rId14"/>
            </p:custDataLst>
          </p:nvPr>
        </p:nvSpPr>
        <p:spPr>
          <a:xfrm>
            <a:off x="8558895" y="2774589"/>
            <a:ext cx="3765608" cy="521970"/>
          </a:xfrm>
          <a:prstGeom prst="rect">
            <a:avLst/>
          </a:prstGeom>
        </p:spPr>
        <p:txBody>
          <a:bodyPr wrap="square">
            <a:spAutoFit/>
          </a:bodyPr>
          <a:lstStyle/>
          <a:p>
            <a:pPr lvl="0" algn="l">
              <a:buClrTx/>
              <a:buSzTx/>
              <a:buFontTx/>
            </a:pP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小节与讨论</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3" name="矩形 2"/>
          <p:cNvSpPr/>
          <p:nvPr>
            <p:custDataLst>
              <p:tags r:id="rId15"/>
            </p:custDataLst>
          </p:nvPr>
        </p:nvSpPr>
        <p:spPr>
          <a:xfrm flipH="1">
            <a:off x="8558895" y="3205457"/>
            <a:ext cx="3550472" cy="285271"/>
          </a:xfrm>
          <a:prstGeom prst="rect">
            <a:avLst/>
          </a:prstGeom>
        </p:spPr>
        <p:txBody>
          <a:bodyPr wrap="square">
            <a:spAutoFit/>
          </a:bodyPr>
          <a:lstStyle/>
          <a:p>
            <a:pPr lvl="0">
              <a:lnSpc>
                <a:spcPct val="130000"/>
              </a:lnSpc>
              <a:defRPr/>
            </a:pPr>
            <a:r>
              <a:rPr lang="en-US" altLang="zh-CN" sz="1050"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Summary and Discussion</a:t>
            </a:r>
            <a:endParaRPr lang="en-US" altLang="zh-CN" sz="1050"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12" name="椭圆 11"/>
          <p:cNvSpPr/>
          <p:nvPr>
            <p:custDataLst>
              <p:tags r:id="rId16"/>
            </p:custDataLst>
          </p:nvPr>
        </p:nvSpPr>
        <p:spPr>
          <a:xfrm>
            <a:off x="7762864" y="2774589"/>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06</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6" name="文本框"/>
          <p:cNvSpPr/>
          <p:nvPr>
            <p:custDataLst>
              <p:tags r:id="rId17"/>
            </p:custDataLst>
          </p:nvPr>
        </p:nvSpPr>
        <p:spPr>
          <a:xfrm>
            <a:off x="8558895" y="1678579"/>
            <a:ext cx="3765608" cy="521970"/>
          </a:xfrm>
          <a:prstGeom prst="rect">
            <a:avLst/>
          </a:prstGeom>
        </p:spPr>
        <p:txBody>
          <a:bodyPr wrap="square">
            <a:spAutoFit/>
          </a:bodyPr>
          <a:lstStyle/>
          <a:p>
            <a:pPr lvl="0" algn="l">
              <a:buClrTx/>
              <a:buSzTx/>
              <a:buFontTx/>
            </a:pPr>
            <a:r>
              <a:rPr lang="en-US" altLang="zh-CN"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Transformer</a:t>
            </a:r>
            <a:r>
              <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网络</a:t>
            </a:r>
            <a:endParaRPr lang="zh-CN" altLang="en-US" sz="2800" b="1"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17" name="矩形 16"/>
          <p:cNvSpPr/>
          <p:nvPr>
            <p:custDataLst>
              <p:tags r:id="rId18"/>
            </p:custDataLst>
          </p:nvPr>
        </p:nvSpPr>
        <p:spPr>
          <a:xfrm flipH="1">
            <a:off x="8558895" y="2109447"/>
            <a:ext cx="3550472" cy="285271"/>
          </a:xfrm>
          <a:prstGeom prst="rect">
            <a:avLst/>
          </a:prstGeom>
        </p:spPr>
        <p:txBody>
          <a:bodyPr wrap="square">
            <a:spAutoFit/>
          </a:bodyPr>
          <a:lstStyle/>
          <a:p>
            <a:pPr lvl="0">
              <a:lnSpc>
                <a:spcPct val="130000"/>
              </a:lnSpc>
              <a:defRPr/>
            </a:pPr>
            <a:r>
              <a:rPr lang="en-US" altLang="zh-CN" sz="1050"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Transformer network</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18" name="椭圆 17"/>
          <p:cNvSpPr/>
          <p:nvPr>
            <p:custDataLst>
              <p:tags r:id="rId19"/>
            </p:custDataLst>
          </p:nvPr>
        </p:nvSpPr>
        <p:spPr>
          <a:xfrm>
            <a:off x="7762864" y="1678579"/>
            <a:ext cx="647700" cy="647700"/>
          </a:xfrm>
          <a:prstGeom prst="ellipse">
            <a:avLst/>
          </a:prstGeom>
          <a:solidFill>
            <a:srgbClr val="006FA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05</a:t>
            </a:r>
            <a:endParaRPr lang="zh-CN" altLang="en-US"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20"/>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1106805"/>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引言</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01</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7056654" cy="450850"/>
          </a:xfrm>
          <a:prstGeom prst="rect">
            <a:avLst/>
          </a:prstGeom>
        </p:spPr>
        <p:txBody>
          <a:bodyPr wrap="square">
            <a:spAutoFit/>
          </a:bodyPr>
          <a:lstStyle/>
          <a:p>
            <a:pPr lvl="0" algn="ctr">
              <a:lnSpc>
                <a:spcPct val="130000"/>
              </a:lnSpc>
              <a:defRPr/>
            </a:pPr>
            <a:r>
              <a:rPr lang="en-US" altLang="zh-CN" noProof="0" dirty="0">
                <a:ln>
                  <a:noFill/>
                </a:ln>
                <a:solidFill>
                  <a:schemeClr val="tx1">
                    <a:lumMod val="85000"/>
                    <a:lumOff val="1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Introduction</a:t>
            </a:r>
            <a:endParaRPr lang="en-US" altLang="zh-CN"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545465" y="1041400"/>
            <a:ext cx="10951210" cy="1378585"/>
          </a:xfrm>
          <a:prstGeom prst="rect">
            <a:avLst/>
          </a:prstGeom>
          <a:noFill/>
        </p:spPr>
        <p:txBody>
          <a:bodyPr wrap="square" lIns="0" tIns="0" rIns="0" bIns="0" rtlCol="0" anchor="t">
            <a:noAutofit/>
          </a:bodyPr>
          <a:lstStyle/>
          <a:p>
            <a:pPr algn="l" defTabSz="1219200">
              <a:spcBef>
                <a:spcPct val="20000"/>
              </a:spcBef>
              <a:defRPr/>
            </a:pPr>
            <a:r>
              <a:rPr lang="zh-CN" altLang="en-US" b="1" dirty="0">
                <a:solidFill>
                  <a:srgbClr val="00568A"/>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浅层分类器</a:t>
            </a:r>
            <a:endParaRPr lang="zh-CN" altLang="en-US" b="1" dirty="0">
              <a:solidFill>
                <a:srgbClr val="00568A"/>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尽管结构简洁且具备良好的可解释性，但算法的表达能力与整体性能在很大程度上取决于特征工程的质量。此外，浅层分类器在处理高维数据</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例如图像、文本、语音</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、复杂模式以及大规模数据时存在明显的局限性。</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a:spcBef>
                <a:spcPct val="20000"/>
              </a:spcBef>
              <a:defRPr/>
            </a:pPr>
            <a:r>
              <a:rPr lang="zh-CN" altLang="en-US" sz="1600" b="1" dirty="0">
                <a:solidFill>
                  <a:srgbClr val="00568A"/>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深度分类器</a:t>
            </a:r>
            <a:endParaRPr lang="zh-CN" altLang="en-US" sz="1600" b="1" dirty="0">
              <a:solidFill>
                <a:srgbClr val="00568A"/>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自动从原始数据中提取多层次的特征</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从而摆脱对手工设计特征的依赖。这一特性显著提升了模型在分类任务中的灵活性与泛化能力</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使其在处理复杂、非线性问题时表现更为优越。</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深度分类器</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grpSp>
        <p:nvGrpSpPr>
          <p:cNvPr id="21" name="组合 20"/>
          <p:cNvGrpSpPr/>
          <p:nvPr/>
        </p:nvGrpSpPr>
        <p:grpSpPr>
          <a:xfrm>
            <a:off x="5743305" y="3484153"/>
            <a:ext cx="4883524" cy="2776733"/>
            <a:chOff x="6796770" y="2915193"/>
            <a:chExt cx="4883524" cy="2776733"/>
          </a:xfrm>
        </p:grpSpPr>
        <p:pic>
          <p:nvPicPr>
            <p:cNvPr id="22" name="图片 21"/>
            <p:cNvPicPr>
              <a:picLocks noChangeAspect="1"/>
            </p:cNvPicPr>
            <p:nvPr/>
          </p:nvPicPr>
          <p:blipFill>
            <a:blip r:embed="rId1"/>
            <a:stretch>
              <a:fillRect/>
            </a:stretch>
          </p:blipFill>
          <p:spPr>
            <a:xfrm>
              <a:off x="6796770" y="2915193"/>
              <a:ext cx="4883524" cy="2776733"/>
            </a:xfrm>
            <a:prstGeom prst="rect">
              <a:avLst/>
            </a:prstGeom>
          </p:spPr>
        </p:pic>
        <p:grpSp>
          <p:nvGrpSpPr>
            <p:cNvPr id="23" name="组合 22"/>
            <p:cNvGrpSpPr/>
            <p:nvPr/>
          </p:nvGrpSpPr>
          <p:grpSpPr>
            <a:xfrm>
              <a:off x="9083591" y="3108325"/>
              <a:ext cx="274320" cy="232318"/>
              <a:chOff x="9101371" y="3108325"/>
              <a:chExt cx="274320" cy="232318"/>
            </a:xfrm>
          </p:grpSpPr>
          <p:sp>
            <p:nvSpPr>
              <p:cNvPr id="24" name="矩形 23"/>
              <p:cNvSpPr/>
              <p:nvPr/>
            </p:nvSpPr>
            <p:spPr>
              <a:xfrm>
                <a:off x="9101371" y="3108325"/>
                <a:ext cx="274320" cy="232318"/>
              </a:xfrm>
              <a:prstGeom prst="rect">
                <a:avLst/>
              </a:prstGeom>
              <a:solidFill>
                <a:schemeClr val="bg1"/>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25" name="对象 24"/>
              <p:cNvGraphicFramePr>
                <a:graphicFrameLocks noChangeAspect="1"/>
              </p:cNvGraphicFramePr>
              <p:nvPr/>
            </p:nvGraphicFramePr>
            <p:xfrm>
              <a:off x="9174513" y="3148757"/>
              <a:ext cx="128035" cy="151454"/>
            </p:xfrm>
            <a:graphic>
              <a:graphicData uri="http://schemas.openxmlformats.org/presentationml/2006/ole">
                <mc:AlternateContent xmlns:mc="http://schemas.openxmlformats.org/markup-compatibility/2006">
                  <mc:Choice xmlns:v="urn:schemas-microsoft-com:vml" Requires="v">
                    <p:oleObj spid="_x0000_s26" name="Equation" r:id="rId2" imgW="3048000" imgH="3048000" progId="Equation.DSMT4">
                      <p:embed/>
                    </p:oleObj>
                  </mc:Choice>
                  <mc:Fallback>
                    <p:oleObj name="Equation" r:id="rId2" imgW="3048000" imgH="3048000" progId="Equation.DSMT4">
                      <p:embed/>
                      <p:pic>
                        <p:nvPicPr>
                          <p:cNvPr id="0" name="图片 25"/>
                          <p:cNvPicPr/>
                          <p:nvPr/>
                        </p:nvPicPr>
                        <p:blipFill>
                          <a:blip r:embed="rId3"/>
                          <a:stretch>
                            <a:fillRect/>
                          </a:stretch>
                        </p:blipFill>
                        <p:spPr>
                          <a:xfrm>
                            <a:off x="9174513" y="3148757"/>
                            <a:ext cx="128035" cy="151454"/>
                          </a:xfrm>
                          <a:prstGeom prst="rect">
                            <a:avLst/>
                          </a:prstGeom>
                        </p:spPr>
                      </p:pic>
                    </p:oleObj>
                  </mc:Fallback>
                </mc:AlternateContent>
              </a:graphicData>
            </a:graphic>
          </p:graphicFrame>
        </p:grpSp>
        <p:sp>
          <p:nvSpPr>
            <p:cNvPr id="27" name="右大括号 26"/>
            <p:cNvSpPr/>
            <p:nvPr/>
          </p:nvSpPr>
          <p:spPr>
            <a:xfrm rot="5400000">
              <a:off x="9178464" y="3310771"/>
              <a:ext cx="73143" cy="274319"/>
            </a:xfrm>
            <a:prstGeom prst="rightBrace">
              <a:avLst>
                <a:gd name="adj1" fmla="val 19140"/>
                <a:gd name="adj2" fmla="val 48419"/>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pic>
        <p:nvPicPr>
          <p:cNvPr id="28" name="图片 27"/>
          <p:cNvPicPr>
            <a:picLocks noChangeAspect="1"/>
          </p:cNvPicPr>
          <p:nvPr/>
        </p:nvPicPr>
        <p:blipFill>
          <a:blip r:embed="rId4"/>
          <a:stretch>
            <a:fillRect/>
          </a:stretch>
        </p:blipFill>
        <p:spPr>
          <a:xfrm>
            <a:off x="1821815" y="3677285"/>
            <a:ext cx="2616835" cy="2193290"/>
          </a:xfrm>
          <a:prstGeom prst="rect">
            <a:avLst/>
          </a:prstGeom>
        </p:spPr>
      </p:pic>
    </p:spTree>
    <p:custDataLst>
      <p:tags r:id="rId5"/>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545465" y="1260475"/>
            <a:ext cx="6730365" cy="4743450"/>
          </a:xfrm>
          <a:prstGeom prst="rect">
            <a:avLst/>
          </a:prstGeom>
          <a:noFill/>
        </p:spPr>
        <p:txBody>
          <a:bodyPr wrap="square" lIns="0" tIns="0" rIns="0" bIns="0" rtlCol="0" anchor="t">
            <a:noAutofit/>
          </a:bodyPr>
          <a:lstStyle/>
          <a:p>
            <a:pPr algn="l" defTabSz="1219200">
              <a:spcBef>
                <a:spcPct val="20000"/>
              </a:spcBef>
              <a:defRPr/>
            </a:pPr>
            <a:r>
              <a:rPr lang="zh-CN" altLang="en-US" b="1" dirty="0">
                <a:solidFill>
                  <a:srgbClr val="00568A"/>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深度自编码网络</a:t>
            </a:r>
            <a:endParaRPr lang="zh-CN" altLang="en-US" b="1" dirty="0">
              <a:solidFill>
                <a:srgbClr val="00568A"/>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通过编码器</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解码器结构无监督学习数据低维表征，重构损失驱动特征压缩，为分类器提供去噪且判别性强的潜在特征空间。</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a:spcBef>
                <a:spcPct val="20000"/>
              </a:spcBef>
              <a:defRPr/>
            </a:pPr>
            <a:r>
              <a:rPr lang="zh-CN" altLang="en-US" sz="1600" b="1" dirty="0">
                <a:solidFill>
                  <a:srgbClr val="00568A"/>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深度卷积神经网络</a:t>
            </a:r>
            <a:endParaRPr lang="zh-CN" altLang="en-US" sz="1600" b="1" dirty="0">
              <a:solidFill>
                <a:srgbClr val="00568A"/>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依托局部感受野、权值共享与池化操作逐层提取空间层次化特征，高效捕获图像局部模式与全局结构，奠定视觉分类的性能基石。</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a:spcBef>
                <a:spcPct val="20000"/>
              </a:spcBef>
              <a:defRPr/>
            </a:pPr>
            <a:r>
              <a:rPr lang="zh-CN" altLang="en-US" sz="1600" b="1" dirty="0">
                <a:solidFill>
                  <a:srgbClr val="00568A"/>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深度循环神经网络</a:t>
            </a:r>
            <a:endParaRPr lang="zh-CN" altLang="en-US" sz="1600" b="1" dirty="0">
              <a:solidFill>
                <a:srgbClr val="00568A"/>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借助循环连接与隐藏状态传递建模序列时序依赖，使分类器能够捕捉文本或信号中的上下文动态演化规律，适用于时序数据判别。</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a:spcBef>
                <a:spcPct val="20000"/>
              </a:spcBef>
              <a:defRPr/>
            </a:pPr>
            <a:r>
              <a:rPr lang="en-US" altLang="zh-CN" sz="1600" b="1" dirty="0">
                <a:solidFill>
                  <a:srgbClr val="00568A"/>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Transformer</a:t>
            </a:r>
            <a:r>
              <a:rPr lang="zh-CN" altLang="en-US" sz="1600" b="1" dirty="0">
                <a:solidFill>
                  <a:srgbClr val="00568A"/>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网络</a:t>
            </a:r>
            <a:endParaRPr lang="zh-CN" altLang="en-US" sz="1600" b="1" dirty="0">
              <a:solidFill>
                <a:srgbClr val="00568A"/>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基于自注意力机制并行建模序列元素间全局依赖关系，摒弃循环结构实现高效长程交互，显著提升跨模态与序列分类任务的表达能力。</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深度分类器</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grpSp>
        <p:nvGrpSpPr>
          <p:cNvPr id="21" name="组合 20"/>
          <p:cNvGrpSpPr/>
          <p:nvPr/>
        </p:nvGrpSpPr>
        <p:grpSpPr>
          <a:xfrm>
            <a:off x="8121650" y="789940"/>
            <a:ext cx="2830195" cy="1657985"/>
            <a:chOff x="6796770" y="2915193"/>
            <a:chExt cx="4883524" cy="2776733"/>
          </a:xfrm>
        </p:grpSpPr>
        <p:pic>
          <p:nvPicPr>
            <p:cNvPr id="22" name="图片 21"/>
            <p:cNvPicPr>
              <a:picLocks noChangeAspect="1"/>
            </p:cNvPicPr>
            <p:nvPr/>
          </p:nvPicPr>
          <p:blipFill>
            <a:blip r:embed="rId1"/>
            <a:stretch>
              <a:fillRect/>
            </a:stretch>
          </p:blipFill>
          <p:spPr>
            <a:xfrm>
              <a:off x="6796770" y="2915193"/>
              <a:ext cx="4883524" cy="2776733"/>
            </a:xfrm>
            <a:prstGeom prst="rect">
              <a:avLst/>
            </a:prstGeom>
          </p:spPr>
        </p:pic>
        <p:grpSp>
          <p:nvGrpSpPr>
            <p:cNvPr id="23" name="组合 22"/>
            <p:cNvGrpSpPr/>
            <p:nvPr/>
          </p:nvGrpSpPr>
          <p:grpSpPr>
            <a:xfrm>
              <a:off x="9083591" y="3108325"/>
              <a:ext cx="274320" cy="232318"/>
              <a:chOff x="9101371" y="3108325"/>
              <a:chExt cx="274320" cy="232318"/>
            </a:xfrm>
          </p:grpSpPr>
          <p:sp>
            <p:nvSpPr>
              <p:cNvPr id="24" name="矩形 23"/>
              <p:cNvSpPr/>
              <p:nvPr/>
            </p:nvSpPr>
            <p:spPr>
              <a:xfrm>
                <a:off x="9101371" y="3108325"/>
                <a:ext cx="274320" cy="232318"/>
              </a:xfrm>
              <a:prstGeom prst="rect">
                <a:avLst/>
              </a:prstGeom>
              <a:solidFill>
                <a:schemeClr val="bg1"/>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25" name="对象 24"/>
              <p:cNvGraphicFramePr>
                <a:graphicFrameLocks noChangeAspect="1"/>
              </p:cNvGraphicFramePr>
              <p:nvPr/>
            </p:nvGraphicFramePr>
            <p:xfrm>
              <a:off x="9174513" y="3148757"/>
              <a:ext cx="128035" cy="151454"/>
            </p:xfrm>
            <a:graphic>
              <a:graphicData uri="http://schemas.openxmlformats.org/presentationml/2006/ole">
                <mc:AlternateContent xmlns:mc="http://schemas.openxmlformats.org/markup-compatibility/2006">
                  <mc:Choice xmlns:v="urn:schemas-microsoft-com:vml" Requires="v">
                    <p:oleObj spid="_x0000_s26" name="Equation" r:id="rId2" imgW="3048000" imgH="3048000" progId="Equation.DSMT4">
                      <p:embed/>
                    </p:oleObj>
                  </mc:Choice>
                  <mc:Fallback>
                    <p:oleObj name="Equation" r:id="rId2" imgW="3048000" imgH="3048000" progId="Equation.DSMT4">
                      <p:embed/>
                      <p:pic>
                        <p:nvPicPr>
                          <p:cNvPr id="0" name="图片 25"/>
                          <p:cNvPicPr/>
                          <p:nvPr/>
                        </p:nvPicPr>
                        <p:blipFill>
                          <a:blip r:embed="rId3"/>
                          <a:stretch>
                            <a:fillRect/>
                          </a:stretch>
                        </p:blipFill>
                        <p:spPr>
                          <a:xfrm>
                            <a:off x="9174513" y="3148757"/>
                            <a:ext cx="128035" cy="151454"/>
                          </a:xfrm>
                          <a:prstGeom prst="rect">
                            <a:avLst/>
                          </a:prstGeom>
                        </p:spPr>
                      </p:pic>
                    </p:oleObj>
                  </mc:Fallback>
                </mc:AlternateContent>
              </a:graphicData>
            </a:graphic>
          </p:graphicFrame>
        </p:grpSp>
        <p:sp>
          <p:nvSpPr>
            <p:cNvPr id="27" name="右大括号 26"/>
            <p:cNvSpPr/>
            <p:nvPr/>
          </p:nvSpPr>
          <p:spPr>
            <a:xfrm rot="5400000">
              <a:off x="9178464" y="3310771"/>
              <a:ext cx="73143" cy="274319"/>
            </a:xfrm>
            <a:prstGeom prst="rightBrace">
              <a:avLst>
                <a:gd name="adj1" fmla="val 19140"/>
                <a:gd name="adj2" fmla="val 48419"/>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pic>
        <p:nvPicPr>
          <p:cNvPr id="4" name="图片 3"/>
          <p:cNvPicPr>
            <a:picLocks noChangeAspect="1"/>
          </p:cNvPicPr>
          <p:nvPr/>
        </p:nvPicPr>
        <p:blipFill>
          <a:blip r:embed="rId4"/>
          <a:stretch>
            <a:fillRect/>
          </a:stretch>
        </p:blipFill>
        <p:spPr>
          <a:xfrm>
            <a:off x="7721600" y="2538730"/>
            <a:ext cx="3630295" cy="1049020"/>
          </a:xfrm>
          <a:prstGeom prst="rect">
            <a:avLst/>
          </a:prstGeom>
        </p:spPr>
      </p:pic>
      <p:pic>
        <p:nvPicPr>
          <p:cNvPr id="16" name="图片 15"/>
          <p:cNvPicPr>
            <a:picLocks noChangeAspect="1"/>
          </p:cNvPicPr>
          <p:nvPr/>
        </p:nvPicPr>
        <p:blipFill>
          <a:blip r:embed="rId5"/>
          <a:stretch>
            <a:fillRect/>
          </a:stretch>
        </p:blipFill>
        <p:spPr>
          <a:xfrm>
            <a:off x="7721600" y="3627755"/>
            <a:ext cx="3752215" cy="1089660"/>
          </a:xfrm>
          <a:prstGeom prst="rect">
            <a:avLst/>
          </a:prstGeom>
        </p:spPr>
      </p:pic>
      <p:pic>
        <p:nvPicPr>
          <p:cNvPr id="3" name="图片 2"/>
          <p:cNvPicPr>
            <a:picLocks noChangeAspect="1"/>
          </p:cNvPicPr>
          <p:nvPr/>
        </p:nvPicPr>
        <p:blipFill>
          <a:blip r:embed="rId6"/>
          <a:stretch>
            <a:fillRect/>
          </a:stretch>
        </p:blipFill>
        <p:spPr>
          <a:xfrm>
            <a:off x="7435215" y="4812665"/>
            <a:ext cx="4203065" cy="1735455"/>
          </a:xfrm>
          <a:prstGeom prst="rect">
            <a:avLst/>
          </a:prstGeom>
        </p:spPr>
      </p:pic>
    </p:spTree>
    <p:custDataLst>
      <p:tags r:id="rId7"/>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1106805"/>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深度自编码网络</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02</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7056654" cy="423129"/>
          </a:xfrm>
          <a:prstGeom prst="rect">
            <a:avLst/>
          </a:prstGeom>
        </p:spPr>
        <p:txBody>
          <a:bodyPr wrap="square">
            <a:spAutoFit/>
          </a:bodyPr>
          <a:lstStyle/>
          <a:p>
            <a:pPr lvl="0" algn="ctr">
              <a:lnSpc>
                <a:spcPct val="130000"/>
              </a:lnSpc>
              <a:defRPr/>
            </a:pPr>
            <a:r>
              <a:rPr lang="en-US" altLang="zh-CN"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Deep autoencoder network</a:t>
            </a:r>
            <a:endParaRPr lang="en-US" altLang="zh-CN"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545465" y="1052195"/>
            <a:ext cx="10951210" cy="1378585"/>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深度自编码网络</a:t>
            </a: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(autoencoder network</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AE)</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由鲁梅尔哈特</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(Rumelhart)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于</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1986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年提出</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该网络在输入端与输出端尽可能保持一致的情形下</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利用隐藏层对输入数据进行特征提取与参数学习</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广泛应用于降维、特征提取和数据重构等任务。</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grpSp>
        <p:nvGrpSpPr>
          <p:cNvPr id="15" name="组合 14"/>
          <p:cNvGrpSpPr/>
          <p:nvPr/>
        </p:nvGrpSpPr>
        <p:grpSpPr>
          <a:xfrm>
            <a:off x="545466" y="2430675"/>
            <a:ext cx="6025152" cy="3545582"/>
            <a:chOff x="545466" y="2430675"/>
            <a:chExt cx="6025152" cy="3545582"/>
          </a:xfrm>
        </p:grpSpPr>
        <p:sp>
          <p:nvSpPr>
            <p:cNvPr id="8" name="圆角矩形 7"/>
            <p:cNvSpPr/>
            <p:nvPr/>
          </p:nvSpPr>
          <p:spPr>
            <a:xfrm>
              <a:off x="545466" y="2430675"/>
              <a:ext cx="6025152" cy="3545582"/>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TextBox 8"/>
            <p:cNvSpPr txBox="1"/>
            <p:nvPr/>
          </p:nvSpPr>
          <p:spPr>
            <a:xfrm>
              <a:off x="775335" y="2671975"/>
              <a:ext cx="5668010" cy="3180185"/>
            </a:xfrm>
            <a:prstGeom prst="rect">
              <a:avLst/>
            </a:prstGeom>
            <a:noFill/>
          </p:spPr>
          <p:txBody>
            <a:bodyPr wrap="square" lIns="0" tIns="0" rIns="0" bIns="0" rtlCol="0" anchor="t">
              <a:noAutofit/>
            </a:bodyPr>
            <a:lstStyle/>
            <a:p>
              <a:pPr defTabSz="1219200">
                <a:lnSpc>
                  <a:spcPct val="150000"/>
                </a:lnSpc>
                <a:spcBef>
                  <a:spcPct val="20000"/>
                </a:spcBef>
                <a:buFont typeface="Arial" panose="020B0604020202020204" pitchFamily="34" charset="0"/>
                <a:defRPr/>
              </a:pPr>
              <a:r>
                <a:rPr lang="zh-CN" altLang="en-US" sz="1600" dirty="0"/>
                <a:t>编码器：负责将输入数据压缩到低维的潜在空间。</a:t>
              </a:r>
              <a:endParaRPr lang="en-US" altLang="zh-CN" sz="1600" dirty="0"/>
            </a:p>
            <a:p>
              <a:pPr defTabSz="1219200">
                <a:lnSpc>
                  <a:spcPct val="150000"/>
                </a:lnSpc>
                <a:spcBef>
                  <a:spcPct val="20000"/>
                </a:spcBef>
                <a:buFont typeface="Arial" panose="020B0604020202020204" pitchFamily="34" charset="0"/>
                <a:defRPr/>
              </a:pPr>
              <a:endPar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buFont typeface="Arial" panose="020B0604020202020204" pitchFamily="34" charset="0"/>
                <a:defRPr/>
              </a:pPr>
              <a:r>
                <a:rPr lang="zh-CN" altLang="en-US" sz="1600" dirty="0"/>
                <a:t>解码器：负责将潜在空间的低维表示映射回原始的输入空间。</a:t>
              </a:r>
              <a:endParaRPr lang="en-US" altLang="zh-CN" sz="1600" dirty="0"/>
            </a:p>
            <a:p>
              <a:pPr defTabSz="1219200">
                <a:lnSpc>
                  <a:spcPct val="150000"/>
                </a:lnSpc>
                <a:spcBef>
                  <a:spcPct val="20000"/>
                </a:spcBef>
                <a:buFont typeface="Arial" panose="020B0604020202020204" pitchFamily="34" charset="0"/>
                <a:defRPr/>
              </a:pPr>
              <a:endPar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buFont typeface="Arial" panose="020B0604020202020204" pitchFamily="34" charset="0"/>
                <a:defRPr/>
              </a:pPr>
              <a:r>
                <a:rPr lang="zh-CN" altLang="en-US" sz="1600" dirty="0"/>
                <a:t>训练目标：最小化输入 </a:t>
              </a:r>
              <a:r>
                <a:rPr lang="en-US" altLang="zh-CN" sz="1600" dirty="0"/>
                <a:t>  </a:t>
              </a:r>
              <a:r>
                <a:rPr lang="zh-CN" altLang="en-US" sz="1600" dirty="0"/>
                <a:t>与重建输出  </a:t>
              </a:r>
              <a:r>
                <a:rPr lang="en-US" altLang="zh-CN" sz="1600" dirty="0"/>
                <a:t> </a:t>
              </a:r>
              <a:r>
                <a:rPr lang="zh-CN" altLang="en-US" sz="1600" dirty="0"/>
                <a:t>之间的差异，尽可能学习输入数据的潜在特征，从而重建原始数据。通常使用均方误差损失</a:t>
              </a:r>
              <a:r>
                <a:rPr lang="en-US" altLang="zh-CN" sz="1600" dirty="0"/>
                <a:t>(MSE)</a:t>
              </a:r>
              <a:r>
                <a:rPr lang="zh-CN" altLang="en-US" sz="1600" dirty="0"/>
                <a:t>作为重构损失函数</a:t>
              </a:r>
              <a:r>
                <a:rPr lang="en-US" altLang="zh-CN" sz="1600" dirty="0"/>
                <a:t>:</a:t>
              </a:r>
              <a:endPar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aphicFrame>
          <p:nvGraphicFramePr>
            <p:cNvPr id="4" name="对象 3"/>
            <p:cNvGraphicFramePr>
              <a:graphicFrameLocks noChangeAspect="1"/>
            </p:cNvGraphicFramePr>
            <p:nvPr/>
          </p:nvGraphicFramePr>
          <p:xfrm>
            <a:off x="1909443" y="3063043"/>
            <a:ext cx="2950213" cy="421459"/>
          </p:xfrm>
          <a:graphic>
            <a:graphicData uri="http://schemas.openxmlformats.org/presentationml/2006/ole">
              <mc:AlternateContent xmlns:mc="http://schemas.openxmlformats.org/markup-compatibility/2006">
                <mc:Choice xmlns:v="urn:schemas-microsoft-com:vml" Requires="v">
                  <p:oleObj spid="_x0000_s2" name="Equation" r:id="rId1" imgW="1694815" imgH="251460" progId="Equation.DSMT4">
                    <p:embed/>
                  </p:oleObj>
                </mc:Choice>
                <mc:Fallback>
                  <p:oleObj name="Equation" r:id="rId1" imgW="1694815" imgH="251460" progId="Equation.DSMT4">
                    <p:embed/>
                    <p:pic>
                      <p:nvPicPr>
                        <p:cNvPr id="0" name="图片 1"/>
                        <p:cNvPicPr/>
                        <p:nvPr/>
                      </p:nvPicPr>
                      <p:blipFill>
                        <a:blip r:embed="rId2"/>
                        <a:stretch>
                          <a:fillRect/>
                        </a:stretch>
                      </p:blipFill>
                      <p:spPr>
                        <a:xfrm>
                          <a:off x="1909443" y="3063043"/>
                          <a:ext cx="2950213" cy="421459"/>
                        </a:xfrm>
                        <a:prstGeom prst="rect">
                          <a:avLst/>
                        </a:prstGeom>
                      </p:spPr>
                    </p:pic>
                  </p:oleObj>
                </mc:Fallback>
              </mc:AlternateContent>
            </a:graphicData>
          </a:graphic>
        </p:graphicFrame>
        <p:graphicFrame>
          <p:nvGraphicFramePr>
            <p:cNvPr id="5" name="对象 4">
              <a:hlinkClick r:id="" action="ppaction://ole?verb=0"/>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6" name="" r:id="rId3" imgW="114300" imgH="215900" progId="Equation.KSEE3">
                    <p:embed/>
                  </p:oleObj>
                </mc:Choice>
                <mc:Fallback>
                  <p:oleObj name="" r:id="rId3" imgW="114300" imgH="215900" progId="Equation.KSEE3">
                    <p:embed/>
                    <p:pic>
                      <p:nvPicPr>
                        <p:cNvPr id="0" name="图片 1024"/>
                        <p:cNvPicPr/>
                        <p:nvPr/>
                      </p:nvPicPr>
                      <p:blipFill>
                        <a:blip r:embed="rId4"/>
                        <a:stretch>
                          <a:fillRect/>
                        </a:stretch>
                      </p:blipFill>
                      <p:spPr>
                        <a:xfrm>
                          <a:off x="6038850" y="3321050"/>
                          <a:ext cx="114300" cy="215900"/>
                        </a:xfrm>
                        <a:prstGeom prst="rect">
                          <a:avLst/>
                        </a:prstGeom>
                      </p:spPr>
                    </p:pic>
                  </p:oleObj>
                </mc:Fallback>
              </mc:AlternateContent>
            </a:graphicData>
          </a:graphic>
        </p:graphicFrame>
        <p:graphicFrame>
          <p:nvGraphicFramePr>
            <p:cNvPr id="10" name="对象 9"/>
            <p:cNvGraphicFramePr/>
            <p:nvPr/>
          </p:nvGraphicFramePr>
          <p:xfrm>
            <a:off x="4815205" y="4410075"/>
            <a:ext cx="142240" cy="305435"/>
          </p:xfrm>
          <a:graphic>
            <a:graphicData uri="http://schemas.openxmlformats.org/presentationml/2006/ole">
              <mc:AlternateContent xmlns:mc="http://schemas.openxmlformats.org/markup-compatibility/2006">
                <mc:Choice xmlns:v="urn:schemas-microsoft-com:vml" Requires="v">
                  <p:oleObj spid="_x0000_s7" name="" r:id="rId5" imgW="114300" imgH="215900" progId="Equation.KSEE3">
                    <p:embed/>
                  </p:oleObj>
                </mc:Choice>
                <mc:Fallback>
                  <p:oleObj name="" r:id="rId5" imgW="114300" imgH="215900" progId="Equation.KSEE3">
                    <p:embed/>
                    <p:pic>
                      <p:nvPicPr>
                        <p:cNvPr id="0" name="图片 6"/>
                        <p:cNvPicPr/>
                        <p:nvPr/>
                      </p:nvPicPr>
                      <p:blipFill>
                        <a:blip r:embed="rId4"/>
                        <a:stretch>
                          <a:fillRect/>
                        </a:stretch>
                      </p:blipFill>
                      <p:spPr>
                        <a:xfrm>
                          <a:off x="4815205" y="4410075"/>
                          <a:ext cx="142240" cy="305435"/>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1798408" y="3882101"/>
            <a:ext cx="3207771" cy="421459"/>
          </p:xfrm>
          <a:graphic>
            <a:graphicData uri="http://schemas.openxmlformats.org/presentationml/2006/ole">
              <mc:AlternateContent xmlns:mc="http://schemas.openxmlformats.org/markup-compatibility/2006">
                <mc:Choice xmlns:v="urn:schemas-microsoft-com:vml" Requires="v">
                  <p:oleObj spid="_x0000_s12" name="Equation" r:id="rId6" imgW="41757600" imgH="5486400" progId="Equation.DSMT4">
                    <p:embed/>
                  </p:oleObj>
                </mc:Choice>
                <mc:Fallback>
                  <p:oleObj name="Equation" r:id="rId6" imgW="41757600" imgH="5486400" progId="Equation.DSMT4">
                    <p:embed/>
                    <p:pic>
                      <p:nvPicPr>
                        <p:cNvPr id="0" name="图片 11"/>
                        <p:cNvPicPr/>
                        <p:nvPr/>
                      </p:nvPicPr>
                      <p:blipFill>
                        <a:blip r:embed="rId7"/>
                        <a:stretch>
                          <a:fillRect/>
                        </a:stretch>
                      </p:blipFill>
                      <p:spPr>
                        <a:xfrm>
                          <a:off x="1798408" y="3882101"/>
                          <a:ext cx="3207771" cy="421459"/>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2764334" y="4426758"/>
            <a:ext cx="211546" cy="232700"/>
          </p:xfrm>
          <a:graphic>
            <a:graphicData uri="http://schemas.openxmlformats.org/presentationml/2006/ole">
              <mc:AlternateContent xmlns:mc="http://schemas.openxmlformats.org/markup-compatibility/2006">
                <mc:Choice xmlns:v="urn:schemas-microsoft-com:vml" Requires="v">
                  <p:oleObj spid="_x0000_s16" name="Equation" r:id="rId8" imgW="3048000" imgH="3352800" progId="Equation.DSMT4">
                    <p:embed/>
                  </p:oleObj>
                </mc:Choice>
                <mc:Fallback>
                  <p:oleObj name="Equation" r:id="rId8" imgW="3048000" imgH="3352800" progId="Equation.DSMT4">
                    <p:embed/>
                    <p:pic>
                      <p:nvPicPr>
                        <p:cNvPr id="0" name="图片 15"/>
                        <p:cNvPicPr/>
                        <p:nvPr/>
                      </p:nvPicPr>
                      <p:blipFill>
                        <a:blip r:embed="rId9"/>
                        <a:stretch>
                          <a:fillRect/>
                        </a:stretch>
                      </p:blipFill>
                      <p:spPr>
                        <a:xfrm>
                          <a:off x="2764334" y="4426758"/>
                          <a:ext cx="211546" cy="232700"/>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3931462" y="4363294"/>
            <a:ext cx="211546" cy="296164"/>
          </p:xfrm>
          <a:graphic>
            <a:graphicData uri="http://schemas.openxmlformats.org/presentationml/2006/ole">
              <mc:AlternateContent xmlns:mc="http://schemas.openxmlformats.org/markup-compatibility/2006">
                <mc:Choice xmlns:v="urn:schemas-microsoft-com:vml" Requires="v">
                  <p:oleObj spid="_x0000_s18" name="Equation" r:id="rId10" imgW="3048000" imgH="4267200" progId="Equation.DSMT4">
                    <p:embed/>
                  </p:oleObj>
                </mc:Choice>
                <mc:Fallback>
                  <p:oleObj name="Equation" r:id="rId10" imgW="3048000" imgH="4267200" progId="Equation.DSMT4">
                    <p:embed/>
                    <p:pic>
                      <p:nvPicPr>
                        <p:cNvPr id="0" name="图片 17"/>
                        <p:cNvPicPr/>
                        <p:nvPr/>
                      </p:nvPicPr>
                      <p:blipFill>
                        <a:blip r:embed="rId11"/>
                        <a:stretch>
                          <a:fillRect/>
                        </a:stretch>
                      </p:blipFill>
                      <p:spPr>
                        <a:xfrm>
                          <a:off x="3931462" y="4363294"/>
                          <a:ext cx="211546" cy="296164"/>
                        </a:xfrm>
                        <a:prstGeom prst="rect">
                          <a:avLst/>
                        </a:prstGeom>
                      </p:spPr>
                    </p:pic>
                  </p:oleObj>
                </mc:Fallback>
              </mc:AlternateContent>
            </a:graphicData>
          </a:graphic>
        </p:graphicFrame>
        <p:graphicFrame>
          <p:nvGraphicFramePr>
            <p:cNvPr id="19" name="对象 18"/>
            <p:cNvGraphicFramePr>
              <a:graphicFrameLocks noChangeAspect="1"/>
            </p:cNvGraphicFramePr>
            <p:nvPr/>
          </p:nvGraphicFramePr>
          <p:xfrm>
            <a:off x="2631360" y="5459566"/>
            <a:ext cx="1405875" cy="379966"/>
          </p:xfrm>
          <a:graphic>
            <a:graphicData uri="http://schemas.openxmlformats.org/presentationml/2006/ole">
              <mc:AlternateContent xmlns:mc="http://schemas.openxmlformats.org/markup-compatibility/2006">
                <mc:Choice xmlns:v="urn:schemas-microsoft-com:vml" Requires="v">
                  <p:oleObj spid="_x0000_s20" name="Equation" r:id="rId12" imgW="22555200" imgH="6096000" progId="Equation.DSMT4">
                    <p:embed/>
                  </p:oleObj>
                </mc:Choice>
                <mc:Fallback>
                  <p:oleObj name="Equation" r:id="rId12" imgW="22555200" imgH="6096000" progId="Equation.DSMT4">
                    <p:embed/>
                    <p:pic>
                      <p:nvPicPr>
                        <p:cNvPr id="0" name="图片 19"/>
                        <p:cNvPicPr/>
                        <p:nvPr/>
                      </p:nvPicPr>
                      <p:blipFill>
                        <a:blip r:embed="rId13"/>
                        <a:stretch>
                          <a:fillRect/>
                        </a:stretch>
                      </p:blipFill>
                      <p:spPr>
                        <a:xfrm>
                          <a:off x="2631360" y="5459566"/>
                          <a:ext cx="1405875" cy="379966"/>
                        </a:xfrm>
                        <a:prstGeom prst="rect">
                          <a:avLst/>
                        </a:prstGeom>
                      </p:spPr>
                    </p:pic>
                  </p:oleObj>
                </mc:Fallback>
              </mc:AlternateContent>
            </a:graphicData>
          </a:graphic>
        </p:graphicFrame>
      </p:grpSp>
      <p:grpSp>
        <p:nvGrpSpPr>
          <p:cNvPr id="21" name="组合 20"/>
          <p:cNvGrpSpPr/>
          <p:nvPr/>
        </p:nvGrpSpPr>
        <p:grpSpPr>
          <a:xfrm>
            <a:off x="6796770" y="2915193"/>
            <a:ext cx="4883524" cy="2776733"/>
            <a:chOff x="6796770" y="2915193"/>
            <a:chExt cx="4883524" cy="2776733"/>
          </a:xfrm>
        </p:grpSpPr>
        <p:pic>
          <p:nvPicPr>
            <p:cNvPr id="22" name="图片 21"/>
            <p:cNvPicPr>
              <a:picLocks noChangeAspect="1"/>
            </p:cNvPicPr>
            <p:nvPr/>
          </p:nvPicPr>
          <p:blipFill>
            <a:blip r:embed="rId14"/>
            <a:stretch>
              <a:fillRect/>
            </a:stretch>
          </p:blipFill>
          <p:spPr>
            <a:xfrm>
              <a:off x="6796770" y="2915193"/>
              <a:ext cx="4883524" cy="2776733"/>
            </a:xfrm>
            <a:prstGeom prst="rect">
              <a:avLst/>
            </a:prstGeom>
          </p:spPr>
        </p:pic>
        <p:grpSp>
          <p:nvGrpSpPr>
            <p:cNvPr id="23" name="组合 22"/>
            <p:cNvGrpSpPr/>
            <p:nvPr/>
          </p:nvGrpSpPr>
          <p:grpSpPr>
            <a:xfrm>
              <a:off x="9083591" y="3108325"/>
              <a:ext cx="274320" cy="232318"/>
              <a:chOff x="9101371" y="3108325"/>
              <a:chExt cx="274320" cy="232318"/>
            </a:xfrm>
          </p:grpSpPr>
          <p:sp>
            <p:nvSpPr>
              <p:cNvPr id="24" name="矩形 23"/>
              <p:cNvSpPr/>
              <p:nvPr/>
            </p:nvSpPr>
            <p:spPr>
              <a:xfrm>
                <a:off x="9101371" y="3108325"/>
                <a:ext cx="274320" cy="232318"/>
              </a:xfrm>
              <a:prstGeom prst="rect">
                <a:avLst/>
              </a:prstGeom>
              <a:solidFill>
                <a:schemeClr val="bg1"/>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25" name="对象 24"/>
              <p:cNvGraphicFramePr>
                <a:graphicFrameLocks noChangeAspect="1"/>
              </p:cNvGraphicFramePr>
              <p:nvPr/>
            </p:nvGraphicFramePr>
            <p:xfrm>
              <a:off x="9174513" y="3148757"/>
              <a:ext cx="128035" cy="151454"/>
            </p:xfrm>
            <a:graphic>
              <a:graphicData uri="http://schemas.openxmlformats.org/presentationml/2006/ole">
                <mc:AlternateContent xmlns:mc="http://schemas.openxmlformats.org/markup-compatibility/2006">
                  <mc:Choice xmlns:v="urn:schemas-microsoft-com:vml" Requires="v">
                    <p:oleObj spid="_x0000_s26" name="Equation" r:id="rId15" imgW="3048000" imgH="3048000" progId="Equation.DSMT4">
                      <p:embed/>
                    </p:oleObj>
                  </mc:Choice>
                  <mc:Fallback>
                    <p:oleObj name="Equation" r:id="rId15" imgW="3048000" imgH="3048000" progId="Equation.DSMT4">
                      <p:embed/>
                      <p:pic>
                        <p:nvPicPr>
                          <p:cNvPr id="0" name="图片 25"/>
                          <p:cNvPicPr/>
                          <p:nvPr/>
                        </p:nvPicPr>
                        <p:blipFill>
                          <a:blip r:embed="rId16"/>
                          <a:stretch>
                            <a:fillRect/>
                          </a:stretch>
                        </p:blipFill>
                        <p:spPr>
                          <a:xfrm>
                            <a:off x="9174513" y="3148757"/>
                            <a:ext cx="128035" cy="151454"/>
                          </a:xfrm>
                          <a:prstGeom prst="rect">
                            <a:avLst/>
                          </a:prstGeom>
                        </p:spPr>
                      </p:pic>
                    </p:oleObj>
                  </mc:Fallback>
                </mc:AlternateContent>
              </a:graphicData>
            </a:graphic>
          </p:graphicFrame>
        </p:grpSp>
        <p:sp>
          <p:nvSpPr>
            <p:cNvPr id="27" name="右大括号 26"/>
            <p:cNvSpPr/>
            <p:nvPr/>
          </p:nvSpPr>
          <p:spPr>
            <a:xfrm rot="5400000">
              <a:off x="9178464" y="3310771"/>
              <a:ext cx="73143" cy="274319"/>
            </a:xfrm>
            <a:prstGeom prst="rightBrace">
              <a:avLst>
                <a:gd name="adj1" fmla="val 19140"/>
                <a:gd name="adj2" fmla="val 48419"/>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custDataLst>
      <p:tags r:id="rId17"/>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典型网络结构</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810895"/>
            <a:ext cx="11131550" cy="1331262"/>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稀疏自编码器</a:t>
            </a:r>
            <a:endPar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ts val="600"/>
              </a:spcBef>
              <a:buFont typeface="Arial" panose="020B0604020202020204" pitchFamily="34" charset="0"/>
              <a:buChar char="•"/>
              <a:defRPr/>
            </a:pPr>
            <a:r>
              <a:rPr lang="zh-CN" altLang="en-US" sz="1600" dirty="0"/>
              <a:t>相比于传统的自编码器</a:t>
            </a:r>
            <a:r>
              <a:rPr lang="en-US" altLang="zh-CN" sz="1600" dirty="0"/>
              <a:t>, </a:t>
            </a:r>
            <a:r>
              <a:rPr lang="zh-CN" altLang="en-US" sz="1600" dirty="0"/>
              <a:t>稀疏自编码器在损失函数中加入了稀疏性约束，以</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强制隐藏层神经元的激活更加稀疏，从而促使编码器学习输入数据中更重要的特征。</a:t>
            </a:r>
            <a:endPar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20" name="组合 19"/>
          <p:cNvGrpSpPr/>
          <p:nvPr/>
        </p:nvGrpSpPr>
        <p:grpSpPr>
          <a:xfrm>
            <a:off x="1397000" y="2171897"/>
            <a:ext cx="9652635" cy="4407973"/>
            <a:chOff x="1397000" y="2343347"/>
            <a:chExt cx="9652635" cy="4407973"/>
          </a:xfrm>
        </p:grpSpPr>
        <p:sp>
          <p:nvSpPr>
            <p:cNvPr id="9" name="TextBox 8"/>
            <p:cNvSpPr txBox="1"/>
            <p:nvPr/>
          </p:nvSpPr>
          <p:spPr>
            <a:xfrm>
              <a:off x="1397000" y="2343347"/>
              <a:ext cx="9652635" cy="4407973"/>
            </a:xfrm>
            <a:prstGeom prst="rect">
              <a:avLst/>
            </a:prstGeom>
            <a:noFill/>
          </p:spPr>
          <p:txBody>
            <a:bodyPr wrap="square" lIns="0" tIns="0" rIns="0" bIns="0" rtlCol="0" anchor="t">
              <a:noAutofit/>
            </a:bodyPr>
            <a:lstStyle/>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稀疏性约束</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fontAlgn="auto">
                <a:lnSpc>
                  <a:spcPct val="150000"/>
                </a:lnSpc>
                <a:spcBef>
                  <a:spcPts val="6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引入一个目标稀疏性参数     ，表示每个隐藏层节点的平均激活度应接近     ；</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fontAlgn="auto">
                <a:lnSpc>
                  <a:spcPct val="150000"/>
                </a:lnSpc>
                <a:spcBef>
                  <a:spcPts val="6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稀疏性度量：隐藏层的平均激活度表示为</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fontAlgn="auto">
                <a:lnSpc>
                  <a:spcPct val="150000"/>
                </a:lnSpc>
                <a:spcBef>
                  <a:spcPts val="600"/>
                </a:spcBef>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其中，            表示第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j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个隐藏层单元对第 </a:t>
              </a:r>
              <a:r>
                <a:rPr lang="en-US" altLang="zh-CN" sz="1600" dirty="0" err="1">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i</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个输入     的激活值，    是训练样本的数量。</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ts val="6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稀疏性惩罚：</a:t>
              </a:r>
              <a:r>
                <a:rPr lang="zh-CN" altLang="en-US" sz="1600" dirty="0">
                  <a:solidFill>
                    <a:schemeClr val="tx1">
                      <a:lumMod val="75000"/>
                      <a:lumOff val="25000"/>
                    </a:schemeClr>
                  </a:solidFill>
                  <a:latin typeface="+mn-ea"/>
                  <a:cs typeface="思源黑体 CN Regular" panose="020B0500000000000000" charset="-122"/>
                  <a:sym typeface="Arial" panose="020B0604020202020204" pitchFamily="34" charset="0"/>
                </a:rPr>
                <a:t>采用</a:t>
              </a:r>
              <a:r>
                <a:rPr lang="en-US" altLang="zh-CN" sz="1600" dirty="0">
                  <a:solidFill>
                    <a:schemeClr val="tx1">
                      <a:lumMod val="75000"/>
                      <a:lumOff val="25000"/>
                    </a:schemeClr>
                  </a:solidFill>
                  <a:latin typeface="+mn-ea"/>
                  <a:cs typeface="思源黑体 CN Regular" panose="020B0500000000000000" charset="-122"/>
                  <a:sym typeface="Arial" panose="020B0604020202020204" pitchFamily="34" charset="0"/>
                </a:rPr>
                <a:t>KL</a:t>
              </a:r>
              <a:r>
                <a:rPr lang="zh-CN" altLang="en-US" sz="1600" dirty="0">
                  <a:solidFill>
                    <a:schemeClr val="tx1">
                      <a:lumMod val="75000"/>
                      <a:lumOff val="25000"/>
                    </a:schemeClr>
                  </a:solidFill>
                  <a:latin typeface="+mn-ea"/>
                  <a:cs typeface="思源黑体 CN Regular" panose="020B0500000000000000" charset="-122"/>
                  <a:sym typeface="Arial" panose="020B0604020202020204" pitchFamily="34" charset="0"/>
                </a:rPr>
                <a:t>散度</a:t>
              </a:r>
              <a:r>
                <a:rPr lang="en-US" altLang="zh-CN" sz="1600" dirty="0">
                  <a:latin typeface="+mn-ea"/>
                </a:rPr>
                <a:t>(Kullback-</a:t>
              </a:r>
              <a:r>
                <a:rPr lang="en-US" altLang="zh-CN" sz="1600" dirty="0" err="1">
                  <a:latin typeface="+mn-ea"/>
                </a:rPr>
                <a:t>Leibler</a:t>
              </a:r>
              <a:r>
                <a:rPr lang="en-US" altLang="zh-CN" sz="1600" dirty="0">
                  <a:latin typeface="+mn-ea"/>
                </a:rPr>
                <a:t> divergence)</a:t>
              </a:r>
              <a:r>
                <a:rPr lang="zh-CN" altLang="en-US" sz="1600" dirty="0">
                  <a:latin typeface="+mn-ea"/>
                </a:rPr>
                <a:t>度量目标稀疏度与实际稀疏度的差异</a:t>
              </a:r>
              <a:endParaRPr lang="en-US" altLang="zh-CN" sz="1600" dirty="0">
                <a:latin typeface="+mn-ea"/>
              </a:endParaRPr>
            </a:p>
            <a:p>
              <a:pPr marL="342900" indent="-342900" algn="l" defTabSz="1219200" fontAlgn="auto">
                <a:lnSpc>
                  <a:spcPct val="150000"/>
                </a:lnSpc>
                <a:spcBef>
                  <a:spcPts val="600"/>
                </a:spcBef>
                <a:buFont typeface="+mj-ea"/>
                <a:buAutoNum type="circleNumDbPlain"/>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startAt="2"/>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损失函数：</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lt"/>
                <a:buAutoNum type="circleNumDbPlain" startAt="2"/>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algn="l" defTabSz="1219200" fontAlgn="auto">
                <a:lnSpc>
                  <a:spcPct val="150000"/>
                </a:lnSpc>
                <a:spcBef>
                  <a:spcPts val="600"/>
                </a:spcBef>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其中，   超参数用于控制稀疏性惩罚项的权重，  表示隐藏层神经元的数量。</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fontAlgn="auto">
                <a:lnSpc>
                  <a:spcPct val="150000"/>
                </a:lnSpc>
                <a:spcBef>
                  <a:spcPts val="6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aphicFrame>
          <p:nvGraphicFramePr>
            <p:cNvPr id="2" name="对象 1"/>
            <p:cNvGraphicFramePr>
              <a:graphicFrameLocks noChangeAspect="1"/>
            </p:cNvGraphicFramePr>
            <p:nvPr/>
          </p:nvGraphicFramePr>
          <p:xfrm>
            <a:off x="3896359" y="2896234"/>
            <a:ext cx="264355" cy="286385"/>
          </p:xfrm>
          <a:graphic>
            <a:graphicData uri="http://schemas.openxmlformats.org/presentationml/2006/ole">
              <mc:AlternateContent xmlns:mc="http://schemas.openxmlformats.org/markup-compatibility/2006">
                <mc:Choice xmlns:v="urn:schemas-microsoft-com:vml" Requires="v">
                  <p:oleObj spid="_x0000_s3" name="Equation" r:id="rId1" imgW="3657600" imgH="3962400" progId="Equation.DSMT4">
                    <p:embed/>
                  </p:oleObj>
                </mc:Choice>
                <mc:Fallback>
                  <p:oleObj name="Equation" r:id="rId1" imgW="3657600" imgH="3962400" progId="Equation.DSMT4">
                    <p:embed/>
                    <p:pic>
                      <p:nvPicPr>
                        <p:cNvPr id="0" name="图片 2"/>
                        <p:cNvPicPr/>
                        <p:nvPr/>
                      </p:nvPicPr>
                      <p:blipFill>
                        <a:blip r:embed="rId2"/>
                        <a:stretch>
                          <a:fillRect/>
                        </a:stretch>
                      </p:blipFill>
                      <p:spPr>
                        <a:xfrm>
                          <a:off x="3896359" y="2896234"/>
                          <a:ext cx="264355" cy="286385"/>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7988299" y="2896233"/>
            <a:ext cx="264357" cy="286386"/>
          </p:xfrm>
          <a:graphic>
            <a:graphicData uri="http://schemas.openxmlformats.org/presentationml/2006/ole">
              <mc:AlternateContent xmlns:mc="http://schemas.openxmlformats.org/markup-compatibility/2006">
                <mc:Choice xmlns:v="urn:schemas-microsoft-com:vml" Requires="v">
                  <p:oleObj spid="_x0000_s4" name="Equation" r:id="rId3" imgW="3657600" imgH="3962400" progId="Equation.DSMT4">
                    <p:embed/>
                  </p:oleObj>
                </mc:Choice>
                <mc:Fallback>
                  <p:oleObj name="Equation" r:id="rId3" imgW="3657600" imgH="3962400" progId="Equation.DSMT4">
                    <p:embed/>
                    <p:pic>
                      <p:nvPicPr>
                        <p:cNvPr id="0" name="图片 3"/>
                        <p:cNvPicPr/>
                        <p:nvPr/>
                      </p:nvPicPr>
                      <p:blipFill>
                        <a:blip r:embed="rId4"/>
                        <a:stretch>
                          <a:fillRect/>
                        </a:stretch>
                      </p:blipFill>
                      <p:spPr>
                        <a:xfrm>
                          <a:off x="7988299" y="2896233"/>
                          <a:ext cx="264357" cy="286386"/>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4856479" y="3501072"/>
            <a:ext cx="1767280" cy="715328"/>
          </p:xfrm>
          <a:graphic>
            <a:graphicData uri="http://schemas.openxmlformats.org/presentationml/2006/ole">
              <mc:AlternateContent xmlns:mc="http://schemas.openxmlformats.org/markup-compatibility/2006">
                <mc:Choice xmlns:v="urn:schemas-microsoft-com:vml" Requires="v">
                  <p:oleObj spid="_x0000_s5" name="Equation" r:id="rId5" imgW="25603200" imgH="10363200" progId="Equation.DSMT4">
                    <p:embed/>
                  </p:oleObj>
                </mc:Choice>
                <mc:Fallback>
                  <p:oleObj name="Equation" r:id="rId5" imgW="25603200" imgH="10363200" progId="Equation.DSMT4">
                    <p:embed/>
                    <p:pic>
                      <p:nvPicPr>
                        <p:cNvPr id="0" name="图片 4"/>
                        <p:cNvPicPr/>
                        <p:nvPr/>
                      </p:nvPicPr>
                      <p:blipFill>
                        <a:blip r:embed="rId6"/>
                        <a:stretch>
                          <a:fillRect/>
                        </a:stretch>
                      </p:blipFill>
                      <p:spPr>
                        <a:xfrm>
                          <a:off x="4856479" y="3501072"/>
                          <a:ext cx="1767280" cy="715328"/>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1927860" y="4118094"/>
            <a:ext cx="647700" cy="384572"/>
          </p:xfrm>
          <a:graphic>
            <a:graphicData uri="http://schemas.openxmlformats.org/presentationml/2006/ole">
              <mc:AlternateContent xmlns:mc="http://schemas.openxmlformats.org/markup-compatibility/2006">
                <mc:Choice xmlns:v="urn:schemas-microsoft-com:vml" Requires="v">
                  <p:oleObj spid="_x0000_s11" name="Equation" r:id="rId7" imgW="9753600" imgH="5791200" progId="Equation.DSMT4">
                    <p:embed/>
                  </p:oleObj>
                </mc:Choice>
                <mc:Fallback>
                  <p:oleObj name="Equation" r:id="rId7" imgW="9753600" imgH="5791200" progId="Equation.DSMT4">
                    <p:embed/>
                    <p:pic>
                      <p:nvPicPr>
                        <p:cNvPr id="0" name="图片 10"/>
                        <p:cNvPicPr/>
                        <p:nvPr/>
                      </p:nvPicPr>
                      <p:blipFill>
                        <a:blip r:embed="rId8"/>
                        <a:stretch>
                          <a:fillRect/>
                        </a:stretch>
                      </p:blipFill>
                      <p:spPr>
                        <a:xfrm>
                          <a:off x="1927860" y="4118094"/>
                          <a:ext cx="647700" cy="384572"/>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5681980" y="4117975"/>
            <a:ext cx="261620" cy="392430"/>
          </p:xfrm>
          <a:graphic>
            <a:graphicData uri="http://schemas.openxmlformats.org/presentationml/2006/ole">
              <mc:AlternateContent xmlns:mc="http://schemas.openxmlformats.org/markup-compatibility/2006">
                <mc:Choice xmlns:v="urn:schemas-microsoft-com:vml" Requires="v">
                  <p:oleObj spid="_x0000_s14" name="Equation" r:id="rId9" imgW="3657600" imgH="5486400" progId="Equation.DSMT4">
                    <p:embed/>
                  </p:oleObj>
                </mc:Choice>
                <mc:Fallback>
                  <p:oleObj name="Equation" r:id="rId9" imgW="3657600" imgH="5486400" progId="Equation.DSMT4">
                    <p:embed/>
                    <p:pic>
                      <p:nvPicPr>
                        <p:cNvPr id="0" name="图片 13"/>
                        <p:cNvPicPr/>
                        <p:nvPr/>
                      </p:nvPicPr>
                      <p:blipFill>
                        <a:blip r:embed="rId10"/>
                        <a:stretch>
                          <a:fillRect/>
                        </a:stretch>
                      </p:blipFill>
                      <p:spPr>
                        <a:xfrm>
                          <a:off x="5681980" y="4117975"/>
                          <a:ext cx="261620" cy="392430"/>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6860540" y="4164012"/>
            <a:ext cx="292735" cy="292735"/>
          </p:xfrm>
          <a:graphic>
            <a:graphicData uri="http://schemas.openxmlformats.org/presentationml/2006/ole">
              <mc:AlternateContent xmlns:mc="http://schemas.openxmlformats.org/markup-compatibility/2006">
                <mc:Choice xmlns:v="urn:schemas-microsoft-com:vml" Requires="v">
                  <p:oleObj spid="_x0000_s16" name="Equation" r:id="rId11" imgW="4267200" imgH="4267200" progId="Equation.DSMT4">
                    <p:embed/>
                  </p:oleObj>
                </mc:Choice>
                <mc:Fallback>
                  <p:oleObj name="Equation" r:id="rId11" imgW="4267200" imgH="4267200" progId="Equation.DSMT4">
                    <p:embed/>
                    <p:pic>
                      <p:nvPicPr>
                        <p:cNvPr id="0" name="图片 15"/>
                        <p:cNvPicPr/>
                        <p:nvPr/>
                      </p:nvPicPr>
                      <p:blipFill>
                        <a:blip r:embed="rId12"/>
                        <a:stretch>
                          <a:fillRect/>
                        </a:stretch>
                      </p:blipFill>
                      <p:spPr>
                        <a:xfrm>
                          <a:off x="6860540" y="4164012"/>
                          <a:ext cx="292735" cy="292735"/>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3720846" y="4858915"/>
            <a:ext cx="3922268" cy="700405"/>
          </p:xfrm>
          <a:graphic>
            <a:graphicData uri="http://schemas.openxmlformats.org/presentationml/2006/ole">
              <mc:AlternateContent xmlns:mc="http://schemas.openxmlformats.org/markup-compatibility/2006">
                <mc:Choice xmlns:v="urn:schemas-microsoft-com:vml" Requires="v">
                  <p:oleObj spid="_x0000_s18" name="Equation" r:id="rId13" imgW="59740800" imgH="10668000" progId="Equation.DSMT4">
                    <p:embed/>
                  </p:oleObj>
                </mc:Choice>
                <mc:Fallback>
                  <p:oleObj name="Equation" r:id="rId13" imgW="59740800" imgH="10668000" progId="Equation.DSMT4">
                    <p:embed/>
                    <p:pic>
                      <p:nvPicPr>
                        <p:cNvPr id="0" name="图片 17"/>
                        <p:cNvPicPr/>
                        <p:nvPr/>
                      </p:nvPicPr>
                      <p:blipFill>
                        <a:blip r:embed="rId14"/>
                        <a:stretch>
                          <a:fillRect/>
                        </a:stretch>
                      </p:blipFill>
                      <p:spPr>
                        <a:xfrm>
                          <a:off x="3720846" y="4858915"/>
                          <a:ext cx="3922268" cy="700405"/>
                        </a:xfrm>
                        <a:prstGeom prst="rect">
                          <a:avLst/>
                        </a:prstGeom>
                      </p:spPr>
                    </p:pic>
                  </p:oleObj>
                </mc:Fallback>
              </mc:AlternateContent>
            </a:graphicData>
          </a:graphic>
        </p:graphicFrame>
        <p:graphicFrame>
          <p:nvGraphicFramePr>
            <p:cNvPr id="19" name="对象 18"/>
            <p:cNvGraphicFramePr>
              <a:graphicFrameLocks noChangeAspect="1"/>
            </p:cNvGraphicFramePr>
            <p:nvPr/>
          </p:nvGraphicFramePr>
          <p:xfrm>
            <a:off x="4381228" y="5620505"/>
            <a:ext cx="2601504" cy="700405"/>
          </p:xfrm>
          <a:graphic>
            <a:graphicData uri="http://schemas.openxmlformats.org/presentationml/2006/ole">
              <mc:AlternateContent xmlns:mc="http://schemas.openxmlformats.org/markup-compatibility/2006">
                <mc:Choice xmlns:v="urn:schemas-microsoft-com:vml" Requires="v">
                  <p:oleObj spid="_x0000_s21" name="Equation" r:id="rId15" imgW="39624000" imgH="10668000" progId="Equation.DSMT4">
                    <p:embed/>
                  </p:oleObj>
                </mc:Choice>
                <mc:Fallback>
                  <p:oleObj name="Equation" r:id="rId15" imgW="39624000" imgH="10668000" progId="Equation.DSMT4">
                    <p:embed/>
                    <p:pic>
                      <p:nvPicPr>
                        <p:cNvPr id="0" name="图片 20"/>
                        <p:cNvPicPr/>
                        <p:nvPr/>
                      </p:nvPicPr>
                      <p:blipFill>
                        <a:blip r:embed="rId16"/>
                        <a:stretch>
                          <a:fillRect/>
                        </a:stretch>
                      </p:blipFill>
                      <p:spPr>
                        <a:xfrm>
                          <a:off x="4381228" y="5620505"/>
                          <a:ext cx="2601504" cy="700405"/>
                        </a:xfrm>
                        <a:prstGeom prst="rect">
                          <a:avLst/>
                        </a:prstGeom>
                      </p:spPr>
                    </p:pic>
                  </p:oleObj>
                </mc:Fallback>
              </mc:AlternateContent>
            </a:graphicData>
          </a:graphic>
        </p:graphicFrame>
        <p:graphicFrame>
          <p:nvGraphicFramePr>
            <p:cNvPr id="22" name="对象 21"/>
            <p:cNvGraphicFramePr>
              <a:graphicFrameLocks noChangeAspect="1"/>
            </p:cNvGraphicFramePr>
            <p:nvPr/>
          </p:nvGraphicFramePr>
          <p:xfrm>
            <a:off x="1887317" y="6368365"/>
            <a:ext cx="264356" cy="352475"/>
          </p:xfrm>
          <a:graphic>
            <a:graphicData uri="http://schemas.openxmlformats.org/presentationml/2006/ole">
              <mc:AlternateContent xmlns:mc="http://schemas.openxmlformats.org/markup-compatibility/2006">
                <mc:Choice xmlns:v="urn:schemas-microsoft-com:vml" Requires="v">
                  <p:oleObj spid="_x0000_s23" name="Equation" r:id="rId17" imgW="3657600" imgH="4876800" progId="Equation.DSMT4">
                    <p:embed/>
                  </p:oleObj>
                </mc:Choice>
                <mc:Fallback>
                  <p:oleObj name="Equation" r:id="rId17" imgW="3657600" imgH="4876800" progId="Equation.DSMT4">
                    <p:embed/>
                    <p:pic>
                      <p:nvPicPr>
                        <p:cNvPr id="0" name="图片 22"/>
                        <p:cNvPicPr/>
                        <p:nvPr/>
                      </p:nvPicPr>
                      <p:blipFill>
                        <a:blip r:embed="rId18"/>
                        <a:stretch>
                          <a:fillRect/>
                        </a:stretch>
                      </p:blipFill>
                      <p:spPr>
                        <a:xfrm>
                          <a:off x="1887317" y="6368365"/>
                          <a:ext cx="264356" cy="352475"/>
                        </a:xfrm>
                        <a:prstGeom prst="rect">
                          <a:avLst/>
                        </a:prstGeom>
                      </p:spPr>
                    </p:pic>
                  </p:oleObj>
                </mc:Fallback>
              </mc:AlternateContent>
            </a:graphicData>
          </a:graphic>
        </p:graphicFrame>
        <p:graphicFrame>
          <p:nvGraphicFramePr>
            <p:cNvPr id="24" name="对象 23"/>
            <p:cNvGraphicFramePr>
              <a:graphicFrameLocks noChangeAspect="1"/>
            </p:cNvGraphicFramePr>
            <p:nvPr/>
          </p:nvGraphicFramePr>
          <p:xfrm>
            <a:off x="5481041" y="6410386"/>
            <a:ext cx="205738" cy="251458"/>
          </p:xfrm>
          <a:graphic>
            <a:graphicData uri="http://schemas.openxmlformats.org/presentationml/2006/ole">
              <mc:AlternateContent xmlns:mc="http://schemas.openxmlformats.org/markup-compatibility/2006">
                <mc:Choice xmlns:v="urn:schemas-microsoft-com:vml" Requires="v">
                  <p:oleObj spid="_x0000_s25" name="Equation" r:id="rId19" imgW="2743200" imgH="3352800" progId="Equation.DSMT4">
                    <p:embed/>
                  </p:oleObj>
                </mc:Choice>
                <mc:Fallback>
                  <p:oleObj name="Equation" r:id="rId19" imgW="2743200" imgH="3352800" progId="Equation.DSMT4">
                    <p:embed/>
                    <p:pic>
                      <p:nvPicPr>
                        <p:cNvPr id="0" name="图片 24"/>
                        <p:cNvPicPr/>
                        <p:nvPr/>
                      </p:nvPicPr>
                      <p:blipFill>
                        <a:blip r:embed="rId20"/>
                        <a:stretch>
                          <a:fillRect/>
                        </a:stretch>
                      </p:blipFill>
                      <p:spPr>
                        <a:xfrm>
                          <a:off x="5481041" y="6410386"/>
                          <a:ext cx="205738" cy="251458"/>
                        </a:xfrm>
                        <a:prstGeom prst="rect">
                          <a:avLst/>
                        </a:prstGeom>
                      </p:spPr>
                    </p:pic>
                  </p:oleObj>
                </mc:Fallback>
              </mc:AlternateContent>
            </a:graphicData>
          </a:graphic>
        </p:graphicFrame>
      </p:grpSp>
    </p:spTree>
    <p:custDataLst>
      <p:tags r:id="rId2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典型网络结构</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810895"/>
            <a:ext cx="11131550" cy="1331262"/>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去噪自编码器</a:t>
            </a:r>
            <a:endPar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ts val="600"/>
              </a:spcBef>
              <a:buFont typeface="Arial" panose="020B0604020202020204" pitchFamily="34" charset="0"/>
              <a:buChar char="•"/>
              <a:defRPr/>
            </a:pP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并非以原始数据为输入，而是先对其施加噪声扰动，生成带噪样本，再将其输入网络，目标是重建原始无噪声的数据。期望模型学到更具有鲁棒性的特征表示。</a:t>
            </a:r>
            <a:endPar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26" name="组合 25"/>
          <p:cNvGrpSpPr/>
          <p:nvPr/>
        </p:nvGrpSpPr>
        <p:grpSpPr>
          <a:xfrm>
            <a:off x="1397001" y="2171897"/>
            <a:ext cx="7848600" cy="1845367"/>
            <a:chOff x="1397001" y="2171897"/>
            <a:chExt cx="7848600" cy="1845367"/>
          </a:xfrm>
        </p:grpSpPr>
        <p:sp>
          <p:nvSpPr>
            <p:cNvPr id="9" name="TextBox 8"/>
            <p:cNvSpPr txBox="1"/>
            <p:nvPr/>
          </p:nvSpPr>
          <p:spPr>
            <a:xfrm>
              <a:off x="1397001" y="2171897"/>
              <a:ext cx="7848600" cy="1845367"/>
            </a:xfrm>
            <a:prstGeom prst="rect">
              <a:avLst/>
            </a:prstGeom>
            <a:noFill/>
          </p:spPr>
          <p:txBody>
            <a:bodyPr wrap="square" lIns="0" tIns="0" rIns="0" bIns="0" rtlCol="0" anchor="t">
              <a:noAutofit/>
            </a:bodyPr>
            <a:lstStyle/>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从训练数据中采样训练样本</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引入一个损坏过程                         ，这表示给定数据    产生加噪样本    的概率</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从                        中采样加噪样本</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将            作为训练样本来估计自编码器的重构分布</a:t>
              </a: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algn="l" defTabSz="1219200" fontAlgn="auto">
                <a:lnSpc>
                  <a:spcPct val="150000"/>
                </a:lnSpc>
                <a:spcBef>
                  <a:spcPts val="600"/>
                </a:spcBef>
                <a:buFont typeface="+mj-ea"/>
                <a:buAutoNum type="circleNumDbPlain"/>
                <a:defRPr/>
              </a:pPr>
              <a:endPar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indent="0" algn="l" defTabSz="1219200" fontAlgn="auto">
                <a:lnSpc>
                  <a:spcPct val="150000"/>
                </a:lnSpc>
                <a:spcBef>
                  <a:spcPts val="600"/>
                </a:spcBef>
                <a:buFont typeface="Arial" panose="020B0604020202020204" pitchFamily="34" charset="0"/>
                <a:buNone/>
                <a:defRPr/>
              </a:pP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aphicFrame>
          <p:nvGraphicFramePr>
            <p:cNvPr id="3" name="对象 2"/>
            <p:cNvGraphicFramePr>
              <a:graphicFrameLocks noChangeAspect="1"/>
            </p:cNvGraphicFramePr>
            <p:nvPr/>
          </p:nvGraphicFramePr>
          <p:xfrm>
            <a:off x="4185920" y="2272764"/>
            <a:ext cx="197104" cy="216814"/>
          </p:xfrm>
          <a:graphic>
            <a:graphicData uri="http://schemas.openxmlformats.org/presentationml/2006/ole">
              <mc:AlternateContent xmlns:mc="http://schemas.openxmlformats.org/markup-compatibility/2006">
                <mc:Choice xmlns:v="urn:schemas-microsoft-com:vml" Requires="v">
                  <p:oleObj spid="_x0000_s2" name="Equation" r:id="rId1" imgW="3048000" imgH="3352800" progId="Equation.DSMT4">
                    <p:embed/>
                  </p:oleObj>
                </mc:Choice>
                <mc:Fallback>
                  <p:oleObj name="Equation" r:id="rId1" imgW="3048000" imgH="3352800" progId="Equation.DSMT4">
                    <p:embed/>
                    <p:pic>
                      <p:nvPicPr>
                        <p:cNvPr id="0" name="图片 1"/>
                        <p:cNvPicPr/>
                        <p:nvPr/>
                      </p:nvPicPr>
                      <p:blipFill>
                        <a:blip r:embed="rId2"/>
                        <a:stretch>
                          <a:fillRect/>
                        </a:stretch>
                      </p:blipFill>
                      <p:spPr>
                        <a:xfrm>
                          <a:off x="4185920" y="2272764"/>
                          <a:ext cx="197104" cy="216814"/>
                        </a:xfrm>
                        <a:prstGeom prst="rect">
                          <a:avLst/>
                        </a:prstGeom>
                      </p:spPr>
                    </p:pic>
                  </p:oleObj>
                </mc:Fallback>
              </mc:AlternateContent>
            </a:graphicData>
          </a:graphic>
        </p:graphicFrame>
        <p:graphicFrame>
          <p:nvGraphicFramePr>
            <p:cNvPr id="4" name="对象 3"/>
            <p:cNvGraphicFramePr>
              <a:graphicFrameLocks noChangeAspect="1"/>
            </p:cNvGraphicFramePr>
            <p:nvPr/>
          </p:nvGraphicFramePr>
          <p:xfrm>
            <a:off x="3384550" y="2672682"/>
            <a:ext cx="1108202" cy="302237"/>
          </p:xfrm>
          <a:graphic>
            <a:graphicData uri="http://schemas.openxmlformats.org/presentationml/2006/ole">
              <mc:AlternateContent xmlns:mc="http://schemas.openxmlformats.org/markup-compatibility/2006">
                <mc:Choice xmlns:v="urn:schemas-microsoft-com:vml" Requires="v">
                  <p:oleObj spid="_x0000_s5" name="Equation" r:id="rId3" imgW="20116800" imgH="5486400" progId="Equation.DSMT4">
                    <p:embed/>
                  </p:oleObj>
                </mc:Choice>
                <mc:Fallback>
                  <p:oleObj name="Equation" r:id="rId3" imgW="20116800" imgH="5486400" progId="Equation.DSMT4">
                    <p:embed/>
                    <p:pic>
                      <p:nvPicPr>
                        <p:cNvPr id="0" name="图片 4"/>
                        <p:cNvPicPr/>
                        <p:nvPr/>
                      </p:nvPicPr>
                      <p:blipFill>
                        <a:blip r:embed="rId4"/>
                        <a:stretch>
                          <a:fillRect/>
                        </a:stretch>
                      </p:blipFill>
                      <p:spPr>
                        <a:xfrm>
                          <a:off x="3384550" y="2672682"/>
                          <a:ext cx="1108202" cy="302237"/>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6148832" y="2705734"/>
            <a:ext cx="191008" cy="210109"/>
          </p:xfrm>
          <a:graphic>
            <a:graphicData uri="http://schemas.openxmlformats.org/presentationml/2006/ole">
              <mc:AlternateContent xmlns:mc="http://schemas.openxmlformats.org/markup-compatibility/2006">
                <mc:Choice xmlns:v="urn:schemas-microsoft-com:vml" Requires="v">
                  <p:oleObj spid="_x0000_s8" name="Equation" r:id="rId5" imgW="3048000" imgH="3352800" progId="Equation.DSMT4">
                    <p:embed/>
                  </p:oleObj>
                </mc:Choice>
                <mc:Fallback>
                  <p:oleObj name="Equation" r:id="rId5" imgW="3048000" imgH="3352800" progId="Equation.DSMT4">
                    <p:embed/>
                    <p:pic>
                      <p:nvPicPr>
                        <p:cNvPr id="0" name="图片 7"/>
                        <p:cNvPicPr/>
                        <p:nvPr/>
                      </p:nvPicPr>
                      <p:blipFill>
                        <a:blip r:embed="rId6"/>
                        <a:stretch>
                          <a:fillRect/>
                        </a:stretch>
                      </p:blipFill>
                      <p:spPr>
                        <a:xfrm>
                          <a:off x="6148832" y="2705734"/>
                          <a:ext cx="191008" cy="210109"/>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7550914" y="2666646"/>
            <a:ext cx="191008" cy="267411"/>
          </p:xfrm>
          <a:graphic>
            <a:graphicData uri="http://schemas.openxmlformats.org/presentationml/2006/ole">
              <mc:AlternateContent xmlns:mc="http://schemas.openxmlformats.org/markup-compatibility/2006">
                <mc:Choice xmlns:v="urn:schemas-microsoft-com:vml" Requires="v">
                  <p:oleObj spid="_x0000_s10" name="Equation" r:id="rId7" imgW="3048000" imgH="4267200" progId="Equation.DSMT4">
                    <p:embed/>
                  </p:oleObj>
                </mc:Choice>
                <mc:Fallback>
                  <p:oleObj name="Equation" r:id="rId7" imgW="3048000" imgH="4267200" progId="Equation.DSMT4">
                    <p:embed/>
                    <p:pic>
                      <p:nvPicPr>
                        <p:cNvPr id="0" name="图片 9"/>
                        <p:cNvPicPr/>
                        <p:nvPr/>
                      </p:nvPicPr>
                      <p:blipFill>
                        <a:blip r:embed="rId8"/>
                        <a:stretch>
                          <a:fillRect/>
                        </a:stretch>
                      </p:blipFill>
                      <p:spPr>
                        <a:xfrm>
                          <a:off x="7550914" y="2666646"/>
                          <a:ext cx="191008" cy="267411"/>
                        </a:xfrm>
                        <a:prstGeom prst="rect">
                          <a:avLst/>
                        </a:prstGeom>
                      </p:spPr>
                    </p:pic>
                  </p:oleObj>
                </mc:Fallback>
              </mc:AlternateContent>
            </a:graphicData>
          </a:graphic>
        </p:graphicFrame>
        <p:graphicFrame>
          <p:nvGraphicFramePr>
            <p:cNvPr id="21" name="对象 20"/>
            <p:cNvGraphicFramePr>
              <a:graphicFrameLocks noChangeAspect="1"/>
            </p:cNvGraphicFramePr>
            <p:nvPr/>
          </p:nvGraphicFramePr>
          <p:xfrm>
            <a:off x="4492752" y="3100629"/>
            <a:ext cx="191008" cy="267411"/>
          </p:xfrm>
          <a:graphic>
            <a:graphicData uri="http://schemas.openxmlformats.org/presentationml/2006/ole">
              <mc:AlternateContent xmlns:mc="http://schemas.openxmlformats.org/markup-compatibility/2006">
                <mc:Choice xmlns:v="urn:schemas-microsoft-com:vml" Requires="v">
                  <p:oleObj spid="_x0000_s11" name="Equation" r:id="rId9" imgW="3048000" imgH="4267200" progId="Equation.DSMT4">
                    <p:embed/>
                  </p:oleObj>
                </mc:Choice>
                <mc:Fallback>
                  <p:oleObj name="Equation" r:id="rId9" imgW="3048000" imgH="4267200" progId="Equation.DSMT4">
                    <p:embed/>
                    <p:pic>
                      <p:nvPicPr>
                        <p:cNvPr id="0" name="对象 13"/>
                        <p:cNvPicPr/>
                        <p:nvPr/>
                      </p:nvPicPr>
                      <p:blipFill>
                        <a:blip r:embed="rId8"/>
                        <a:stretch>
                          <a:fillRect/>
                        </a:stretch>
                      </p:blipFill>
                      <p:spPr>
                        <a:xfrm>
                          <a:off x="4492752" y="3100629"/>
                          <a:ext cx="191008" cy="267411"/>
                        </a:xfrm>
                        <a:prstGeom prst="rect">
                          <a:avLst/>
                        </a:prstGeom>
                      </p:spPr>
                    </p:pic>
                  </p:oleObj>
                </mc:Fallback>
              </mc:AlternateContent>
            </a:graphicData>
          </a:graphic>
        </p:graphicFrame>
        <p:graphicFrame>
          <p:nvGraphicFramePr>
            <p:cNvPr id="23" name="对象 22"/>
            <p:cNvGraphicFramePr>
              <a:graphicFrameLocks noChangeAspect="1"/>
            </p:cNvGraphicFramePr>
            <p:nvPr/>
          </p:nvGraphicFramePr>
          <p:xfrm>
            <a:off x="1933195" y="3100629"/>
            <a:ext cx="1108202" cy="302237"/>
          </p:xfrm>
          <a:graphic>
            <a:graphicData uri="http://schemas.openxmlformats.org/presentationml/2006/ole">
              <mc:AlternateContent xmlns:mc="http://schemas.openxmlformats.org/markup-compatibility/2006">
                <mc:Choice xmlns:v="urn:schemas-microsoft-com:vml" Requires="v">
                  <p:oleObj spid="_x0000_s12" name="Equation" r:id="rId10" imgW="20116800" imgH="5486400" progId="Equation.DSMT4">
                    <p:embed/>
                  </p:oleObj>
                </mc:Choice>
                <mc:Fallback>
                  <p:oleObj name="Equation" r:id="rId10" imgW="20116800" imgH="5486400" progId="Equation.DSMT4">
                    <p:embed/>
                    <p:pic>
                      <p:nvPicPr>
                        <p:cNvPr id="0" name="对象 3"/>
                        <p:cNvPicPr/>
                        <p:nvPr/>
                      </p:nvPicPr>
                      <p:blipFill>
                        <a:blip r:embed="rId4"/>
                        <a:stretch>
                          <a:fillRect/>
                        </a:stretch>
                      </p:blipFill>
                      <p:spPr>
                        <a:xfrm>
                          <a:off x="1933195" y="3100629"/>
                          <a:ext cx="1108202" cy="302237"/>
                        </a:xfrm>
                        <a:prstGeom prst="rect">
                          <a:avLst/>
                        </a:prstGeom>
                      </p:spPr>
                    </p:pic>
                  </p:oleObj>
                </mc:Fallback>
              </mc:AlternateContent>
            </a:graphicData>
          </a:graphic>
        </p:graphicFrame>
        <p:graphicFrame>
          <p:nvGraphicFramePr>
            <p:cNvPr id="24" name="对象 23"/>
            <p:cNvGraphicFramePr>
              <a:graphicFrameLocks noChangeAspect="1"/>
            </p:cNvGraphicFramePr>
            <p:nvPr/>
          </p:nvGraphicFramePr>
          <p:xfrm>
            <a:off x="1937894" y="3558506"/>
            <a:ext cx="549402" cy="303118"/>
          </p:xfrm>
          <a:graphic>
            <a:graphicData uri="http://schemas.openxmlformats.org/presentationml/2006/ole">
              <mc:AlternateContent xmlns:mc="http://schemas.openxmlformats.org/markup-compatibility/2006">
                <mc:Choice xmlns:v="urn:schemas-microsoft-com:vml" Requires="v">
                  <p:oleObj spid="_x0000_s15" name="Equation" r:id="rId11" imgW="8839200" imgH="4876800" progId="Equation.DSMT4">
                    <p:embed/>
                  </p:oleObj>
                </mc:Choice>
                <mc:Fallback>
                  <p:oleObj name="Equation" r:id="rId11" imgW="8839200" imgH="4876800" progId="Equation.DSMT4">
                    <p:embed/>
                    <p:pic>
                      <p:nvPicPr>
                        <p:cNvPr id="0" name="图片 14"/>
                        <p:cNvPicPr/>
                        <p:nvPr/>
                      </p:nvPicPr>
                      <p:blipFill>
                        <a:blip r:embed="rId12"/>
                        <a:stretch>
                          <a:fillRect/>
                        </a:stretch>
                      </p:blipFill>
                      <p:spPr>
                        <a:xfrm>
                          <a:off x="1937894" y="3558506"/>
                          <a:ext cx="549402" cy="303118"/>
                        </a:xfrm>
                        <a:prstGeom prst="rect">
                          <a:avLst/>
                        </a:prstGeom>
                      </p:spPr>
                    </p:pic>
                  </p:oleObj>
                </mc:Fallback>
              </mc:AlternateContent>
            </a:graphicData>
          </a:graphic>
        </p:graphicFrame>
        <p:graphicFrame>
          <p:nvGraphicFramePr>
            <p:cNvPr id="25" name="对象 24"/>
            <p:cNvGraphicFramePr>
              <a:graphicFrameLocks noChangeAspect="1"/>
            </p:cNvGraphicFramePr>
            <p:nvPr/>
          </p:nvGraphicFramePr>
          <p:xfrm>
            <a:off x="6148832" y="3559388"/>
            <a:ext cx="1940673" cy="302236"/>
          </p:xfrm>
          <a:graphic>
            <a:graphicData uri="http://schemas.openxmlformats.org/presentationml/2006/ole">
              <mc:AlternateContent xmlns:mc="http://schemas.openxmlformats.org/markup-compatibility/2006">
                <mc:Choice xmlns:v="urn:schemas-microsoft-com:vml" Requires="v">
                  <p:oleObj spid="_x0000_s16" name="Equation" r:id="rId13" imgW="37185600" imgH="5791200" progId="Equation.DSMT4">
                    <p:embed/>
                  </p:oleObj>
                </mc:Choice>
                <mc:Fallback>
                  <p:oleObj name="Equation" r:id="rId13" imgW="37185600" imgH="5791200" progId="Equation.DSMT4">
                    <p:embed/>
                    <p:pic>
                      <p:nvPicPr>
                        <p:cNvPr id="0" name="图片 15"/>
                        <p:cNvPicPr/>
                        <p:nvPr/>
                      </p:nvPicPr>
                      <p:blipFill>
                        <a:blip r:embed="rId14"/>
                        <a:stretch>
                          <a:fillRect/>
                        </a:stretch>
                      </p:blipFill>
                      <p:spPr>
                        <a:xfrm>
                          <a:off x="6148832" y="3559388"/>
                          <a:ext cx="1940673" cy="302236"/>
                        </a:xfrm>
                        <a:prstGeom prst="rect">
                          <a:avLst/>
                        </a:prstGeom>
                      </p:spPr>
                    </p:pic>
                  </p:oleObj>
                </mc:Fallback>
              </mc:AlternateContent>
            </a:graphicData>
          </a:graphic>
        </p:graphicFrame>
      </p:grpSp>
      <p:pic>
        <p:nvPicPr>
          <p:cNvPr id="27" name="图片 26"/>
          <p:cNvPicPr>
            <a:picLocks noChangeAspect="1"/>
          </p:cNvPicPr>
          <p:nvPr/>
        </p:nvPicPr>
        <p:blipFill>
          <a:blip r:embed="rId15"/>
          <a:stretch>
            <a:fillRect/>
          </a:stretch>
        </p:blipFill>
        <p:spPr>
          <a:xfrm>
            <a:off x="2311401" y="3901717"/>
            <a:ext cx="7386320" cy="2396475"/>
          </a:xfrm>
          <a:prstGeom prst="rect">
            <a:avLst/>
          </a:prstGeom>
        </p:spPr>
      </p:pic>
    </p:spTree>
    <p:custDataLst>
      <p:tags r:id="rId16"/>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分类任务应用</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5" name="文本框 4"/>
          <p:cNvSpPr txBox="1"/>
          <p:nvPr/>
        </p:nvSpPr>
        <p:spPr>
          <a:xfrm>
            <a:off x="336549" y="982345"/>
            <a:ext cx="11102975" cy="880177"/>
          </a:xfrm>
          <a:prstGeom prst="rect">
            <a:avLst/>
          </a:prstGeom>
          <a:noFill/>
        </p:spPr>
        <p:txBody>
          <a:bodyPr wrap="square" rtlCol="0" anchor="t">
            <a:spAutoFit/>
          </a:bodyPr>
          <a:lstStyle/>
          <a:p>
            <a:pPr indent="457200" defTabSz="1219200">
              <a:lnSpc>
                <a:spcPct val="150000"/>
              </a:lnSpc>
              <a:spcBef>
                <a:spcPts val="600"/>
              </a:spcBef>
              <a:defRPr/>
            </a:pPr>
            <a:r>
              <a:rPr lang="zh-CN" altLang="en-US" dirty="0"/>
              <a:t>在许多分类任务中</a:t>
            </a:r>
            <a:r>
              <a:rPr lang="en-US" altLang="zh-CN" dirty="0"/>
              <a:t>, </a:t>
            </a:r>
            <a:r>
              <a:rPr lang="zh-CN" altLang="en-US" dirty="0"/>
              <a:t>尤其是当输入数据是高维度数据时，深度自编码网络的编码器部分可以作为一种预训练的特征提取器，然后将提取的特征作为分类器的输入，实现样本分类。</a:t>
            </a:r>
            <a:endParaRPr lang="zh-CN" altLang="en-US"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2" name="图片 1"/>
          <p:cNvPicPr>
            <a:picLocks noChangeAspect="1"/>
          </p:cNvPicPr>
          <p:nvPr/>
        </p:nvPicPr>
        <p:blipFill>
          <a:blip r:embed="rId1"/>
          <a:stretch>
            <a:fillRect/>
          </a:stretch>
        </p:blipFill>
        <p:spPr>
          <a:xfrm>
            <a:off x="4591050" y="2321522"/>
            <a:ext cx="6943724" cy="3662854"/>
          </a:xfrm>
          <a:prstGeom prst="rect">
            <a:avLst/>
          </a:prstGeom>
        </p:spPr>
      </p:pic>
      <p:sp>
        <p:nvSpPr>
          <p:cNvPr id="4" name="圆角矩形 7"/>
          <p:cNvSpPr/>
          <p:nvPr/>
        </p:nvSpPr>
        <p:spPr>
          <a:xfrm>
            <a:off x="545465" y="2133599"/>
            <a:ext cx="3807459" cy="4371975"/>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6" name="TextBox 8"/>
          <p:cNvSpPr txBox="1"/>
          <p:nvPr/>
        </p:nvSpPr>
        <p:spPr>
          <a:xfrm>
            <a:off x="857250" y="2438401"/>
            <a:ext cx="3295649" cy="3876674"/>
          </a:xfrm>
          <a:prstGeom prst="rect">
            <a:avLst/>
          </a:prstGeom>
          <a:noFill/>
        </p:spPr>
        <p:txBody>
          <a:bodyPr wrap="square" lIns="0" tIns="0" rIns="0" bIns="0" rtlCol="0" anchor="t">
            <a:noAutofit/>
          </a:bodyPr>
          <a:lstStyle/>
          <a:p>
            <a:pPr defTabSz="1219200">
              <a:lnSpc>
                <a:spcPct val="150000"/>
              </a:lnSpc>
              <a:spcBef>
                <a:spcPct val="20000"/>
              </a:spcBef>
              <a:buFont typeface="Arial" panose="020B0604020202020204" pitchFamily="34" charset="0"/>
              <a:defRPr/>
            </a:pP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深度自编码网络用于图像分类的一般步骤：</a:t>
            </a:r>
            <a:endPar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ct val="20000"/>
              </a:spcBef>
              <a:buFont typeface="+mj-ea"/>
              <a:buAutoNum type="circleNumDbPlain"/>
              <a:defRPr/>
            </a:pP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预训练自编码器：使用大量无标签图像训练自编码器。</a:t>
            </a:r>
            <a:endPar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ct val="20000"/>
              </a:spcBef>
              <a:buFont typeface="+mj-ea"/>
              <a:buAutoNum type="circleNumDbPlain"/>
              <a:defRPr/>
            </a:pP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冻结编码器：将编码器部分提取出来并冻结参数。</a:t>
            </a:r>
            <a:endPar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ct val="20000"/>
              </a:spcBef>
              <a:buFont typeface="+mj-ea"/>
              <a:buAutoNum type="circleNumDbPlain"/>
              <a:defRPr/>
            </a:pP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添加分类层：添加一个用于分类的全连接层或其他分类器。</a:t>
            </a:r>
            <a:endPar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ct val="20000"/>
              </a:spcBef>
              <a:buFont typeface="+mj-ea"/>
              <a:buAutoNum type="circleNumDbPlain"/>
              <a:defRPr/>
            </a:pP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微调模型：使用标签数据对网络进行微调以适应分类任务。</a:t>
            </a:r>
            <a:endPar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1106805"/>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深度卷积神经网络</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03</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423129"/>
          </a:xfrm>
          <a:prstGeom prst="rect">
            <a:avLst/>
          </a:prstGeom>
        </p:spPr>
        <p:txBody>
          <a:bodyPr wrap="square">
            <a:spAutoFit/>
          </a:bodyPr>
          <a:lstStyle/>
          <a:p>
            <a:pPr lvl="0" algn="ctr">
              <a:lnSpc>
                <a:spcPct val="130000"/>
              </a:lnSpc>
              <a:defRPr/>
            </a:pPr>
            <a:r>
              <a:rPr lang="en-US" altLang="zh-CN"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Deep Convolutional Neural Network</a:t>
            </a:r>
            <a:endParaRPr lang="en-US" altLang="zh-CN"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545465" y="1036955"/>
            <a:ext cx="10951210" cy="1378585"/>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卷积神经网络</a:t>
            </a: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(convolutional neural networks, CNN) </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由纽约大学的杨立昆 </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(LeCun)</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于</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1989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年提出，是一种专门用来处理具有类似</a:t>
            </a:r>
            <a:r>
              <a:rPr lang="zh-CN" altLang="en-US" sz="1600" b="1"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网格结构输入</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的人工神经网络，例如二维灰度图像、具有深度信息的三维彩色图像等。相比于全连接神经网络，卷积神经网络不仅能够减少对计算资源的需求，还能学习图像中所包含的空间关系和特征。</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grpSp>
        <p:nvGrpSpPr>
          <p:cNvPr id="15" name="组合 14"/>
          <p:cNvGrpSpPr/>
          <p:nvPr/>
        </p:nvGrpSpPr>
        <p:grpSpPr>
          <a:xfrm>
            <a:off x="545466" y="2662450"/>
            <a:ext cx="6750140" cy="3771007"/>
            <a:chOff x="545466" y="2430675"/>
            <a:chExt cx="6025152" cy="3545582"/>
          </a:xfrm>
        </p:grpSpPr>
        <p:sp>
          <p:nvSpPr>
            <p:cNvPr id="8" name="圆角矩形 7"/>
            <p:cNvSpPr/>
            <p:nvPr/>
          </p:nvSpPr>
          <p:spPr>
            <a:xfrm>
              <a:off x="545466" y="2430675"/>
              <a:ext cx="6025152" cy="3545582"/>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TextBox 8"/>
            <p:cNvSpPr txBox="1"/>
            <p:nvPr/>
          </p:nvSpPr>
          <p:spPr>
            <a:xfrm>
              <a:off x="699877" y="2592572"/>
              <a:ext cx="5743467" cy="3259588"/>
            </a:xfrm>
            <a:prstGeom prst="rect">
              <a:avLst/>
            </a:prstGeom>
            <a:noFill/>
          </p:spPr>
          <p:txBody>
            <a:bodyPr wrap="square" lIns="0" tIns="0" rIns="0" bIns="0" rtlCol="0" anchor="t">
              <a:noAutofit/>
            </a:bodyPr>
            <a:lstStyle/>
            <a:p>
              <a:pPr defTabSz="1219200">
                <a:lnSpc>
                  <a:spcPct val="150000"/>
                </a:lnSpc>
                <a:spcBef>
                  <a:spcPct val="20000"/>
                </a:spcBef>
                <a:defRPr/>
              </a:pP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卷积层</a:t>
              </a:r>
              <a:endParaRPr lang="zh-CN" altLang="en-US" sz="11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卷积核</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(kernel)</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：也称滤波器</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(Filter)</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。使用一个小尺寸的矩阵对输入图像的局部区域进行加权求和，这个小尺寸的权值矩阵称为卷积核。</a:t>
              </a:r>
              <a:endPar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深度</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(depth)</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：也称卷积核的通道数，分为输入通道数和输出通道数。例如</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RGB</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图像输入时，卷积核的输入深度为</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3</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；对该图像提取</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256</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维特征，则卷积核的输出深度为</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256</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步长</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(stride)</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：卷积核每次在输入图像上移动的步幅，即每次跨过的像素个数。</a:t>
              </a:r>
              <a:endPar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填充</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(padding)</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：在图像外围扩展填充的宽度。</a:t>
              </a:r>
              <a:endPar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pic>
        <p:nvPicPr>
          <p:cNvPr id="7" name="图片 6"/>
          <p:cNvPicPr>
            <a:picLocks noChangeAspect="1"/>
          </p:cNvPicPr>
          <p:nvPr/>
        </p:nvPicPr>
        <p:blipFill>
          <a:blip r:embed="rId1"/>
          <a:stretch>
            <a:fillRect/>
          </a:stretch>
        </p:blipFill>
        <p:spPr>
          <a:xfrm>
            <a:off x="7934296" y="2834640"/>
            <a:ext cx="3289238" cy="1113355"/>
          </a:xfrm>
          <a:prstGeom prst="rect">
            <a:avLst/>
          </a:prstGeom>
        </p:spPr>
      </p:pic>
      <p:pic>
        <p:nvPicPr>
          <p:cNvPr id="11" name="图片 10"/>
          <p:cNvPicPr>
            <a:picLocks noChangeAspect="1"/>
          </p:cNvPicPr>
          <p:nvPr/>
        </p:nvPicPr>
        <p:blipFill>
          <a:blip r:embed="rId2"/>
          <a:stretch>
            <a:fillRect/>
          </a:stretch>
        </p:blipFill>
        <p:spPr>
          <a:xfrm>
            <a:off x="7392717" y="4337138"/>
            <a:ext cx="4285614" cy="1749061"/>
          </a:xfrm>
          <a:prstGeom prst="rect">
            <a:avLst/>
          </a:prstGeom>
        </p:spPr>
      </p:pic>
      <p:sp>
        <p:nvSpPr>
          <p:cNvPr id="22" name="文本框 21"/>
          <p:cNvSpPr txBox="1"/>
          <p:nvPr/>
        </p:nvSpPr>
        <p:spPr>
          <a:xfrm>
            <a:off x="7890905" y="3986653"/>
            <a:ext cx="3289238" cy="307777"/>
          </a:xfrm>
          <a:prstGeom prst="rect">
            <a:avLst/>
          </a:prstGeom>
          <a:noFill/>
        </p:spPr>
        <p:txBody>
          <a:bodyPr wrap="square" rtlCol="0">
            <a:spAutoFit/>
          </a:bodyPr>
          <a:lstStyle/>
          <a:p>
            <a:r>
              <a:rPr lang="en-US" altLang="zh-CN" sz="1400" dirty="0">
                <a:latin typeface="+mn-ea"/>
              </a:rPr>
              <a:t>2×2</a:t>
            </a:r>
            <a:r>
              <a:rPr lang="zh-CN" altLang="en-US" sz="1400" dirty="0">
                <a:latin typeface="+mn-ea"/>
              </a:rPr>
              <a:t>卷积核，步幅为</a:t>
            </a:r>
            <a:r>
              <a:rPr lang="en-US" altLang="zh-CN" sz="1400" dirty="0">
                <a:latin typeface="+mn-ea"/>
              </a:rPr>
              <a:t>1</a:t>
            </a:r>
            <a:r>
              <a:rPr lang="zh-CN" altLang="en-US" sz="1400" dirty="0">
                <a:latin typeface="+mn-ea"/>
              </a:rPr>
              <a:t>的计算过程示意</a:t>
            </a:r>
            <a:endParaRPr lang="zh-CN" altLang="en-US" sz="1400" dirty="0">
              <a:latin typeface="+mn-ea"/>
            </a:endParaRPr>
          </a:p>
        </p:txBody>
      </p:sp>
      <p:sp>
        <p:nvSpPr>
          <p:cNvPr id="23" name="文本框 22"/>
          <p:cNvSpPr txBox="1"/>
          <p:nvPr/>
        </p:nvSpPr>
        <p:spPr>
          <a:xfrm>
            <a:off x="7944956" y="6167565"/>
            <a:ext cx="3733375" cy="307777"/>
          </a:xfrm>
          <a:prstGeom prst="rect">
            <a:avLst/>
          </a:prstGeom>
          <a:noFill/>
        </p:spPr>
        <p:txBody>
          <a:bodyPr wrap="square" rtlCol="0">
            <a:spAutoFit/>
          </a:bodyPr>
          <a:lstStyle/>
          <a:p>
            <a:r>
              <a:rPr lang="en-US" altLang="zh-CN" sz="1400" dirty="0">
                <a:latin typeface="+mn-ea"/>
              </a:rPr>
              <a:t>2×2</a:t>
            </a:r>
            <a:r>
              <a:rPr lang="zh-CN" altLang="en-US" sz="1400" dirty="0">
                <a:latin typeface="+mn-ea"/>
              </a:rPr>
              <a:t>卷积核，进行宽度为</a:t>
            </a:r>
            <a:r>
              <a:rPr lang="en-US" altLang="zh-CN" sz="1400" dirty="0">
                <a:latin typeface="+mn-ea"/>
              </a:rPr>
              <a:t>1</a:t>
            </a:r>
            <a:r>
              <a:rPr lang="zh-CN" altLang="en-US" sz="1400" dirty="0">
                <a:latin typeface="+mn-ea"/>
              </a:rPr>
              <a:t>的零填充示意</a:t>
            </a:r>
            <a:endParaRPr lang="zh-CN" altLang="en-US" sz="1400" dirty="0">
              <a:latin typeface="+mn-ea"/>
            </a:endParaRPr>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545465" y="1036956"/>
            <a:ext cx="6403974" cy="413022"/>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卷积神经网络</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8" name="圆角矩形 7"/>
          <p:cNvSpPr/>
          <p:nvPr/>
        </p:nvSpPr>
        <p:spPr>
          <a:xfrm>
            <a:off x="545464" y="1509109"/>
            <a:ext cx="6697889" cy="4694292"/>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TextBox 8"/>
          <p:cNvSpPr txBox="1"/>
          <p:nvPr/>
        </p:nvSpPr>
        <p:spPr>
          <a:xfrm>
            <a:off x="789787" y="1681298"/>
            <a:ext cx="6264156" cy="4353741"/>
          </a:xfrm>
          <a:prstGeom prst="rect">
            <a:avLst/>
          </a:prstGeom>
          <a:noFill/>
        </p:spPr>
        <p:txBody>
          <a:bodyPr wrap="square" lIns="0" tIns="0" rIns="0" bIns="0" rtlCol="0" anchor="t">
            <a:noAutofit/>
          </a:bodyPr>
          <a:lstStyle/>
          <a:p>
            <a:pPr defTabSz="1219200">
              <a:lnSpc>
                <a:spcPct val="150000"/>
              </a:lnSpc>
              <a:spcBef>
                <a:spcPct val="20000"/>
              </a:spcBef>
              <a:defRPr/>
            </a:pP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卷积层</a:t>
            </a:r>
            <a:endPar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输出尺寸：假设卷积核的大小为 </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F ×F</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，步长为 </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S</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，填充宽度为</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P</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，输入图像的尺寸为 </a:t>
            </a:r>
            <a:r>
              <a:rPr lang="en-US" altLang="zh-CN" sz="1600" dirty="0" err="1">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h</a:t>
            </a:r>
            <a:r>
              <a:rPr lang="en-US" altLang="zh-CN" sz="1600" baseline="-25000" dirty="0" err="1">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i</a:t>
            </a:r>
            <a:r>
              <a:rPr lang="en-US" altLang="zh-CN" sz="1600" dirty="0" err="1">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×w</a:t>
            </a:r>
            <a:r>
              <a:rPr lang="en-US" altLang="zh-CN" sz="1600" baseline="-25000" dirty="0" err="1">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i</a:t>
            </a:r>
            <a:r>
              <a:rPr lang="en-US" altLang="zh-CN" sz="1600" baseline="-25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，输出特征图的尺寸为</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h</a:t>
            </a:r>
            <a:r>
              <a:rPr lang="en-US" altLang="zh-CN" sz="1600" baseline="-25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o</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w</a:t>
            </a:r>
            <a:r>
              <a:rPr lang="en-US" altLang="zh-CN" sz="1600" baseline="-25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o</a:t>
            </a:r>
            <a:endParaRPr lang="en-US" altLang="zh-CN" sz="1600" baseline="-25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endParaRPr lang="en-US" altLang="zh-CN" sz="1600" baseline="-25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endParaRPr lang="en-US" altLang="zh-CN" sz="1600" baseline="-25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endParaRPr lang="en-US" altLang="zh-CN" sz="1600" baseline="-25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endParaRPr lang="en-US" altLang="zh-CN" sz="1600" baseline="-25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感受野</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(receptive field)</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：卷积层输出的特征图中每个像素映射回输入图像上的区域大小。假设第</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en-US" altLang="zh-CN" sz="1600" dirty="0" err="1">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i</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层卷积的尺寸为</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k</a:t>
            </a:r>
            <a:r>
              <a:rPr lang="en-US" altLang="zh-CN" sz="1600" baseline="-25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i</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，步长为 </a:t>
            </a:r>
            <a:r>
              <a:rPr lang="en-US" altLang="zh-CN" sz="1600" dirty="0" err="1">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s</a:t>
            </a:r>
            <a:r>
              <a:rPr lang="en-US" altLang="zh-CN" sz="1600" baseline="-25000" dirty="0" err="1">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i</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，则感受野 </a:t>
            </a:r>
            <a:r>
              <a:rPr lang="en-US" altLang="zh-CN" sz="1600" dirty="0" err="1">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a:t>
            </a:r>
            <a:r>
              <a:rPr lang="en-US" altLang="zh-CN" sz="1600" baseline="-25000" dirty="0" err="1">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i</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为：</a:t>
            </a:r>
            <a:endPar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endParaRPr lang="en-US" altLang="zh-CN" sz="1600" baseline="-25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endParaRPr lang="en-US" altLang="zh-CN" sz="1600" baseline="-25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aphicFrame>
        <p:nvGraphicFramePr>
          <p:cNvPr id="2" name="对象 1"/>
          <p:cNvGraphicFramePr>
            <a:graphicFrameLocks noChangeAspect="1"/>
          </p:cNvGraphicFramePr>
          <p:nvPr/>
        </p:nvGraphicFramePr>
        <p:xfrm>
          <a:off x="2545556" y="2843953"/>
          <a:ext cx="1677988" cy="1074738"/>
        </p:xfrm>
        <a:graphic>
          <a:graphicData uri="http://schemas.openxmlformats.org/presentationml/2006/ole">
            <mc:AlternateContent xmlns:mc="http://schemas.openxmlformats.org/markup-compatibility/2006">
              <mc:Choice xmlns:v="urn:schemas-microsoft-com:vml" Requires="v">
                <p:oleObj spid="_x0000_s4" name="Equation" r:id="rId1" imgW="30480000" imgH="19507200" progId="Equation.DSMT4">
                  <p:embed/>
                </p:oleObj>
              </mc:Choice>
              <mc:Fallback>
                <p:oleObj name="Equation" r:id="rId1" imgW="30480000" imgH="19507200" progId="Equation.DSMT4">
                  <p:embed/>
                  <p:pic>
                    <p:nvPicPr>
                      <p:cNvPr id="0" name="图片 3"/>
                      <p:cNvPicPr/>
                      <p:nvPr/>
                    </p:nvPicPr>
                    <p:blipFill>
                      <a:blip r:embed="rId2"/>
                      <a:stretch>
                        <a:fillRect/>
                      </a:stretch>
                    </p:blipFill>
                    <p:spPr>
                      <a:xfrm>
                        <a:off x="2545556" y="2843953"/>
                        <a:ext cx="1677988" cy="1074738"/>
                      </a:xfrm>
                      <a:prstGeom prst="rect">
                        <a:avLst/>
                      </a:prstGeom>
                    </p:spPr>
                  </p:pic>
                </p:oleObj>
              </mc:Fallback>
            </mc:AlternateContent>
          </a:graphicData>
        </a:graphic>
      </p:graphicFrame>
      <p:pic>
        <p:nvPicPr>
          <p:cNvPr id="5" name="图片 4"/>
          <p:cNvPicPr>
            <a:picLocks noChangeAspect="1"/>
          </p:cNvPicPr>
          <p:nvPr/>
        </p:nvPicPr>
        <p:blipFill>
          <a:blip r:embed="rId3"/>
          <a:stretch>
            <a:fillRect/>
          </a:stretch>
        </p:blipFill>
        <p:spPr>
          <a:xfrm>
            <a:off x="7494572" y="1036956"/>
            <a:ext cx="4081904" cy="5166445"/>
          </a:xfrm>
          <a:prstGeom prst="rect">
            <a:avLst/>
          </a:prstGeom>
        </p:spPr>
      </p:pic>
      <p:graphicFrame>
        <p:nvGraphicFramePr>
          <p:cNvPr id="6" name="对象 5"/>
          <p:cNvGraphicFramePr>
            <a:graphicFrameLocks noChangeAspect="1"/>
          </p:cNvGraphicFramePr>
          <p:nvPr/>
        </p:nvGraphicFramePr>
        <p:xfrm>
          <a:off x="2284912" y="4897295"/>
          <a:ext cx="3543579" cy="1209587"/>
        </p:xfrm>
        <a:graphic>
          <a:graphicData uri="http://schemas.openxmlformats.org/presentationml/2006/ole">
            <mc:AlternateContent xmlns:mc="http://schemas.openxmlformats.org/markup-compatibility/2006">
              <mc:Choice xmlns:v="urn:schemas-microsoft-com:vml" Requires="v">
                <p:oleObj spid="_x0000_s7" name="Equation" r:id="rId4" imgW="63398400" imgH="21640800" progId="Equation.DSMT4">
                  <p:embed/>
                </p:oleObj>
              </mc:Choice>
              <mc:Fallback>
                <p:oleObj name="Equation" r:id="rId4" imgW="63398400" imgH="21640800" progId="Equation.DSMT4">
                  <p:embed/>
                  <p:pic>
                    <p:nvPicPr>
                      <p:cNvPr id="0" name="图片 6"/>
                      <p:cNvPicPr/>
                      <p:nvPr/>
                    </p:nvPicPr>
                    <p:blipFill>
                      <a:blip r:embed="rId5"/>
                      <a:stretch>
                        <a:fillRect/>
                      </a:stretch>
                    </p:blipFill>
                    <p:spPr>
                      <a:xfrm>
                        <a:off x="2284912" y="4897295"/>
                        <a:ext cx="3543579" cy="1209587"/>
                      </a:xfrm>
                      <a:prstGeom prst="rect">
                        <a:avLst/>
                      </a:prstGeom>
                    </p:spPr>
                  </p:pic>
                </p:oleObj>
              </mc:Fallback>
            </mc:AlternateContent>
          </a:graphicData>
        </a:graphic>
      </p:graphicFrame>
    </p:spTree>
    <p:custDataLst>
      <p:tags r:id="rId6"/>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545465" y="1036956"/>
            <a:ext cx="6403974" cy="413022"/>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卷积神经网络</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grpSp>
        <p:nvGrpSpPr>
          <p:cNvPr id="4" name="组合 3"/>
          <p:cNvGrpSpPr/>
          <p:nvPr/>
        </p:nvGrpSpPr>
        <p:grpSpPr>
          <a:xfrm>
            <a:off x="545465" y="1509395"/>
            <a:ext cx="6567170" cy="4819650"/>
            <a:chOff x="859" y="2377"/>
            <a:chExt cx="10342" cy="7590"/>
          </a:xfrm>
        </p:grpSpPr>
        <p:sp>
          <p:nvSpPr>
            <p:cNvPr id="8" name="圆角矩形 7"/>
            <p:cNvSpPr/>
            <p:nvPr/>
          </p:nvSpPr>
          <p:spPr>
            <a:xfrm>
              <a:off x="859" y="2377"/>
              <a:ext cx="10342" cy="7590"/>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TextBox 8"/>
            <p:cNvSpPr txBox="1"/>
            <p:nvPr/>
          </p:nvSpPr>
          <p:spPr>
            <a:xfrm>
              <a:off x="1244" y="2648"/>
              <a:ext cx="9700" cy="6856"/>
            </a:xfrm>
            <a:prstGeom prst="rect">
              <a:avLst/>
            </a:prstGeom>
            <a:noFill/>
          </p:spPr>
          <p:txBody>
            <a:bodyPr wrap="square" lIns="0" tIns="0" rIns="0" bIns="0" rtlCol="0" anchor="t">
              <a:noAutofit/>
            </a:bodyPr>
            <a:lstStyle/>
            <a:p>
              <a:pPr defTabSz="1219200">
                <a:lnSpc>
                  <a:spcPct val="150000"/>
                </a:lnSpc>
                <a:spcBef>
                  <a:spcPct val="20000"/>
                </a:spcBef>
                <a:defRPr/>
              </a:pP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卷积层</a:t>
              </a:r>
              <a:endParaRPr lang="en-US" altLang="zh-CN" sz="1600" baseline="-25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感受野</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(receptive field)</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：卷积层输出的特征图中每个像素映射回输入图像上的区域大小。假设第</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en-US" altLang="zh-CN" sz="1600" dirty="0" err="1">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i</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层卷积的尺寸为</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k</a:t>
              </a:r>
              <a:r>
                <a:rPr lang="en-US" altLang="zh-CN" sz="1600" baseline="-25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i</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，步长为 </a:t>
              </a:r>
              <a:r>
                <a:rPr lang="en-US" altLang="zh-CN" sz="1600" dirty="0" err="1">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s</a:t>
              </a:r>
              <a:r>
                <a:rPr lang="en-US" altLang="zh-CN" sz="1600" baseline="-25000" dirty="0" err="1">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i</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，则感受野 </a:t>
              </a:r>
              <a:r>
                <a:rPr lang="en-US" altLang="zh-CN" sz="1600" dirty="0" err="1">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a:t>
              </a:r>
              <a:r>
                <a:rPr lang="en-US" altLang="zh-CN" sz="1600" baseline="-25000" dirty="0" err="1">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i</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为：</a:t>
              </a:r>
              <a:endPar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endParaRPr lang="en-US" altLang="zh-CN" sz="1600" baseline="-25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endParaRPr lang="en-US" altLang="zh-CN" sz="1600" baseline="-25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endParaRPr lang="en-US" altLang="zh-CN" sz="1600" baseline="-25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endParaRPr lang="en-US" altLang="zh-CN" sz="1600" baseline="-25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假设输入图像为</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7×7</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大小，第一层卷积 </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k</a:t>
              </a:r>
              <a:r>
                <a:rPr lang="en-US" altLang="zh-CN" sz="1600" baseline="-25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=3</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s</a:t>
              </a:r>
              <a:r>
                <a:rPr lang="en-US" altLang="zh-CN" sz="1600" baseline="-25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，第二层卷积 </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k</a:t>
              </a:r>
              <a:r>
                <a:rPr lang="en-US" altLang="zh-CN" sz="1600" baseline="-25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s</a:t>
              </a:r>
              <a:r>
                <a:rPr lang="en-US" altLang="zh-CN" sz="1600" baseline="-25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，经过两个卷积层后输出</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2×2</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的特征图。</a:t>
              </a:r>
              <a:endPar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第一层卷积每个神经元的感受野 </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a:t>
              </a:r>
              <a:r>
                <a:rPr lang="en-US" altLang="zh-CN" sz="1600" baseline="-25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1</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=3</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，第二层每个神经元的感受野为 </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a:t>
              </a:r>
              <a:r>
                <a:rPr lang="en-US" altLang="zh-CN" sz="1600" baseline="-250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=2×3-1=5</a:t>
              </a:r>
              <a:endPar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卷积核能有效检测</a:t>
              </a:r>
              <a:r>
                <a:rPr lang="zh-CN" altLang="en-US" sz="1600" dirty="0"/>
                <a:t>图像的边缘、轮廓、纹理等特征</a:t>
              </a:r>
              <a:endPar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aphicFrame>
          <p:nvGraphicFramePr>
            <p:cNvPr id="5" name="对象 4"/>
            <p:cNvGraphicFramePr>
              <a:graphicFrameLocks noChangeAspect="1"/>
            </p:cNvGraphicFramePr>
            <p:nvPr/>
          </p:nvGraphicFramePr>
          <p:xfrm>
            <a:off x="3197" y="4965"/>
            <a:ext cx="5580" cy="1905"/>
          </p:xfrm>
          <a:graphic>
            <a:graphicData uri="http://schemas.openxmlformats.org/presentationml/2006/ole">
              <mc:AlternateContent xmlns:mc="http://schemas.openxmlformats.org/markup-compatibility/2006">
                <mc:Choice xmlns:v="urn:schemas-microsoft-com:vml" Requires="v">
                  <p:oleObj spid="_x0000_s2" name="Equation" r:id="rId1" imgW="63398400" imgH="21640800" progId="Equation.DSMT4">
                    <p:embed/>
                  </p:oleObj>
                </mc:Choice>
                <mc:Fallback>
                  <p:oleObj name="Equation" r:id="rId1" imgW="63398400" imgH="21640800" progId="Equation.DSMT4">
                    <p:embed/>
                    <p:pic>
                      <p:nvPicPr>
                        <p:cNvPr id="0" name="对象 4"/>
                        <p:cNvPicPr/>
                        <p:nvPr/>
                      </p:nvPicPr>
                      <p:blipFill>
                        <a:blip r:embed="rId2"/>
                        <a:stretch>
                          <a:fillRect/>
                        </a:stretch>
                      </p:blipFill>
                      <p:spPr>
                        <a:xfrm>
                          <a:off x="3197" y="4965"/>
                          <a:ext cx="5580" cy="1905"/>
                        </a:xfrm>
                        <a:prstGeom prst="rect">
                          <a:avLst/>
                        </a:prstGeom>
                      </p:spPr>
                    </p:pic>
                  </p:oleObj>
                </mc:Fallback>
              </mc:AlternateContent>
            </a:graphicData>
          </a:graphic>
        </p:graphicFrame>
      </p:grpSp>
      <p:pic>
        <p:nvPicPr>
          <p:cNvPr id="6" name="图片 5"/>
          <p:cNvPicPr>
            <a:picLocks noChangeAspect="1"/>
          </p:cNvPicPr>
          <p:nvPr/>
        </p:nvPicPr>
        <p:blipFill>
          <a:blip r:embed="rId3"/>
          <a:stretch>
            <a:fillRect/>
          </a:stretch>
        </p:blipFill>
        <p:spPr>
          <a:xfrm>
            <a:off x="7193761" y="1113113"/>
            <a:ext cx="4603442" cy="2155434"/>
          </a:xfrm>
          <a:prstGeom prst="rect">
            <a:avLst/>
          </a:prstGeom>
        </p:spPr>
      </p:pic>
      <p:pic>
        <p:nvPicPr>
          <p:cNvPr id="7" name="图片 6"/>
          <p:cNvPicPr>
            <a:picLocks noChangeAspect="1"/>
          </p:cNvPicPr>
          <p:nvPr/>
        </p:nvPicPr>
        <p:blipFill>
          <a:blip r:embed="rId4"/>
          <a:stretch>
            <a:fillRect/>
          </a:stretch>
        </p:blipFill>
        <p:spPr>
          <a:xfrm>
            <a:off x="7366508" y="3720079"/>
            <a:ext cx="4257948" cy="2439544"/>
          </a:xfrm>
          <a:prstGeom prst="rect">
            <a:avLst/>
          </a:prstGeom>
        </p:spPr>
      </p:pic>
    </p:spTree>
    <p:custDataLst>
      <p:tags r:id="rId5"/>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545465" y="1036956"/>
            <a:ext cx="6403974" cy="413022"/>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卷积神经网络</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8" name="圆角矩形 7"/>
          <p:cNvSpPr/>
          <p:nvPr/>
        </p:nvSpPr>
        <p:spPr>
          <a:xfrm>
            <a:off x="545465" y="1509109"/>
            <a:ext cx="5639798" cy="4694292"/>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TextBox 8"/>
          <p:cNvSpPr txBox="1"/>
          <p:nvPr/>
        </p:nvSpPr>
        <p:spPr>
          <a:xfrm>
            <a:off x="789787" y="1681298"/>
            <a:ext cx="5191913" cy="4353741"/>
          </a:xfrm>
          <a:prstGeom prst="rect">
            <a:avLst/>
          </a:prstGeom>
          <a:noFill/>
        </p:spPr>
        <p:txBody>
          <a:bodyPr wrap="square" lIns="0" tIns="0" rIns="0" bIns="0" rtlCol="0" anchor="t">
            <a:noAutofit/>
          </a:bodyPr>
          <a:lstStyle/>
          <a:p>
            <a:pPr defTabSz="1219200">
              <a:lnSpc>
                <a:spcPct val="150000"/>
              </a:lnSpc>
              <a:spcBef>
                <a:spcPct val="20000"/>
              </a:spcBef>
              <a:defRPr/>
            </a:pP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池化层</a:t>
            </a:r>
            <a:endPar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对卷积后的结果进行压缩以减小特征图的尺寸，提升计算效率，这个压缩图像信息的过程就称为池化</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(pooling)</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常见的池化方式有平均池化</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(average pooling)</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和最大池化</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(max pooling)</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，池化层的主要参数有池化尺寸和池化步长。</a:t>
            </a:r>
            <a:endPar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r>
              <a:rPr lang="zh-CN" altLang="en-US" sz="1600" b="1" dirty="0">
                <a:solidFill>
                  <a:srgbClr val="006FAE"/>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全连接层</a:t>
            </a:r>
            <a:endParaRPr lang="en-US" altLang="zh-CN" sz="1600" b="1" dirty="0">
              <a:solidFill>
                <a:srgbClr val="006FAE"/>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将卷积层输出的特征图展平后用全连接层进行分类。</a:t>
            </a:r>
            <a:endPar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2" name="图片 1"/>
          <p:cNvPicPr>
            <a:picLocks noChangeAspect="1"/>
          </p:cNvPicPr>
          <p:nvPr/>
        </p:nvPicPr>
        <p:blipFill>
          <a:blip r:embed="rId1"/>
          <a:stretch>
            <a:fillRect/>
          </a:stretch>
        </p:blipFill>
        <p:spPr>
          <a:xfrm>
            <a:off x="6303487" y="2188028"/>
            <a:ext cx="5472489" cy="1139201"/>
          </a:xfrm>
          <a:prstGeom prst="rect">
            <a:avLst/>
          </a:prstGeom>
        </p:spPr>
      </p:pic>
      <p:pic>
        <p:nvPicPr>
          <p:cNvPr id="4" name="图片 3"/>
          <p:cNvPicPr>
            <a:picLocks noChangeAspect="1"/>
          </p:cNvPicPr>
          <p:nvPr/>
        </p:nvPicPr>
        <p:blipFill>
          <a:blip r:embed="rId2"/>
          <a:stretch>
            <a:fillRect/>
          </a:stretch>
        </p:blipFill>
        <p:spPr>
          <a:xfrm>
            <a:off x="6355735" y="3968387"/>
            <a:ext cx="5472489" cy="1581223"/>
          </a:xfrm>
          <a:prstGeom prst="rect">
            <a:avLst/>
          </a:prstGeom>
        </p:spPr>
      </p:pic>
      <p:graphicFrame>
        <p:nvGraphicFramePr>
          <p:cNvPr id="10" name="对象 9"/>
          <p:cNvGraphicFramePr>
            <a:graphicFrameLocks noChangeAspect="1"/>
          </p:cNvGraphicFramePr>
          <p:nvPr/>
        </p:nvGraphicFramePr>
        <p:xfrm>
          <a:off x="6553200" y="3556000"/>
          <a:ext cx="914400" cy="198438"/>
        </p:xfrm>
        <a:graphic>
          <a:graphicData uri="http://schemas.openxmlformats.org/presentationml/2006/ole">
            <mc:AlternateContent xmlns:mc="http://schemas.openxmlformats.org/markup-compatibility/2006">
              <mc:Choice xmlns:v="urn:schemas-microsoft-com:vml" Requires="v">
                <p:oleObj spid="_x0000_s5" name="Equation" r:id="rId3" imgW="2743200" imgH="4267200" progId="Equation.DSMT4">
                  <p:embed/>
                </p:oleObj>
              </mc:Choice>
              <mc:Fallback>
                <p:oleObj name="Equation" r:id="rId3" imgW="2743200" imgH="4267200" progId="Equation.DSMT4">
                  <p:embed/>
                  <p:pic>
                    <p:nvPicPr>
                      <p:cNvPr id="0" name="图片 4"/>
                      <p:cNvPicPr/>
                      <p:nvPr/>
                    </p:nvPicPr>
                    <p:blipFill>
                      <a:blip r:embed="rId4"/>
                      <a:stretch>
                        <a:fillRect/>
                      </a:stretch>
                    </p:blipFill>
                    <p:spPr>
                      <a:xfrm>
                        <a:off x="6553200" y="3556000"/>
                        <a:ext cx="914400" cy="198438"/>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1109254" y="5243377"/>
          <a:ext cx="1722561" cy="612466"/>
        </p:xfrm>
        <a:graphic>
          <a:graphicData uri="http://schemas.openxmlformats.org/presentationml/2006/ole">
            <mc:AlternateContent xmlns:mc="http://schemas.openxmlformats.org/markup-compatibility/2006">
              <mc:Choice xmlns:v="urn:schemas-microsoft-com:vml" Requires="v">
                <p:oleObj spid="_x0000_s6" name="Equation" r:id="rId5" imgW="27432000" imgH="9753600" progId="Equation.DSMT4">
                  <p:embed/>
                </p:oleObj>
              </mc:Choice>
              <mc:Fallback>
                <p:oleObj name="Equation" r:id="rId5" imgW="27432000" imgH="9753600" progId="Equation.DSMT4">
                  <p:embed/>
                  <p:pic>
                    <p:nvPicPr>
                      <p:cNvPr id="0" name="图片 5"/>
                      <p:cNvPicPr/>
                      <p:nvPr/>
                    </p:nvPicPr>
                    <p:blipFill>
                      <a:blip r:embed="rId6"/>
                      <a:stretch>
                        <a:fillRect/>
                      </a:stretch>
                    </p:blipFill>
                    <p:spPr>
                      <a:xfrm>
                        <a:off x="1109254" y="5243377"/>
                        <a:ext cx="1722561" cy="612466"/>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3399476" y="5176702"/>
          <a:ext cx="1890981" cy="936973"/>
        </p:xfrm>
        <a:graphic>
          <a:graphicData uri="http://schemas.openxmlformats.org/presentationml/2006/ole">
            <mc:AlternateContent xmlns:mc="http://schemas.openxmlformats.org/markup-compatibility/2006">
              <mc:Choice xmlns:v="urn:schemas-microsoft-com:vml" Requires="v">
                <p:oleObj spid="_x0000_s7" name="Equation" r:id="rId7" imgW="33832800" imgH="16764000" progId="Equation.DSMT4">
                  <p:embed/>
                </p:oleObj>
              </mc:Choice>
              <mc:Fallback>
                <p:oleObj name="Equation" r:id="rId7" imgW="33832800" imgH="16764000" progId="Equation.DSMT4">
                  <p:embed/>
                  <p:pic>
                    <p:nvPicPr>
                      <p:cNvPr id="0" name="图片 6"/>
                      <p:cNvPicPr/>
                      <p:nvPr/>
                    </p:nvPicPr>
                    <p:blipFill>
                      <a:blip r:embed="rId8"/>
                      <a:stretch>
                        <a:fillRect/>
                      </a:stretch>
                    </p:blipFill>
                    <p:spPr>
                      <a:xfrm>
                        <a:off x="3399476" y="5176702"/>
                        <a:ext cx="1890981" cy="936973"/>
                      </a:xfrm>
                      <a:prstGeom prst="rect">
                        <a:avLst/>
                      </a:prstGeom>
                    </p:spPr>
                  </p:pic>
                </p:oleObj>
              </mc:Fallback>
            </mc:AlternateContent>
          </a:graphicData>
        </a:graphic>
      </p:graphicFrame>
    </p:spTree>
    <p:custDataLst>
      <p:tags r:id="rId9"/>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7"/>
          <p:cNvSpPr/>
          <p:nvPr/>
        </p:nvSpPr>
        <p:spPr>
          <a:xfrm>
            <a:off x="506364" y="2012029"/>
            <a:ext cx="4953907" cy="4035076"/>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典型网络结构</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810895"/>
            <a:ext cx="11131550" cy="961930"/>
          </a:xfrm>
          <a:prstGeom prst="rect">
            <a:avLst/>
          </a:prstGeom>
          <a:noFill/>
        </p:spPr>
        <p:txBody>
          <a:bodyPr wrap="square" rtlCol="0" anchor="t">
            <a:spAutoFit/>
          </a:bodyPr>
          <a:lstStyle/>
          <a:p>
            <a:pPr algn="l" defTabSz="1219200" fontAlgn="auto">
              <a:lnSpc>
                <a:spcPct val="150000"/>
              </a:lnSpc>
              <a:spcBef>
                <a:spcPts val="600"/>
              </a:spcBef>
              <a:defRPr/>
            </a:pPr>
            <a:r>
              <a:rPr lang="en-US" altLang="zh-CN" sz="2000" b="1" dirty="0" err="1">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AlexNet</a:t>
            </a:r>
            <a:endPar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ts val="600"/>
              </a:spcBef>
              <a:buFont typeface="Arial" panose="020B0604020202020204" pitchFamily="34" charset="0"/>
              <a:buChar char="•"/>
              <a:defRPr/>
            </a:pPr>
            <a:r>
              <a:rPr lang="zh-CN" altLang="en-US" sz="1600" dirty="0"/>
              <a:t>由亚历克斯</a:t>
            </a:r>
            <a:r>
              <a:rPr lang="en-US" altLang="zh-CN" sz="1600" dirty="0"/>
              <a:t>·</a:t>
            </a:r>
            <a:r>
              <a:rPr lang="zh-CN" altLang="en-US" sz="1600" dirty="0"/>
              <a:t>克里泽夫斯基 </a:t>
            </a:r>
            <a:r>
              <a:rPr lang="en-US" altLang="zh-CN" sz="1600" dirty="0"/>
              <a:t>(Alex </a:t>
            </a:r>
            <a:r>
              <a:rPr lang="en-US" altLang="zh-CN" sz="1600" dirty="0" err="1"/>
              <a:t>Krizhevsky</a:t>
            </a:r>
            <a:r>
              <a:rPr lang="en-US" altLang="zh-CN" sz="1600" dirty="0"/>
              <a:t>) </a:t>
            </a:r>
            <a:r>
              <a:rPr lang="zh-CN" altLang="en-US" sz="1600" dirty="0"/>
              <a:t>于 </a:t>
            </a:r>
            <a:r>
              <a:rPr lang="en-US" altLang="zh-CN" sz="1600" dirty="0"/>
              <a:t>2012 </a:t>
            </a:r>
            <a:r>
              <a:rPr lang="zh-CN" altLang="en-US" sz="1600" dirty="0"/>
              <a:t>年提出</a:t>
            </a:r>
            <a:r>
              <a:rPr lang="en-US" altLang="zh-CN" sz="1600" dirty="0"/>
              <a:t>, </a:t>
            </a:r>
            <a:r>
              <a:rPr lang="zh-CN" altLang="en-US" sz="1600" dirty="0"/>
              <a:t>并在当年的</a:t>
            </a:r>
            <a:r>
              <a:rPr lang="en-US" altLang="zh-CN" sz="1600" dirty="0"/>
              <a:t>ImageNet </a:t>
            </a:r>
            <a:r>
              <a:rPr lang="zh-CN" altLang="en-US" sz="1600" dirty="0"/>
              <a:t>竞赛中获得冠军</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3" name="图片 2"/>
          <p:cNvPicPr>
            <a:picLocks noChangeAspect="1"/>
          </p:cNvPicPr>
          <p:nvPr/>
        </p:nvPicPr>
        <p:blipFill>
          <a:blip r:embed="rId1"/>
          <a:stretch>
            <a:fillRect/>
          </a:stretch>
        </p:blipFill>
        <p:spPr>
          <a:xfrm>
            <a:off x="5645755" y="2345743"/>
            <a:ext cx="6082511" cy="3379173"/>
          </a:xfrm>
          <a:prstGeom prst="rect">
            <a:avLst/>
          </a:prstGeom>
        </p:spPr>
      </p:pic>
      <p:sp>
        <p:nvSpPr>
          <p:cNvPr id="4" name="文本框 3"/>
          <p:cNvSpPr txBox="1"/>
          <p:nvPr/>
        </p:nvSpPr>
        <p:spPr>
          <a:xfrm>
            <a:off x="653140" y="2345743"/>
            <a:ext cx="4598126" cy="3410618"/>
          </a:xfrm>
          <a:prstGeom prst="rect">
            <a:avLst/>
          </a:prstGeom>
          <a:noFill/>
        </p:spPr>
        <p:txBody>
          <a:bodyPr wrap="square" rtlCol="0">
            <a:spAutoFit/>
          </a:bodyPr>
          <a:lstStyle/>
          <a:p>
            <a:pPr>
              <a:lnSpc>
                <a:spcPct val="150000"/>
              </a:lnSpc>
            </a:pPr>
            <a:r>
              <a:rPr lang="en-US" altLang="zh-CN" sz="1600" dirty="0" err="1"/>
              <a:t>AlexNet</a:t>
            </a:r>
            <a:r>
              <a:rPr lang="zh-CN" altLang="en-US" sz="1600" dirty="0"/>
              <a:t>的总体结构与</a:t>
            </a:r>
            <a:r>
              <a:rPr lang="en-US" altLang="zh-CN" sz="1600" dirty="0"/>
              <a:t>LeNet-5</a:t>
            </a:r>
            <a:r>
              <a:rPr lang="zh-CN" altLang="en-US" sz="1600" dirty="0"/>
              <a:t>相似，但做了许多改进：</a:t>
            </a:r>
            <a:endParaRPr lang="en-US" altLang="zh-CN" sz="1600" dirty="0"/>
          </a:p>
          <a:p>
            <a:pPr marL="342900" indent="-342900">
              <a:lnSpc>
                <a:spcPct val="150000"/>
              </a:lnSpc>
              <a:buFont typeface="+mj-ea"/>
              <a:buAutoNum type="circleNumDbPlain"/>
            </a:pPr>
            <a:r>
              <a:rPr lang="zh-CN" altLang="en-US" sz="1600" dirty="0"/>
              <a:t>由</a:t>
            </a:r>
            <a:r>
              <a:rPr lang="en-US" altLang="zh-CN" sz="1600" dirty="0"/>
              <a:t>5</a:t>
            </a:r>
            <a:r>
              <a:rPr lang="zh-CN" altLang="en-US" sz="1600" dirty="0"/>
              <a:t>个卷积层和</a:t>
            </a:r>
            <a:r>
              <a:rPr lang="en-US" altLang="zh-CN" sz="1600" dirty="0"/>
              <a:t>3</a:t>
            </a:r>
            <a:r>
              <a:rPr lang="zh-CN" altLang="en-US" sz="1600" dirty="0"/>
              <a:t>个全连接层组成，输入大小为</a:t>
            </a:r>
            <a:r>
              <a:rPr lang="en-US" altLang="zh-CN" sz="1600" dirty="0"/>
              <a:t>224×224</a:t>
            </a:r>
            <a:r>
              <a:rPr lang="zh-CN" altLang="en-US" sz="1600" dirty="0"/>
              <a:t>的</a:t>
            </a:r>
            <a:r>
              <a:rPr lang="en-US" altLang="zh-CN" sz="1600" dirty="0"/>
              <a:t>RGB</a:t>
            </a:r>
            <a:r>
              <a:rPr lang="zh-CN" altLang="en-US" sz="1600" dirty="0"/>
              <a:t>图像，规模远大于</a:t>
            </a:r>
            <a:r>
              <a:rPr lang="en-US" altLang="zh-CN" sz="1600" dirty="0"/>
              <a:t>LeNet-5</a:t>
            </a:r>
            <a:endParaRPr lang="en-US" altLang="zh-CN" sz="1600" dirty="0"/>
          </a:p>
          <a:p>
            <a:pPr marL="342900" indent="-342900">
              <a:lnSpc>
                <a:spcPct val="150000"/>
              </a:lnSpc>
              <a:buFont typeface="+mj-ea"/>
              <a:buAutoNum type="circleNumDbPlain"/>
            </a:pPr>
            <a:r>
              <a:rPr lang="zh-CN" altLang="en-US" sz="1600" dirty="0"/>
              <a:t>引入</a:t>
            </a:r>
            <a:r>
              <a:rPr lang="en-US" altLang="zh-CN" sz="1600" dirty="0" err="1"/>
              <a:t>ReLU</a:t>
            </a:r>
            <a:r>
              <a:rPr lang="zh-CN" altLang="en-US" sz="1600" dirty="0"/>
              <a:t>激活函数以加速训练收敛</a:t>
            </a:r>
            <a:endParaRPr lang="en-US" altLang="zh-CN" sz="1600" dirty="0"/>
          </a:p>
          <a:p>
            <a:pPr marL="342900" indent="-342900">
              <a:lnSpc>
                <a:spcPct val="150000"/>
              </a:lnSpc>
              <a:buFont typeface="+mj-ea"/>
              <a:buAutoNum type="circleNumDbPlain"/>
            </a:pPr>
            <a:r>
              <a:rPr lang="zh-CN" altLang="en-US" sz="1600" dirty="0"/>
              <a:t>使用</a:t>
            </a:r>
            <a:r>
              <a:rPr lang="en-US" altLang="zh-CN" sz="1600" dirty="0"/>
              <a:t>Dropout</a:t>
            </a:r>
            <a:r>
              <a:rPr lang="zh-CN" altLang="en-US" sz="1600" dirty="0"/>
              <a:t>作为正则化手段，以防止网络加深而出现的过拟合现象</a:t>
            </a:r>
            <a:endParaRPr lang="en-US" altLang="zh-CN" sz="1600" dirty="0"/>
          </a:p>
          <a:p>
            <a:pPr marL="342900" indent="-342900">
              <a:lnSpc>
                <a:spcPct val="150000"/>
              </a:lnSpc>
              <a:buFont typeface="+mj-ea"/>
              <a:buAutoNum type="circleNumDbPlain"/>
            </a:pPr>
            <a:r>
              <a:rPr lang="zh-CN" altLang="en-US" sz="1600" dirty="0"/>
              <a:t>采用多种训练技巧，如数据增强、学习率调整策略和权重衰减等</a:t>
            </a:r>
            <a:endParaRPr lang="en-US" altLang="zh-CN" sz="1600" dirty="0"/>
          </a:p>
        </p:txBody>
      </p:sp>
    </p:spTree>
    <p:custDataLst>
      <p:tags r:id="rId2"/>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典型网络结构</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810895"/>
            <a:ext cx="11349086" cy="1331262"/>
          </a:xfrm>
          <a:prstGeom prst="rect">
            <a:avLst/>
          </a:prstGeom>
          <a:noFill/>
        </p:spPr>
        <p:txBody>
          <a:bodyPr wrap="square" rtlCol="0" anchor="t">
            <a:spAutoFit/>
          </a:bodyPr>
          <a:lstStyle/>
          <a:p>
            <a:pPr algn="l" defTabSz="1219200" fontAlgn="auto">
              <a:lnSpc>
                <a:spcPct val="150000"/>
              </a:lnSpc>
              <a:spcBef>
                <a:spcPts val="6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VGG</a:t>
            </a:r>
            <a:endPar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fontAlgn="auto">
              <a:lnSpc>
                <a:spcPct val="150000"/>
              </a:lnSpc>
              <a:spcBef>
                <a:spcPts val="600"/>
              </a:spcBef>
              <a:buFont typeface="Arial" panose="020B0604020202020204" pitchFamily="34" charset="0"/>
              <a:buChar char="•"/>
              <a:defRPr/>
            </a:pPr>
            <a:r>
              <a:rPr lang="zh-CN" altLang="en-US" sz="1600" dirty="0"/>
              <a:t>由英国牛津大学的视觉几何组</a:t>
            </a:r>
            <a:r>
              <a:rPr lang="en-US" altLang="zh-CN" sz="1600" dirty="0"/>
              <a:t>(Visual Geometry Group) </a:t>
            </a:r>
            <a:r>
              <a:rPr lang="zh-CN" altLang="en-US" sz="1600" dirty="0"/>
              <a:t>于 </a:t>
            </a:r>
            <a:r>
              <a:rPr lang="en-US" altLang="zh-CN" sz="1600" dirty="0"/>
              <a:t>2014 </a:t>
            </a:r>
            <a:r>
              <a:rPr lang="zh-CN" altLang="en-US" sz="1600" dirty="0"/>
              <a:t>年提出</a:t>
            </a:r>
            <a:r>
              <a:rPr lang="en-US" altLang="zh-CN" sz="1600" dirty="0"/>
              <a:t>, </a:t>
            </a:r>
            <a:r>
              <a:rPr lang="zh-CN" altLang="en-US" sz="1600" dirty="0"/>
              <a:t>该团队研究了卷积神经网络的深度对大规模图像识别精度的影响</a:t>
            </a:r>
            <a:r>
              <a:rPr lang="en-US" altLang="zh-CN" sz="1600" dirty="0"/>
              <a:t>, </a:t>
            </a:r>
            <a:r>
              <a:rPr lang="zh-CN" altLang="en-US" sz="1600" dirty="0"/>
              <a:t>在</a:t>
            </a:r>
            <a:r>
              <a:rPr lang="en-US" altLang="zh-CN" sz="1600" dirty="0"/>
              <a:t>VGG </a:t>
            </a:r>
            <a:r>
              <a:rPr lang="zh-CN" altLang="en-US" sz="1600" dirty="0"/>
              <a:t>中采用非常小的 </a:t>
            </a:r>
            <a:r>
              <a:rPr lang="en-US" altLang="zh-CN" sz="1600" dirty="0"/>
              <a:t>3×3 </a:t>
            </a:r>
            <a:r>
              <a:rPr lang="zh-CN" altLang="en-US" sz="1600" dirty="0"/>
              <a:t>卷积核</a:t>
            </a:r>
            <a:r>
              <a:rPr lang="en-US" altLang="zh-CN" sz="1600" dirty="0"/>
              <a:t>, </a:t>
            </a:r>
            <a:r>
              <a:rPr lang="zh-CN" altLang="en-US" sz="1600" dirty="0"/>
              <a:t>使得在参数量更少的情况下能够达到类似于 </a:t>
            </a:r>
            <a:r>
              <a:rPr lang="en-US" altLang="zh-CN" sz="1600" dirty="0"/>
              <a:t>5×5 </a:t>
            </a:r>
            <a:r>
              <a:rPr lang="zh-CN" altLang="en-US" sz="1600" dirty="0"/>
              <a:t>卷积核的感受野。</a:t>
            </a:r>
            <a:endPar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2" name="图片 1"/>
          <p:cNvPicPr>
            <a:picLocks noChangeAspect="1"/>
          </p:cNvPicPr>
          <p:nvPr/>
        </p:nvPicPr>
        <p:blipFill>
          <a:blip r:embed="rId1"/>
          <a:stretch>
            <a:fillRect/>
          </a:stretch>
        </p:blipFill>
        <p:spPr>
          <a:xfrm>
            <a:off x="2802586" y="2253342"/>
            <a:ext cx="6358227" cy="3951021"/>
          </a:xfrm>
          <a:prstGeom prst="rect">
            <a:avLst/>
          </a:prstGeom>
        </p:spPr>
      </p:pic>
    </p:spTree>
    <p:custDataLst>
      <p:tags r:id="rId2"/>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典型网络结构</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810895"/>
            <a:ext cx="11131550" cy="1700594"/>
          </a:xfrm>
          <a:prstGeom prst="rect">
            <a:avLst/>
          </a:prstGeom>
          <a:noFill/>
        </p:spPr>
        <p:txBody>
          <a:bodyPr wrap="square" rtlCol="0" anchor="t">
            <a:spAutoFit/>
          </a:bodyPr>
          <a:lstStyle/>
          <a:p>
            <a:pPr algn="l" defTabSz="1219200" fontAlgn="auto">
              <a:lnSpc>
                <a:spcPct val="150000"/>
              </a:lnSpc>
              <a:spcBef>
                <a:spcPts val="600"/>
              </a:spcBef>
              <a:defRPr/>
            </a:pPr>
            <a:r>
              <a:rPr lang="en-US" altLang="zh-CN" sz="2000" b="1" dirty="0" err="1">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GoogLeNet</a:t>
            </a:r>
            <a:endPar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ts val="600"/>
              </a:spcBef>
              <a:buFont typeface="Arial" panose="020B0604020202020204" pitchFamily="34" charset="0"/>
              <a:buChar char="•"/>
              <a:defRPr/>
            </a:pPr>
            <a:r>
              <a:rPr lang="zh-CN" altLang="en-US" sz="1600" dirty="0"/>
              <a:t>又称 </a:t>
            </a:r>
            <a:r>
              <a:rPr lang="en-US" altLang="zh-CN" sz="1600" dirty="0"/>
              <a:t>Inception V1 </a:t>
            </a:r>
            <a:r>
              <a:rPr lang="zh-CN" altLang="en-US" sz="1600" dirty="0"/>
              <a:t>，由谷歌团队于 </a:t>
            </a:r>
            <a:r>
              <a:rPr lang="en-US" altLang="zh-CN" sz="1600" dirty="0"/>
              <a:t>2014 </a:t>
            </a:r>
            <a:r>
              <a:rPr lang="zh-CN" altLang="en-US" sz="1600" dirty="0"/>
              <a:t>年提出</a:t>
            </a:r>
            <a:r>
              <a:rPr lang="en-US" altLang="zh-CN" sz="1600" dirty="0"/>
              <a:t>, </a:t>
            </a:r>
            <a:r>
              <a:rPr lang="zh-CN" altLang="en-US" sz="1600" dirty="0"/>
              <a:t>该网络深度达 </a:t>
            </a:r>
            <a:r>
              <a:rPr lang="en-US" altLang="zh-CN" sz="1600" dirty="0"/>
              <a:t>22</a:t>
            </a:r>
            <a:r>
              <a:rPr lang="zh-CN" altLang="en-US" sz="1600" dirty="0"/>
              <a:t>层</a:t>
            </a:r>
            <a:r>
              <a:rPr lang="en-US" altLang="zh-CN" sz="1600" dirty="0"/>
              <a:t>, </a:t>
            </a:r>
            <a:r>
              <a:rPr lang="zh-CN" altLang="en-US" sz="1600" dirty="0"/>
              <a:t>但通过创新的</a:t>
            </a:r>
            <a:r>
              <a:rPr lang="en-US" altLang="zh-CN" sz="1600" dirty="0"/>
              <a:t>Inception </a:t>
            </a:r>
            <a:r>
              <a:rPr lang="zh-CN" altLang="en-US" sz="1600" dirty="0"/>
              <a:t>机制使参数量减少至</a:t>
            </a:r>
            <a:r>
              <a:rPr lang="en-US" altLang="zh-CN" sz="1600" dirty="0" err="1"/>
              <a:t>AlexNet</a:t>
            </a:r>
            <a:r>
              <a:rPr lang="en-US" altLang="zh-CN" sz="1600" dirty="0"/>
              <a:t> </a:t>
            </a:r>
            <a:r>
              <a:rPr lang="zh-CN" altLang="en-US" sz="1600" dirty="0"/>
              <a:t>的 </a:t>
            </a:r>
            <a:r>
              <a:rPr lang="en-US" altLang="zh-CN" sz="1600" dirty="0"/>
              <a:t>1/12</a:t>
            </a:r>
            <a:r>
              <a:rPr lang="zh-CN" altLang="en-US" sz="1600" dirty="0"/>
              <a:t>。</a:t>
            </a:r>
            <a:r>
              <a:rPr lang="en-US" altLang="zh-CN" sz="1600" dirty="0"/>
              <a:t>Inception </a:t>
            </a:r>
            <a:r>
              <a:rPr lang="zh-CN" altLang="en-US" sz="1600" dirty="0"/>
              <a:t>机制的主要特点在于多尺度处理，通过在单个 </a:t>
            </a:r>
            <a:r>
              <a:rPr lang="en-US" altLang="zh-CN" sz="1600" dirty="0"/>
              <a:t>Inception </a:t>
            </a:r>
            <a:r>
              <a:rPr lang="zh-CN" altLang="en-US" sz="1600" dirty="0"/>
              <a:t>模块中整合多个不同尺度的卷积核和池化层，显著减少了参数量。</a:t>
            </a:r>
            <a:endPar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2" name="图片 1"/>
          <p:cNvPicPr>
            <a:picLocks noChangeAspect="1"/>
          </p:cNvPicPr>
          <p:nvPr/>
        </p:nvPicPr>
        <p:blipFill>
          <a:blip r:embed="rId1"/>
          <a:stretch>
            <a:fillRect/>
          </a:stretch>
        </p:blipFill>
        <p:spPr>
          <a:xfrm>
            <a:off x="2286000" y="2532339"/>
            <a:ext cx="7620000" cy="3200928"/>
          </a:xfrm>
          <a:prstGeom prst="rect">
            <a:avLst/>
          </a:prstGeom>
        </p:spPr>
      </p:pic>
      <p:sp>
        <p:nvSpPr>
          <p:cNvPr id="7" name="文本框 6"/>
          <p:cNvSpPr txBox="1"/>
          <p:nvPr/>
        </p:nvSpPr>
        <p:spPr>
          <a:xfrm>
            <a:off x="5231751" y="5877828"/>
            <a:ext cx="1499898" cy="338554"/>
          </a:xfrm>
          <a:prstGeom prst="rect">
            <a:avLst/>
          </a:prstGeom>
          <a:noFill/>
        </p:spPr>
        <p:txBody>
          <a:bodyPr wrap="none" rtlCol="0">
            <a:spAutoFit/>
          </a:bodyPr>
          <a:lstStyle/>
          <a:p>
            <a:r>
              <a:rPr lang="en-US" altLang="zh-CN" sz="1600" dirty="0">
                <a:latin typeface="+mn-ea"/>
              </a:rPr>
              <a:t>Inception</a:t>
            </a:r>
            <a:r>
              <a:rPr lang="zh-CN" altLang="en-US" sz="1600" dirty="0">
                <a:latin typeface="+mn-ea"/>
              </a:rPr>
              <a:t>模块</a:t>
            </a:r>
            <a:endParaRPr lang="zh-CN" altLang="en-US" sz="1600" dirty="0">
              <a:latin typeface="+mn-ea"/>
            </a:endParaRPr>
          </a:p>
        </p:txBody>
      </p:sp>
    </p:spTree>
    <p:custDataLst>
      <p:tags r:id="rId2"/>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典型网络结构</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810894"/>
            <a:ext cx="8186964" cy="2141311"/>
          </a:xfrm>
          <a:prstGeom prst="rect">
            <a:avLst/>
          </a:prstGeom>
          <a:noFill/>
        </p:spPr>
        <p:txBody>
          <a:bodyPr wrap="square" rtlCol="0" anchor="t">
            <a:spAutoFit/>
          </a:bodyPr>
          <a:lstStyle/>
          <a:p>
            <a:pPr algn="l" defTabSz="1219200" fontAlgn="auto">
              <a:lnSpc>
                <a:spcPct val="150000"/>
              </a:lnSpc>
              <a:spcBef>
                <a:spcPts val="600"/>
              </a:spcBef>
              <a:defRPr/>
            </a:pPr>
            <a:r>
              <a:rPr lang="en-US" altLang="zh-CN" sz="2000" b="1" dirty="0" err="1">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ResNet</a:t>
            </a:r>
            <a:endPar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ts val="600"/>
              </a:spcBef>
              <a:buFont typeface="Arial" panose="020B0604020202020204" pitchFamily="34" charset="0"/>
              <a:buChar char="•"/>
              <a:defRPr/>
            </a:pPr>
            <a:r>
              <a:rPr lang="zh-CN" altLang="en-US" sz="1600" dirty="0"/>
              <a:t>残差网络 </a:t>
            </a:r>
            <a:r>
              <a:rPr lang="en-US" altLang="zh-CN" sz="1600" dirty="0"/>
              <a:t>(residual network, </a:t>
            </a:r>
            <a:r>
              <a:rPr lang="en-US" altLang="zh-CN" sz="1600" dirty="0" err="1"/>
              <a:t>ResNet</a:t>
            </a:r>
            <a:r>
              <a:rPr lang="en-US" altLang="zh-CN" sz="1600" dirty="0"/>
              <a:t>) </a:t>
            </a:r>
            <a:r>
              <a:rPr lang="zh-CN" altLang="en-US" sz="1600" dirty="0"/>
              <a:t>由何凯明、张祥雨、任少卿和孙剑等人于</a:t>
            </a:r>
            <a:r>
              <a:rPr lang="en-US" altLang="zh-CN" sz="1600" dirty="0"/>
              <a:t>2015 </a:t>
            </a:r>
            <a:r>
              <a:rPr lang="zh-CN" altLang="en-US" sz="1600" dirty="0"/>
              <a:t>年提出，该网络通过跨层连接 </a:t>
            </a:r>
            <a:r>
              <a:rPr lang="en-US" altLang="zh-CN" sz="1600" dirty="0"/>
              <a:t>(shortcut connections) </a:t>
            </a:r>
            <a:r>
              <a:rPr lang="zh-CN" altLang="en-US" sz="1600" dirty="0"/>
              <a:t>来拟合残差表示 </a:t>
            </a:r>
            <a:r>
              <a:rPr lang="en-US" altLang="zh-CN" sz="1600" dirty="0"/>
              <a:t>(residual representations)</a:t>
            </a:r>
            <a:r>
              <a:rPr lang="zh-CN" altLang="en-US" sz="1600" dirty="0"/>
              <a:t>，有效解决了深层网络训练困难的问题，并将网络的层数扩展至前所未有的规模。</a:t>
            </a:r>
            <a:endPar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3" name="图片 2"/>
          <p:cNvPicPr>
            <a:picLocks noChangeAspect="1"/>
          </p:cNvPicPr>
          <p:nvPr/>
        </p:nvPicPr>
        <p:blipFill>
          <a:blip r:embed="rId1"/>
          <a:stretch>
            <a:fillRect/>
          </a:stretch>
        </p:blipFill>
        <p:spPr>
          <a:xfrm>
            <a:off x="8830412" y="1299753"/>
            <a:ext cx="2604231" cy="4859383"/>
          </a:xfrm>
          <a:prstGeom prst="rect">
            <a:avLst/>
          </a:prstGeom>
        </p:spPr>
      </p:pic>
      <p:sp>
        <p:nvSpPr>
          <p:cNvPr id="5" name="文本框 4"/>
          <p:cNvSpPr txBox="1"/>
          <p:nvPr/>
        </p:nvSpPr>
        <p:spPr>
          <a:xfrm>
            <a:off x="834390" y="3120072"/>
            <a:ext cx="6097088" cy="300864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600" dirty="0">
                <a:latin typeface="+mn-ea"/>
              </a:rPr>
              <a:t>当较浅层网络已达到最佳准确率时，若在网络后增加几个</a:t>
            </a:r>
            <a:r>
              <a:rPr lang="en-US" altLang="zh-CN" sz="1600" dirty="0">
                <a:latin typeface="+mn-ea"/>
              </a:rPr>
              <a:t>y =x</a:t>
            </a:r>
            <a:r>
              <a:rPr lang="zh-CN" altLang="en-US" sz="1600" dirty="0">
                <a:latin typeface="+mn-ea"/>
              </a:rPr>
              <a:t>的恒等映射，理论上分类误差不会增加。</a:t>
            </a:r>
            <a:r>
              <a:rPr lang="en-US" altLang="zh-CN" sz="1600" dirty="0" err="1">
                <a:latin typeface="+mn-ea"/>
              </a:rPr>
              <a:t>ResNet</a:t>
            </a:r>
            <a:r>
              <a:rPr lang="en-US" altLang="zh-CN" sz="1600" dirty="0">
                <a:latin typeface="+mn-ea"/>
              </a:rPr>
              <a:t> </a:t>
            </a:r>
            <a:r>
              <a:rPr lang="zh-CN" altLang="en-US" sz="1600" dirty="0">
                <a:latin typeface="+mn-ea"/>
              </a:rPr>
              <a:t>基于这一假设，通过恒等映射直接将浅层信息传递至深层</a:t>
            </a:r>
            <a:r>
              <a:rPr lang="en-US" altLang="zh-CN" sz="1600" dirty="0">
                <a:latin typeface="+mn-ea"/>
              </a:rPr>
              <a:t>, </a:t>
            </a:r>
            <a:r>
              <a:rPr lang="zh-CN" altLang="en-US" sz="1600" dirty="0">
                <a:latin typeface="+mn-ea"/>
              </a:rPr>
              <a:t>从而实现信息的跨层连接。</a:t>
            </a:r>
            <a:endParaRPr lang="en-US" altLang="zh-CN" sz="1600" dirty="0">
              <a:latin typeface="+mn-ea"/>
            </a:endParaRPr>
          </a:p>
          <a:p>
            <a:pPr marL="285750" indent="-285750">
              <a:lnSpc>
                <a:spcPct val="150000"/>
              </a:lnSpc>
              <a:buFont typeface="Arial" panose="020B0604020202020204" pitchFamily="34" charset="0"/>
              <a:buChar char="•"/>
            </a:pPr>
            <a:r>
              <a:rPr lang="zh-CN" altLang="en-US" sz="1600" dirty="0">
                <a:latin typeface="+mn-ea"/>
              </a:rPr>
              <a:t>将输入表示为</a:t>
            </a:r>
            <a:r>
              <a:rPr lang="en-US" altLang="zh-CN" sz="1600" dirty="0">
                <a:latin typeface="+mn-ea"/>
              </a:rPr>
              <a:t>x</a:t>
            </a:r>
            <a:r>
              <a:rPr lang="zh-CN" altLang="en-US" sz="1600" dirty="0">
                <a:latin typeface="+mn-ea"/>
              </a:rPr>
              <a:t>，期望输出表示为</a:t>
            </a:r>
            <a:r>
              <a:rPr lang="en-US" altLang="zh-CN" sz="1600" dirty="0">
                <a:latin typeface="+mn-ea"/>
              </a:rPr>
              <a:t>H(x)</a:t>
            </a:r>
            <a:r>
              <a:rPr lang="zh-CN" altLang="en-US" sz="1600" dirty="0">
                <a:latin typeface="+mn-ea"/>
              </a:rPr>
              <a:t>，</a:t>
            </a:r>
            <a:r>
              <a:rPr lang="en-US" altLang="zh-CN" sz="1600" dirty="0" err="1">
                <a:latin typeface="+mn-ea"/>
              </a:rPr>
              <a:t>ResNet</a:t>
            </a:r>
            <a:r>
              <a:rPr lang="en-US" altLang="zh-CN" sz="1600" dirty="0">
                <a:latin typeface="+mn-ea"/>
              </a:rPr>
              <a:t> </a:t>
            </a:r>
            <a:r>
              <a:rPr lang="zh-CN" altLang="en-US" sz="1600" dirty="0">
                <a:latin typeface="+mn-ea"/>
              </a:rPr>
              <a:t>不直接学习</a:t>
            </a:r>
            <a:r>
              <a:rPr lang="en-US" altLang="zh-CN" sz="1600" dirty="0">
                <a:latin typeface="+mn-ea"/>
              </a:rPr>
              <a:t>H(x)</a:t>
            </a:r>
            <a:r>
              <a:rPr lang="zh-CN" altLang="en-US" sz="1600" dirty="0">
                <a:latin typeface="+mn-ea"/>
              </a:rPr>
              <a:t>，而是通过堆叠的非线性层拟合残差映射</a:t>
            </a:r>
            <a:r>
              <a:rPr lang="en-US" altLang="zh-CN" sz="1600" dirty="0">
                <a:latin typeface="+mn-ea"/>
              </a:rPr>
              <a:t>F(x)=H(x)−x</a:t>
            </a:r>
            <a:r>
              <a:rPr lang="zh-CN" altLang="en-US" sz="1600" dirty="0">
                <a:latin typeface="+mn-ea"/>
              </a:rPr>
              <a:t>。这种方式降低了学习难度，并在信息层间传递过程中减少了损耗，使浅层信息能够有效传至深层。</a:t>
            </a:r>
            <a:endParaRPr lang="zh-CN" altLang="en-US" sz="1600" dirty="0">
              <a:latin typeface="+mn-ea"/>
            </a:endParaRPr>
          </a:p>
        </p:txBody>
      </p:sp>
    </p:spTree>
    <p:custDataLst>
      <p:tags r:id="rId2"/>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1106805"/>
          </a:xfrm>
          <a:prstGeom prst="rect">
            <a:avLst/>
          </a:prstGeom>
        </p:spPr>
        <p:txBody>
          <a:bodyPr wrap="square">
            <a:spAutoFit/>
          </a:bodyPr>
          <a:lstStyle/>
          <a:p>
            <a:pPr algn="ctr">
              <a:buClrTx/>
              <a:buSzTx/>
              <a:buFontTx/>
            </a:pP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深度循环神经网络</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05</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423129"/>
          </a:xfrm>
          <a:prstGeom prst="rect">
            <a:avLst/>
          </a:prstGeom>
        </p:spPr>
        <p:txBody>
          <a:bodyPr wrap="square">
            <a:spAutoFit/>
          </a:bodyPr>
          <a:lstStyle/>
          <a:p>
            <a:pPr lvl="0" algn="ctr">
              <a:lnSpc>
                <a:spcPct val="130000"/>
              </a:lnSpc>
              <a:defRPr/>
            </a:pPr>
            <a:r>
              <a:rPr lang="en-US" altLang="zh-CN"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rPr>
              <a:t>Deep Recurrent Neural Network</a:t>
            </a:r>
            <a:endParaRPr lang="en-US" altLang="zh-CN" dirty="0">
              <a:solidFill>
                <a:schemeClr val="tx1">
                  <a:lumMod val="85000"/>
                  <a:lumOff val="15000"/>
                </a:schemeClr>
              </a:solidFill>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545466" y="955525"/>
            <a:ext cx="10951210" cy="1209520"/>
          </a:xfrm>
          <a:prstGeom prst="rect">
            <a:avLst/>
          </a:prstGeom>
          <a:noFill/>
        </p:spPr>
        <p:txBody>
          <a:bodyPr wrap="square" lIns="0" tIns="0" rIns="0" bIns="0" rtlCol="0" anchor="t">
            <a:noAutofit/>
          </a:bodyPr>
          <a:lstStyle/>
          <a:p>
            <a:pPr algn="l" defTabSz="1219200">
              <a:spcBef>
                <a:spcPct val="200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循环神经网络</a:t>
            </a: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(recurrent neural network, RNN) </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专门为处理序列数据而设计的人工神经网络。</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RNN</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通过在网络结构中引入“记忆”单元，以捕捉输入数据的历史变化关系，并且可以拓展到更长的序列甚至可变序列，适用于语音识别、文本分析、时序预测等需要保留上下文信息的任务。</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8" name="圆角矩形 7"/>
          <p:cNvSpPr/>
          <p:nvPr/>
        </p:nvSpPr>
        <p:spPr>
          <a:xfrm>
            <a:off x="545466" y="2165045"/>
            <a:ext cx="10682060" cy="1642779"/>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TextBox 8"/>
          <p:cNvSpPr txBox="1"/>
          <p:nvPr/>
        </p:nvSpPr>
        <p:spPr>
          <a:xfrm>
            <a:off x="775334" y="2406346"/>
            <a:ext cx="10171339" cy="1290443"/>
          </a:xfrm>
          <a:prstGeom prst="rect">
            <a:avLst/>
          </a:prstGeom>
          <a:noFill/>
        </p:spPr>
        <p:txBody>
          <a:bodyPr wrap="square" lIns="0" tIns="0" rIns="0" bIns="0" rtlCol="0" anchor="t">
            <a:noAutofit/>
          </a:bodyPr>
          <a:lstStyle/>
          <a:p>
            <a:pPr defTabSz="1219200">
              <a:lnSpc>
                <a:spcPct val="150000"/>
              </a:lnSpc>
              <a:spcBef>
                <a:spcPct val="20000"/>
              </a:spcBef>
              <a:buFont typeface="Arial" panose="020B0604020202020204" pitchFamily="34" charset="0"/>
              <a:defRPr/>
            </a:pPr>
            <a:r>
              <a:rPr lang="zh-CN" altLang="en-US" sz="1600" b="1" dirty="0">
                <a:solidFill>
                  <a:srgbClr val="006FAE"/>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单个循环神经元</a:t>
            </a:r>
            <a:endParaRPr lang="en-US" altLang="zh-CN" sz="1600" b="1" dirty="0">
              <a:solidFill>
                <a:srgbClr val="006FAE"/>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接收输入，通过自身产生一个输出，再将输出延时返回给神经元本身。在每一个时间迭代</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t</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，这个循环神经元接收输入 </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x(t)</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以及上一个时间迭代的神经元的输出</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y(t−1)</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aphicFrame>
        <p:nvGraphicFramePr>
          <p:cNvPr id="10" name="对象 9"/>
          <p:cNvGraphicFramePr/>
          <p:nvPr/>
        </p:nvGraphicFramePr>
        <p:xfrm>
          <a:off x="4815205" y="4144445"/>
          <a:ext cx="142240" cy="305435"/>
        </p:xfrm>
        <a:graphic>
          <a:graphicData uri="http://schemas.openxmlformats.org/presentationml/2006/ole">
            <mc:AlternateContent xmlns:mc="http://schemas.openxmlformats.org/markup-compatibility/2006">
              <mc:Choice xmlns:v="urn:schemas-microsoft-com:vml" Requires="v">
                <p:oleObj spid="_x0000_s2" name="" r:id="rId1" imgW="114300" imgH="215900" progId="Equation.KSEE3">
                  <p:embed/>
                </p:oleObj>
              </mc:Choice>
              <mc:Fallback>
                <p:oleObj name="" r:id="rId1" imgW="114300" imgH="215900" progId="Equation.KSEE3">
                  <p:embed/>
                  <p:pic>
                    <p:nvPicPr>
                      <p:cNvPr id="0" name="对象 9"/>
                      <p:cNvPicPr/>
                      <p:nvPr/>
                    </p:nvPicPr>
                    <p:blipFill>
                      <a:blip r:embed="rId2"/>
                      <a:stretch>
                        <a:fillRect/>
                      </a:stretch>
                    </p:blipFill>
                    <p:spPr>
                      <a:xfrm>
                        <a:off x="4815205" y="4144445"/>
                        <a:ext cx="142240" cy="305435"/>
                      </a:xfrm>
                      <a:prstGeom prst="rect">
                        <a:avLst/>
                      </a:prstGeom>
                    </p:spPr>
                  </p:pic>
                </p:oleObj>
              </mc:Fallback>
            </mc:AlternateContent>
          </a:graphicData>
        </a:graphic>
      </p:graphicFrame>
      <p:pic>
        <p:nvPicPr>
          <p:cNvPr id="7" name="图片 6"/>
          <p:cNvPicPr>
            <a:picLocks noChangeAspect="1"/>
          </p:cNvPicPr>
          <p:nvPr/>
        </p:nvPicPr>
        <p:blipFill>
          <a:blip r:embed="rId3"/>
          <a:stretch>
            <a:fillRect/>
          </a:stretch>
        </p:blipFill>
        <p:spPr>
          <a:xfrm>
            <a:off x="2188028" y="3996437"/>
            <a:ext cx="7151915" cy="2189946"/>
          </a:xfrm>
          <a:prstGeom prst="rect">
            <a:avLst/>
          </a:prstGeom>
        </p:spPr>
      </p:pic>
    </p:spTree>
    <p:custDataLst>
      <p:tags r:id="rId4"/>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graphicFrame>
        <p:nvGraphicFramePr>
          <p:cNvPr id="10" name="对象 9"/>
          <p:cNvGraphicFramePr/>
          <p:nvPr/>
        </p:nvGraphicFramePr>
        <p:xfrm>
          <a:off x="4815205" y="4144445"/>
          <a:ext cx="142240" cy="305435"/>
        </p:xfrm>
        <a:graphic>
          <a:graphicData uri="http://schemas.openxmlformats.org/presentationml/2006/ole">
            <mc:AlternateContent xmlns:mc="http://schemas.openxmlformats.org/markup-compatibility/2006">
              <mc:Choice xmlns:v="urn:schemas-microsoft-com:vml" Requires="v">
                <p:oleObj spid="_x0000_s4" name="" r:id="rId1" imgW="114300" imgH="215900" progId="Equation.KSEE3">
                  <p:embed/>
                </p:oleObj>
              </mc:Choice>
              <mc:Fallback>
                <p:oleObj name="" r:id="rId1" imgW="114300" imgH="215900" progId="Equation.KSEE3">
                  <p:embed/>
                  <p:pic>
                    <p:nvPicPr>
                      <p:cNvPr id="0" name="对象 9"/>
                      <p:cNvPicPr/>
                      <p:nvPr/>
                    </p:nvPicPr>
                    <p:blipFill>
                      <a:blip r:embed="rId2"/>
                      <a:stretch>
                        <a:fillRect/>
                      </a:stretch>
                    </p:blipFill>
                    <p:spPr>
                      <a:xfrm>
                        <a:off x="4815205" y="4144445"/>
                        <a:ext cx="142240" cy="305435"/>
                      </a:xfrm>
                      <a:prstGeom prst="rect">
                        <a:avLst/>
                      </a:prstGeom>
                    </p:spPr>
                  </p:pic>
                </p:oleObj>
              </mc:Fallback>
            </mc:AlternateContent>
          </a:graphicData>
        </a:graphic>
      </p:graphicFrame>
      <p:grpSp>
        <p:nvGrpSpPr>
          <p:cNvPr id="17" name="组合 16"/>
          <p:cNvGrpSpPr/>
          <p:nvPr/>
        </p:nvGrpSpPr>
        <p:grpSpPr>
          <a:xfrm>
            <a:off x="545465" y="1022350"/>
            <a:ext cx="10681970" cy="2863850"/>
            <a:chOff x="859" y="1610"/>
            <a:chExt cx="16822" cy="4510"/>
          </a:xfrm>
        </p:grpSpPr>
        <p:grpSp>
          <p:nvGrpSpPr>
            <p:cNvPr id="2" name="组合 1"/>
            <p:cNvGrpSpPr/>
            <p:nvPr/>
          </p:nvGrpSpPr>
          <p:grpSpPr>
            <a:xfrm>
              <a:off x="859" y="1610"/>
              <a:ext cx="16822" cy="4510"/>
              <a:chOff x="545466" y="2165045"/>
              <a:chExt cx="10682060" cy="2864497"/>
            </a:xfrm>
          </p:grpSpPr>
          <p:sp>
            <p:nvSpPr>
              <p:cNvPr id="8" name="圆角矩形 7"/>
              <p:cNvSpPr/>
              <p:nvPr/>
            </p:nvSpPr>
            <p:spPr>
              <a:xfrm>
                <a:off x="545466" y="2165045"/>
                <a:ext cx="10682060" cy="2864497"/>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TextBox 8"/>
              <p:cNvSpPr txBox="1"/>
              <p:nvPr/>
            </p:nvSpPr>
            <p:spPr>
              <a:xfrm>
                <a:off x="775334" y="2406346"/>
                <a:ext cx="10171339" cy="2498751"/>
              </a:xfrm>
              <a:prstGeom prst="rect">
                <a:avLst/>
              </a:prstGeom>
              <a:noFill/>
            </p:spPr>
            <p:txBody>
              <a:bodyPr wrap="square" lIns="0" tIns="0" rIns="0" bIns="0" rtlCol="0" anchor="t">
                <a:noAutofit/>
              </a:bodyPr>
              <a:lstStyle/>
              <a:p>
                <a:pPr defTabSz="1219200">
                  <a:lnSpc>
                    <a:spcPct val="150000"/>
                  </a:lnSpc>
                  <a:spcBef>
                    <a:spcPct val="20000"/>
                  </a:spcBef>
                  <a:buFont typeface="Arial" panose="020B0604020202020204" pitchFamily="34" charset="0"/>
                  <a:defRPr/>
                </a:pPr>
                <a:r>
                  <a:rPr lang="zh-CN" altLang="en-US" sz="1600" b="1" dirty="0">
                    <a:solidFill>
                      <a:srgbClr val="006FAE"/>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单层循环神经元</a:t>
                </a:r>
                <a:endParaRPr lang="en-US" altLang="zh-CN" sz="1600" b="1" dirty="0">
                  <a:solidFill>
                    <a:srgbClr val="006FAE"/>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在每一个时间迭代 </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t </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处</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每个神经元同时接收输入向量</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x(t) </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和前一个时间迭代的输出向量</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y(t−1)</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对于每个神经元，将输入向量</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x(t)</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的权重记作</a:t>
                </a:r>
                <a:r>
                  <a:rPr lang="en-US" altLang="zh-CN" sz="1600" dirty="0" err="1">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wx</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，前一个时间迭代的输出</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y(t−1)</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的权重记作</a:t>
                </a:r>
                <a:r>
                  <a:rPr lang="en-US" altLang="zh-CN" sz="1600" dirty="0" err="1">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wy</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，则单个样本的单层循环神经网络的输出可以表示为：</a:t>
                </a:r>
                <a:endPar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endPar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其中       表示时间迭代 </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t </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的输出，     表示 </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t </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时刻的输入，        表示激活函数。   </a:t>
                </a:r>
                <a:endPar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graphicFrame>
          <p:nvGraphicFramePr>
            <p:cNvPr id="5" name="对象 4"/>
            <p:cNvGraphicFramePr>
              <a:graphicFrameLocks noChangeAspect="1"/>
            </p:cNvGraphicFramePr>
            <p:nvPr/>
          </p:nvGraphicFramePr>
          <p:xfrm>
            <a:off x="6728" y="4457"/>
            <a:ext cx="5384" cy="645"/>
          </p:xfrm>
          <a:graphic>
            <a:graphicData uri="http://schemas.openxmlformats.org/presentationml/2006/ole">
              <mc:AlternateContent xmlns:mc="http://schemas.openxmlformats.org/markup-compatibility/2006">
                <mc:Choice xmlns:v="urn:schemas-microsoft-com:vml" Requires="v">
                  <p:oleObj spid="_x0000_s6" name="Equation" r:id="rId3" imgW="50901600" imgH="6096000" progId="Equation.DSMT4">
                    <p:embed/>
                  </p:oleObj>
                </mc:Choice>
                <mc:Fallback>
                  <p:oleObj name="Equation" r:id="rId3" imgW="50901600" imgH="6096000" progId="Equation.DSMT4">
                    <p:embed/>
                    <p:pic>
                      <p:nvPicPr>
                        <p:cNvPr id="0" name="图片 4"/>
                        <p:cNvPicPr/>
                        <p:nvPr/>
                      </p:nvPicPr>
                      <p:blipFill>
                        <a:blip r:embed="rId4"/>
                        <a:stretch>
                          <a:fillRect/>
                        </a:stretch>
                      </p:blipFill>
                      <p:spPr>
                        <a:xfrm>
                          <a:off x="6728" y="4457"/>
                          <a:ext cx="5384" cy="645"/>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2303" y="5210"/>
            <a:ext cx="557" cy="557"/>
          </p:xfrm>
          <a:graphic>
            <a:graphicData uri="http://schemas.openxmlformats.org/presentationml/2006/ole">
              <mc:AlternateContent xmlns:mc="http://schemas.openxmlformats.org/markup-compatibility/2006">
                <mc:Choice xmlns:v="urn:schemas-microsoft-com:vml" Requires="v">
                  <p:oleObj spid="_x0000_s9" name="Equation" r:id="rId5" imgW="5791200" imgH="5791200" progId="Equation.DSMT4">
                    <p:embed/>
                  </p:oleObj>
                </mc:Choice>
                <mc:Fallback>
                  <p:oleObj name="Equation" r:id="rId5" imgW="5791200" imgH="5791200" progId="Equation.DSMT4">
                    <p:embed/>
                    <p:pic>
                      <p:nvPicPr>
                        <p:cNvPr id="0" name="图片 6"/>
                        <p:cNvPicPr/>
                        <p:nvPr/>
                      </p:nvPicPr>
                      <p:blipFill>
                        <a:blip r:embed="rId6"/>
                        <a:stretch>
                          <a:fillRect/>
                        </a:stretch>
                      </p:blipFill>
                      <p:spPr>
                        <a:xfrm>
                          <a:off x="2303" y="5210"/>
                          <a:ext cx="557" cy="557"/>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6120" y="5240"/>
            <a:ext cx="557" cy="588"/>
          </p:xfrm>
          <a:graphic>
            <a:graphicData uri="http://schemas.openxmlformats.org/presentationml/2006/ole">
              <mc:AlternateContent xmlns:mc="http://schemas.openxmlformats.org/markup-compatibility/2006">
                <mc:Choice xmlns:v="urn:schemas-microsoft-com:vml" Requires="v">
                  <p:oleObj spid="_x0000_s12" name="Equation" r:id="rId7" imgW="5486400" imgH="5791200" progId="Equation.DSMT4">
                    <p:embed/>
                  </p:oleObj>
                </mc:Choice>
                <mc:Fallback>
                  <p:oleObj name="Equation" r:id="rId7" imgW="5486400" imgH="5791200" progId="Equation.DSMT4">
                    <p:embed/>
                    <p:pic>
                      <p:nvPicPr>
                        <p:cNvPr id="0" name="图片 10"/>
                        <p:cNvPicPr/>
                        <p:nvPr/>
                      </p:nvPicPr>
                      <p:blipFill>
                        <a:blip r:embed="rId8"/>
                        <a:stretch>
                          <a:fillRect/>
                        </a:stretch>
                      </p:blipFill>
                      <p:spPr>
                        <a:xfrm>
                          <a:off x="6120" y="5240"/>
                          <a:ext cx="557" cy="588"/>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9304" y="5269"/>
            <a:ext cx="755" cy="531"/>
          </p:xfrm>
          <a:graphic>
            <a:graphicData uri="http://schemas.openxmlformats.org/presentationml/2006/ole">
              <mc:AlternateContent xmlns:mc="http://schemas.openxmlformats.org/markup-compatibility/2006">
                <mc:Choice xmlns:v="urn:schemas-microsoft-com:vml" Requires="v">
                  <p:oleObj spid="_x0000_s15" name="Equation" r:id="rId9" imgW="7315200" imgH="4876800" progId="Equation.DSMT4">
                    <p:embed/>
                  </p:oleObj>
                </mc:Choice>
                <mc:Fallback>
                  <p:oleObj name="Equation" r:id="rId9" imgW="7315200" imgH="4876800" progId="Equation.DSMT4">
                    <p:embed/>
                    <p:pic>
                      <p:nvPicPr>
                        <p:cNvPr id="0" name="图片 13"/>
                        <p:cNvPicPr/>
                        <p:nvPr/>
                      </p:nvPicPr>
                      <p:blipFill>
                        <a:blip r:embed="rId10"/>
                        <a:stretch>
                          <a:fillRect/>
                        </a:stretch>
                      </p:blipFill>
                      <p:spPr>
                        <a:xfrm>
                          <a:off x="9304" y="5269"/>
                          <a:ext cx="755" cy="531"/>
                        </a:xfrm>
                        <a:prstGeom prst="rect">
                          <a:avLst/>
                        </a:prstGeom>
                      </p:spPr>
                    </p:pic>
                  </p:oleObj>
                </mc:Fallback>
              </mc:AlternateContent>
            </a:graphicData>
          </a:graphic>
        </p:graphicFrame>
      </p:grpSp>
      <p:pic>
        <p:nvPicPr>
          <p:cNvPr id="16" name="图片 15"/>
          <p:cNvPicPr>
            <a:picLocks noChangeAspect="1"/>
          </p:cNvPicPr>
          <p:nvPr/>
        </p:nvPicPr>
        <p:blipFill>
          <a:blip r:embed="rId11"/>
          <a:stretch>
            <a:fillRect/>
          </a:stretch>
        </p:blipFill>
        <p:spPr>
          <a:xfrm>
            <a:off x="1807619" y="3944622"/>
            <a:ext cx="8157754" cy="2369718"/>
          </a:xfrm>
          <a:prstGeom prst="rect">
            <a:avLst/>
          </a:prstGeom>
        </p:spPr>
      </p:pic>
    </p:spTree>
    <p:custDataLst>
      <p:tags r:id="rId12"/>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grpSp>
        <p:nvGrpSpPr>
          <p:cNvPr id="2" name="组合 1"/>
          <p:cNvGrpSpPr/>
          <p:nvPr/>
        </p:nvGrpSpPr>
        <p:grpSpPr>
          <a:xfrm>
            <a:off x="545465" y="989392"/>
            <a:ext cx="4679677" cy="5293840"/>
            <a:chOff x="545465" y="2165045"/>
            <a:chExt cx="4381104" cy="5294483"/>
          </a:xfrm>
        </p:grpSpPr>
        <p:sp>
          <p:nvSpPr>
            <p:cNvPr id="8" name="圆角矩形 7"/>
            <p:cNvSpPr/>
            <p:nvPr/>
          </p:nvSpPr>
          <p:spPr>
            <a:xfrm>
              <a:off x="545465" y="2165045"/>
              <a:ext cx="4381104" cy="5294483"/>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TextBox 8"/>
            <p:cNvSpPr txBox="1"/>
            <p:nvPr/>
          </p:nvSpPr>
          <p:spPr>
            <a:xfrm>
              <a:off x="775335" y="2377461"/>
              <a:ext cx="3900616" cy="4905698"/>
            </a:xfrm>
            <a:prstGeom prst="rect">
              <a:avLst/>
            </a:prstGeom>
            <a:noFill/>
          </p:spPr>
          <p:txBody>
            <a:bodyPr wrap="square" lIns="0" tIns="0" rIns="0" bIns="0" rtlCol="0" anchor="t">
              <a:noAutofit/>
            </a:bodyPr>
            <a:lstStyle/>
            <a:p>
              <a:pPr defTabSz="1219200">
                <a:lnSpc>
                  <a:spcPct val="150000"/>
                </a:lnSpc>
                <a:spcBef>
                  <a:spcPct val="20000"/>
                </a:spcBef>
                <a:buFont typeface="Arial" panose="020B0604020202020204" pitchFamily="34" charset="0"/>
                <a:defRPr/>
              </a:pPr>
              <a:r>
                <a:rPr lang="zh-CN" altLang="en-US" sz="1600" b="1" dirty="0">
                  <a:solidFill>
                    <a:srgbClr val="006FAE"/>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序列到序列的</a:t>
              </a:r>
              <a:r>
                <a:rPr lang="en-US" altLang="zh-CN" sz="1600" b="1" dirty="0">
                  <a:solidFill>
                    <a:srgbClr val="006FAE"/>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RNN</a:t>
              </a:r>
              <a:endParaRPr lang="en-US" altLang="zh-CN" sz="1600" b="1" dirty="0">
                <a:solidFill>
                  <a:srgbClr val="006FAE"/>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将一个序列作为输入并输出一个序列，可用于序列预测任务，如股票价格预测、天气预测等。</a:t>
              </a:r>
              <a:endPar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buFont typeface="Arial" panose="020B0604020202020204" pitchFamily="34" charset="0"/>
                <a:defRPr/>
              </a:pPr>
              <a:r>
                <a:rPr lang="zh-CN" altLang="en-US" sz="1600" b="1" dirty="0">
                  <a:solidFill>
                    <a:srgbClr val="006FAE"/>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向量到序列的</a:t>
              </a:r>
              <a:r>
                <a:rPr lang="en-US" altLang="zh-CN" sz="1600" b="1" dirty="0">
                  <a:solidFill>
                    <a:srgbClr val="006FAE"/>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RNN</a:t>
              </a:r>
              <a:endParaRPr lang="en-US" altLang="zh-CN" sz="1600" b="1" dirty="0">
                <a:solidFill>
                  <a:srgbClr val="006FAE"/>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在第一个时间迭代输入单一样本，其他时间迭代输入均为</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，从而得到一个序列输出。例如，为输入的一幅图像生成描述性文本。</a:t>
              </a:r>
              <a:endPar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buFont typeface="Arial" panose="020B0604020202020204" pitchFamily="34" charset="0"/>
                <a:defRPr/>
              </a:pPr>
              <a:r>
                <a:rPr lang="zh-CN" altLang="en-US" sz="1600" b="1" dirty="0">
                  <a:solidFill>
                    <a:srgbClr val="006FAE"/>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编码器解码器结构</a:t>
              </a:r>
              <a:endParaRPr lang="en-US" altLang="zh-CN" sz="1600" b="1" dirty="0">
                <a:solidFill>
                  <a:srgbClr val="006FAE"/>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包括一个从序列到向量的编码器网络和一个从向量到序列的解码器网络，该结构广泛应用于机器翻译等任务。</a:t>
              </a:r>
              <a:endPar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graphicFrame>
        <p:nvGraphicFramePr>
          <p:cNvPr id="10" name="对象 9"/>
          <p:cNvGraphicFramePr/>
          <p:nvPr/>
        </p:nvGraphicFramePr>
        <p:xfrm>
          <a:off x="4815205" y="3922376"/>
          <a:ext cx="142240" cy="305435"/>
        </p:xfrm>
        <a:graphic>
          <a:graphicData uri="http://schemas.openxmlformats.org/presentationml/2006/ole">
            <mc:AlternateContent xmlns:mc="http://schemas.openxmlformats.org/markup-compatibility/2006">
              <mc:Choice xmlns:v="urn:schemas-microsoft-com:vml" Requires="v">
                <p:oleObj spid="_x0000_s4" name="" r:id="rId1" imgW="114300" imgH="215900" progId="Equation.KSEE3">
                  <p:embed/>
                </p:oleObj>
              </mc:Choice>
              <mc:Fallback>
                <p:oleObj name="" r:id="rId1" imgW="114300" imgH="215900" progId="Equation.KSEE3">
                  <p:embed/>
                  <p:pic>
                    <p:nvPicPr>
                      <p:cNvPr id="0" name="对象 9"/>
                      <p:cNvPicPr/>
                      <p:nvPr/>
                    </p:nvPicPr>
                    <p:blipFill>
                      <a:blip r:embed="rId2"/>
                      <a:stretch>
                        <a:fillRect/>
                      </a:stretch>
                    </p:blipFill>
                    <p:spPr>
                      <a:xfrm>
                        <a:off x="4815205" y="3922376"/>
                        <a:ext cx="142240" cy="305435"/>
                      </a:xfrm>
                      <a:prstGeom prst="rect">
                        <a:avLst/>
                      </a:prstGeom>
                    </p:spPr>
                  </p:pic>
                </p:oleObj>
              </mc:Fallback>
            </mc:AlternateContent>
          </a:graphicData>
        </a:graphic>
      </p:graphicFrame>
      <p:pic>
        <p:nvPicPr>
          <p:cNvPr id="7" name="图片 6"/>
          <p:cNvPicPr>
            <a:picLocks noChangeAspect="1"/>
          </p:cNvPicPr>
          <p:nvPr/>
        </p:nvPicPr>
        <p:blipFill>
          <a:blip r:embed="rId3"/>
          <a:stretch>
            <a:fillRect/>
          </a:stretch>
        </p:blipFill>
        <p:spPr>
          <a:xfrm>
            <a:off x="5708469" y="838762"/>
            <a:ext cx="5499192" cy="1674898"/>
          </a:xfrm>
          <a:prstGeom prst="rect">
            <a:avLst/>
          </a:prstGeom>
        </p:spPr>
      </p:pic>
      <p:pic>
        <p:nvPicPr>
          <p:cNvPr id="9" name="图片 8"/>
          <p:cNvPicPr>
            <a:picLocks noChangeAspect="1"/>
          </p:cNvPicPr>
          <p:nvPr/>
        </p:nvPicPr>
        <p:blipFill>
          <a:blip r:embed="rId4"/>
          <a:stretch>
            <a:fillRect/>
          </a:stretch>
        </p:blipFill>
        <p:spPr>
          <a:xfrm>
            <a:off x="5708469" y="2640775"/>
            <a:ext cx="5499192" cy="1711456"/>
          </a:xfrm>
          <a:prstGeom prst="rect">
            <a:avLst/>
          </a:prstGeom>
        </p:spPr>
      </p:pic>
      <p:pic>
        <p:nvPicPr>
          <p:cNvPr id="14" name="图片 13"/>
          <p:cNvPicPr>
            <a:picLocks noChangeAspect="1"/>
          </p:cNvPicPr>
          <p:nvPr/>
        </p:nvPicPr>
        <p:blipFill>
          <a:blip r:embed="rId5"/>
          <a:stretch>
            <a:fillRect/>
          </a:stretch>
        </p:blipFill>
        <p:spPr>
          <a:xfrm>
            <a:off x="5981700" y="4267821"/>
            <a:ext cx="5322753" cy="2015411"/>
          </a:xfrm>
          <a:prstGeom prst="rect">
            <a:avLst/>
          </a:prstGeom>
        </p:spPr>
      </p:pic>
    </p:spTree>
    <p:custDataLst>
      <p:tags r:id="rId6"/>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改进型循环神经网络</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810895"/>
            <a:ext cx="11131550" cy="1700594"/>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长短期记忆网络</a:t>
            </a: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(long short-term memory, LSTM)</a:t>
            </a:r>
            <a:endPar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fontAlgn="auto">
              <a:lnSpc>
                <a:spcPct val="150000"/>
              </a:lnSpc>
              <a:spcBef>
                <a:spcPts val="600"/>
              </a:spcBef>
              <a:buFont typeface="Arial" panose="020B0604020202020204" pitchFamily="34" charset="0"/>
              <a:buChar char="•"/>
              <a:defRPr/>
            </a:pPr>
            <a:r>
              <a:rPr lang="zh-CN" altLang="en-US" sz="1600" dirty="0"/>
              <a:t>一种改进型循环神经网络</a:t>
            </a:r>
            <a:r>
              <a:rPr lang="en-US" altLang="zh-CN" sz="1600" dirty="0"/>
              <a:t>, </a:t>
            </a:r>
            <a:r>
              <a:rPr lang="zh-CN" altLang="en-US" sz="1600" dirty="0"/>
              <a:t>适用于处理和预测时间序列中间隔和延迟相对较长的重要事件。</a:t>
            </a:r>
            <a:r>
              <a:rPr lang="en-US" altLang="zh-CN" sz="1600" dirty="0"/>
              <a:t>LSTM</a:t>
            </a:r>
            <a:r>
              <a:rPr lang="zh-CN" altLang="en-US" sz="1600" dirty="0"/>
              <a:t>的出现解决了</a:t>
            </a:r>
            <a:r>
              <a:rPr lang="en-US" altLang="zh-CN" sz="1600" dirty="0"/>
              <a:t>RNN</a:t>
            </a:r>
            <a:r>
              <a:rPr lang="zh-CN" altLang="en-US" sz="1600" dirty="0"/>
              <a:t>网络中记忆衰退的问题。</a:t>
            </a:r>
            <a:r>
              <a:rPr lang="en-US" altLang="zh-CN" sz="1600" dirty="0"/>
              <a:t>LSTM</a:t>
            </a:r>
            <a:r>
              <a:rPr lang="zh-CN" altLang="en-US" sz="1600" dirty="0"/>
              <a:t>区别于</a:t>
            </a:r>
            <a:r>
              <a:rPr lang="en-US" altLang="zh-CN" sz="1600" dirty="0"/>
              <a:t>RNN</a:t>
            </a:r>
            <a:r>
              <a:rPr lang="zh-CN" altLang="en-US" sz="1600" dirty="0"/>
              <a:t>的地方在于它在算法中加入了一个判断信息有用与否的“处理器”，这个处理器作用的结构称为单元</a:t>
            </a:r>
            <a:r>
              <a:rPr lang="en-US" altLang="zh-CN" sz="1600" dirty="0"/>
              <a:t>(cell)</a:t>
            </a:r>
            <a:r>
              <a:rPr lang="zh-CN" altLang="en-US" sz="1600" dirty="0"/>
              <a:t>。一个单元当中被放置了三个门结构，分别称为输入门、遗忘门和输出门。</a:t>
            </a:r>
            <a:endPar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3" name="图片 2"/>
          <p:cNvPicPr>
            <a:picLocks noChangeAspect="1"/>
          </p:cNvPicPr>
          <p:nvPr/>
        </p:nvPicPr>
        <p:blipFill>
          <a:blip r:embed="rId1"/>
          <a:stretch>
            <a:fillRect/>
          </a:stretch>
        </p:blipFill>
        <p:spPr>
          <a:xfrm>
            <a:off x="4598124" y="2860336"/>
            <a:ext cx="7078981" cy="3036317"/>
          </a:xfrm>
          <a:prstGeom prst="rect">
            <a:avLst/>
          </a:prstGeom>
        </p:spPr>
      </p:pic>
      <p:sp>
        <p:nvSpPr>
          <p:cNvPr id="23" name="矩形 22"/>
          <p:cNvSpPr/>
          <p:nvPr/>
        </p:nvSpPr>
        <p:spPr>
          <a:xfrm>
            <a:off x="6263640" y="3951514"/>
            <a:ext cx="1031966" cy="1895031"/>
          </a:xfrm>
          <a:prstGeom prst="rect">
            <a:avLst/>
          </a:prstGeom>
          <a:noFill/>
          <a:ln w="19050">
            <a:solidFill>
              <a:srgbClr val="00568A"/>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4" name="对象 23"/>
          <p:cNvGraphicFramePr>
            <a:graphicFrameLocks noChangeAspect="1"/>
          </p:cNvGraphicFramePr>
          <p:nvPr/>
        </p:nvGraphicFramePr>
        <p:xfrm>
          <a:off x="6651908" y="4186646"/>
          <a:ext cx="301104" cy="317832"/>
        </p:xfrm>
        <a:graphic>
          <a:graphicData uri="http://schemas.openxmlformats.org/presentationml/2006/ole">
            <mc:AlternateContent xmlns:mc="http://schemas.openxmlformats.org/markup-compatibility/2006">
              <mc:Choice xmlns:v="urn:schemas-microsoft-com:vml" Requires="v">
                <p:oleObj spid="_x0000_s2" name="Equation" r:id="rId2" imgW="5486400" imgH="5791200" progId="Equation.DSMT4">
                  <p:embed/>
                </p:oleObj>
              </mc:Choice>
              <mc:Fallback>
                <p:oleObj name="Equation" r:id="rId2" imgW="5486400" imgH="5791200" progId="Equation.DSMT4">
                  <p:embed/>
                  <p:pic>
                    <p:nvPicPr>
                      <p:cNvPr id="0" name="图片 1"/>
                      <p:cNvPicPr/>
                      <p:nvPr/>
                    </p:nvPicPr>
                    <p:blipFill>
                      <a:blip r:embed="rId3"/>
                      <a:stretch>
                        <a:fillRect/>
                      </a:stretch>
                    </p:blipFill>
                    <p:spPr>
                      <a:xfrm>
                        <a:off x="6651908" y="4186646"/>
                        <a:ext cx="301104" cy="317832"/>
                      </a:xfrm>
                      <a:prstGeom prst="rect">
                        <a:avLst/>
                      </a:prstGeom>
                    </p:spPr>
                  </p:pic>
                </p:oleObj>
              </mc:Fallback>
            </mc:AlternateContent>
          </a:graphicData>
        </a:graphic>
      </p:graphicFrame>
      <p:grpSp>
        <p:nvGrpSpPr>
          <p:cNvPr id="7" name="组合 6"/>
          <p:cNvGrpSpPr/>
          <p:nvPr/>
        </p:nvGrpSpPr>
        <p:grpSpPr>
          <a:xfrm>
            <a:off x="457200" y="2633345"/>
            <a:ext cx="3971290" cy="3486150"/>
            <a:chOff x="720" y="4147"/>
            <a:chExt cx="6254" cy="5490"/>
          </a:xfrm>
        </p:grpSpPr>
        <p:sp>
          <p:nvSpPr>
            <p:cNvPr id="22" name="圆角矩形 7"/>
            <p:cNvSpPr/>
            <p:nvPr/>
          </p:nvSpPr>
          <p:spPr>
            <a:xfrm>
              <a:off x="720" y="4147"/>
              <a:ext cx="6254" cy="5491"/>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TextBox 8"/>
            <p:cNvSpPr txBox="1"/>
            <p:nvPr/>
          </p:nvSpPr>
          <p:spPr>
            <a:xfrm>
              <a:off x="987" y="4404"/>
              <a:ext cx="5690" cy="4803"/>
            </a:xfrm>
            <a:prstGeom prst="rect">
              <a:avLst/>
            </a:prstGeom>
            <a:noFill/>
          </p:spPr>
          <p:txBody>
            <a:bodyPr wrap="square" lIns="0" tIns="0" rIns="0" bIns="0" rtlCol="0" anchor="t">
              <a:noAutofit/>
            </a:bodyPr>
            <a:lstStyle/>
            <a:p>
              <a:pPr defTabSz="1219200">
                <a:lnSpc>
                  <a:spcPct val="150000"/>
                </a:lnSpc>
                <a:spcBef>
                  <a:spcPct val="20000"/>
                </a:spcBef>
                <a:buFont typeface="Arial" panose="020B0604020202020204" pitchFamily="34" charset="0"/>
                <a:defRPr/>
              </a:pPr>
              <a:r>
                <a:rPr lang="zh-CN" altLang="en-US" sz="1600" b="1" dirty="0">
                  <a:solidFill>
                    <a:srgbClr val="006FAE"/>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遗忘门</a:t>
              </a:r>
              <a:endParaRPr lang="en-US" altLang="zh-CN" sz="1600" b="1" dirty="0">
                <a:solidFill>
                  <a:srgbClr val="006FAE"/>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读取前一时刻的隐藏状态</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h(t-1)</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和当前的时刻的输入</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x(t)</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，从而输出</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0~1</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之间的数值，表示对单元状态</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C(t-1)</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中每个元素的保留程度。</a:t>
              </a:r>
              <a:endPar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遗忘门的输出</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f(t)</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的计算公式为：</a:t>
              </a:r>
              <a:endPar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aphicFrame>
          <p:nvGraphicFramePr>
            <p:cNvPr id="25" name="对象 24"/>
            <p:cNvGraphicFramePr>
              <a:graphicFrameLocks noChangeAspect="1"/>
            </p:cNvGraphicFramePr>
            <p:nvPr/>
          </p:nvGraphicFramePr>
          <p:xfrm>
            <a:off x="1617" y="8334"/>
            <a:ext cx="4460" cy="576"/>
          </p:xfrm>
          <a:graphic>
            <a:graphicData uri="http://schemas.openxmlformats.org/presentationml/2006/ole">
              <mc:AlternateContent xmlns:mc="http://schemas.openxmlformats.org/markup-compatibility/2006">
                <mc:Choice xmlns:v="urn:schemas-microsoft-com:vml" Requires="v">
                  <p:oleObj spid="_x0000_s4" name="Equation" r:id="rId4" imgW="44805600" imgH="5791200" progId="Equation.DSMT4">
                    <p:embed/>
                  </p:oleObj>
                </mc:Choice>
                <mc:Fallback>
                  <p:oleObj name="Equation" r:id="rId4" imgW="44805600" imgH="5791200" progId="Equation.DSMT4">
                    <p:embed/>
                    <p:pic>
                      <p:nvPicPr>
                        <p:cNvPr id="0" name="图片 3"/>
                        <p:cNvPicPr/>
                        <p:nvPr/>
                      </p:nvPicPr>
                      <p:blipFill>
                        <a:blip r:embed="rId5"/>
                        <a:stretch>
                          <a:fillRect/>
                        </a:stretch>
                      </p:blipFill>
                      <p:spPr>
                        <a:xfrm>
                          <a:off x="1617" y="8334"/>
                          <a:ext cx="4460" cy="576"/>
                        </a:xfrm>
                        <a:prstGeom prst="rect">
                          <a:avLst/>
                        </a:prstGeom>
                      </p:spPr>
                    </p:pic>
                  </p:oleObj>
                </mc:Fallback>
              </mc:AlternateContent>
            </a:graphicData>
          </a:graphic>
        </p:graphicFrame>
      </p:grpSp>
    </p:spTree>
    <p:custDataLst>
      <p:tags r:id="rId6"/>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改进型循环神经网络</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2" name="图片 1"/>
          <p:cNvPicPr>
            <a:picLocks noChangeAspect="1"/>
          </p:cNvPicPr>
          <p:nvPr/>
        </p:nvPicPr>
        <p:blipFill>
          <a:blip r:embed="rId1"/>
          <a:stretch>
            <a:fillRect/>
          </a:stretch>
        </p:blipFill>
        <p:spPr>
          <a:xfrm>
            <a:off x="7241445" y="786420"/>
            <a:ext cx="3975355" cy="2856222"/>
          </a:xfrm>
          <a:prstGeom prst="rect">
            <a:avLst/>
          </a:prstGeom>
        </p:spPr>
      </p:pic>
      <p:pic>
        <p:nvPicPr>
          <p:cNvPr id="12" name="图片 11"/>
          <p:cNvPicPr>
            <a:picLocks noChangeAspect="1"/>
          </p:cNvPicPr>
          <p:nvPr/>
        </p:nvPicPr>
        <p:blipFill>
          <a:blip r:embed="rId2"/>
          <a:stretch>
            <a:fillRect/>
          </a:stretch>
        </p:blipFill>
        <p:spPr>
          <a:xfrm>
            <a:off x="7359534" y="3556823"/>
            <a:ext cx="3857266" cy="2686696"/>
          </a:xfrm>
          <a:prstGeom prst="rect">
            <a:avLst/>
          </a:prstGeom>
        </p:spPr>
      </p:pic>
      <p:grpSp>
        <p:nvGrpSpPr>
          <p:cNvPr id="16" name="组合 15"/>
          <p:cNvGrpSpPr/>
          <p:nvPr/>
        </p:nvGrpSpPr>
        <p:grpSpPr>
          <a:xfrm>
            <a:off x="501015" y="922020"/>
            <a:ext cx="6369050" cy="5269230"/>
            <a:chOff x="789" y="1452"/>
            <a:chExt cx="10030" cy="8298"/>
          </a:xfrm>
        </p:grpSpPr>
        <p:sp>
          <p:nvSpPr>
            <p:cNvPr id="22" name="圆角矩形 7"/>
            <p:cNvSpPr/>
            <p:nvPr/>
          </p:nvSpPr>
          <p:spPr>
            <a:xfrm>
              <a:off x="789" y="1452"/>
              <a:ext cx="10031" cy="8299"/>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TextBox 8"/>
            <p:cNvSpPr txBox="1"/>
            <p:nvPr/>
          </p:nvSpPr>
          <p:spPr>
            <a:xfrm>
              <a:off x="1057" y="1709"/>
              <a:ext cx="9291" cy="7639"/>
            </a:xfrm>
            <a:prstGeom prst="rect">
              <a:avLst/>
            </a:prstGeom>
            <a:noFill/>
          </p:spPr>
          <p:txBody>
            <a:bodyPr wrap="square" lIns="0" tIns="0" rIns="0" bIns="0" rtlCol="0" anchor="t">
              <a:noAutofit/>
            </a:bodyPr>
            <a:lstStyle/>
            <a:p>
              <a:pPr defTabSz="1219200">
                <a:lnSpc>
                  <a:spcPct val="150000"/>
                </a:lnSpc>
                <a:spcBef>
                  <a:spcPct val="20000"/>
                </a:spcBef>
                <a:buFont typeface="Arial" panose="020B0604020202020204" pitchFamily="34" charset="0"/>
                <a:defRPr/>
              </a:pPr>
              <a:r>
                <a:rPr lang="zh-CN" altLang="en-US" sz="1600" b="1" dirty="0">
                  <a:solidFill>
                    <a:srgbClr val="006FAE"/>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输入门</a:t>
              </a:r>
              <a:endParaRPr lang="en-US" altLang="zh-CN" sz="1600" b="1" dirty="0">
                <a:solidFill>
                  <a:srgbClr val="006FAE"/>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首先计算哪些信息需要更新：</a:t>
              </a:r>
              <a:endPar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endPar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然后计算新的单元状态应该添加哪些信息：</a:t>
              </a:r>
              <a:endPar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endPar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结合上面的结果，以及遗忘门的输出，对单元状态进行更新：</a:t>
              </a:r>
              <a:endPar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endPar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这里     表示两个矩阵或向量的逐元素相乘。</a:t>
              </a:r>
              <a:endPar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r>
                <a:rPr lang="zh-CN" altLang="en-US" sz="1600" dirty="0">
                  <a:solidFill>
                    <a:srgbClr val="00568A"/>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输出门 </a:t>
              </a:r>
              <a:endParaRPr lang="en-US" altLang="zh-CN" sz="1600" dirty="0">
                <a:solidFill>
                  <a:srgbClr val="00568A"/>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根据输入和历史状态决定单元状态中的哪些信息将被输出。</a:t>
              </a:r>
              <a:endPar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endPar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aphicFrame>
          <p:nvGraphicFramePr>
            <p:cNvPr id="4" name="对象 3"/>
            <p:cNvGraphicFramePr>
              <a:graphicFrameLocks noChangeAspect="1"/>
            </p:cNvGraphicFramePr>
            <p:nvPr/>
          </p:nvGraphicFramePr>
          <p:xfrm>
            <a:off x="3762" y="2992"/>
            <a:ext cx="3880" cy="563"/>
          </p:xfrm>
          <a:graphic>
            <a:graphicData uri="http://schemas.openxmlformats.org/presentationml/2006/ole">
              <mc:AlternateContent xmlns:mc="http://schemas.openxmlformats.org/markup-compatibility/2006">
                <mc:Choice xmlns:v="urn:schemas-microsoft-com:vml" Requires="v">
                  <p:oleObj spid="_x0000_s3" name="Equation" r:id="rId3" imgW="39928800" imgH="5791200" progId="Equation.DSMT4">
                    <p:embed/>
                  </p:oleObj>
                </mc:Choice>
                <mc:Fallback>
                  <p:oleObj name="Equation" r:id="rId3" imgW="39928800" imgH="5791200" progId="Equation.DSMT4">
                    <p:embed/>
                    <p:pic>
                      <p:nvPicPr>
                        <p:cNvPr id="0" name="图片 2"/>
                        <p:cNvPicPr/>
                        <p:nvPr/>
                      </p:nvPicPr>
                      <p:blipFill>
                        <a:blip r:embed="rId4"/>
                        <a:stretch>
                          <a:fillRect/>
                        </a:stretch>
                      </p:blipFill>
                      <p:spPr>
                        <a:xfrm>
                          <a:off x="3762" y="2992"/>
                          <a:ext cx="3880" cy="563"/>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3638" y="4360"/>
            <a:ext cx="4127" cy="563"/>
          </p:xfrm>
          <a:graphic>
            <a:graphicData uri="http://schemas.openxmlformats.org/presentationml/2006/ole">
              <mc:AlternateContent xmlns:mc="http://schemas.openxmlformats.org/markup-compatibility/2006">
                <mc:Choice xmlns:v="urn:schemas-microsoft-com:vml" Requires="v">
                  <p:oleObj spid="_x0000_s6" name="Equation" r:id="rId5" imgW="46939200" imgH="6400800" progId="Equation.DSMT4">
                    <p:embed/>
                  </p:oleObj>
                </mc:Choice>
                <mc:Fallback>
                  <p:oleObj name="Equation" r:id="rId5" imgW="46939200" imgH="6400800" progId="Equation.DSMT4">
                    <p:embed/>
                    <p:pic>
                      <p:nvPicPr>
                        <p:cNvPr id="0" name="图片 5"/>
                        <p:cNvPicPr/>
                        <p:nvPr/>
                      </p:nvPicPr>
                      <p:blipFill>
                        <a:blip r:embed="rId6"/>
                        <a:stretch>
                          <a:fillRect/>
                        </a:stretch>
                      </p:blipFill>
                      <p:spPr>
                        <a:xfrm>
                          <a:off x="3638" y="4360"/>
                          <a:ext cx="4127" cy="563"/>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3521" y="5580"/>
            <a:ext cx="3680" cy="572"/>
          </p:xfrm>
          <a:graphic>
            <a:graphicData uri="http://schemas.openxmlformats.org/presentationml/2006/ole">
              <mc:AlternateContent xmlns:mc="http://schemas.openxmlformats.org/markup-compatibility/2006">
                <mc:Choice xmlns:v="urn:schemas-microsoft-com:vml" Requires="v">
                  <p:oleObj spid="_x0000_s9" name="Equation" r:id="rId7" imgW="41148000" imgH="6400800" progId="Equation.DSMT4">
                    <p:embed/>
                  </p:oleObj>
                </mc:Choice>
                <mc:Fallback>
                  <p:oleObj name="Equation" r:id="rId7" imgW="41148000" imgH="6400800" progId="Equation.DSMT4">
                    <p:embed/>
                    <p:pic>
                      <p:nvPicPr>
                        <p:cNvPr id="0" name="图片 8"/>
                        <p:cNvPicPr/>
                        <p:nvPr/>
                      </p:nvPicPr>
                      <p:blipFill>
                        <a:blip r:embed="rId8"/>
                        <a:stretch>
                          <a:fillRect/>
                        </a:stretch>
                      </p:blipFill>
                      <p:spPr>
                        <a:xfrm>
                          <a:off x="3521" y="5580"/>
                          <a:ext cx="3680" cy="572"/>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2126" y="6407"/>
            <a:ext cx="343" cy="369"/>
          </p:xfrm>
          <a:graphic>
            <a:graphicData uri="http://schemas.openxmlformats.org/presentationml/2006/ole">
              <mc:AlternateContent xmlns:mc="http://schemas.openxmlformats.org/markup-compatibility/2006">
                <mc:Choice xmlns:v="urn:schemas-microsoft-com:vml" Requires="v">
                  <p:oleObj spid="_x0000_s11" name="Equation" r:id="rId9" imgW="3962400" imgH="4267200" progId="Equation.DSMT4">
                    <p:embed/>
                  </p:oleObj>
                </mc:Choice>
                <mc:Fallback>
                  <p:oleObj name="Equation" r:id="rId9" imgW="3962400" imgH="4267200" progId="Equation.DSMT4">
                    <p:embed/>
                    <p:pic>
                      <p:nvPicPr>
                        <p:cNvPr id="0" name="图片 10"/>
                        <p:cNvPicPr/>
                        <p:nvPr/>
                      </p:nvPicPr>
                      <p:blipFill>
                        <a:blip r:embed="rId10"/>
                        <a:stretch>
                          <a:fillRect/>
                        </a:stretch>
                      </p:blipFill>
                      <p:spPr>
                        <a:xfrm>
                          <a:off x="2126" y="6407"/>
                          <a:ext cx="343" cy="369"/>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3521" y="8280"/>
            <a:ext cx="3712" cy="1029"/>
          </p:xfrm>
          <a:graphic>
            <a:graphicData uri="http://schemas.openxmlformats.org/presentationml/2006/ole">
              <mc:AlternateContent xmlns:mc="http://schemas.openxmlformats.org/markup-compatibility/2006">
                <mc:Choice xmlns:v="urn:schemas-microsoft-com:vml" Requires="v">
                  <p:oleObj spid="_x0000_s15" name="Equation" r:id="rId11" imgW="41757600" imgH="11582400" progId="Equation.DSMT4">
                    <p:embed/>
                  </p:oleObj>
                </mc:Choice>
                <mc:Fallback>
                  <p:oleObj name="Equation" r:id="rId11" imgW="41757600" imgH="11582400" progId="Equation.DSMT4">
                    <p:embed/>
                    <p:pic>
                      <p:nvPicPr>
                        <p:cNvPr id="0" name="图片 14"/>
                        <p:cNvPicPr/>
                        <p:nvPr/>
                      </p:nvPicPr>
                      <p:blipFill>
                        <a:blip r:embed="rId12"/>
                        <a:stretch>
                          <a:fillRect/>
                        </a:stretch>
                      </p:blipFill>
                      <p:spPr>
                        <a:xfrm>
                          <a:off x="3521" y="8280"/>
                          <a:ext cx="3712" cy="1029"/>
                        </a:xfrm>
                        <a:prstGeom prst="rect">
                          <a:avLst/>
                        </a:prstGeom>
                      </p:spPr>
                    </p:pic>
                  </p:oleObj>
                </mc:Fallback>
              </mc:AlternateContent>
            </a:graphicData>
          </a:graphic>
        </p:graphicFrame>
      </p:grpSp>
    </p:spTree>
    <p:custDataLst>
      <p:tags r:id="rId13"/>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改进型循环神经网络</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810895"/>
            <a:ext cx="11131550" cy="1700594"/>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门控循环单元网络</a:t>
            </a: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(gated recurrent Unit, GRU)</a:t>
            </a:r>
            <a:endPar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fontAlgn="auto">
              <a:lnSpc>
                <a:spcPct val="150000"/>
              </a:lnSpc>
              <a:spcBef>
                <a:spcPts val="600"/>
              </a:spcBef>
              <a:buFont typeface="Arial" panose="020B0604020202020204" pitchFamily="34" charset="0"/>
              <a:buChar char="•"/>
              <a:defRPr/>
            </a:pPr>
            <a:r>
              <a:rPr lang="zh-CN" altLang="en-US" sz="1600" dirty="0"/>
              <a:t>相比于标准的</a:t>
            </a:r>
            <a:r>
              <a:rPr lang="en-US" altLang="zh-CN" sz="1600" dirty="0"/>
              <a:t>LSTM</a:t>
            </a:r>
            <a:r>
              <a:rPr lang="zh-CN" altLang="en-US" sz="1600" dirty="0"/>
              <a:t>模型，</a:t>
            </a:r>
            <a:r>
              <a:rPr lang="en-US" altLang="zh-CN" sz="1600" dirty="0"/>
              <a:t>GRU</a:t>
            </a:r>
            <a:r>
              <a:rPr lang="zh-CN" altLang="en-US" sz="1600" dirty="0"/>
              <a:t>结构更为简洁。</a:t>
            </a:r>
            <a:r>
              <a:rPr lang="en-US" altLang="zh-CN" sz="1600" dirty="0"/>
              <a:t>LSTM</a:t>
            </a:r>
            <a:r>
              <a:rPr lang="zh-CN" altLang="en-US" sz="1600" dirty="0"/>
              <a:t>通过遗忘门和输入门共同控制历史信息与当前信息的通过与遗忘，而 </a:t>
            </a:r>
            <a:r>
              <a:rPr lang="en-US" altLang="zh-CN" sz="1600" dirty="0"/>
              <a:t>GRU </a:t>
            </a:r>
            <a:r>
              <a:rPr lang="zh-CN" altLang="en-US" sz="1600" dirty="0"/>
              <a:t>将遗忘门和输入门合并成一个单一的“更新门”，同时将单元状态和隐藏状态合并，因此不需要单独保存内部的自环状态。仅通过两个门控单元来完成隐藏层状态的更新</a:t>
            </a:r>
            <a:r>
              <a:rPr lang="en-US" altLang="zh-CN" sz="1600" dirty="0"/>
              <a:t>, </a:t>
            </a:r>
            <a:r>
              <a:rPr lang="zh-CN" altLang="en-US" sz="1600" dirty="0"/>
              <a:t>它们分别是更新门 </a:t>
            </a:r>
            <a:r>
              <a:rPr lang="en-US" altLang="zh-CN" sz="1600" dirty="0"/>
              <a:t>(update gate) </a:t>
            </a:r>
            <a:r>
              <a:rPr lang="zh-CN" altLang="en-US" sz="1600" dirty="0"/>
              <a:t>和重置门 </a:t>
            </a:r>
            <a:r>
              <a:rPr lang="en-US" altLang="zh-CN" sz="1600" dirty="0"/>
              <a:t>(reset gate)</a:t>
            </a:r>
            <a:r>
              <a:rPr lang="zh-CN" altLang="en-US" sz="1600" dirty="0"/>
              <a:t>。</a:t>
            </a:r>
            <a:endPar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2" name="图片 1"/>
          <p:cNvPicPr>
            <a:picLocks noChangeAspect="1"/>
          </p:cNvPicPr>
          <p:nvPr/>
        </p:nvPicPr>
        <p:blipFill>
          <a:blip r:embed="rId1"/>
          <a:stretch>
            <a:fillRect/>
          </a:stretch>
        </p:blipFill>
        <p:spPr>
          <a:xfrm>
            <a:off x="7178040" y="2775419"/>
            <a:ext cx="4433708" cy="3195220"/>
          </a:xfrm>
          <a:prstGeom prst="rect">
            <a:avLst/>
          </a:prstGeom>
        </p:spPr>
      </p:pic>
      <p:grpSp>
        <p:nvGrpSpPr>
          <p:cNvPr id="20" name="组合 19"/>
          <p:cNvGrpSpPr/>
          <p:nvPr/>
        </p:nvGrpSpPr>
        <p:grpSpPr>
          <a:xfrm>
            <a:off x="457200" y="2757170"/>
            <a:ext cx="6550660" cy="3213100"/>
            <a:chOff x="720" y="4342"/>
            <a:chExt cx="10316" cy="5060"/>
          </a:xfrm>
        </p:grpSpPr>
        <p:sp>
          <p:nvSpPr>
            <p:cNvPr id="22" name="圆角矩形 7"/>
            <p:cNvSpPr/>
            <p:nvPr/>
          </p:nvSpPr>
          <p:spPr>
            <a:xfrm>
              <a:off x="720" y="4342"/>
              <a:ext cx="10317" cy="5061"/>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TextBox 8"/>
            <p:cNvSpPr txBox="1"/>
            <p:nvPr/>
          </p:nvSpPr>
          <p:spPr>
            <a:xfrm>
              <a:off x="987" y="4599"/>
              <a:ext cx="9710" cy="4803"/>
            </a:xfrm>
            <a:prstGeom prst="rect">
              <a:avLst/>
            </a:prstGeom>
            <a:noFill/>
          </p:spPr>
          <p:txBody>
            <a:bodyPr wrap="square" lIns="0" tIns="0" rIns="0" bIns="0" rtlCol="0" anchor="t">
              <a:noAutofit/>
            </a:bodyPr>
            <a:lstStyle/>
            <a:p>
              <a:pPr marL="285750" indent="-285750" defTabSz="1219200">
                <a:lnSpc>
                  <a:spcPct val="150000"/>
                </a:lnSpc>
                <a:spcBef>
                  <a:spcPct val="20000"/>
                </a:spcBef>
                <a:buFont typeface="Arial" panose="020B0604020202020204" pitchFamily="34" charset="0"/>
                <a:buChar char="•"/>
                <a:defRPr/>
              </a:pPr>
              <a:r>
                <a:rPr lang="zh-CN" altLang="en-US" sz="1600" dirty="0"/>
                <a:t>重置门输出      来衡量所要计算的当前时刻的候选隐藏状态      与前一时刻隐藏状态        的相关程度</a:t>
              </a:r>
              <a:r>
                <a:rPr lang="en-US" altLang="zh-CN" sz="1600" dirty="0"/>
                <a:t>, </a:t>
              </a:r>
              <a:r>
                <a:rPr lang="zh-CN" altLang="en-US" sz="1600" dirty="0"/>
                <a:t>更新门输出       用于控制         的保留 和 </a:t>
              </a:r>
              <a:r>
                <a:rPr lang="en-US" altLang="zh-CN" sz="1600" dirty="0"/>
                <a:t>     </a:t>
              </a:r>
              <a:r>
                <a:rPr lang="zh-CN" altLang="en-US" sz="1600" dirty="0"/>
                <a:t>的通过。</a:t>
              </a:r>
              <a:endPar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aphicFrame>
          <p:nvGraphicFramePr>
            <p:cNvPr id="4" name="对象 3"/>
            <p:cNvGraphicFramePr>
              <a:graphicFrameLocks noChangeAspect="1"/>
            </p:cNvGraphicFramePr>
            <p:nvPr/>
          </p:nvGraphicFramePr>
          <p:xfrm>
            <a:off x="9590" y="4681"/>
            <a:ext cx="438" cy="542"/>
          </p:xfrm>
          <a:graphic>
            <a:graphicData uri="http://schemas.openxmlformats.org/presentationml/2006/ole">
              <mc:AlternateContent xmlns:mc="http://schemas.openxmlformats.org/markup-compatibility/2006">
                <mc:Choice xmlns:v="urn:schemas-microsoft-com:vml" Requires="v">
                  <p:oleObj spid="_x0000_s3" name="Equation" r:id="rId2" imgW="5181600" imgH="6400800" progId="Equation.DSMT4">
                    <p:embed/>
                  </p:oleObj>
                </mc:Choice>
                <mc:Fallback>
                  <p:oleObj name="Equation" r:id="rId2" imgW="5181600" imgH="6400800" progId="Equation.DSMT4">
                    <p:embed/>
                    <p:pic>
                      <p:nvPicPr>
                        <p:cNvPr id="0" name="图片 2"/>
                        <p:cNvPicPr/>
                        <p:nvPr/>
                      </p:nvPicPr>
                      <p:blipFill>
                        <a:blip r:embed="rId3"/>
                        <a:stretch>
                          <a:fillRect/>
                        </a:stretch>
                      </p:blipFill>
                      <p:spPr>
                        <a:xfrm>
                          <a:off x="9590" y="4681"/>
                          <a:ext cx="438" cy="542"/>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3073" y="4651"/>
            <a:ext cx="414" cy="524"/>
          </p:xfrm>
          <a:graphic>
            <a:graphicData uri="http://schemas.openxmlformats.org/presentationml/2006/ole">
              <mc:AlternateContent xmlns:mc="http://schemas.openxmlformats.org/markup-compatibility/2006">
                <mc:Choice xmlns:v="urn:schemas-microsoft-com:vml" Requires="v">
                  <p:oleObj spid="_x0000_s8" name="Equation" r:id="rId4" imgW="4572000" imgH="5791200" progId="Equation.DSMT4">
                    <p:embed/>
                  </p:oleObj>
                </mc:Choice>
                <mc:Fallback>
                  <p:oleObj name="Equation" r:id="rId4" imgW="4572000" imgH="5791200" progId="Equation.DSMT4">
                    <p:embed/>
                    <p:pic>
                      <p:nvPicPr>
                        <p:cNvPr id="0" name="图片 7"/>
                        <p:cNvPicPr/>
                        <p:nvPr/>
                      </p:nvPicPr>
                      <p:blipFill>
                        <a:blip r:embed="rId5"/>
                        <a:stretch>
                          <a:fillRect/>
                        </a:stretch>
                      </p:blipFill>
                      <p:spPr>
                        <a:xfrm>
                          <a:off x="3073" y="4651"/>
                          <a:ext cx="414" cy="524"/>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3661" y="5284"/>
            <a:ext cx="648" cy="513"/>
          </p:xfrm>
          <a:graphic>
            <a:graphicData uri="http://schemas.openxmlformats.org/presentationml/2006/ole">
              <mc:AlternateContent xmlns:mc="http://schemas.openxmlformats.org/markup-compatibility/2006">
                <mc:Choice xmlns:v="urn:schemas-microsoft-com:vml" Requires="v">
                  <p:oleObj spid="_x0000_s10" name="Equation" r:id="rId6" imgW="7315200" imgH="5791200" progId="Equation.DSMT4">
                    <p:embed/>
                  </p:oleObj>
                </mc:Choice>
                <mc:Fallback>
                  <p:oleObj name="Equation" r:id="rId6" imgW="7315200" imgH="5791200" progId="Equation.DSMT4">
                    <p:embed/>
                    <p:pic>
                      <p:nvPicPr>
                        <p:cNvPr id="0" name="图片 9"/>
                        <p:cNvPicPr/>
                        <p:nvPr/>
                      </p:nvPicPr>
                      <p:blipFill>
                        <a:blip r:embed="rId7"/>
                        <a:stretch>
                          <a:fillRect/>
                        </a:stretch>
                      </p:blipFill>
                      <p:spPr>
                        <a:xfrm>
                          <a:off x="3661" y="5284"/>
                          <a:ext cx="648" cy="513"/>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7651" y="5226"/>
            <a:ext cx="506" cy="566"/>
          </p:xfrm>
          <a:graphic>
            <a:graphicData uri="http://schemas.openxmlformats.org/presentationml/2006/ole">
              <mc:AlternateContent xmlns:mc="http://schemas.openxmlformats.org/markup-compatibility/2006">
                <mc:Choice xmlns:v="urn:schemas-microsoft-com:vml" Requires="v">
                  <p:oleObj spid="_x0000_s12" name="Equation" r:id="rId8" imgW="5181600" imgH="5791200" progId="Equation.DSMT4">
                    <p:embed/>
                  </p:oleObj>
                </mc:Choice>
                <mc:Fallback>
                  <p:oleObj name="Equation" r:id="rId8" imgW="5181600" imgH="5791200" progId="Equation.DSMT4">
                    <p:embed/>
                    <p:pic>
                      <p:nvPicPr>
                        <p:cNvPr id="0" name="图片 11"/>
                        <p:cNvPicPr/>
                        <p:nvPr/>
                      </p:nvPicPr>
                      <p:blipFill>
                        <a:blip r:embed="rId9"/>
                        <a:stretch>
                          <a:fillRect/>
                        </a:stretch>
                      </p:blipFill>
                      <p:spPr>
                        <a:xfrm>
                          <a:off x="7651" y="5226"/>
                          <a:ext cx="506" cy="566"/>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9420" y="5290"/>
            <a:ext cx="608" cy="481"/>
          </p:xfrm>
          <a:graphic>
            <a:graphicData uri="http://schemas.openxmlformats.org/presentationml/2006/ole">
              <mc:AlternateContent xmlns:mc="http://schemas.openxmlformats.org/markup-compatibility/2006">
                <mc:Choice xmlns:v="urn:schemas-microsoft-com:vml" Requires="v">
                  <p:oleObj spid="_x0000_s15" name="Equation" r:id="rId10" imgW="7315200" imgH="5791200" progId="Equation.DSMT4">
                    <p:embed/>
                  </p:oleObj>
                </mc:Choice>
                <mc:Fallback>
                  <p:oleObj name="Equation" r:id="rId10" imgW="7315200" imgH="5791200" progId="Equation.DSMT4">
                    <p:embed/>
                    <p:pic>
                      <p:nvPicPr>
                        <p:cNvPr id="0" name="图片 14"/>
                        <p:cNvPicPr/>
                        <p:nvPr/>
                      </p:nvPicPr>
                      <p:blipFill>
                        <a:blip r:embed="rId11"/>
                        <a:stretch>
                          <a:fillRect/>
                        </a:stretch>
                      </p:blipFill>
                      <p:spPr>
                        <a:xfrm>
                          <a:off x="9420" y="5290"/>
                          <a:ext cx="608" cy="481"/>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2163" y="5903"/>
            <a:ext cx="448" cy="501"/>
          </p:xfrm>
          <a:graphic>
            <a:graphicData uri="http://schemas.openxmlformats.org/presentationml/2006/ole">
              <mc:AlternateContent xmlns:mc="http://schemas.openxmlformats.org/markup-compatibility/2006">
                <mc:Choice xmlns:v="urn:schemas-microsoft-com:vml" Requires="v">
                  <p:oleObj spid="_x0000_s17" name="Equation" r:id="rId12" imgW="5181600" imgH="5791200" progId="Equation.DSMT4">
                    <p:embed/>
                  </p:oleObj>
                </mc:Choice>
                <mc:Fallback>
                  <p:oleObj name="Equation" r:id="rId12" imgW="5181600" imgH="5791200" progId="Equation.DSMT4">
                    <p:embed/>
                    <p:pic>
                      <p:nvPicPr>
                        <p:cNvPr id="0" name="图片 16"/>
                        <p:cNvPicPr/>
                        <p:nvPr/>
                      </p:nvPicPr>
                      <p:blipFill>
                        <a:blip r:embed="rId13"/>
                        <a:stretch>
                          <a:fillRect/>
                        </a:stretch>
                      </p:blipFill>
                      <p:spPr>
                        <a:xfrm>
                          <a:off x="2163" y="5903"/>
                          <a:ext cx="448" cy="501"/>
                        </a:xfrm>
                        <a:prstGeom prst="rect">
                          <a:avLst/>
                        </a:prstGeom>
                      </p:spPr>
                    </p:pic>
                  </p:oleObj>
                </mc:Fallback>
              </mc:AlternateContent>
            </a:graphicData>
          </a:graphic>
        </p:graphicFrame>
        <p:graphicFrame>
          <p:nvGraphicFramePr>
            <p:cNvPr id="18" name="对象 17"/>
            <p:cNvGraphicFramePr>
              <a:graphicFrameLocks noChangeAspect="1"/>
            </p:cNvGraphicFramePr>
            <p:nvPr/>
          </p:nvGraphicFramePr>
          <p:xfrm>
            <a:off x="3809" y="6572"/>
            <a:ext cx="4442" cy="2438"/>
          </p:xfrm>
          <a:graphic>
            <a:graphicData uri="http://schemas.openxmlformats.org/presentationml/2006/ole">
              <mc:AlternateContent xmlns:mc="http://schemas.openxmlformats.org/markup-compatibility/2006">
                <mc:Choice xmlns:v="urn:schemas-microsoft-com:vml" Requires="v">
                  <p:oleObj spid="_x0000_s19" name="Equation" r:id="rId14" imgW="46634400" imgH="25603200" progId="Equation.DSMT4">
                    <p:embed/>
                  </p:oleObj>
                </mc:Choice>
                <mc:Fallback>
                  <p:oleObj name="Equation" r:id="rId14" imgW="46634400" imgH="25603200" progId="Equation.DSMT4">
                    <p:embed/>
                    <p:pic>
                      <p:nvPicPr>
                        <p:cNvPr id="0" name="图片 18"/>
                        <p:cNvPicPr/>
                        <p:nvPr/>
                      </p:nvPicPr>
                      <p:blipFill>
                        <a:blip r:embed="rId15"/>
                        <a:stretch>
                          <a:fillRect/>
                        </a:stretch>
                      </p:blipFill>
                      <p:spPr>
                        <a:xfrm>
                          <a:off x="3809" y="6572"/>
                          <a:ext cx="4442" cy="2438"/>
                        </a:xfrm>
                        <a:prstGeom prst="rect">
                          <a:avLst/>
                        </a:prstGeom>
                      </p:spPr>
                    </p:pic>
                  </p:oleObj>
                </mc:Fallback>
              </mc:AlternateContent>
            </a:graphicData>
          </a:graphic>
        </p:graphicFrame>
      </p:grpSp>
    </p:spTree>
    <p:custDataLst>
      <p:tags r:id="rId16"/>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分类任务应用</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5" name="文本框 4"/>
          <p:cNvSpPr txBox="1"/>
          <p:nvPr/>
        </p:nvSpPr>
        <p:spPr>
          <a:xfrm>
            <a:off x="336549" y="982345"/>
            <a:ext cx="11102975" cy="2280561"/>
          </a:xfrm>
          <a:prstGeom prst="rect">
            <a:avLst/>
          </a:prstGeom>
          <a:noFill/>
        </p:spPr>
        <p:txBody>
          <a:bodyPr wrap="square" rtlCol="0" anchor="t">
            <a:spAutoFit/>
          </a:bodyPr>
          <a:lstStyle/>
          <a:p>
            <a:pPr indent="457200" defTabSz="1219200">
              <a:lnSpc>
                <a:spcPct val="150000"/>
              </a:lnSpc>
              <a:spcBef>
                <a:spcPts val="600"/>
              </a:spcBef>
              <a:defRPr/>
            </a:pPr>
            <a:r>
              <a:rPr lang="zh-CN" altLang="en-US" dirty="0"/>
              <a:t>在众多应用场景中，尤其是自然语言处理</a:t>
            </a:r>
            <a:r>
              <a:rPr lang="en-US" altLang="zh-CN" dirty="0"/>
              <a:t>(</a:t>
            </a:r>
            <a:r>
              <a:rPr lang="zh-CN" altLang="en-US" dirty="0"/>
              <a:t>如文本分类、情感分析</a:t>
            </a:r>
            <a:r>
              <a:rPr lang="en-US" altLang="zh-CN" dirty="0"/>
              <a:t>)</a:t>
            </a:r>
            <a:r>
              <a:rPr lang="zh-CN" altLang="en-US" dirty="0"/>
              <a:t>、语音识别、金融数据分析等任务中，</a:t>
            </a:r>
            <a:r>
              <a:rPr lang="en-US" altLang="zh-CN" dirty="0"/>
              <a:t>RNN</a:t>
            </a:r>
            <a:r>
              <a:rPr lang="zh-CN" altLang="en-US" dirty="0"/>
              <a:t>及其改进模型与分类器的结合能够有效提升分类的精度和稳定性。</a:t>
            </a:r>
            <a:endParaRPr lang="en-US" altLang="zh-CN" dirty="0"/>
          </a:p>
          <a:p>
            <a:pPr marL="285750" indent="-285750" defTabSz="1219200">
              <a:lnSpc>
                <a:spcPct val="150000"/>
              </a:lnSpc>
              <a:spcBef>
                <a:spcPts val="600"/>
              </a:spcBef>
              <a:buFont typeface="Arial" panose="020B0604020202020204" pitchFamily="34" charset="0"/>
              <a:buChar char="•"/>
              <a:defRPr/>
            </a:pPr>
            <a:r>
              <a:rPr lang="zh-CN" altLang="en-US"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文本分类：</a:t>
            </a:r>
            <a:r>
              <a:rPr lang="zh-CN" altLang="en-US"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输入文本可能是一段包含多句话的长文本，深度循环神经网络可以通过迭代处理文本中的每个词语，将上下文的隐藏状态逐步更新为当前状态。最终，网络会根据整个文本序列生成一个类别预测</a:t>
            </a:r>
            <a:r>
              <a:rPr lang="en-US" altLang="zh-CN"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如“积极”或“消极”</a:t>
            </a:r>
            <a:r>
              <a:rPr lang="en-US" altLang="zh-CN"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zh-CN" altLang="en-US"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pic>
        <p:nvPicPr>
          <p:cNvPr id="3" name="图片 2"/>
          <p:cNvPicPr>
            <a:picLocks noChangeAspect="1"/>
          </p:cNvPicPr>
          <p:nvPr/>
        </p:nvPicPr>
        <p:blipFill>
          <a:blip r:embed="rId1"/>
          <a:stretch>
            <a:fillRect/>
          </a:stretch>
        </p:blipFill>
        <p:spPr>
          <a:xfrm>
            <a:off x="1845128" y="3321919"/>
            <a:ext cx="8501743" cy="2787531"/>
          </a:xfrm>
          <a:prstGeom prst="rect">
            <a:avLst/>
          </a:prstGeom>
        </p:spPr>
      </p:pic>
    </p:spTree>
    <p:custDataLst>
      <p:tags r:id="rId2"/>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rot="16200000">
            <a:off x="2667000" y="-2667000"/>
            <a:ext cx="6858000" cy="12192000"/>
            <a:chOff x="0" y="0"/>
            <a:chExt cx="12192000" cy="685800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a:off x="0" y="4368800"/>
              <a:ext cx="12192000" cy="2489200"/>
            </a:xfrm>
            <a:prstGeom prst="rect">
              <a:avLst/>
            </a:prstGeom>
          </p:spPr>
        </p:pic>
        <p:pic>
          <p:nvPicPr>
            <p:cNvPr id="28" name="图片 27"/>
            <p:cNvPicPr>
              <a:picLocks noChangeAspect="1"/>
            </p:cNvPicPr>
            <p:nvPr/>
          </p:nvPicPr>
          <p:blipFill rotWithShape="1">
            <a:blip r:embed="rId1">
              <a:extLst>
                <a:ext uri="{28A0092B-C50C-407E-A947-70E740481C1C}">
                  <a14:useLocalDpi xmlns:a14="http://schemas.microsoft.com/office/drawing/2010/main" val="0"/>
                </a:ext>
              </a:extLst>
            </a:blip>
            <a:srcRect t="35344"/>
            <a:stretch>
              <a:fillRect/>
            </a:stretch>
          </p:blipFill>
          <p:spPr>
            <a:xfrm flipH="1" flipV="1">
              <a:off x="0" y="0"/>
              <a:ext cx="12192000" cy="2400300"/>
            </a:xfrm>
            <a:prstGeom prst="rect">
              <a:avLst/>
            </a:prstGeom>
          </p:spPr>
        </p:pic>
      </p:grpSp>
      <p:sp>
        <p:nvSpPr>
          <p:cNvPr id="21" name="矩形 20"/>
          <p:cNvSpPr/>
          <p:nvPr/>
        </p:nvSpPr>
        <p:spPr>
          <a:xfrm>
            <a:off x="1605816" y="3010683"/>
            <a:ext cx="8980369" cy="1106805"/>
          </a:xfrm>
          <a:prstGeom prst="rect">
            <a:avLst/>
          </a:prstGeom>
        </p:spPr>
        <p:txBody>
          <a:bodyPr wrap="square">
            <a:spAutoFit/>
          </a:bodyPr>
          <a:lstStyle/>
          <a:p>
            <a:pPr algn="ctr">
              <a:buClrTx/>
              <a:buSzTx/>
              <a:buFontTx/>
            </a:pPr>
            <a:r>
              <a:rPr lang="en-US" altLang="zh-CN"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Transformer</a:t>
            </a:r>
            <a:r>
              <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rPr>
              <a:t>网络</a:t>
            </a:r>
            <a:endParaRPr lang="zh-CN" altLang="en-US" sz="6600" dirty="0">
              <a:solidFill>
                <a:srgbClr val="006FAE"/>
              </a:solidFill>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23" name="椭圆 22"/>
          <p:cNvSpPr/>
          <p:nvPr/>
        </p:nvSpPr>
        <p:spPr>
          <a:xfrm>
            <a:off x="5636538" y="2002791"/>
            <a:ext cx="918925" cy="918925"/>
          </a:xfrm>
          <a:prstGeom prst="ellipse">
            <a:avLst/>
          </a:prstGeom>
          <a:solidFill>
            <a:srgbClr val="00568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05</a:t>
            </a:r>
            <a:endParaRPr lang="zh-CN" altLang="en-US" sz="32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2" name="矩形 1"/>
          <p:cNvSpPr/>
          <p:nvPr/>
        </p:nvSpPr>
        <p:spPr>
          <a:xfrm>
            <a:off x="2622923" y="4107543"/>
            <a:ext cx="6946156" cy="464679"/>
          </a:xfrm>
          <a:prstGeom prst="rect">
            <a:avLst/>
          </a:prstGeom>
        </p:spPr>
        <p:txBody>
          <a:bodyPr wrap="square">
            <a:spAutoFit/>
          </a:bodyPr>
          <a:lstStyle/>
          <a:p>
            <a:pPr algn="ctr">
              <a:lnSpc>
                <a:spcPct val="150000"/>
              </a:lnSpc>
              <a:buClrTx/>
              <a:buSzTx/>
              <a:buFontTx/>
              <a:defRPr/>
            </a:pPr>
            <a:r>
              <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rPr>
              <a:t>Transformer Network</a:t>
            </a:r>
            <a:endParaRPr kumimoji="0" lang="en-US" altLang="zh-CN" b="0" i="0" u="none" strike="noStrike" kern="1200" cap="none" spc="0" normalizeH="0" baseline="0" noProof="0" dirty="0">
              <a:ln>
                <a:noFill/>
              </a:ln>
              <a:solidFill>
                <a:schemeClr val="tx1">
                  <a:lumMod val="75000"/>
                  <a:lumOff val="25000"/>
                </a:schemeClr>
              </a:solidFill>
              <a:effectLst/>
              <a:uLnTx/>
              <a:uFillTx/>
              <a:latin typeface="思源黑体 CN Regular" panose="020B0500000000000000" charset="-122"/>
              <a:ea typeface="思源黑体 CN Regular" panose="020B0500000000000000" charset="-122"/>
              <a:cs typeface="+mn-ea"/>
              <a:sym typeface="Arial" panose="020B0604020202020204" pitchFamily="34" charset="0"/>
            </a:endParaRPr>
          </a:p>
        </p:txBody>
      </p:sp>
    </p:spTree>
    <p:custDataLst>
      <p:tags r:id="rId2"/>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563245" y="949249"/>
            <a:ext cx="6444978" cy="2322998"/>
          </a:xfrm>
          <a:prstGeom prst="rect">
            <a:avLst/>
          </a:prstGeom>
          <a:noFill/>
        </p:spPr>
        <p:txBody>
          <a:bodyPr wrap="square" lIns="0" tIns="0" rIns="0" bIns="0" rtlCol="0" anchor="t">
            <a:noAutofit/>
          </a:bodyPr>
          <a:lstStyle/>
          <a:p>
            <a:pPr algn="l" defTabSz="1219200">
              <a:spcBef>
                <a:spcPct val="20000"/>
              </a:spcBef>
              <a:defRPr/>
            </a:pP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Transformer</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网络</a:t>
            </a:r>
            <a:endParaRPr lang="zh-CN" altLang="en-US" sz="14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algn="l" defTabSz="1219200">
              <a:lnSpc>
                <a:spcPct val="150000"/>
              </a:lnSpc>
              <a:spcBef>
                <a:spcPct val="20000"/>
              </a:spcBef>
              <a:buFont typeface="Arial" panose="020B0604020202020204" pitchFamily="34" charset="0"/>
              <a:buChar char="•"/>
              <a:defRPr/>
            </a:pP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循环神经网络以其记忆功能在序列数据处理方面取得了重要突破。然而</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循环神经网络逐步处理序列的递归特性限制了其并行计算的能力</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尤其在长序列任务中容易遇到计算瓶颈。为了解决这一问题</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Transformer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网络提出了全新的解决方案</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其核心机制是注意力机制</a:t>
            </a:r>
            <a:r>
              <a:rPr lang="en-US" altLang="zh-CN"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它能够在不依赖序列顺序的情况下捕捉输入数据的全局依赖关系。</a:t>
            </a:r>
            <a:endParaRPr lang="zh-CN" altLang="en-US" sz="16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7" name="图片 6"/>
          <p:cNvPicPr>
            <a:picLocks noChangeAspect="1"/>
          </p:cNvPicPr>
          <p:nvPr/>
        </p:nvPicPr>
        <p:blipFill>
          <a:blip r:embed="rId1"/>
          <a:stretch>
            <a:fillRect/>
          </a:stretch>
        </p:blipFill>
        <p:spPr>
          <a:xfrm>
            <a:off x="7104204" y="790045"/>
            <a:ext cx="4524551" cy="5212080"/>
          </a:xfrm>
          <a:prstGeom prst="rect">
            <a:avLst/>
          </a:prstGeom>
        </p:spPr>
      </p:pic>
      <p:grpSp>
        <p:nvGrpSpPr>
          <p:cNvPr id="11" name="组合 10"/>
          <p:cNvGrpSpPr/>
          <p:nvPr/>
        </p:nvGrpSpPr>
        <p:grpSpPr>
          <a:xfrm>
            <a:off x="593456" y="3396085"/>
            <a:ext cx="6462757" cy="2945932"/>
            <a:chOff x="545466" y="2430675"/>
            <a:chExt cx="6025152" cy="3545582"/>
          </a:xfrm>
        </p:grpSpPr>
        <p:sp>
          <p:nvSpPr>
            <p:cNvPr id="22" name="圆角矩形 7"/>
            <p:cNvSpPr/>
            <p:nvPr/>
          </p:nvSpPr>
          <p:spPr>
            <a:xfrm>
              <a:off x="545466" y="2430675"/>
              <a:ext cx="6025152" cy="3545582"/>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3" name="TextBox 8"/>
            <p:cNvSpPr txBox="1"/>
            <p:nvPr/>
          </p:nvSpPr>
          <p:spPr>
            <a:xfrm>
              <a:off x="699877" y="2592572"/>
              <a:ext cx="5743467" cy="3259588"/>
            </a:xfrm>
            <a:prstGeom prst="rect">
              <a:avLst/>
            </a:prstGeom>
            <a:noFill/>
          </p:spPr>
          <p:txBody>
            <a:bodyPr wrap="square" lIns="0" tIns="0" rIns="0" bIns="0" rtlCol="0" anchor="t">
              <a:noAutofit/>
            </a:bodyPr>
            <a:lstStyle/>
            <a:p>
              <a:pPr defTabSz="1219200">
                <a:lnSpc>
                  <a:spcPct val="150000"/>
                </a:lnSpc>
                <a:spcBef>
                  <a:spcPct val="20000"/>
                </a:spcBef>
                <a:defRPr/>
              </a:pP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编码器网络</a:t>
              </a:r>
              <a:endParaRPr lang="zh-CN" altLang="en-US" sz="11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多头自注意力</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(multi-head self-attention)</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机制：捕捉输入序列中各个位置的全局依赖关系</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通过多个注意力头同时关注输入序列的不同部分。</a:t>
              </a:r>
              <a:endPar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前馈神经网络</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(feed forward neural network, FFN): </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每个自注意力机制的输出都通过一个前馈神经网络进行进一步处理</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提升网络的非线性表达能力。</a:t>
              </a:r>
              <a:endPar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endPar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spTree>
    <p:custDataLst>
      <p:tags r:id="rId2"/>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7" name="图片 6"/>
          <p:cNvPicPr>
            <a:picLocks noChangeAspect="1"/>
          </p:cNvPicPr>
          <p:nvPr/>
        </p:nvPicPr>
        <p:blipFill>
          <a:blip r:embed="rId1"/>
          <a:stretch>
            <a:fillRect/>
          </a:stretch>
        </p:blipFill>
        <p:spPr>
          <a:xfrm>
            <a:off x="7104204" y="790045"/>
            <a:ext cx="4524551" cy="5212080"/>
          </a:xfrm>
          <a:prstGeom prst="rect">
            <a:avLst/>
          </a:prstGeom>
        </p:spPr>
      </p:pic>
      <p:grpSp>
        <p:nvGrpSpPr>
          <p:cNvPr id="11" name="组合 10"/>
          <p:cNvGrpSpPr/>
          <p:nvPr/>
        </p:nvGrpSpPr>
        <p:grpSpPr>
          <a:xfrm>
            <a:off x="593456" y="894555"/>
            <a:ext cx="6462757" cy="2769576"/>
            <a:chOff x="545466" y="2430675"/>
            <a:chExt cx="6025152" cy="3545582"/>
          </a:xfrm>
        </p:grpSpPr>
        <p:sp>
          <p:nvSpPr>
            <p:cNvPr id="22" name="圆角矩形 7"/>
            <p:cNvSpPr/>
            <p:nvPr/>
          </p:nvSpPr>
          <p:spPr>
            <a:xfrm>
              <a:off x="545466" y="2430675"/>
              <a:ext cx="6025152" cy="3545582"/>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3" name="TextBox 8"/>
            <p:cNvSpPr txBox="1"/>
            <p:nvPr/>
          </p:nvSpPr>
          <p:spPr>
            <a:xfrm>
              <a:off x="699877" y="2592572"/>
              <a:ext cx="5743467" cy="3259588"/>
            </a:xfrm>
            <a:prstGeom prst="rect">
              <a:avLst/>
            </a:prstGeom>
            <a:noFill/>
          </p:spPr>
          <p:txBody>
            <a:bodyPr wrap="square" lIns="0" tIns="0" rIns="0" bIns="0" rtlCol="0" anchor="t">
              <a:noAutofit/>
            </a:bodyPr>
            <a:lstStyle/>
            <a:p>
              <a:pPr defTabSz="1219200">
                <a:lnSpc>
                  <a:spcPct val="150000"/>
                </a:lnSpc>
                <a:spcBef>
                  <a:spcPct val="20000"/>
                </a:spcBef>
                <a:defRPr/>
              </a:pP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解码器网络</a:t>
              </a:r>
              <a:endParaRPr lang="zh-CN" altLang="en-US" sz="11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解码器结构主要用于生成任务</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如文本生成、翻译等。它与编码器类似，包含多头自注意力机制和前馈神经网络模块，但解码器引入了额外的注意力模块来关注编码器的输出。</a:t>
              </a:r>
              <a:endPar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同时，解码器采用掩码</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(mask) </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机制来确保序列的因果性</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解码器在生成序列时是自回归的，即逐个生成输出。</a:t>
              </a:r>
              <a:endPar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pic>
        <p:nvPicPr>
          <p:cNvPr id="2" name="图片 1"/>
          <p:cNvPicPr>
            <a:picLocks noChangeAspect="1"/>
          </p:cNvPicPr>
          <p:nvPr/>
        </p:nvPicPr>
        <p:blipFill>
          <a:blip r:embed="rId2"/>
          <a:stretch>
            <a:fillRect/>
          </a:stretch>
        </p:blipFill>
        <p:spPr>
          <a:xfrm>
            <a:off x="1562558" y="3790594"/>
            <a:ext cx="4524551" cy="2345563"/>
          </a:xfrm>
          <a:prstGeom prst="rect">
            <a:avLst/>
          </a:prstGeom>
        </p:spPr>
      </p:pic>
    </p:spTree>
    <p:custDataLst>
      <p:tags r:id="rId3"/>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基本概念</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pic>
        <p:nvPicPr>
          <p:cNvPr id="3" name="图片 2"/>
          <p:cNvPicPr>
            <a:picLocks noChangeAspect="1"/>
          </p:cNvPicPr>
          <p:nvPr/>
        </p:nvPicPr>
        <p:blipFill>
          <a:blip r:embed="rId1"/>
          <a:stretch>
            <a:fillRect/>
          </a:stretch>
        </p:blipFill>
        <p:spPr>
          <a:xfrm>
            <a:off x="2311304" y="3693657"/>
            <a:ext cx="7182140" cy="2530794"/>
          </a:xfrm>
          <a:prstGeom prst="rect">
            <a:avLst/>
          </a:prstGeom>
        </p:spPr>
      </p:pic>
      <p:grpSp>
        <p:nvGrpSpPr>
          <p:cNvPr id="5" name="组合 4"/>
          <p:cNvGrpSpPr/>
          <p:nvPr/>
        </p:nvGrpSpPr>
        <p:grpSpPr>
          <a:xfrm>
            <a:off x="593725" y="894715"/>
            <a:ext cx="10627360" cy="2769870"/>
            <a:chOff x="935" y="1409"/>
            <a:chExt cx="16736" cy="4362"/>
          </a:xfrm>
        </p:grpSpPr>
        <p:grpSp>
          <p:nvGrpSpPr>
            <p:cNvPr id="11" name="组合 10"/>
            <p:cNvGrpSpPr/>
            <p:nvPr/>
          </p:nvGrpSpPr>
          <p:grpSpPr>
            <a:xfrm>
              <a:off x="935" y="1409"/>
              <a:ext cx="16736" cy="4362"/>
              <a:chOff x="545466" y="2430675"/>
              <a:chExt cx="6025152" cy="3545582"/>
            </a:xfrm>
          </p:grpSpPr>
          <p:sp>
            <p:nvSpPr>
              <p:cNvPr id="22" name="圆角矩形 7"/>
              <p:cNvSpPr/>
              <p:nvPr/>
            </p:nvSpPr>
            <p:spPr>
              <a:xfrm>
                <a:off x="545466" y="2430675"/>
                <a:ext cx="6025152" cy="3545582"/>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3" name="TextBox 8"/>
              <p:cNvSpPr txBox="1"/>
              <p:nvPr/>
            </p:nvSpPr>
            <p:spPr>
              <a:xfrm>
                <a:off x="699877" y="2592572"/>
                <a:ext cx="5743467" cy="3259588"/>
              </a:xfrm>
              <a:prstGeom prst="rect">
                <a:avLst/>
              </a:prstGeom>
              <a:noFill/>
            </p:spPr>
            <p:txBody>
              <a:bodyPr wrap="square" lIns="0" tIns="0" rIns="0" bIns="0" rtlCol="0" anchor="t">
                <a:noAutofit/>
              </a:bodyPr>
              <a:lstStyle/>
              <a:p>
                <a:pPr defTabSz="1219200">
                  <a:lnSpc>
                    <a:spcPct val="150000"/>
                  </a:lnSpc>
                  <a:spcBef>
                    <a:spcPct val="20000"/>
                  </a:spcBef>
                  <a:defRPr/>
                </a:pP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位置编码</a:t>
                </a:r>
                <a:endParaRPr lang="zh-CN" altLang="en-US" sz="11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Transformer </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模型本身不具备像 </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RNN </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那样内在的序列处理能力</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(RNN</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通过时间步处理序列</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因此为了使模型知道输入数据的顺序信息</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,Transformer</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引入了位置编码</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(position encoding)</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Transformer </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的输入表示由输入嵌入 </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(embedding) </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和位置编码相加得到。位置编码可以通过训练得到</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也可以使用某种公式计算得到。</a:t>
                </a:r>
                <a:endPar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200000"/>
                  </a:lnSpc>
                  <a:spcBef>
                    <a:spcPct val="20000"/>
                  </a:spcBef>
                  <a:buFont typeface="Arial" panose="020B0604020202020204" pitchFamily="34" charset="0"/>
                  <a:buChar char="•"/>
                  <a:defRPr/>
                </a:pPr>
                <a:endPar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200000"/>
                  </a:lnSpc>
                  <a:spcBef>
                    <a:spcPct val="20000"/>
                  </a:spcBef>
                  <a:buFont typeface="Arial" panose="020B0604020202020204" pitchFamily="34" charset="0"/>
                  <a:buChar char="•"/>
                  <a:defRPr/>
                </a:pP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这里</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p</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表示一个</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token</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在文本序列中的位置，</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d</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表示位置嵌入</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PE</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的维度，</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2i</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表示偶数的维度，</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2i+1</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表示奇数维度。</a:t>
                </a:r>
                <a:endPar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graphicFrame>
          <p:nvGraphicFramePr>
            <p:cNvPr id="4" name="对象 3"/>
            <p:cNvGraphicFramePr>
              <a:graphicFrameLocks noChangeAspect="1"/>
            </p:cNvGraphicFramePr>
            <p:nvPr/>
          </p:nvGraphicFramePr>
          <p:xfrm>
            <a:off x="6842" y="3934"/>
            <a:ext cx="3980" cy="1194"/>
          </p:xfrm>
          <a:graphic>
            <a:graphicData uri="http://schemas.openxmlformats.org/presentationml/2006/ole">
              <mc:AlternateContent xmlns:mc="http://schemas.openxmlformats.org/markup-compatibility/2006">
                <mc:Choice xmlns:v="urn:schemas-microsoft-com:vml" Requires="v">
                  <p:oleObj spid="_x0000_s2" name="Equation" r:id="rId2" imgW="42672000" imgH="12801600" progId="Equation.DSMT4">
                    <p:embed/>
                  </p:oleObj>
                </mc:Choice>
                <mc:Fallback>
                  <p:oleObj name="Equation" r:id="rId2" imgW="42672000" imgH="12801600" progId="Equation.DSMT4">
                    <p:embed/>
                    <p:pic>
                      <p:nvPicPr>
                        <p:cNvPr id="0" name="图片 1"/>
                        <p:cNvPicPr/>
                        <p:nvPr/>
                      </p:nvPicPr>
                      <p:blipFill>
                        <a:blip r:embed="rId3"/>
                        <a:stretch>
                          <a:fillRect/>
                        </a:stretch>
                      </p:blipFill>
                      <p:spPr>
                        <a:xfrm>
                          <a:off x="6842" y="3934"/>
                          <a:ext cx="3980" cy="1194"/>
                        </a:xfrm>
                        <a:prstGeom prst="rect">
                          <a:avLst/>
                        </a:prstGeom>
                      </p:spPr>
                    </p:pic>
                  </p:oleObj>
                </mc:Fallback>
              </mc:AlternateContent>
            </a:graphicData>
          </a:graphic>
        </p:graphicFrame>
      </p:grpSp>
    </p:spTree>
    <p:custDataLst>
      <p:tags r:id="rId4"/>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注意力机制</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grpSp>
        <p:nvGrpSpPr>
          <p:cNvPr id="85" name="组合 84"/>
          <p:cNvGrpSpPr/>
          <p:nvPr/>
        </p:nvGrpSpPr>
        <p:grpSpPr>
          <a:xfrm>
            <a:off x="593725" y="894715"/>
            <a:ext cx="7917180" cy="5617210"/>
            <a:chOff x="935" y="1409"/>
            <a:chExt cx="12468" cy="8846"/>
          </a:xfrm>
        </p:grpSpPr>
        <p:grpSp>
          <p:nvGrpSpPr>
            <p:cNvPr id="11" name="组合 10"/>
            <p:cNvGrpSpPr/>
            <p:nvPr/>
          </p:nvGrpSpPr>
          <p:grpSpPr>
            <a:xfrm>
              <a:off x="935" y="1409"/>
              <a:ext cx="12468" cy="8846"/>
              <a:chOff x="545466" y="2430674"/>
              <a:chExt cx="4488443" cy="6585494"/>
            </a:xfrm>
          </p:grpSpPr>
          <p:sp>
            <p:nvSpPr>
              <p:cNvPr id="22" name="圆角矩形 7"/>
              <p:cNvSpPr/>
              <p:nvPr/>
            </p:nvSpPr>
            <p:spPr>
              <a:xfrm>
                <a:off x="545466" y="2430674"/>
                <a:ext cx="4488443" cy="6585494"/>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3" name="TextBox 8"/>
              <p:cNvSpPr txBox="1"/>
              <p:nvPr/>
            </p:nvSpPr>
            <p:spPr>
              <a:xfrm>
                <a:off x="699877" y="2592572"/>
                <a:ext cx="4193321" cy="3207569"/>
              </a:xfrm>
              <a:prstGeom prst="rect">
                <a:avLst/>
              </a:prstGeom>
              <a:noFill/>
            </p:spPr>
            <p:txBody>
              <a:bodyPr wrap="square" lIns="0" tIns="0" rIns="0" bIns="0" rtlCol="0" anchor="t">
                <a:noAutofit/>
              </a:bodyPr>
              <a:lstStyle/>
              <a:p>
                <a:pPr defTabSz="1219200">
                  <a:lnSpc>
                    <a:spcPct val="150000"/>
                  </a:lnSpc>
                  <a:spcBef>
                    <a:spcPct val="20000"/>
                  </a:spcBef>
                  <a:defRPr/>
                </a:pPr>
                <a:r>
                  <a:rPr lang="zh-CN" altLang="en-US"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自注意力机制</a:t>
                </a:r>
                <a:endParaRPr lang="en-US" altLang="zh-CN" sz="16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ct val="20000"/>
                  </a:spcBef>
                  <a:buFont typeface="+mj-ea"/>
                  <a:buAutoNum type="circleNumDbPlain"/>
                  <a:defRPr/>
                </a:pP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对于输入</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token</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，通过线性变换计算查询向量</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Q</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、键向量</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K</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和值向量</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V</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endPar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ct val="20000"/>
                  </a:spcBef>
                  <a:buFont typeface="+mj-ea"/>
                  <a:buAutoNum type="circleNumDbPlain"/>
                  <a:defRPr/>
                </a:pP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通过查询向量</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Q</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和键向量</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K</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的点积计算出注意力得分。</a:t>
                </a:r>
                <a:endPar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ct val="20000"/>
                  </a:spcBef>
                  <a:buFont typeface="+mj-ea"/>
                  <a:buAutoNum type="circleNumDbPlain"/>
                  <a:defRPr/>
                </a:pP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对注意力得分除以            进行维度上的归一化，然后通过</a:t>
                </a:r>
                <a:r>
                  <a:rPr lang="en-US" altLang="zh-CN" sz="1600" dirty="0" err="1">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Softmax</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函数将归一化后的得分转换为概率分布，表示每个输入</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token</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对序列中其他</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token</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的关注程度。</a:t>
                </a:r>
                <a:endPar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ct val="20000"/>
                  </a:spcBef>
                  <a:buFont typeface="+mj-ea"/>
                  <a:buAutoNum type="circleNumDbPlain"/>
                  <a:defRPr/>
                </a:pP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将值向量</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V</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与</a:t>
                </a:r>
                <a:r>
                  <a:rPr lang="en-US" altLang="zh-CN" sz="1600" dirty="0" err="1">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softmax</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的输出相乘，获得加权后的每个输入</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token</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的值向量，加和得到该输入</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token</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的注意力结果。</a:t>
                </a:r>
                <a:endPar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ct val="20000"/>
                  </a:spcBef>
                  <a:buFont typeface="+mj-ea"/>
                  <a:buAutoNum type="circleNumDbPlain"/>
                  <a:defRPr/>
                </a:pPr>
                <a:endPar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ct val="20000"/>
                  </a:spcBef>
                  <a:buFont typeface="+mj-ea"/>
                  <a:buAutoNum type="circleNumDbPlain"/>
                  <a:defRPr/>
                </a:pPr>
                <a:endPar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r>
                  <a:rPr lang="zh-CN" altLang="en-US" sz="1600" b="1" dirty="0">
                    <a:solidFill>
                      <a:srgbClr val="00568A"/>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多头注意力机制</a:t>
                </a:r>
                <a:endParaRPr lang="en-US" altLang="zh-CN" sz="1600" b="1" dirty="0">
                  <a:solidFill>
                    <a:srgbClr val="00568A"/>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ct val="20000"/>
                  </a:spcBef>
                  <a:buFont typeface="+mj-ea"/>
                  <a:buAutoNum type="circleNumDbPlain"/>
                  <a:defRPr/>
                </a:pP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将输入</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token</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通过 </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h </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（头的数量）组不同的线性变换矩阵，投影到 </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h </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个不同的、维度更低的子空间中。并行计算每个头的注意力后将结果再拼接起来形成长向量：</a:t>
                </a:r>
                <a:endPar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endParaRPr lang="zh-CN" altLang="en-US" sz="1100" dirty="0">
                  <a:solidFill>
                    <a:schemeClr val="tx1">
                      <a:lumMod val="75000"/>
                      <a:lumOff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graphicFrame>
          <p:nvGraphicFramePr>
            <p:cNvPr id="2" name="对象 1"/>
            <p:cNvGraphicFramePr>
              <a:graphicFrameLocks noChangeAspect="1"/>
            </p:cNvGraphicFramePr>
            <p:nvPr/>
          </p:nvGraphicFramePr>
          <p:xfrm>
            <a:off x="4407" y="3613"/>
            <a:ext cx="923" cy="587"/>
          </p:xfrm>
          <a:graphic>
            <a:graphicData uri="http://schemas.openxmlformats.org/presentationml/2006/ole">
              <mc:AlternateContent xmlns:mc="http://schemas.openxmlformats.org/markup-compatibility/2006">
                <mc:Choice xmlns:v="urn:schemas-microsoft-com:vml" Requires="v">
                  <p:oleObj spid="_x0000_s3" name="Equation" r:id="rId1" imgW="10058400" imgH="6400800" progId="Equation.DSMT4">
                    <p:embed/>
                  </p:oleObj>
                </mc:Choice>
                <mc:Fallback>
                  <p:oleObj name="Equation" r:id="rId1" imgW="10058400" imgH="6400800" progId="Equation.DSMT4">
                    <p:embed/>
                    <p:pic>
                      <p:nvPicPr>
                        <p:cNvPr id="0" name="图片 2"/>
                        <p:cNvPicPr/>
                        <p:nvPr/>
                      </p:nvPicPr>
                      <p:blipFill>
                        <a:blip r:embed="rId2"/>
                        <a:stretch>
                          <a:fillRect/>
                        </a:stretch>
                      </p:blipFill>
                      <p:spPr>
                        <a:xfrm>
                          <a:off x="4407" y="3613"/>
                          <a:ext cx="923" cy="587"/>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4614" y="5949"/>
            <a:ext cx="5108" cy="1376"/>
          </p:xfrm>
          <a:graphic>
            <a:graphicData uri="http://schemas.openxmlformats.org/presentationml/2006/ole">
              <mc:AlternateContent xmlns:mc="http://schemas.openxmlformats.org/markup-compatibility/2006">
                <mc:Choice xmlns:v="urn:schemas-microsoft-com:vml" Requires="v">
                  <p:oleObj spid="_x0000_s4" name="Equation" r:id="rId3" imgW="58826400" imgH="15849600" progId="Equation.DSMT4">
                    <p:embed/>
                  </p:oleObj>
                </mc:Choice>
                <mc:Fallback>
                  <p:oleObj name="Equation" r:id="rId3" imgW="58826400" imgH="15849600" progId="Equation.DSMT4">
                    <p:embed/>
                    <p:pic>
                      <p:nvPicPr>
                        <p:cNvPr id="0" name="图片 3"/>
                        <p:cNvPicPr/>
                        <p:nvPr/>
                      </p:nvPicPr>
                      <p:blipFill>
                        <a:blip r:embed="rId4"/>
                        <a:stretch>
                          <a:fillRect/>
                        </a:stretch>
                      </p:blipFill>
                      <p:spPr>
                        <a:xfrm>
                          <a:off x="4614" y="5949"/>
                          <a:ext cx="5108" cy="1376"/>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3271" y="9301"/>
            <a:ext cx="8032" cy="522"/>
          </p:xfrm>
          <a:graphic>
            <a:graphicData uri="http://schemas.openxmlformats.org/presentationml/2006/ole">
              <mc:AlternateContent xmlns:mc="http://schemas.openxmlformats.org/markup-compatibility/2006">
                <mc:Choice xmlns:v="urn:schemas-microsoft-com:vml" Requires="v">
                  <p:oleObj spid="_x0000_s7" name="Equation" r:id="rId5" imgW="84429600" imgH="5486400" progId="Equation.DSMT4">
                    <p:embed/>
                  </p:oleObj>
                </mc:Choice>
                <mc:Fallback>
                  <p:oleObj name="Equation" r:id="rId5" imgW="84429600" imgH="5486400" progId="Equation.DSMT4">
                    <p:embed/>
                    <p:pic>
                      <p:nvPicPr>
                        <p:cNvPr id="0" name="图片 6"/>
                        <p:cNvPicPr/>
                        <p:nvPr/>
                      </p:nvPicPr>
                      <p:blipFill>
                        <a:blip r:embed="rId6"/>
                        <a:stretch>
                          <a:fillRect/>
                        </a:stretch>
                      </p:blipFill>
                      <p:spPr>
                        <a:xfrm>
                          <a:off x="3271" y="9301"/>
                          <a:ext cx="8032" cy="522"/>
                        </a:xfrm>
                        <a:prstGeom prst="rect">
                          <a:avLst/>
                        </a:prstGeom>
                      </p:spPr>
                    </p:pic>
                  </p:oleObj>
                </mc:Fallback>
              </mc:AlternateContent>
            </a:graphicData>
          </a:graphic>
        </p:graphicFrame>
      </p:grpSp>
      <p:sp>
        <p:nvSpPr>
          <p:cNvPr id="8" name="矩形: 圆角 6"/>
          <p:cNvSpPr/>
          <p:nvPr/>
        </p:nvSpPr>
        <p:spPr>
          <a:xfrm>
            <a:off x="9046029" y="3154680"/>
            <a:ext cx="2338251" cy="555171"/>
          </a:xfrm>
          <a:prstGeom prst="roundRect">
            <a:avLst/>
          </a:prstGeom>
          <a:solidFill>
            <a:schemeClr val="accent2">
              <a:lumMod val="20000"/>
              <a:lumOff val="80000"/>
            </a:schemeClr>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Attention</a:t>
            </a:r>
            <a:endParaRPr lang="zh-CN" altLang="en-US" dirty="0">
              <a:solidFill>
                <a:schemeClr val="tx1"/>
              </a:solidFill>
            </a:endParaRPr>
          </a:p>
        </p:txBody>
      </p:sp>
      <p:grpSp>
        <p:nvGrpSpPr>
          <p:cNvPr id="19" name="组合 18"/>
          <p:cNvGrpSpPr/>
          <p:nvPr/>
        </p:nvGrpSpPr>
        <p:grpSpPr>
          <a:xfrm>
            <a:off x="9233960" y="5547795"/>
            <a:ext cx="1899904" cy="236810"/>
            <a:chOff x="9529354" y="5669280"/>
            <a:chExt cx="1899904" cy="236810"/>
          </a:xfrm>
        </p:grpSpPr>
        <p:sp>
          <p:nvSpPr>
            <p:cNvPr id="9" name="矩形 8"/>
            <p:cNvSpPr/>
            <p:nvPr/>
          </p:nvSpPr>
          <p:spPr>
            <a:xfrm>
              <a:off x="9529354" y="5669280"/>
              <a:ext cx="237600" cy="236810"/>
            </a:xfrm>
            <a:prstGeom prst="rect">
              <a:avLst/>
            </a:prstGeom>
            <a:solidFill>
              <a:schemeClr val="accent1">
                <a:lumMod val="20000"/>
                <a:lumOff val="80000"/>
              </a:schemeClr>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766730" y="5669280"/>
              <a:ext cx="237600" cy="236810"/>
            </a:xfrm>
            <a:prstGeom prst="rect">
              <a:avLst/>
            </a:prstGeom>
            <a:solidFill>
              <a:schemeClr val="accent1">
                <a:lumMod val="20000"/>
                <a:lumOff val="80000"/>
              </a:schemeClr>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0004330" y="5669280"/>
              <a:ext cx="237600" cy="236810"/>
            </a:xfrm>
            <a:prstGeom prst="rect">
              <a:avLst/>
            </a:prstGeom>
            <a:solidFill>
              <a:schemeClr val="accent1">
                <a:lumMod val="20000"/>
                <a:lumOff val="80000"/>
              </a:schemeClr>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0241706" y="5669280"/>
              <a:ext cx="237600" cy="236810"/>
            </a:xfrm>
            <a:prstGeom prst="rect">
              <a:avLst/>
            </a:prstGeom>
            <a:solidFill>
              <a:schemeClr val="accent1">
                <a:lumMod val="20000"/>
                <a:lumOff val="80000"/>
              </a:schemeClr>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0479306" y="5669280"/>
              <a:ext cx="237600" cy="236810"/>
            </a:xfrm>
            <a:prstGeom prst="rect">
              <a:avLst/>
            </a:prstGeom>
            <a:solidFill>
              <a:schemeClr val="accent1">
                <a:lumMod val="20000"/>
                <a:lumOff val="80000"/>
              </a:schemeClr>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0716682" y="5669280"/>
              <a:ext cx="237600" cy="236810"/>
            </a:xfrm>
            <a:prstGeom prst="rect">
              <a:avLst/>
            </a:prstGeom>
            <a:solidFill>
              <a:schemeClr val="accent1">
                <a:lumMod val="20000"/>
                <a:lumOff val="80000"/>
              </a:schemeClr>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0954282" y="5669280"/>
              <a:ext cx="237600" cy="236810"/>
            </a:xfrm>
            <a:prstGeom prst="rect">
              <a:avLst/>
            </a:prstGeom>
            <a:solidFill>
              <a:schemeClr val="accent1">
                <a:lumMod val="20000"/>
                <a:lumOff val="80000"/>
              </a:schemeClr>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11191658" y="5669280"/>
              <a:ext cx="237600" cy="236810"/>
            </a:xfrm>
            <a:prstGeom prst="rect">
              <a:avLst/>
            </a:prstGeom>
            <a:solidFill>
              <a:schemeClr val="accent1">
                <a:lumMod val="20000"/>
                <a:lumOff val="80000"/>
              </a:schemeClr>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文本框 19"/>
          <p:cNvSpPr txBox="1"/>
          <p:nvPr/>
        </p:nvSpPr>
        <p:spPr>
          <a:xfrm>
            <a:off x="9708936" y="5916566"/>
            <a:ext cx="1005403" cy="338554"/>
          </a:xfrm>
          <a:prstGeom prst="rect">
            <a:avLst/>
          </a:prstGeom>
          <a:noFill/>
        </p:spPr>
        <p:txBody>
          <a:bodyPr wrap="none" rtlCol="0">
            <a:spAutoFit/>
          </a:bodyPr>
          <a:lstStyle/>
          <a:p>
            <a:r>
              <a:rPr lang="zh-CN" altLang="en-US" sz="1600" dirty="0"/>
              <a:t>输入序列</a:t>
            </a:r>
            <a:endParaRPr lang="zh-CN" altLang="en-US" sz="1600" dirty="0"/>
          </a:p>
        </p:txBody>
      </p:sp>
      <p:grpSp>
        <p:nvGrpSpPr>
          <p:cNvPr id="25" name="组合 24"/>
          <p:cNvGrpSpPr/>
          <p:nvPr/>
        </p:nvGrpSpPr>
        <p:grpSpPr>
          <a:xfrm>
            <a:off x="8808720" y="4718866"/>
            <a:ext cx="280670" cy="280670"/>
            <a:chOff x="8808650" y="4437888"/>
            <a:chExt cx="280486" cy="280800"/>
          </a:xfrm>
        </p:grpSpPr>
        <p:sp>
          <p:nvSpPr>
            <p:cNvPr id="21" name="矩形 20"/>
            <p:cNvSpPr/>
            <p:nvPr/>
          </p:nvSpPr>
          <p:spPr>
            <a:xfrm>
              <a:off x="8808650" y="4437888"/>
              <a:ext cx="280486" cy="280800"/>
            </a:xfrm>
            <a:prstGeom prst="rect">
              <a:avLst/>
            </a:prstGeom>
            <a:solidFill>
              <a:schemeClr val="accent1">
                <a:lumMod val="20000"/>
                <a:lumOff val="80000"/>
              </a:schemeClr>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graphicFrame>
          <p:nvGraphicFramePr>
            <p:cNvPr id="24" name="对象 23"/>
            <p:cNvGraphicFramePr>
              <a:graphicFrameLocks noChangeAspect="1"/>
            </p:cNvGraphicFramePr>
            <p:nvPr/>
          </p:nvGraphicFramePr>
          <p:xfrm>
            <a:off x="8853643" y="4460811"/>
            <a:ext cx="190500" cy="228600"/>
          </p:xfrm>
          <a:graphic>
            <a:graphicData uri="http://schemas.openxmlformats.org/presentationml/2006/ole">
              <mc:AlternateContent xmlns:mc="http://schemas.openxmlformats.org/markup-compatibility/2006">
                <mc:Choice xmlns:v="urn:schemas-microsoft-com:vml" Requires="v">
                  <p:oleObj spid="_x0000_s26" name="Equation" r:id="rId7" imgW="4572000" imgH="5486400" progId="Equation.DSMT4">
                    <p:embed/>
                  </p:oleObj>
                </mc:Choice>
                <mc:Fallback>
                  <p:oleObj name="Equation" r:id="rId7" imgW="4572000" imgH="5486400" progId="Equation.DSMT4">
                    <p:embed/>
                    <p:pic>
                      <p:nvPicPr>
                        <p:cNvPr id="0" name="图片 25"/>
                        <p:cNvPicPr/>
                        <p:nvPr/>
                      </p:nvPicPr>
                      <p:blipFill>
                        <a:blip r:embed="rId8"/>
                        <a:stretch>
                          <a:fillRect/>
                        </a:stretch>
                      </p:blipFill>
                      <p:spPr>
                        <a:xfrm>
                          <a:off x="8853643" y="4460811"/>
                          <a:ext cx="190500" cy="228600"/>
                        </a:xfrm>
                        <a:prstGeom prst="rect">
                          <a:avLst/>
                        </a:prstGeom>
                      </p:spPr>
                    </p:pic>
                  </p:oleObj>
                </mc:Fallback>
              </mc:AlternateContent>
            </a:graphicData>
          </a:graphic>
        </p:graphicFrame>
      </p:grpSp>
      <p:sp>
        <p:nvSpPr>
          <p:cNvPr id="27" name="矩形 26"/>
          <p:cNvSpPr/>
          <p:nvPr/>
        </p:nvSpPr>
        <p:spPr>
          <a:xfrm>
            <a:off x="8981440" y="4555671"/>
            <a:ext cx="280670" cy="280670"/>
          </a:xfrm>
          <a:prstGeom prst="rect">
            <a:avLst/>
          </a:prstGeom>
          <a:solidFill>
            <a:schemeClr val="accent1">
              <a:lumMod val="20000"/>
              <a:lumOff val="80000"/>
            </a:schemeClr>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graphicFrame>
        <p:nvGraphicFramePr>
          <p:cNvPr id="29" name="对象 28"/>
          <p:cNvGraphicFramePr>
            <a:graphicFrameLocks noChangeAspect="1"/>
          </p:cNvGraphicFramePr>
          <p:nvPr/>
        </p:nvGraphicFramePr>
        <p:xfrm>
          <a:off x="9032240" y="4581706"/>
          <a:ext cx="203200" cy="228600"/>
        </p:xfrm>
        <a:graphic>
          <a:graphicData uri="http://schemas.openxmlformats.org/presentationml/2006/ole">
            <mc:AlternateContent xmlns:mc="http://schemas.openxmlformats.org/markup-compatibility/2006">
              <mc:Choice xmlns:v="urn:schemas-microsoft-com:vml" Requires="v">
                <p:oleObj spid="_x0000_s28" name="Equation" r:id="rId9" imgW="4876800" imgH="5486400" progId="Equation.DSMT4">
                  <p:embed/>
                </p:oleObj>
              </mc:Choice>
              <mc:Fallback>
                <p:oleObj name="Equation" r:id="rId9" imgW="4876800" imgH="5486400" progId="Equation.DSMT4">
                  <p:embed/>
                  <p:pic>
                    <p:nvPicPr>
                      <p:cNvPr id="0" name="图片 27"/>
                      <p:cNvPicPr/>
                      <p:nvPr/>
                    </p:nvPicPr>
                    <p:blipFill>
                      <a:blip r:embed="rId10"/>
                      <a:stretch>
                        <a:fillRect/>
                      </a:stretch>
                    </p:blipFill>
                    <p:spPr>
                      <a:xfrm>
                        <a:off x="9032240" y="4581706"/>
                        <a:ext cx="203200" cy="228600"/>
                      </a:xfrm>
                      <a:prstGeom prst="rect">
                        <a:avLst/>
                      </a:prstGeom>
                    </p:spPr>
                  </p:pic>
                </p:oleObj>
              </mc:Fallback>
            </mc:AlternateContent>
          </a:graphicData>
        </a:graphic>
      </p:graphicFrame>
      <p:sp>
        <p:nvSpPr>
          <p:cNvPr id="30" name="矩形 29"/>
          <p:cNvSpPr/>
          <p:nvPr/>
        </p:nvSpPr>
        <p:spPr>
          <a:xfrm>
            <a:off x="9154160" y="4391841"/>
            <a:ext cx="280670" cy="280670"/>
          </a:xfrm>
          <a:prstGeom prst="rect">
            <a:avLst/>
          </a:prstGeom>
          <a:solidFill>
            <a:schemeClr val="accent1">
              <a:lumMod val="20000"/>
              <a:lumOff val="80000"/>
            </a:schemeClr>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grpSp>
        <p:nvGrpSpPr>
          <p:cNvPr id="60" name="组合 59"/>
          <p:cNvGrpSpPr/>
          <p:nvPr/>
        </p:nvGrpSpPr>
        <p:grpSpPr>
          <a:xfrm>
            <a:off x="9837420" y="4424226"/>
            <a:ext cx="626110" cy="607695"/>
            <a:chOff x="15492" y="6525"/>
            <a:chExt cx="986" cy="957"/>
          </a:xfrm>
        </p:grpSpPr>
        <p:grpSp>
          <p:nvGrpSpPr>
            <p:cNvPr id="35" name="组合 34"/>
            <p:cNvGrpSpPr/>
            <p:nvPr/>
          </p:nvGrpSpPr>
          <p:grpSpPr>
            <a:xfrm>
              <a:off x="15492" y="7040"/>
              <a:ext cx="442" cy="442"/>
              <a:chOff x="8808650" y="4437888"/>
              <a:chExt cx="280486" cy="280800"/>
            </a:xfrm>
          </p:grpSpPr>
          <p:sp>
            <p:nvSpPr>
              <p:cNvPr id="36" name="矩形 35"/>
              <p:cNvSpPr/>
              <p:nvPr/>
            </p:nvSpPr>
            <p:spPr>
              <a:xfrm>
                <a:off x="8808650" y="4437888"/>
                <a:ext cx="280486" cy="280800"/>
              </a:xfrm>
              <a:prstGeom prst="rect">
                <a:avLst/>
              </a:prstGeom>
              <a:solidFill>
                <a:schemeClr val="accent1">
                  <a:lumMod val="20000"/>
                  <a:lumOff val="80000"/>
                </a:schemeClr>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graphicFrame>
            <p:nvGraphicFramePr>
              <p:cNvPr id="37" name="对象 36"/>
              <p:cNvGraphicFramePr>
                <a:graphicFrameLocks noChangeAspect="1"/>
              </p:cNvGraphicFramePr>
              <p:nvPr/>
            </p:nvGraphicFramePr>
            <p:xfrm>
              <a:off x="8851195" y="4476623"/>
              <a:ext cx="209550" cy="209550"/>
            </p:xfrm>
            <a:graphic>
              <a:graphicData uri="http://schemas.openxmlformats.org/presentationml/2006/ole">
                <mc:AlternateContent xmlns:mc="http://schemas.openxmlformats.org/markup-compatibility/2006">
                  <mc:Choice xmlns:v="urn:schemas-microsoft-com:vml" Requires="v">
                    <p:oleObj spid="_x0000_s31" name="Equation" r:id="rId11" imgW="203200" imgH="228600" progId="Equation.DSMT4">
                      <p:embed/>
                    </p:oleObj>
                  </mc:Choice>
                  <mc:Fallback>
                    <p:oleObj name="Equation" r:id="rId11" imgW="203200" imgH="228600" progId="Equation.DSMT4">
                      <p:embed/>
                      <p:pic>
                        <p:nvPicPr>
                          <p:cNvPr id="0" name="图片 25"/>
                          <p:cNvPicPr/>
                          <p:nvPr/>
                        </p:nvPicPr>
                        <p:blipFill>
                          <a:blip r:embed="rId12"/>
                          <a:stretch>
                            <a:fillRect/>
                          </a:stretch>
                        </p:blipFill>
                        <p:spPr>
                          <a:xfrm>
                            <a:off x="8851195" y="4476623"/>
                            <a:ext cx="209550" cy="209550"/>
                          </a:xfrm>
                          <a:prstGeom prst="rect">
                            <a:avLst/>
                          </a:prstGeom>
                        </p:spPr>
                      </p:pic>
                    </p:oleObj>
                  </mc:Fallback>
                </mc:AlternateContent>
              </a:graphicData>
            </a:graphic>
          </p:graphicFrame>
        </p:grpSp>
        <p:sp>
          <p:nvSpPr>
            <p:cNvPr id="39" name="矩形 38"/>
            <p:cNvSpPr/>
            <p:nvPr/>
          </p:nvSpPr>
          <p:spPr>
            <a:xfrm>
              <a:off x="15764" y="6783"/>
              <a:ext cx="442" cy="442"/>
            </a:xfrm>
            <a:prstGeom prst="rect">
              <a:avLst/>
            </a:prstGeom>
            <a:solidFill>
              <a:schemeClr val="accent1">
                <a:lumMod val="20000"/>
                <a:lumOff val="80000"/>
              </a:schemeClr>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42" name="矩形 41"/>
            <p:cNvSpPr/>
            <p:nvPr/>
          </p:nvSpPr>
          <p:spPr>
            <a:xfrm>
              <a:off x="16036" y="6525"/>
              <a:ext cx="442" cy="442"/>
            </a:xfrm>
            <a:prstGeom prst="rect">
              <a:avLst/>
            </a:prstGeom>
            <a:solidFill>
              <a:schemeClr val="accent1">
                <a:lumMod val="20000"/>
                <a:lumOff val="80000"/>
              </a:schemeClr>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graphicFrame>
          <p:nvGraphicFramePr>
            <p:cNvPr id="56" name="对象 55"/>
            <p:cNvGraphicFramePr>
              <a:graphicFrameLocks noChangeAspect="1"/>
            </p:cNvGraphicFramePr>
            <p:nvPr/>
          </p:nvGraphicFramePr>
          <p:xfrm>
            <a:off x="15831" y="6834"/>
            <a:ext cx="352" cy="330"/>
          </p:xfrm>
          <a:graphic>
            <a:graphicData uri="http://schemas.openxmlformats.org/presentationml/2006/ole">
              <mc:AlternateContent xmlns:mc="http://schemas.openxmlformats.org/markup-compatibility/2006">
                <mc:Choice xmlns:v="urn:schemas-microsoft-com:vml" Requires="v">
                  <p:oleObj spid="_x0000_s32" name="Equation" r:id="rId13" imgW="215900" imgH="228600" progId="Equation.DSMT4">
                    <p:embed/>
                  </p:oleObj>
                </mc:Choice>
                <mc:Fallback>
                  <p:oleObj name="Equation" r:id="rId13" imgW="215900" imgH="228600" progId="Equation.DSMT4">
                    <p:embed/>
                    <p:pic>
                      <p:nvPicPr>
                        <p:cNvPr id="0" name="图片 25"/>
                        <p:cNvPicPr/>
                        <p:nvPr/>
                      </p:nvPicPr>
                      <p:blipFill>
                        <a:blip r:embed="rId14"/>
                        <a:stretch>
                          <a:fillRect/>
                        </a:stretch>
                      </p:blipFill>
                      <p:spPr>
                        <a:xfrm>
                          <a:off x="15831" y="6834"/>
                          <a:ext cx="352" cy="330"/>
                        </a:xfrm>
                        <a:prstGeom prst="rect">
                          <a:avLst/>
                        </a:prstGeom>
                      </p:spPr>
                    </p:pic>
                  </p:oleObj>
                </mc:Fallback>
              </mc:AlternateContent>
            </a:graphicData>
          </a:graphic>
        </p:graphicFrame>
        <p:graphicFrame>
          <p:nvGraphicFramePr>
            <p:cNvPr id="58" name="对象 57"/>
            <p:cNvGraphicFramePr>
              <a:graphicFrameLocks noChangeAspect="1"/>
            </p:cNvGraphicFramePr>
            <p:nvPr/>
          </p:nvGraphicFramePr>
          <p:xfrm>
            <a:off x="16091" y="6586"/>
            <a:ext cx="352" cy="330"/>
          </p:xfrm>
          <a:graphic>
            <a:graphicData uri="http://schemas.openxmlformats.org/presentationml/2006/ole">
              <mc:AlternateContent xmlns:mc="http://schemas.openxmlformats.org/markup-compatibility/2006">
                <mc:Choice xmlns:v="urn:schemas-microsoft-com:vml" Requires="v">
                  <p:oleObj spid="_x0000_s33" name="Equation" r:id="rId15" imgW="215900" imgH="228600" progId="Equation.DSMT4">
                    <p:embed/>
                  </p:oleObj>
                </mc:Choice>
                <mc:Fallback>
                  <p:oleObj name="Equation" r:id="rId15" imgW="215900" imgH="228600" progId="Equation.DSMT4">
                    <p:embed/>
                    <p:pic>
                      <p:nvPicPr>
                        <p:cNvPr id="0" name="图片 25"/>
                        <p:cNvPicPr/>
                        <p:nvPr/>
                      </p:nvPicPr>
                      <p:blipFill>
                        <a:blip r:embed="rId16"/>
                        <a:stretch>
                          <a:fillRect/>
                        </a:stretch>
                      </p:blipFill>
                      <p:spPr>
                        <a:xfrm>
                          <a:off x="16091" y="6586"/>
                          <a:ext cx="352" cy="330"/>
                        </a:xfrm>
                        <a:prstGeom prst="rect">
                          <a:avLst/>
                        </a:prstGeom>
                      </p:spPr>
                    </p:pic>
                  </p:oleObj>
                </mc:Fallback>
              </mc:AlternateContent>
            </a:graphicData>
          </a:graphic>
        </p:graphicFrame>
      </p:grpSp>
      <p:grpSp>
        <p:nvGrpSpPr>
          <p:cNvPr id="62" name="组合 61"/>
          <p:cNvGrpSpPr/>
          <p:nvPr/>
        </p:nvGrpSpPr>
        <p:grpSpPr>
          <a:xfrm>
            <a:off x="10878185" y="4757601"/>
            <a:ext cx="280670" cy="280670"/>
            <a:chOff x="8808650" y="4437888"/>
            <a:chExt cx="280486" cy="280800"/>
          </a:xfrm>
        </p:grpSpPr>
        <p:sp>
          <p:nvSpPr>
            <p:cNvPr id="63" name="矩形 62"/>
            <p:cNvSpPr/>
            <p:nvPr/>
          </p:nvSpPr>
          <p:spPr>
            <a:xfrm>
              <a:off x="8808650" y="4437888"/>
              <a:ext cx="280486" cy="280800"/>
            </a:xfrm>
            <a:prstGeom prst="rect">
              <a:avLst/>
            </a:prstGeom>
            <a:solidFill>
              <a:schemeClr val="accent1">
                <a:lumMod val="20000"/>
                <a:lumOff val="80000"/>
              </a:schemeClr>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graphicFrame>
          <p:nvGraphicFramePr>
            <p:cNvPr id="64" name="对象 63"/>
            <p:cNvGraphicFramePr>
              <a:graphicFrameLocks noChangeAspect="1"/>
            </p:cNvGraphicFramePr>
            <p:nvPr/>
          </p:nvGraphicFramePr>
          <p:xfrm>
            <a:off x="8864590" y="4476892"/>
            <a:ext cx="182760" cy="209012"/>
          </p:xfrm>
          <a:graphic>
            <a:graphicData uri="http://schemas.openxmlformats.org/presentationml/2006/ole">
              <mc:AlternateContent xmlns:mc="http://schemas.openxmlformats.org/markup-compatibility/2006">
                <mc:Choice xmlns:v="urn:schemas-microsoft-com:vml" Requires="v">
                  <p:oleObj spid="_x0000_s34" name="Equation" r:id="rId17" imgW="177165" imgH="228600" progId="Equation.DSMT4">
                    <p:embed/>
                  </p:oleObj>
                </mc:Choice>
                <mc:Fallback>
                  <p:oleObj name="Equation" r:id="rId17" imgW="177165" imgH="228600" progId="Equation.DSMT4">
                    <p:embed/>
                    <p:pic>
                      <p:nvPicPr>
                        <p:cNvPr id="0" name="图片 25"/>
                        <p:cNvPicPr/>
                        <p:nvPr/>
                      </p:nvPicPr>
                      <p:blipFill>
                        <a:blip r:embed="rId18"/>
                        <a:stretch>
                          <a:fillRect/>
                        </a:stretch>
                      </p:blipFill>
                      <p:spPr>
                        <a:xfrm>
                          <a:off x="8864590" y="4476892"/>
                          <a:ext cx="182760" cy="209012"/>
                        </a:xfrm>
                        <a:prstGeom prst="rect">
                          <a:avLst/>
                        </a:prstGeom>
                      </p:spPr>
                    </p:pic>
                  </p:oleObj>
                </mc:Fallback>
              </mc:AlternateContent>
            </a:graphicData>
          </a:graphic>
        </p:graphicFrame>
      </p:grpSp>
      <p:sp>
        <p:nvSpPr>
          <p:cNvPr id="66" name="矩形 65"/>
          <p:cNvSpPr/>
          <p:nvPr/>
        </p:nvSpPr>
        <p:spPr>
          <a:xfrm>
            <a:off x="11050905" y="4594406"/>
            <a:ext cx="280670" cy="280670"/>
          </a:xfrm>
          <a:prstGeom prst="rect">
            <a:avLst/>
          </a:prstGeom>
          <a:solidFill>
            <a:schemeClr val="accent1">
              <a:lumMod val="20000"/>
              <a:lumOff val="80000"/>
            </a:schemeClr>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67" name="矩形 66"/>
          <p:cNvSpPr/>
          <p:nvPr/>
        </p:nvSpPr>
        <p:spPr>
          <a:xfrm>
            <a:off x="11223625" y="4430576"/>
            <a:ext cx="280670" cy="280670"/>
          </a:xfrm>
          <a:prstGeom prst="rect">
            <a:avLst/>
          </a:prstGeom>
          <a:solidFill>
            <a:schemeClr val="accent1">
              <a:lumMod val="20000"/>
              <a:lumOff val="80000"/>
            </a:schemeClr>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graphicFrame>
        <p:nvGraphicFramePr>
          <p:cNvPr id="68" name="对象 67"/>
          <p:cNvGraphicFramePr>
            <a:graphicFrameLocks noChangeAspect="1"/>
          </p:cNvGraphicFramePr>
          <p:nvPr/>
        </p:nvGraphicFramePr>
        <p:xfrm>
          <a:off x="11106150" y="4626791"/>
          <a:ext cx="198120" cy="209550"/>
        </p:xfrm>
        <a:graphic>
          <a:graphicData uri="http://schemas.openxmlformats.org/presentationml/2006/ole">
            <mc:AlternateContent xmlns:mc="http://schemas.openxmlformats.org/markup-compatibility/2006">
              <mc:Choice xmlns:v="urn:schemas-microsoft-com:vml" Requires="v">
                <p:oleObj spid="_x0000_s38" name="Equation" r:id="rId19" imgW="190500" imgH="228600" progId="Equation.DSMT4">
                  <p:embed/>
                </p:oleObj>
              </mc:Choice>
              <mc:Fallback>
                <p:oleObj name="Equation" r:id="rId19" imgW="190500" imgH="228600" progId="Equation.DSMT4">
                  <p:embed/>
                  <p:pic>
                    <p:nvPicPr>
                      <p:cNvPr id="0" name="图片 25"/>
                      <p:cNvPicPr/>
                      <p:nvPr/>
                    </p:nvPicPr>
                    <p:blipFill>
                      <a:blip r:embed="rId20"/>
                      <a:stretch>
                        <a:fillRect/>
                      </a:stretch>
                    </p:blipFill>
                    <p:spPr>
                      <a:xfrm>
                        <a:off x="11106150" y="4626791"/>
                        <a:ext cx="198120" cy="209550"/>
                      </a:xfrm>
                      <a:prstGeom prst="rect">
                        <a:avLst/>
                      </a:prstGeom>
                    </p:spPr>
                  </p:pic>
                </p:oleObj>
              </mc:Fallback>
            </mc:AlternateContent>
          </a:graphicData>
        </a:graphic>
      </p:graphicFrame>
      <p:graphicFrame>
        <p:nvGraphicFramePr>
          <p:cNvPr id="70" name="对象 69"/>
          <p:cNvGraphicFramePr>
            <a:graphicFrameLocks noChangeAspect="1"/>
          </p:cNvGraphicFramePr>
          <p:nvPr/>
        </p:nvGraphicFramePr>
        <p:xfrm>
          <a:off x="11264583" y="4469311"/>
          <a:ext cx="211455" cy="209550"/>
        </p:xfrm>
        <a:graphic>
          <a:graphicData uri="http://schemas.openxmlformats.org/presentationml/2006/ole">
            <mc:AlternateContent xmlns:mc="http://schemas.openxmlformats.org/markup-compatibility/2006">
              <mc:Choice xmlns:v="urn:schemas-microsoft-com:vml" Requires="v">
                <p:oleObj spid="_x0000_s40" name="Equation" r:id="rId21" imgW="203200" imgH="228600" progId="Equation.DSMT4">
                  <p:embed/>
                </p:oleObj>
              </mc:Choice>
              <mc:Fallback>
                <p:oleObj name="Equation" r:id="rId21" imgW="203200" imgH="228600" progId="Equation.DSMT4">
                  <p:embed/>
                  <p:pic>
                    <p:nvPicPr>
                      <p:cNvPr id="0" name="图片 25"/>
                      <p:cNvPicPr/>
                      <p:nvPr/>
                    </p:nvPicPr>
                    <p:blipFill>
                      <a:blip r:embed="rId22"/>
                      <a:stretch>
                        <a:fillRect/>
                      </a:stretch>
                    </p:blipFill>
                    <p:spPr>
                      <a:xfrm>
                        <a:off x="11264583" y="4469311"/>
                        <a:ext cx="211455" cy="209550"/>
                      </a:xfrm>
                      <a:prstGeom prst="rect">
                        <a:avLst/>
                      </a:prstGeom>
                    </p:spPr>
                  </p:pic>
                </p:oleObj>
              </mc:Fallback>
            </mc:AlternateContent>
          </a:graphicData>
        </a:graphic>
      </p:graphicFrame>
      <p:cxnSp>
        <p:nvCxnSpPr>
          <p:cNvPr id="72" name="直接箭头连接符 71"/>
          <p:cNvCxnSpPr/>
          <p:nvPr/>
        </p:nvCxnSpPr>
        <p:spPr>
          <a:xfrm flipH="1" flipV="1">
            <a:off x="9089390" y="5060496"/>
            <a:ext cx="1028700" cy="453390"/>
          </a:xfrm>
          <a:prstGeom prst="straightConnector1">
            <a:avLst/>
          </a:prstGeom>
          <a:ln>
            <a:solidFill>
              <a:schemeClr val="accent1">
                <a:lumMod val="40000"/>
                <a:lumOff val="60000"/>
              </a:schemeClr>
            </a:solidFill>
            <a:tailEnd type="arrow"/>
          </a:ln>
        </p:spPr>
        <p:style>
          <a:lnRef idx="2">
            <a:schemeClr val="accent1"/>
          </a:lnRef>
          <a:fillRef idx="0">
            <a:srgbClr val="FFFFFF"/>
          </a:fillRef>
          <a:effectRef idx="0">
            <a:srgbClr val="FFFFFF"/>
          </a:effectRef>
          <a:fontRef idx="minor">
            <a:schemeClr val="tx1"/>
          </a:fontRef>
        </p:style>
      </p:cxnSp>
      <p:cxnSp>
        <p:nvCxnSpPr>
          <p:cNvPr id="73" name="直接箭头连接符 72"/>
          <p:cNvCxnSpPr/>
          <p:nvPr/>
        </p:nvCxnSpPr>
        <p:spPr>
          <a:xfrm flipV="1">
            <a:off x="10116820" y="5094786"/>
            <a:ext cx="0" cy="415290"/>
          </a:xfrm>
          <a:prstGeom prst="straightConnector1">
            <a:avLst/>
          </a:prstGeom>
          <a:ln>
            <a:solidFill>
              <a:schemeClr val="accent1">
                <a:lumMod val="40000"/>
                <a:lumOff val="60000"/>
              </a:schemeClr>
            </a:solidFill>
            <a:tailEnd type="arrow"/>
          </a:ln>
        </p:spPr>
        <p:style>
          <a:lnRef idx="2">
            <a:schemeClr val="accent1"/>
          </a:lnRef>
          <a:fillRef idx="0">
            <a:srgbClr val="FFFFFF"/>
          </a:fillRef>
          <a:effectRef idx="0">
            <a:srgbClr val="FFFFFF"/>
          </a:effectRef>
          <a:fontRef idx="minor">
            <a:schemeClr val="tx1"/>
          </a:fontRef>
        </p:style>
      </p:cxnSp>
      <p:cxnSp>
        <p:nvCxnSpPr>
          <p:cNvPr id="74" name="直接箭头连接符 73"/>
          <p:cNvCxnSpPr/>
          <p:nvPr/>
        </p:nvCxnSpPr>
        <p:spPr>
          <a:xfrm flipV="1">
            <a:off x="10118090" y="5094786"/>
            <a:ext cx="925830" cy="419100"/>
          </a:xfrm>
          <a:prstGeom prst="straightConnector1">
            <a:avLst/>
          </a:prstGeom>
          <a:ln>
            <a:solidFill>
              <a:schemeClr val="accent1">
                <a:lumMod val="40000"/>
                <a:lumOff val="60000"/>
              </a:schemeClr>
            </a:solidFill>
            <a:tailEnd type="arrow"/>
          </a:ln>
        </p:spPr>
        <p:style>
          <a:lnRef idx="2">
            <a:schemeClr val="accent1"/>
          </a:lnRef>
          <a:fillRef idx="0">
            <a:srgbClr val="FFFFFF"/>
          </a:fillRef>
          <a:effectRef idx="0">
            <a:srgbClr val="FFFFFF"/>
          </a:effectRef>
          <a:fontRef idx="minor">
            <a:schemeClr val="tx1"/>
          </a:fontRef>
        </p:style>
      </p:cxnSp>
      <p:cxnSp>
        <p:nvCxnSpPr>
          <p:cNvPr id="75" name="肘形连接符 74"/>
          <p:cNvCxnSpPr>
            <a:stCxn id="27" idx="0"/>
            <a:endCxn id="8" idx="2"/>
          </p:cNvCxnSpPr>
          <p:nvPr/>
        </p:nvCxnSpPr>
        <p:spPr>
          <a:xfrm rot="16200000">
            <a:off x="9245600" y="3586026"/>
            <a:ext cx="845820" cy="1093470"/>
          </a:xfrm>
          <a:prstGeom prst="bentConnector3">
            <a:avLst>
              <a:gd name="adj1" fmla="val 50000"/>
            </a:avLst>
          </a:prstGeom>
          <a:ln>
            <a:solidFill>
              <a:schemeClr val="accent2">
                <a:lumMod val="60000"/>
                <a:lumOff val="40000"/>
              </a:schemeClr>
            </a:solidFill>
            <a:tailEnd type="arrow"/>
          </a:ln>
        </p:spPr>
        <p:style>
          <a:lnRef idx="2">
            <a:schemeClr val="accent1"/>
          </a:lnRef>
          <a:fillRef idx="0">
            <a:srgbClr val="FFFFFF"/>
          </a:fillRef>
          <a:effectRef idx="0">
            <a:srgbClr val="FFFFFF"/>
          </a:effectRef>
          <a:fontRef idx="minor">
            <a:schemeClr val="tx1"/>
          </a:fontRef>
        </p:style>
      </p:cxnSp>
      <p:cxnSp>
        <p:nvCxnSpPr>
          <p:cNvPr id="76" name="肘形连接符 75"/>
          <p:cNvCxnSpPr>
            <a:stCxn id="42" idx="0"/>
            <a:endCxn id="8" idx="2"/>
          </p:cNvCxnSpPr>
          <p:nvPr/>
        </p:nvCxnSpPr>
        <p:spPr>
          <a:xfrm rot="16200000" flipV="1">
            <a:off x="9911715" y="4012746"/>
            <a:ext cx="714375" cy="107950"/>
          </a:xfrm>
          <a:prstGeom prst="bentConnector3">
            <a:avLst>
              <a:gd name="adj1" fmla="val 40755"/>
            </a:avLst>
          </a:prstGeom>
          <a:ln>
            <a:solidFill>
              <a:schemeClr val="accent1">
                <a:lumMod val="60000"/>
                <a:lumOff val="40000"/>
              </a:schemeClr>
            </a:solidFill>
            <a:tailEnd type="arrow"/>
          </a:ln>
        </p:spPr>
        <p:style>
          <a:lnRef idx="2">
            <a:schemeClr val="accent1"/>
          </a:lnRef>
          <a:fillRef idx="0">
            <a:srgbClr val="FFFFFF"/>
          </a:fillRef>
          <a:effectRef idx="0">
            <a:srgbClr val="FFFFFF"/>
          </a:effectRef>
          <a:fontRef idx="minor">
            <a:schemeClr val="tx1"/>
          </a:fontRef>
        </p:style>
      </p:cxnSp>
      <p:cxnSp>
        <p:nvCxnSpPr>
          <p:cNvPr id="77" name="肘形连接符 76"/>
          <p:cNvCxnSpPr>
            <a:stCxn id="67" idx="0"/>
            <a:endCxn id="8" idx="2"/>
          </p:cNvCxnSpPr>
          <p:nvPr/>
        </p:nvCxnSpPr>
        <p:spPr>
          <a:xfrm rot="16200000" flipV="1">
            <a:off x="10428605" y="3495856"/>
            <a:ext cx="720725" cy="1148715"/>
          </a:xfrm>
          <a:prstGeom prst="bentConnector3">
            <a:avLst>
              <a:gd name="adj1" fmla="val 41497"/>
            </a:avLst>
          </a:prstGeom>
          <a:ln>
            <a:solidFill>
              <a:srgbClr val="05B0F0"/>
            </a:solidFill>
            <a:tailEnd type="arrow"/>
          </a:ln>
        </p:spPr>
        <p:style>
          <a:lnRef idx="2">
            <a:schemeClr val="accent1"/>
          </a:lnRef>
          <a:fillRef idx="0">
            <a:srgbClr val="FFFFFF"/>
          </a:fillRef>
          <a:effectRef idx="0">
            <a:srgbClr val="FFFFFF"/>
          </a:effectRef>
          <a:fontRef idx="minor">
            <a:schemeClr val="tx1"/>
          </a:fontRef>
        </p:style>
      </p:cxnSp>
      <p:graphicFrame>
        <p:nvGraphicFramePr>
          <p:cNvPr id="79" name="对象 78"/>
          <p:cNvGraphicFramePr>
            <a:graphicFrameLocks noChangeAspect="1"/>
          </p:cNvGraphicFramePr>
          <p:nvPr/>
        </p:nvGraphicFramePr>
        <p:xfrm>
          <a:off x="9198707" y="4427335"/>
          <a:ext cx="224790" cy="209550"/>
        </p:xfrm>
        <a:graphic>
          <a:graphicData uri="http://schemas.openxmlformats.org/presentationml/2006/ole">
            <mc:AlternateContent xmlns:mc="http://schemas.openxmlformats.org/markup-compatibility/2006">
              <mc:Choice xmlns:v="urn:schemas-microsoft-com:vml" Requires="v">
                <p:oleObj spid="_x0000_s41" name="Equation" r:id="rId23" imgW="215900" imgH="228600" progId="Equation.DSMT4">
                  <p:embed/>
                </p:oleObj>
              </mc:Choice>
              <mc:Fallback>
                <p:oleObj name="Equation" r:id="rId23" imgW="215900" imgH="228600" progId="Equation.DSMT4">
                  <p:embed/>
                  <p:pic>
                    <p:nvPicPr>
                      <p:cNvPr id="0" name="图片 25"/>
                      <p:cNvPicPr/>
                      <p:nvPr/>
                    </p:nvPicPr>
                    <p:blipFill>
                      <a:blip r:embed="rId24"/>
                      <a:stretch>
                        <a:fillRect/>
                      </a:stretch>
                    </p:blipFill>
                    <p:spPr>
                      <a:xfrm>
                        <a:off x="9198707" y="4427335"/>
                        <a:ext cx="224790" cy="209550"/>
                      </a:xfrm>
                      <a:prstGeom prst="rect">
                        <a:avLst/>
                      </a:prstGeom>
                    </p:spPr>
                  </p:pic>
                </p:oleObj>
              </mc:Fallback>
            </mc:AlternateContent>
          </a:graphicData>
        </a:graphic>
      </p:graphicFrame>
      <p:sp>
        <p:nvSpPr>
          <p:cNvPr id="43" name="矩形 42"/>
          <p:cNvSpPr/>
          <p:nvPr/>
        </p:nvSpPr>
        <p:spPr>
          <a:xfrm>
            <a:off x="9243819" y="2433955"/>
            <a:ext cx="280670" cy="280670"/>
          </a:xfrm>
          <a:prstGeom prst="rect">
            <a:avLst/>
          </a:prstGeom>
          <a:solidFill>
            <a:schemeClr val="accent1">
              <a:lumMod val="20000"/>
              <a:lumOff val="80000"/>
            </a:schemeClr>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44" name="矩形 43"/>
          <p:cNvSpPr/>
          <p:nvPr/>
        </p:nvSpPr>
        <p:spPr>
          <a:xfrm>
            <a:off x="10066019" y="2427605"/>
            <a:ext cx="280670" cy="280670"/>
          </a:xfrm>
          <a:prstGeom prst="rect">
            <a:avLst/>
          </a:prstGeom>
          <a:solidFill>
            <a:schemeClr val="accent1">
              <a:lumMod val="20000"/>
              <a:lumOff val="80000"/>
            </a:schemeClr>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45" name="矩形 44"/>
          <p:cNvSpPr/>
          <p:nvPr/>
        </p:nvSpPr>
        <p:spPr>
          <a:xfrm>
            <a:off x="10846260" y="2433955"/>
            <a:ext cx="280670" cy="280670"/>
          </a:xfrm>
          <a:prstGeom prst="rect">
            <a:avLst/>
          </a:prstGeom>
          <a:solidFill>
            <a:schemeClr val="accent1">
              <a:lumMod val="20000"/>
              <a:lumOff val="80000"/>
            </a:schemeClr>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graphicFrame>
        <p:nvGraphicFramePr>
          <p:cNvPr id="46" name="对象 45"/>
          <p:cNvGraphicFramePr>
            <a:graphicFrameLocks noChangeAspect="1"/>
          </p:cNvGraphicFramePr>
          <p:nvPr/>
        </p:nvGraphicFramePr>
        <p:xfrm>
          <a:off x="9280836" y="2459990"/>
          <a:ext cx="190500" cy="228600"/>
        </p:xfrm>
        <a:graphic>
          <a:graphicData uri="http://schemas.openxmlformats.org/presentationml/2006/ole">
            <mc:AlternateContent xmlns:mc="http://schemas.openxmlformats.org/markup-compatibility/2006">
              <mc:Choice xmlns:v="urn:schemas-microsoft-com:vml" Requires="v">
                <p:oleObj spid="_x0000_s47" name="Equation" r:id="rId25" imgW="4572000" imgH="5486400" progId="Equation.DSMT4">
                  <p:embed/>
                </p:oleObj>
              </mc:Choice>
              <mc:Fallback>
                <p:oleObj name="Equation" r:id="rId25" imgW="4572000" imgH="5486400" progId="Equation.DSMT4">
                  <p:embed/>
                  <p:pic>
                    <p:nvPicPr>
                      <p:cNvPr id="0" name="图片 46"/>
                      <p:cNvPicPr/>
                      <p:nvPr/>
                    </p:nvPicPr>
                    <p:blipFill>
                      <a:blip r:embed="rId26"/>
                      <a:stretch>
                        <a:fillRect/>
                      </a:stretch>
                    </p:blipFill>
                    <p:spPr>
                      <a:xfrm>
                        <a:off x="9280836" y="2459990"/>
                        <a:ext cx="190500" cy="228600"/>
                      </a:xfrm>
                      <a:prstGeom prst="rect">
                        <a:avLst/>
                      </a:prstGeom>
                    </p:spPr>
                  </p:pic>
                </p:oleObj>
              </mc:Fallback>
            </mc:AlternateContent>
          </a:graphicData>
        </a:graphic>
      </p:graphicFrame>
      <p:graphicFrame>
        <p:nvGraphicFramePr>
          <p:cNvPr id="48" name="对象 47"/>
          <p:cNvGraphicFramePr>
            <a:graphicFrameLocks noChangeAspect="1"/>
          </p:cNvGraphicFramePr>
          <p:nvPr/>
        </p:nvGraphicFramePr>
        <p:xfrm>
          <a:off x="10116820" y="2453640"/>
          <a:ext cx="215900" cy="228600"/>
        </p:xfrm>
        <a:graphic>
          <a:graphicData uri="http://schemas.openxmlformats.org/presentationml/2006/ole">
            <mc:AlternateContent xmlns:mc="http://schemas.openxmlformats.org/markup-compatibility/2006">
              <mc:Choice xmlns:v="urn:schemas-microsoft-com:vml" Requires="v">
                <p:oleObj spid="_x0000_s49" name="Equation" r:id="rId27" imgW="5181600" imgH="5486400" progId="Equation.DSMT4">
                  <p:embed/>
                </p:oleObj>
              </mc:Choice>
              <mc:Fallback>
                <p:oleObj name="Equation" r:id="rId27" imgW="5181600" imgH="5486400" progId="Equation.DSMT4">
                  <p:embed/>
                  <p:pic>
                    <p:nvPicPr>
                      <p:cNvPr id="0" name="图片 48"/>
                      <p:cNvPicPr/>
                      <p:nvPr/>
                    </p:nvPicPr>
                    <p:blipFill>
                      <a:blip r:embed="rId28"/>
                      <a:stretch>
                        <a:fillRect/>
                      </a:stretch>
                    </p:blipFill>
                    <p:spPr>
                      <a:xfrm>
                        <a:off x="10116820" y="2453640"/>
                        <a:ext cx="215900" cy="228600"/>
                      </a:xfrm>
                      <a:prstGeom prst="rect">
                        <a:avLst/>
                      </a:prstGeom>
                    </p:spPr>
                  </p:pic>
                </p:oleObj>
              </mc:Fallback>
            </mc:AlternateContent>
          </a:graphicData>
        </a:graphic>
      </p:graphicFrame>
      <p:graphicFrame>
        <p:nvGraphicFramePr>
          <p:cNvPr id="50" name="对象 49"/>
          <p:cNvGraphicFramePr>
            <a:graphicFrameLocks noChangeAspect="1"/>
          </p:cNvGraphicFramePr>
          <p:nvPr/>
        </p:nvGraphicFramePr>
        <p:xfrm>
          <a:off x="10871563" y="2459990"/>
          <a:ext cx="215900" cy="228600"/>
        </p:xfrm>
        <a:graphic>
          <a:graphicData uri="http://schemas.openxmlformats.org/presentationml/2006/ole">
            <mc:AlternateContent xmlns:mc="http://schemas.openxmlformats.org/markup-compatibility/2006">
              <mc:Choice xmlns:v="urn:schemas-microsoft-com:vml" Requires="v">
                <p:oleObj spid="_x0000_s51" name="Equation" r:id="rId29" imgW="5181600" imgH="5486400" progId="Equation.DSMT4">
                  <p:embed/>
                </p:oleObj>
              </mc:Choice>
              <mc:Fallback>
                <p:oleObj name="Equation" r:id="rId29" imgW="5181600" imgH="5486400" progId="Equation.DSMT4">
                  <p:embed/>
                  <p:pic>
                    <p:nvPicPr>
                      <p:cNvPr id="0" name="图片 50"/>
                      <p:cNvPicPr/>
                      <p:nvPr/>
                    </p:nvPicPr>
                    <p:blipFill>
                      <a:blip r:embed="rId30"/>
                      <a:stretch>
                        <a:fillRect/>
                      </a:stretch>
                    </p:blipFill>
                    <p:spPr>
                      <a:xfrm>
                        <a:off x="10871563" y="2459990"/>
                        <a:ext cx="215900" cy="228600"/>
                      </a:xfrm>
                      <a:prstGeom prst="rect">
                        <a:avLst/>
                      </a:prstGeom>
                    </p:spPr>
                  </p:pic>
                </p:oleObj>
              </mc:Fallback>
            </mc:AlternateContent>
          </a:graphicData>
        </a:graphic>
      </p:graphicFrame>
      <p:cxnSp>
        <p:nvCxnSpPr>
          <p:cNvPr id="52" name="连接符: 肘形 32"/>
          <p:cNvCxnSpPr>
            <a:stCxn id="8" idx="0"/>
            <a:endCxn id="3" idx="2"/>
          </p:cNvCxnSpPr>
          <p:nvPr/>
        </p:nvCxnSpPr>
        <p:spPr>
          <a:xfrm rot="16200000" flipV="1">
            <a:off x="9579628" y="2519152"/>
            <a:ext cx="440055" cy="831001"/>
          </a:xfrm>
          <a:prstGeom prst="bentConnector3">
            <a:avLst/>
          </a:prstGeom>
          <a:ln w="12700">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连接符: 肘形 37"/>
          <p:cNvCxnSpPr>
            <a:stCxn id="8" idx="0"/>
            <a:endCxn id="4" idx="2"/>
          </p:cNvCxnSpPr>
          <p:nvPr/>
        </p:nvCxnSpPr>
        <p:spPr>
          <a:xfrm rot="16200000" flipV="1">
            <a:off x="9987553" y="2927077"/>
            <a:ext cx="446405" cy="8801"/>
          </a:xfrm>
          <a:prstGeom prst="bentConnector3">
            <a:avLst/>
          </a:prstGeom>
          <a:ln w="12700">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4" name="连接符: 肘形 40"/>
          <p:cNvCxnSpPr>
            <a:stCxn id="8" idx="0"/>
            <a:endCxn id="7" idx="2"/>
          </p:cNvCxnSpPr>
          <p:nvPr/>
        </p:nvCxnSpPr>
        <p:spPr>
          <a:xfrm rot="5400000" flipH="1" flipV="1">
            <a:off x="10380848" y="2548933"/>
            <a:ext cx="440055" cy="771440"/>
          </a:xfrm>
          <a:prstGeom prst="bentConnector3">
            <a:avLst/>
          </a:prstGeom>
          <a:ln w="12700">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5" name="矩形: 圆角 6"/>
          <p:cNvSpPr/>
          <p:nvPr/>
        </p:nvSpPr>
        <p:spPr>
          <a:xfrm>
            <a:off x="9627074" y="1778000"/>
            <a:ext cx="1169125" cy="300536"/>
          </a:xfrm>
          <a:prstGeom prst="roundRect">
            <a:avLst/>
          </a:prstGeom>
          <a:solidFill>
            <a:schemeClr val="accent2">
              <a:lumMod val="20000"/>
              <a:lumOff val="80000"/>
            </a:schemeClr>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rPr>
              <a:t>Concat</a:t>
            </a:r>
            <a:endParaRPr lang="zh-CN" altLang="en-US" dirty="0">
              <a:solidFill>
                <a:schemeClr val="tx1"/>
              </a:solidFill>
            </a:endParaRPr>
          </a:p>
        </p:txBody>
      </p:sp>
      <p:sp>
        <p:nvSpPr>
          <p:cNvPr id="57" name="右大括号 56"/>
          <p:cNvSpPr/>
          <p:nvPr/>
        </p:nvSpPr>
        <p:spPr>
          <a:xfrm rot="16200000">
            <a:off x="10074362" y="1446969"/>
            <a:ext cx="213959" cy="1610511"/>
          </a:xfrm>
          <a:prstGeom prst="rightBrace">
            <a:avLst>
              <a:gd name="adj1" fmla="val 39122"/>
              <a:gd name="adj2" fmla="val 50896"/>
            </a:avLst>
          </a:prstGeom>
          <a:noFill/>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59" name="组合 58"/>
          <p:cNvGrpSpPr/>
          <p:nvPr/>
        </p:nvGrpSpPr>
        <p:grpSpPr>
          <a:xfrm>
            <a:off x="9256402" y="1127287"/>
            <a:ext cx="1899904" cy="236810"/>
            <a:chOff x="9529354" y="5669280"/>
            <a:chExt cx="1899904" cy="236810"/>
          </a:xfrm>
        </p:grpSpPr>
        <p:sp>
          <p:nvSpPr>
            <p:cNvPr id="61" name="矩形 60"/>
            <p:cNvSpPr/>
            <p:nvPr/>
          </p:nvSpPr>
          <p:spPr>
            <a:xfrm>
              <a:off x="9529354" y="5669280"/>
              <a:ext cx="237600" cy="236810"/>
            </a:xfrm>
            <a:prstGeom prst="rect">
              <a:avLst/>
            </a:prstGeom>
            <a:solidFill>
              <a:schemeClr val="accent1">
                <a:lumMod val="20000"/>
                <a:lumOff val="80000"/>
              </a:schemeClr>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nvSpPr>
          <p:spPr>
            <a:xfrm>
              <a:off x="9766730" y="5669280"/>
              <a:ext cx="237600" cy="236810"/>
            </a:xfrm>
            <a:prstGeom prst="rect">
              <a:avLst/>
            </a:prstGeom>
            <a:solidFill>
              <a:schemeClr val="accent1">
                <a:lumMod val="20000"/>
                <a:lumOff val="80000"/>
              </a:schemeClr>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68"/>
            <p:cNvSpPr/>
            <p:nvPr/>
          </p:nvSpPr>
          <p:spPr>
            <a:xfrm>
              <a:off x="10004330" y="5669280"/>
              <a:ext cx="237600" cy="236810"/>
            </a:xfrm>
            <a:prstGeom prst="rect">
              <a:avLst/>
            </a:prstGeom>
            <a:solidFill>
              <a:schemeClr val="accent1">
                <a:lumMod val="20000"/>
                <a:lumOff val="80000"/>
              </a:schemeClr>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p:cNvSpPr/>
            <p:nvPr/>
          </p:nvSpPr>
          <p:spPr>
            <a:xfrm>
              <a:off x="10241706" y="5669280"/>
              <a:ext cx="237600" cy="236810"/>
            </a:xfrm>
            <a:prstGeom prst="rect">
              <a:avLst/>
            </a:prstGeom>
            <a:solidFill>
              <a:schemeClr val="accent1">
                <a:lumMod val="20000"/>
                <a:lumOff val="80000"/>
              </a:schemeClr>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p:cNvSpPr/>
            <p:nvPr/>
          </p:nvSpPr>
          <p:spPr>
            <a:xfrm>
              <a:off x="10479306" y="5669280"/>
              <a:ext cx="237600" cy="236810"/>
            </a:xfrm>
            <a:prstGeom prst="rect">
              <a:avLst/>
            </a:prstGeom>
            <a:solidFill>
              <a:schemeClr val="accent1">
                <a:lumMod val="20000"/>
                <a:lumOff val="80000"/>
              </a:schemeClr>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p:cNvSpPr/>
            <p:nvPr/>
          </p:nvSpPr>
          <p:spPr>
            <a:xfrm>
              <a:off x="10716682" y="5669280"/>
              <a:ext cx="237600" cy="236810"/>
            </a:xfrm>
            <a:prstGeom prst="rect">
              <a:avLst/>
            </a:prstGeom>
            <a:solidFill>
              <a:schemeClr val="accent1">
                <a:lumMod val="20000"/>
                <a:lumOff val="80000"/>
              </a:schemeClr>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p:cNvSpPr/>
            <p:nvPr/>
          </p:nvSpPr>
          <p:spPr>
            <a:xfrm>
              <a:off x="10954282" y="5669280"/>
              <a:ext cx="237600" cy="236810"/>
            </a:xfrm>
            <a:prstGeom prst="rect">
              <a:avLst/>
            </a:prstGeom>
            <a:solidFill>
              <a:schemeClr val="accent1">
                <a:lumMod val="20000"/>
                <a:lumOff val="80000"/>
              </a:schemeClr>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81"/>
            <p:cNvSpPr/>
            <p:nvPr/>
          </p:nvSpPr>
          <p:spPr>
            <a:xfrm>
              <a:off x="11191658" y="5669280"/>
              <a:ext cx="237600" cy="236810"/>
            </a:xfrm>
            <a:prstGeom prst="rect">
              <a:avLst/>
            </a:prstGeom>
            <a:solidFill>
              <a:schemeClr val="accent1">
                <a:lumMod val="20000"/>
                <a:lumOff val="80000"/>
              </a:schemeClr>
            </a:solidFill>
            <a:ln>
              <a:solidFill>
                <a:srgbClr val="05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3" name="直接箭头连接符 82"/>
          <p:cNvCxnSpPr>
            <a:stCxn id="43" idx="0"/>
          </p:cNvCxnSpPr>
          <p:nvPr/>
        </p:nvCxnSpPr>
        <p:spPr>
          <a:xfrm flipH="1" flipV="1">
            <a:off x="10206354" y="1495519"/>
            <a:ext cx="5283" cy="282481"/>
          </a:xfrm>
          <a:prstGeom prst="straightConnector1">
            <a:avLst/>
          </a:prstGeom>
          <a:ln w="127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4" name="文本框 83"/>
          <p:cNvSpPr txBox="1"/>
          <p:nvPr/>
        </p:nvSpPr>
        <p:spPr>
          <a:xfrm>
            <a:off x="9591736" y="738949"/>
            <a:ext cx="1210588" cy="338554"/>
          </a:xfrm>
          <a:prstGeom prst="rect">
            <a:avLst/>
          </a:prstGeom>
          <a:noFill/>
        </p:spPr>
        <p:txBody>
          <a:bodyPr wrap="none" rtlCol="0">
            <a:spAutoFit/>
          </a:bodyPr>
          <a:lstStyle/>
          <a:p>
            <a:r>
              <a:rPr lang="zh-CN" altLang="en-US" sz="1600" dirty="0"/>
              <a:t>注意力结果</a:t>
            </a:r>
            <a:endParaRPr lang="zh-CN" altLang="en-US" sz="1600" dirty="0"/>
          </a:p>
        </p:txBody>
      </p:sp>
    </p:spTree>
    <p:custDataLst>
      <p:tags r:id="rId3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分类任务应用</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5" name="文本框 4"/>
          <p:cNvSpPr txBox="1"/>
          <p:nvPr/>
        </p:nvSpPr>
        <p:spPr>
          <a:xfrm>
            <a:off x="336549" y="982345"/>
            <a:ext cx="11102975" cy="880177"/>
          </a:xfrm>
          <a:prstGeom prst="rect">
            <a:avLst/>
          </a:prstGeom>
          <a:noFill/>
        </p:spPr>
        <p:txBody>
          <a:bodyPr wrap="square" rtlCol="0" anchor="t">
            <a:spAutoFit/>
          </a:bodyPr>
          <a:lstStyle/>
          <a:p>
            <a:pPr indent="457200" defTabSz="1219200">
              <a:lnSpc>
                <a:spcPct val="150000"/>
              </a:lnSpc>
              <a:spcBef>
                <a:spcPts val="600"/>
              </a:spcBef>
              <a:defRPr/>
            </a:pPr>
            <a:r>
              <a:rPr lang="zh-CN" altLang="en-US" dirty="0"/>
              <a:t>无论是文本分类、图像分类还是其他类型的分类任务，</a:t>
            </a:r>
            <a:r>
              <a:rPr lang="en-US" altLang="zh-CN" dirty="0"/>
              <a:t>Transformer</a:t>
            </a:r>
            <a:r>
              <a:rPr lang="zh-CN" altLang="en-US" dirty="0"/>
              <a:t>的全局自注意力机制使其能够捕捉数据中的重要特征，提升分类性能。</a:t>
            </a:r>
            <a:endParaRPr lang="zh-CN" altLang="en-US"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2" name="组合 1"/>
          <p:cNvGrpSpPr/>
          <p:nvPr/>
        </p:nvGrpSpPr>
        <p:grpSpPr>
          <a:xfrm>
            <a:off x="545465" y="2054860"/>
            <a:ext cx="4692650" cy="4450080"/>
            <a:chOff x="859" y="3236"/>
            <a:chExt cx="7390" cy="7008"/>
          </a:xfrm>
        </p:grpSpPr>
        <p:sp>
          <p:nvSpPr>
            <p:cNvPr id="4" name="圆角矩形 7"/>
            <p:cNvSpPr/>
            <p:nvPr/>
          </p:nvSpPr>
          <p:spPr>
            <a:xfrm>
              <a:off x="859" y="3236"/>
              <a:ext cx="7390" cy="7009"/>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6" name="TextBox 8"/>
            <p:cNvSpPr txBox="1"/>
            <p:nvPr/>
          </p:nvSpPr>
          <p:spPr>
            <a:xfrm>
              <a:off x="1350" y="3610"/>
              <a:ext cx="6477" cy="6335"/>
            </a:xfrm>
            <a:prstGeom prst="rect">
              <a:avLst/>
            </a:prstGeom>
            <a:noFill/>
          </p:spPr>
          <p:txBody>
            <a:bodyPr wrap="square" lIns="0" tIns="0" rIns="0" bIns="0" rtlCol="0" anchor="t">
              <a:noAutofit/>
            </a:bodyPr>
            <a:lstStyle/>
            <a:p>
              <a:pPr defTabSz="1219200">
                <a:lnSpc>
                  <a:spcPct val="150000"/>
                </a:lnSpc>
                <a:spcBef>
                  <a:spcPct val="20000"/>
                </a:spcBef>
                <a:buFont typeface="Arial" panose="020B0604020202020204" pitchFamily="34" charset="0"/>
                <a:defRPr/>
              </a:pPr>
              <a:r>
                <a:rPr lang="zh-CN" altLang="en-US" sz="1600" b="1" dirty="0">
                  <a:solidFill>
                    <a:srgbClr val="00568A"/>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文本分类</a:t>
              </a:r>
              <a:endParaRPr lang="en-US" altLang="zh-CN" sz="1600" b="1" dirty="0">
                <a:solidFill>
                  <a:srgbClr val="00568A"/>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在自然语言处理任务中，</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Transformer</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网络被广泛应用于文本分类任务。捕捉文本中各单词之间的关系</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生成上下文感知的表示</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再通过线性分类器将这些表示映射到具体的分类标签上。</a:t>
              </a:r>
              <a:endPar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r>
                <a:rPr lang="zh-CN" altLang="en-US" sz="1600" dirty="0">
                  <a:solidFill>
                    <a:srgbClr val="00568A"/>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图像分类</a:t>
              </a:r>
              <a:endParaRPr lang="en-US" altLang="zh-CN" sz="1600" dirty="0">
                <a:solidFill>
                  <a:srgbClr val="00568A"/>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Vision Transformer(</a:t>
              </a:r>
              <a:r>
                <a:rPr lang="en-US" altLang="zh-CN" sz="1600" dirty="0" err="1">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ViT</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通过将输入图像划分为固定大小的图像块</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(patch),</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并将这些块视为序列</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输入到</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Transformer </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网络中。</a:t>
              </a:r>
              <a:endPar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pic>
        <p:nvPicPr>
          <p:cNvPr id="3" name="图片 2"/>
          <p:cNvPicPr>
            <a:picLocks noChangeAspect="1"/>
          </p:cNvPicPr>
          <p:nvPr/>
        </p:nvPicPr>
        <p:blipFill>
          <a:blip r:embed="rId1"/>
          <a:stretch>
            <a:fillRect/>
          </a:stretch>
        </p:blipFill>
        <p:spPr>
          <a:xfrm>
            <a:off x="5282203" y="2791968"/>
            <a:ext cx="6705600" cy="2768462"/>
          </a:xfrm>
          <a:prstGeom prst="rect">
            <a:avLst/>
          </a:prstGeom>
        </p:spPr>
      </p:pic>
    </p:spTree>
    <p:custDataLst>
      <p:tags r:id="rId2"/>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p:cNvSpPr/>
          <p:nvPr/>
        </p:nvSpPr>
        <p:spPr>
          <a:xfrm>
            <a:off x="787400" y="206480"/>
            <a:ext cx="5194300" cy="583565"/>
          </a:xfrm>
          <a:prstGeom prst="rect">
            <a:avLst/>
          </a:prstGeom>
        </p:spPr>
        <p:txBody>
          <a:bodyPr wrap="square">
            <a:spAutoFit/>
          </a:bodyPr>
          <a:lstStyle/>
          <a:p>
            <a:pPr lvl="0" algn="l">
              <a:buClrTx/>
              <a:buSzTx/>
              <a:buFontTx/>
            </a:pPr>
            <a:r>
              <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rPr>
              <a:t>小结与讨论</a:t>
            </a:r>
            <a:endParaRPr lang="zh-CN" altLang="en-US" sz="3200" b="1" dirty="0">
              <a:latin typeface="思源黑体 CN Regular" panose="020B0500000000000000" charset="-122"/>
              <a:ea typeface="思源黑体 CN Regular" panose="020B0500000000000000" charset="-122"/>
              <a:cs typeface="+mn-ea"/>
              <a:sym typeface="Arial" panose="020B0604020202020204" pitchFamily="34" charset="0"/>
            </a:endParaRPr>
          </a:p>
        </p:txBody>
      </p:sp>
      <p:sp>
        <p:nvSpPr>
          <p:cNvPr id="6" name="文本框 5"/>
          <p:cNvSpPr txBox="1"/>
          <p:nvPr/>
        </p:nvSpPr>
        <p:spPr>
          <a:xfrm>
            <a:off x="336550" y="810895"/>
            <a:ext cx="11131550" cy="1368425"/>
          </a:xfrm>
          <a:prstGeom prst="rect">
            <a:avLst/>
          </a:prstGeom>
          <a:noFill/>
        </p:spPr>
        <p:txBody>
          <a:bodyPr wrap="square" rtlCol="0" anchor="t">
            <a:sp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深度分类器</a:t>
            </a:r>
            <a:endPar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ts val="600"/>
              </a:spcBef>
              <a:buFont typeface="Arial" panose="020B0604020202020204" pitchFamily="34" charset="0"/>
              <a:buChar char="•"/>
              <a:defRPr/>
            </a:pP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卷积神经网络、循环神经网络、</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Transformer </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等模型各具优势，已成为多模态分类的核心工具，但面临数据、算力、可解释性与泛化四大挑战。</a:t>
            </a:r>
            <a:endPar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nvGrpSpPr>
          <p:cNvPr id="2" name="组合 1"/>
          <p:cNvGrpSpPr/>
          <p:nvPr/>
        </p:nvGrpSpPr>
        <p:grpSpPr>
          <a:xfrm>
            <a:off x="1237615" y="2227580"/>
            <a:ext cx="4692650" cy="3489325"/>
            <a:chOff x="859" y="3528"/>
            <a:chExt cx="7390" cy="5495"/>
          </a:xfrm>
        </p:grpSpPr>
        <p:sp>
          <p:nvSpPr>
            <p:cNvPr id="4" name="圆角矩形 7"/>
            <p:cNvSpPr/>
            <p:nvPr/>
          </p:nvSpPr>
          <p:spPr>
            <a:xfrm>
              <a:off x="859" y="3528"/>
              <a:ext cx="7390" cy="5495"/>
            </a:xfrm>
            <a:prstGeom prst="roundRect">
              <a:avLst>
                <a:gd name="adj" fmla="val 9955"/>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3" name="TextBox 8"/>
            <p:cNvSpPr txBox="1"/>
            <p:nvPr/>
          </p:nvSpPr>
          <p:spPr>
            <a:xfrm>
              <a:off x="1350" y="3610"/>
              <a:ext cx="6477" cy="5412"/>
            </a:xfrm>
            <a:prstGeom prst="rect">
              <a:avLst/>
            </a:prstGeom>
            <a:noFill/>
          </p:spPr>
          <p:txBody>
            <a:bodyPr wrap="square" lIns="0" tIns="0" rIns="0" bIns="0" rtlCol="0" anchor="t">
              <a:noAutofit/>
            </a:bodyPr>
            <a:lstStyle/>
            <a:p>
              <a:pPr defTabSz="1219200">
                <a:lnSpc>
                  <a:spcPct val="150000"/>
                </a:lnSpc>
                <a:spcBef>
                  <a:spcPct val="20000"/>
                </a:spcBef>
                <a:buFont typeface="Arial" panose="020B0604020202020204" pitchFamily="34" charset="0"/>
                <a:defRPr/>
              </a:pPr>
              <a:r>
                <a:rPr lang="zh-CN" altLang="en-US" sz="1600" b="1" dirty="0">
                  <a:solidFill>
                    <a:srgbClr val="00568A"/>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深度自编码网络</a:t>
              </a:r>
              <a:endParaRPr lang="en-US" altLang="zh-CN" sz="1600" b="1" dirty="0">
                <a:solidFill>
                  <a:srgbClr val="00568A"/>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无监督表征</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鲁棒高效的特征预处理</a:t>
              </a:r>
              <a:endPar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buFont typeface="Arial" panose="020B0604020202020204" pitchFamily="34" charset="0"/>
                <a:defRPr/>
              </a:pPr>
              <a:r>
                <a:rPr lang="zh-CN" altLang="en-US" sz="1600" b="1" dirty="0">
                  <a:solidFill>
                    <a:srgbClr val="00568A"/>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深度卷积神经网络</a:t>
              </a:r>
              <a:endParaRPr lang="en-US" altLang="zh-CN" sz="1600" b="1" dirty="0">
                <a:solidFill>
                  <a:srgbClr val="00568A"/>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层次化空间特征</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适合图像分类</a:t>
              </a:r>
              <a:endPar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buFont typeface="Arial" panose="020B0604020202020204" pitchFamily="34" charset="0"/>
                <a:defRPr/>
              </a:pPr>
              <a:r>
                <a:rPr lang="zh-CN" altLang="en-US" sz="1600" b="1" dirty="0">
                  <a:solidFill>
                    <a:srgbClr val="00568A"/>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深度循环神经网络</a:t>
              </a:r>
              <a:endParaRPr lang="en-US" altLang="zh-CN" sz="1600" b="1" dirty="0">
                <a:solidFill>
                  <a:srgbClr val="00568A"/>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时序依赖建模</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文本、语音等序列数据</a:t>
              </a:r>
              <a:endPar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buFont typeface="Arial" panose="020B0604020202020204" pitchFamily="34" charset="0"/>
                <a:defRPr/>
              </a:pPr>
              <a:r>
                <a:rPr lang="en-US" altLang="zh-CN" sz="1600" dirty="0">
                  <a:solidFill>
                    <a:srgbClr val="00568A"/>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Transformer</a:t>
              </a:r>
              <a:r>
                <a:rPr lang="zh-CN" altLang="en-US" sz="1600" b="1" dirty="0">
                  <a:solidFill>
                    <a:srgbClr val="00568A"/>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网络</a:t>
              </a:r>
              <a:endParaRPr lang="en-US" altLang="zh-CN" sz="1600" b="1" dirty="0">
                <a:solidFill>
                  <a:srgbClr val="00568A"/>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全局注意力</a:t>
              </a:r>
              <a:r>
                <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并行计算、跨模态优势</a:t>
              </a:r>
              <a:endPar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endParaRPr lang="zh-CN" altLang="en-US"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285750" indent="-285750" defTabSz="1219200">
                <a:lnSpc>
                  <a:spcPct val="150000"/>
                </a:lnSpc>
                <a:spcBef>
                  <a:spcPct val="20000"/>
                </a:spcBef>
                <a:buFont typeface="Arial" panose="020B0604020202020204" pitchFamily="34" charset="0"/>
                <a:buChar char="•"/>
                <a:defRPr/>
              </a:pPr>
              <a:endPar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defTabSz="1219200">
                <a:lnSpc>
                  <a:spcPct val="150000"/>
                </a:lnSpc>
                <a:spcBef>
                  <a:spcPct val="20000"/>
                </a:spcBef>
                <a:defRPr/>
              </a:pPr>
              <a:endParaRPr lang="en-US" altLang="zh-CN" sz="1600" dirty="0">
                <a:solidFill>
                  <a:schemeClr val="bg2">
                    <a:lumMod val="25000"/>
                  </a:schemeClr>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grpSp>
      <p:sp>
        <p:nvSpPr>
          <p:cNvPr id="5" name="文本框 4"/>
          <p:cNvSpPr txBox="1"/>
          <p:nvPr/>
        </p:nvSpPr>
        <p:spPr>
          <a:xfrm>
            <a:off x="6049645" y="2228215"/>
            <a:ext cx="4946650" cy="3488690"/>
          </a:xfrm>
          <a:prstGeom prst="rect">
            <a:avLst/>
          </a:prstGeom>
          <a:noFill/>
        </p:spPr>
        <p:txBody>
          <a:bodyPr wrap="square" rtlCol="0" anchor="t">
            <a:no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四大挑战</a:t>
            </a:r>
            <a:endPar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ts val="600"/>
              </a:spcBef>
              <a:buFont typeface="Arial" panose="020B0604020202020204" pitchFamily="34" charset="0"/>
              <a:buChar char="•"/>
              <a:defRPr/>
            </a:pP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数据需求高：依赖大规模、高质量的标注数据</a:t>
            </a:r>
            <a:endPar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ts val="600"/>
              </a:spcBef>
              <a:buFont typeface="Arial" panose="020B0604020202020204" pitchFamily="34" charset="0"/>
              <a:buChar char="•"/>
              <a:defRPr/>
            </a:pP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计算资源消耗大：资源受限的环境中，部署受到一定限制</a:t>
            </a:r>
            <a:endPar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ts val="600"/>
              </a:spcBef>
              <a:buFont typeface="Arial" panose="020B0604020202020204" pitchFamily="34" charset="0"/>
              <a:buChar char="•"/>
              <a:defRPr/>
            </a:pP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模型可解释性差：被视为</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黑盒</a:t>
            </a: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模型，其决策过程缺乏透明性，且较难理解</a:t>
            </a:r>
            <a:endPar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a:p>
            <a:pPr marL="342900" indent="-342900" defTabSz="1219200">
              <a:lnSpc>
                <a:spcPct val="150000"/>
              </a:lnSpc>
              <a:spcBef>
                <a:spcPts val="600"/>
              </a:spcBef>
              <a:buFont typeface="Arial" panose="020B0604020202020204" pitchFamily="34" charset="0"/>
              <a:buChar char="•"/>
              <a:defRPr/>
            </a:pPr>
            <a:r>
              <a:rPr lang="en-US" altLang="zh-CN"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 </a:t>
            </a:r>
            <a:r>
              <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泛化能力有限：在数据分布差异较大的情况下，模型迁移效果仍可能受限</a:t>
            </a:r>
            <a:endPar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
        <p:nvSpPr>
          <p:cNvPr id="7" name="文本框 6"/>
          <p:cNvSpPr txBox="1"/>
          <p:nvPr/>
        </p:nvSpPr>
        <p:spPr>
          <a:xfrm>
            <a:off x="787400" y="5816600"/>
            <a:ext cx="10882630" cy="752475"/>
          </a:xfrm>
          <a:prstGeom prst="rect">
            <a:avLst/>
          </a:prstGeom>
          <a:noFill/>
        </p:spPr>
        <p:txBody>
          <a:bodyPr wrap="square" rtlCol="0" anchor="t">
            <a:noAutofit/>
          </a:bodyPr>
          <a:lstStyle/>
          <a:p>
            <a:pPr algn="l" defTabSz="1219200" fontAlgn="auto">
              <a:lnSpc>
                <a:spcPct val="150000"/>
              </a:lnSpc>
              <a:spcBef>
                <a:spcPts val="600"/>
              </a:spcBef>
              <a:defRPr/>
            </a:pP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未来方向：自监督学习、轻量化部署、可解释</a:t>
            </a:r>
            <a:r>
              <a:rPr lang="en-US" altLang="zh-CN"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AI</a:t>
            </a:r>
            <a:r>
              <a:rPr lang="zh-CN" altLang="en-US" sz="2000" b="1" dirty="0">
                <a:solidFill>
                  <a:schemeClr val="accent1"/>
                </a:solidFill>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rPr>
              <a:t>、跨域泛化、混合架构等</a:t>
            </a:r>
            <a:endParaRPr lang="zh-CN" altLang="en-US" sz="1600" dirty="0">
              <a:latin typeface="思源黑体 CN Regular" panose="020B0500000000000000" charset="-122"/>
              <a:ea typeface="思源黑体 CN Regular" panose="020B0500000000000000" charset="-122"/>
              <a:cs typeface="思源黑体 CN Regular" panose="020B0500000000000000" charset="-122"/>
              <a:sym typeface="Arial" panose="020B0604020202020204" pitchFamily="34" charset="0"/>
            </a:endParaRPr>
          </a:p>
        </p:txBody>
      </p:sp>
    </p:spTree>
    <p:custDataLst>
      <p:tags r:id="rId1"/>
    </p:custDataLst>
  </p:cSld>
  <p:clrMapOvr>
    <a:masterClrMapping/>
  </p:clrMapOvr>
</p:sld>
</file>

<file path=ppt/tags/tag1.xml><?xml version="1.0" encoding="utf-8"?>
<p:tagLst xmlns:p="http://schemas.openxmlformats.org/presentationml/2006/main">
  <p:tag name="ISLIDE.ICON" val="#407207;"/>
</p:tagLst>
</file>

<file path=ppt/tags/tag2.xml><?xml version="1.0" encoding="utf-8"?>
<p:tagLst xmlns:p="http://schemas.openxmlformats.org/presentationml/2006/main">
  <p:tag name="KSO_WM_DIAGRAM_VIRTUALLY_FRAME" val="{&quot;height&quot;:317.7314960629921,&quot;left&quot;:417.32039370078735,&quot;top&quot;:94.5,&quot;width&quot;:359.1841732283465}"/>
</p:tagLst>
</file>

<file path=ppt/tags/tag3.xml><?xml version="1.0" encoding="utf-8"?>
<p:tagLst xmlns:p="http://schemas.openxmlformats.org/presentationml/2006/main">
  <p:tag name="KSO_WM_DIAGRAM_VIRTUALLY_FRAME" val="{&quot;height&quot;:317.7314960629921,&quot;left&quot;:417.32039370078735,&quot;top&quot;:94.5,&quot;width&quot;:359.1841732283465}"/>
</p:tagLst>
</file>

<file path=ppt/tags/tag4.xml><?xml version="1.0" encoding="utf-8"?>
<p:tagLst xmlns:p="http://schemas.openxmlformats.org/presentationml/2006/main">
  <p:tag name="KSO_WM_DIAGRAM_VIRTUALLY_FRAME" val="{&quot;height&quot;:317.7314960629921,&quot;left&quot;:417.32039370078735,&quot;top&quot;:94.5,&quot;width&quot;:359.1841732283465}"/>
</p:tagLst>
</file>

<file path=ppt/tags/tag5.xml><?xml version="1.0" encoding="utf-8"?>
<p:tagLst xmlns:p="http://schemas.openxmlformats.org/presentationml/2006/main">
  <p:tag name="KSO_WM_DIAGRAM_VIRTUALLY_FRAME" val="{&quot;height&quot;:317.7314960629921,&quot;left&quot;:417.32039370078735,&quot;top&quot;:94.5,&quot;width&quot;:359.1841732283465}"/>
</p:tagLst>
</file>

<file path=ppt/tags/tag6.xml><?xml version="1.0" encoding="utf-8"?>
<p:tagLst xmlns:p="http://schemas.openxmlformats.org/presentationml/2006/main">
  <p:tag name="KSO_WM_DIAGRAM_VIRTUALLY_FRAME" val="{&quot;height&quot;:317.7314960629921,&quot;left&quot;:417.32039370078735,&quot;top&quot;:94.5,&quot;width&quot;:359.1841732283465}"/>
</p:tagLst>
</file>

<file path=ppt/tags/tag7.xml><?xml version="1.0" encoding="utf-8"?>
<p:tagLst xmlns:p="http://schemas.openxmlformats.org/presentationml/2006/main">
  <p:tag name="KSO_WM_DIAGRAM_VIRTUALLY_FRAME" val="{&quot;height&quot;:317.7314960629921,&quot;left&quot;:417.32039370078735,&quot;top&quot;:94.5,&quot;width&quot;:359.1841732283465}"/>
</p:tagLst>
</file>

<file path=ppt/tags/tag8.xml><?xml version="1.0" encoding="utf-8"?>
<p:tagLst xmlns:p="http://schemas.openxmlformats.org/presentationml/2006/main">
  <p:tag name="KSO_WM_DIAGRAM_VIRTUALLY_FRAME" val="{&quot;height&quot;:317.7314960629921,&quot;left&quot;:417.32039370078735,&quot;top&quot;:94.5,&quot;width&quot;:359.1841732283465}"/>
</p:tagLst>
</file>

<file path=ppt/tags/tag9.xml><?xml version="1.0" encoding="utf-8"?>
<p:tagLst xmlns:p="http://schemas.openxmlformats.org/presentationml/2006/main">
  <p:tag name="KSO_WM_DIAGRAM_VIRTUALLY_FRAME" val="{&quot;height&quot;:317.7314960629921,&quot;left&quot;:417.32039370078735,&quot;top&quot;:94.5,&quot;width&quot;:359.1841732283465}"/>
</p:tagLst>
</file>

<file path=ppt/tags/tag10.xml><?xml version="1.0" encoding="utf-8"?>
<p:tagLst xmlns:p="http://schemas.openxmlformats.org/presentationml/2006/main">
  <p:tag name="KSO_WM_DIAGRAM_VIRTUALLY_FRAME" val="{&quot;height&quot;:317.7314960629921,&quot;left&quot;:417.32039370078735,&quot;top&quot;:94.5,&quot;width&quot;:359.1841732283465}"/>
</p:tagLst>
</file>

<file path=ppt/tags/tag11.xml><?xml version="1.0" encoding="utf-8"?>
<p:tagLst xmlns:p="http://schemas.openxmlformats.org/presentationml/2006/main">
  <p:tag name="KSO_WM_DIAGRAM_VIRTUALLY_FRAME" val="{&quot;height&quot;:317.7314960629921,&quot;left&quot;:417.32039370078735,&quot;top&quot;:94.5,&quot;width&quot;:359.1841732283465}"/>
</p:tagLst>
</file>

<file path=ppt/tags/tag12.xml><?xml version="1.0" encoding="utf-8"?>
<p:tagLst xmlns:p="http://schemas.openxmlformats.org/presentationml/2006/main">
  <p:tag name="KSO_WM_DIAGRAM_VIRTUALLY_FRAME" val="{&quot;height&quot;:317.7314960629921,&quot;left&quot;:417.32039370078735,&quot;top&quot;:94.5,&quot;width&quot;:359.1841732283465}"/>
</p:tagLst>
</file>

<file path=ppt/tags/tag13.xml><?xml version="1.0" encoding="utf-8"?>
<p:tagLst xmlns:p="http://schemas.openxmlformats.org/presentationml/2006/main">
  <p:tag name="KSO_WM_DIAGRAM_VIRTUALLY_FRAME" val="{&quot;height&quot;:317.7314960629921,&quot;left&quot;:417.32039370078735,&quot;top&quot;:94.5,&quot;width&quot;:359.1841732283465}"/>
</p:tagLst>
</file>

<file path=ppt/tags/tag14.xml><?xml version="1.0" encoding="utf-8"?>
<p:tagLst xmlns:p="http://schemas.openxmlformats.org/presentationml/2006/main">
  <p:tag name="KSO_WM_DIAGRAM_VIRTUALLY_FRAME" val="{&quot;height&quot;:317.7314960629921,&quot;left&quot;:417.32039370078735,&quot;top&quot;:94.5,&quot;width&quot;:359.1841732283465}"/>
</p:tagLst>
</file>

<file path=ppt/tags/tag15.xml><?xml version="1.0" encoding="utf-8"?>
<p:tagLst xmlns:p="http://schemas.openxmlformats.org/presentationml/2006/main">
  <p:tag name="KSO_WM_DIAGRAM_VIRTUALLY_FRAME" val="{&quot;height&quot;:317.7314960629921,&quot;left&quot;:417.32039370078735,&quot;top&quot;:94.5,&quot;width&quot;:359.1841732283465}"/>
</p:tagLst>
</file>

<file path=ppt/tags/tag16.xml><?xml version="1.0" encoding="utf-8"?>
<p:tagLst xmlns:p="http://schemas.openxmlformats.org/presentationml/2006/main">
  <p:tag name="KSO_WM_DIAGRAM_VIRTUALLY_FRAME" val="{&quot;height&quot;:317.7314960629921,&quot;left&quot;:417.32039370078735,&quot;top&quot;:94.5,&quot;width&quot;:359.1841732283465}"/>
</p:tagLst>
</file>

<file path=ppt/tags/tag17.xml><?xml version="1.0" encoding="utf-8"?>
<p:tagLst xmlns:p="http://schemas.openxmlformats.org/presentationml/2006/main">
  <p:tag name="KSO_WM_DIAGRAM_VIRTUALLY_FRAME" val="{&quot;height&quot;:317.7314960629921,&quot;left&quot;:417.32039370078735,&quot;top&quot;:94.5,&quot;width&quot;:359.1841732283465}"/>
</p:tagLst>
</file>

<file path=ppt/tags/tag18.xml><?xml version="1.0" encoding="utf-8"?>
<p:tagLst xmlns:p="http://schemas.openxmlformats.org/presentationml/2006/main">
  <p:tag name="KSO_WM_DIAGRAM_VIRTUALLY_FRAME" val="{&quot;height&quot;:317.7314960629921,&quot;left&quot;:417.32039370078735,&quot;top&quot;:94.5,&quot;width&quot;:359.1841732283465}"/>
</p:tagLst>
</file>

<file path=ppt/tags/tag19.xml><?xml version="1.0" encoding="utf-8"?>
<p:tagLst xmlns:p="http://schemas.openxmlformats.org/presentationml/2006/main">
  <p:tag name="KSO_WM_DIAGRAM_VIRTUALLY_FRAME" val="{&quot;height&quot;:317.7314960629921,&quot;left&quot;:417.32039370078735,&quot;top&quot;:94.5,&quot;width&quot;:359.1841732283465}"/>
</p:tagLst>
</file>

<file path=ppt/tags/tag20.xml><?xml version="1.0" encoding="utf-8"?>
<p:tagLst xmlns:p="http://schemas.openxmlformats.org/presentationml/2006/main">
  <p:tag name="ISLIDE.ICON" val="#407207;"/>
</p:tagLst>
</file>

<file path=ppt/tags/tag21.xml><?xml version="1.0" encoding="utf-8"?>
<p:tagLst xmlns:p="http://schemas.openxmlformats.org/presentationml/2006/main">
  <p:tag name="ISLIDE.ICON" val="#407207;"/>
</p:tagLst>
</file>

<file path=ppt/tags/tag22.xml><?xml version="1.0" encoding="utf-8"?>
<p:tagLst xmlns:p="http://schemas.openxmlformats.org/presentationml/2006/main">
  <p:tag name="ISLIDE.ICON" val="#407207;"/>
</p:tagLst>
</file>

<file path=ppt/tags/tag23.xml><?xml version="1.0" encoding="utf-8"?>
<p:tagLst xmlns:p="http://schemas.openxmlformats.org/presentationml/2006/main">
  <p:tag name="ISLIDE.ICON" val="#407207;"/>
</p:tagLst>
</file>

<file path=ppt/tags/tag24.xml><?xml version="1.0" encoding="utf-8"?>
<p:tagLst xmlns:p="http://schemas.openxmlformats.org/presentationml/2006/main">
  <p:tag name="ISLIDE.ICON" val="#407207;"/>
</p:tagLst>
</file>

<file path=ppt/tags/tag25.xml><?xml version="1.0" encoding="utf-8"?>
<p:tagLst xmlns:p="http://schemas.openxmlformats.org/presentationml/2006/main">
  <p:tag name="ISLIDE.ICON" val="#407207;"/>
</p:tagLst>
</file>

<file path=ppt/tags/tag26.xml><?xml version="1.0" encoding="utf-8"?>
<p:tagLst xmlns:p="http://schemas.openxmlformats.org/presentationml/2006/main">
  <p:tag name="ISLIDE.ICON" val="#407207;"/>
</p:tagLst>
</file>

<file path=ppt/tags/tag27.xml><?xml version="1.0" encoding="utf-8"?>
<p:tagLst xmlns:p="http://schemas.openxmlformats.org/presentationml/2006/main">
  <p:tag name="ISLIDE.ICON" val="#407207;"/>
</p:tagLst>
</file>

<file path=ppt/tags/tag28.xml><?xml version="1.0" encoding="utf-8"?>
<p:tagLst xmlns:p="http://schemas.openxmlformats.org/presentationml/2006/main">
  <p:tag name="ISLIDE.ICON" val="#407207;"/>
</p:tagLst>
</file>

<file path=ppt/tags/tag29.xml><?xml version="1.0" encoding="utf-8"?>
<p:tagLst xmlns:p="http://schemas.openxmlformats.org/presentationml/2006/main">
  <p:tag name="ISLIDE.ICON" val="#407207;"/>
</p:tagLst>
</file>

<file path=ppt/tags/tag30.xml><?xml version="1.0" encoding="utf-8"?>
<p:tagLst xmlns:p="http://schemas.openxmlformats.org/presentationml/2006/main">
  <p:tag name="ISLIDE.ICON" val="#407207;"/>
</p:tagLst>
</file>

<file path=ppt/tags/tag31.xml><?xml version="1.0" encoding="utf-8"?>
<p:tagLst xmlns:p="http://schemas.openxmlformats.org/presentationml/2006/main">
  <p:tag name="ISLIDE.ICON" val="#407207;"/>
</p:tagLst>
</file>

<file path=ppt/tags/tag32.xml><?xml version="1.0" encoding="utf-8"?>
<p:tagLst xmlns:p="http://schemas.openxmlformats.org/presentationml/2006/main">
  <p:tag name="ISLIDE.ICON" val="#407207;"/>
</p:tagLst>
</file>

<file path=ppt/tags/tag33.xml><?xml version="1.0" encoding="utf-8"?>
<p:tagLst xmlns:p="http://schemas.openxmlformats.org/presentationml/2006/main">
  <p:tag name="ISLIDE.ICON" val="#407207;"/>
</p:tagLst>
</file>

<file path=ppt/tags/tag34.xml><?xml version="1.0" encoding="utf-8"?>
<p:tagLst xmlns:p="http://schemas.openxmlformats.org/presentationml/2006/main">
  <p:tag name="ISLIDE.ICON" val="#407207;"/>
</p:tagLst>
</file>

<file path=ppt/tags/tag35.xml><?xml version="1.0" encoding="utf-8"?>
<p:tagLst xmlns:p="http://schemas.openxmlformats.org/presentationml/2006/main">
  <p:tag name="ISLIDE.ICON" val="#407207;"/>
</p:tagLst>
</file>

<file path=ppt/tags/tag36.xml><?xml version="1.0" encoding="utf-8"?>
<p:tagLst xmlns:p="http://schemas.openxmlformats.org/presentationml/2006/main">
  <p:tag name="ISLIDE.ICON" val="#407207;"/>
</p:tagLst>
</file>

<file path=ppt/tags/tag37.xml><?xml version="1.0" encoding="utf-8"?>
<p:tagLst xmlns:p="http://schemas.openxmlformats.org/presentationml/2006/main">
  <p:tag name="ISLIDE.ICON" val="#407207;"/>
</p:tagLst>
</file>

<file path=ppt/tags/tag38.xml><?xml version="1.0" encoding="utf-8"?>
<p:tagLst xmlns:p="http://schemas.openxmlformats.org/presentationml/2006/main">
  <p:tag name="ISLIDE.ICON" val="#407207;"/>
</p:tagLst>
</file>

<file path=ppt/tags/tag39.xml><?xml version="1.0" encoding="utf-8"?>
<p:tagLst xmlns:p="http://schemas.openxmlformats.org/presentationml/2006/main">
  <p:tag name="ISLIDE.ICON" val="#407207;"/>
</p:tagLst>
</file>

<file path=ppt/tags/tag40.xml><?xml version="1.0" encoding="utf-8"?>
<p:tagLst xmlns:p="http://schemas.openxmlformats.org/presentationml/2006/main">
  <p:tag name="ISLIDE.ICON" val="#407207;"/>
</p:tagLst>
</file>

<file path=ppt/tags/tag41.xml><?xml version="1.0" encoding="utf-8"?>
<p:tagLst xmlns:p="http://schemas.openxmlformats.org/presentationml/2006/main">
  <p:tag name="ISLIDE.ICON" val="#407207;"/>
</p:tagLst>
</file>

<file path=ppt/tags/tag42.xml><?xml version="1.0" encoding="utf-8"?>
<p:tagLst xmlns:p="http://schemas.openxmlformats.org/presentationml/2006/main">
  <p:tag name="ISLIDE.ICON" val="#407207;"/>
</p:tagLst>
</file>

<file path=ppt/tags/tag43.xml><?xml version="1.0" encoding="utf-8"?>
<p:tagLst xmlns:p="http://schemas.openxmlformats.org/presentationml/2006/main">
  <p:tag name="ISLIDE.ICON" val="#407207;"/>
</p:tagLst>
</file>

<file path=ppt/tags/tag44.xml><?xml version="1.0" encoding="utf-8"?>
<p:tagLst xmlns:p="http://schemas.openxmlformats.org/presentationml/2006/main">
  <p:tag name="ISLIDE.ICON" val="#407207;"/>
</p:tagLst>
</file>

<file path=ppt/tags/tag45.xml><?xml version="1.0" encoding="utf-8"?>
<p:tagLst xmlns:p="http://schemas.openxmlformats.org/presentationml/2006/main">
  <p:tag name="ISLIDE.ICON" val="#407207;"/>
</p:tagLst>
</file>

<file path=ppt/tags/tag46.xml><?xml version="1.0" encoding="utf-8"?>
<p:tagLst xmlns:p="http://schemas.openxmlformats.org/presentationml/2006/main">
  <p:tag name="ISLIDE.ICON" val="#407207;"/>
</p:tagLst>
</file>

<file path=ppt/tags/tag47.xml><?xml version="1.0" encoding="utf-8"?>
<p:tagLst xmlns:p="http://schemas.openxmlformats.org/presentationml/2006/main">
  <p:tag name="ISLIDE.ICON" val="#407207;"/>
</p:tagLst>
</file>

<file path=ppt/tags/tag48.xml><?xml version="1.0" encoding="utf-8"?>
<p:tagLst xmlns:p="http://schemas.openxmlformats.org/presentationml/2006/main">
  <p:tag name="ISLIDE.ICON" val="#407207;"/>
</p:tagLst>
</file>

<file path=ppt/tags/tag49.xml><?xml version="1.0" encoding="utf-8"?>
<p:tagLst xmlns:p="http://schemas.openxmlformats.org/presentationml/2006/main">
  <p:tag name="ISLIDE.ICON" val="#407207;"/>
</p:tagLst>
</file>

<file path=ppt/tags/tag50.xml><?xml version="1.0" encoding="utf-8"?>
<p:tagLst xmlns:p="http://schemas.openxmlformats.org/presentationml/2006/main">
  <p:tag name="ISLIDE.ICON" val="#407207;"/>
</p:tagLst>
</file>

<file path=ppt/tags/tag51.xml><?xml version="1.0" encoding="utf-8"?>
<p:tagLst xmlns:p="http://schemas.openxmlformats.org/presentationml/2006/main">
  <p:tag name="ISLIDE.ICON" val="#407207;"/>
</p:tagLst>
</file>

<file path=ppt/tags/tag52.xml><?xml version="1.0" encoding="utf-8"?>
<p:tagLst xmlns:p="http://schemas.openxmlformats.org/presentationml/2006/main">
  <p:tag name="ISLIDE.ICON" val="#407207;"/>
</p:tagLst>
</file>

<file path=ppt/tags/tag53.xml><?xml version="1.0" encoding="utf-8"?>
<p:tagLst xmlns:p="http://schemas.openxmlformats.org/presentationml/2006/main">
  <p:tag name="KSO_WPP_MARK_KEY" val="be449126-64c9-4d19-a63f-f572ce796e9d"/>
  <p:tag name="COMMONDATA" val="eyJoZGlkIjoiNTQ0MDc3NzBkNTM1ZjYzYmNhY2VjZGI2NTUwOWI0NjkifQ=="/>
</p:tagLst>
</file>

<file path=ppt/theme/theme1.xml><?xml version="1.0" encoding="utf-8"?>
<a:theme xmlns:a="http://schemas.openxmlformats.org/drawingml/2006/main" name="Office 主题​​">
  <a:themeElements>
    <a:clrScheme name="自定义 351">
      <a:dk1>
        <a:sysClr val="windowText" lastClr="000000"/>
      </a:dk1>
      <a:lt1>
        <a:sysClr val="window" lastClr="FFFFFF"/>
      </a:lt1>
      <a:dk2>
        <a:srgbClr val="44546A"/>
      </a:dk2>
      <a:lt2>
        <a:srgbClr val="E7E6E6"/>
      </a:lt2>
      <a:accent1>
        <a:srgbClr val="00568A"/>
      </a:accent1>
      <a:accent2>
        <a:srgbClr val="006FAE"/>
      </a:accent2>
      <a:accent3>
        <a:srgbClr val="3F3F3F"/>
      </a:accent3>
      <a:accent4>
        <a:srgbClr val="00568A"/>
      </a:accent4>
      <a:accent5>
        <a:srgbClr val="006FAE"/>
      </a:accent5>
      <a:accent6>
        <a:srgbClr val="3F3F3F"/>
      </a:accent6>
      <a:hlink>
        <a:srgbClr val="0563C1"/>
      </a:hlink>
      <a:folHlink>
        <a:srgbClr val="954F72"/>
      </a:folHlink>
    </a:clrScheme>
    <a:fontScheme name="4rqz4uym">
      <a:majorFont>
        <a:latin typeface="思源黑体 CN Regular"/>
        <a:ea typeface="思源黑体 CN Regular"/>
        <a:cs typeface=""/>
      </a:majorFont>
      <a:minorFont>
        <a:latin typeface="思源黑体 CN Regular"/>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Regular"/>
        <a:ea typeface=""/>
        <a:cs typeface=""/>
        <a:font script="Jpan" typeface="游ゴシック"/>
        <a:font script="Hang" typeface="맑은 고딕"/>
        <a:font script="Hans" typeface="思源黑体 CN Regular"/>
        <a:font script="Hant" typeface="新細明體"/>
        <a:font script="Arab" typeface="思源黑体 CN Regular"/>
        <a:font script="Hebr" typeface="思源黑体 CN Regula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Regular"/>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CN Regular"/>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Regular"/>
        <a:ea typeface=""/>
        <a:cs typeface=""/>
        <a:font script="Jpan" typeface="ＭＳ Ｐゴシック"/>
        <a:font script="Hang" typeface="맑은 고딕"/>
        <a:font script="Hans" typeface="思源黑体 CN Regular"/>
        <a:font script="Hant" typeface="新細明體"/>
        <a:font script="Arab" typeface="思源黑体 CN Regular"/>
        <a:font script="Hebr" typeface="思源黑体 CN Regula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Regular"/>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6928</Words>
  <Application>WPS 演示</Application>
  <PresentationFormat>宽屏</PresentationFormat>
  <Paragraphs>369</Paragraphs>
  <Slides>34</Slides>
  <Notes>31</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71</vt:i4>
      </vt:variant>
      <vt:variant>
        <vt:lpstr>幻灯片标题</vt:lpstr>
      </vt:variant>
      <vt:variant>
        <vt:i4>34</vt:i4>
      </vt:variant>
    </vt:vector>
  </HeadingPairs>
  <TitlesOfParts>
    <vt:vector size="112" baseType="lpstr">
      <vt:lpstr>Arial</vt:lpstr>
      <vt:lpstr>宋体</vt:lpstr>
      <vt:lpstr>Wingdings</vt:lpstr>
      <vt:lpstr>思源黑体 CN Regular</vt:lpstr>
      <vt:lpstr>微软雅黑</vt:lpstr>
      <vt:lpstr>Arial Unicode MS</vt:lpstr>
      <vt:lpstr>Office 主题​​</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Equation.KSEE3</vt:lpstr>
      <vt:lpstr>Equation.DSMT4</vt:lpstr>
      <vt:lpstr>Equation.DSMT4</vt:lpstr>
      <vt:lpstr>Equation.DSMT4</vt:lpstr>
      <vt:lpstr>Equation.KSEE3</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张海波</cp:lastModifiedBy>
  <cp:revision>151</cp:revision>
  <dcterms:created xsi:type="dcterms:W3CDTF">2025-12-27T06:12:00Z</dcterms:created>
  <dcterms:modified xsi:type="dcterms:W3CDTF">2026-03-05T06:30:58Z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A5A57468BD904A9492ACE60AE40D743D_13</vt:lpwstr>
  </property>
  <property fmtid="{D5CDD505-2E9C-101B-9397-08002B2CF9AE}" pid="4" name="KSOTemplateUUID">
    <vt:lpwstr>v1.0_mb_8FD/Rqav6PdV2YvimblSqQ==</vt:lpwstr>
  </property>
</Properties>
</file>