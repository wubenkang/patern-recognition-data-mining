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2.xml" ContentType="application/vnd.openxmlformats-officedocument.presentationml.notesSlide+xml"/>
  <Override PartName="/ppt/tags/tag16.xml" ContentType="application/vnd.openxmlformats-officedocument.presentationml.tags+xml"/>
  <Override PartName="/ppt/notesSlides/notesSlide3.xml" ContentType="application/vnd.openxmlformats-officedocument.presentationml.notesSlide+xml"/>
  <Override PartName="/ppt/tags/tag17.xml" ContentType="application/vnd.openxmlformats-officedocument.presentationml.tags+xml"/>
  <Override PartName="/ppt/notesSlides/notesSlide4.xml" ContentType="application/vnd.openxmlformats-officedocument.presentationml.notesSlide+xml"/>
  <Override PartName="/ppt/tags/tag18.xml" ContentType="application/vnd.openxmlformats-officedocument.presentationml.tags+xml"/>
  <Override PartName="/ppt/notesSlides/notesSlide5.xml" ContentType="application/vnd.openxmlformats-officedocument.presentationml.notesSlide+xml"/>
  <Override PartName="/ppt/tags/tag19.xml" ContentType="application/vnd.openxmlformats-officedocument.presentationml.tags+xml"/>
  <Override PartName="/ppt/notesSlides/notesSlide6.xml" ContentType="application/vnd.openxmlformats-officedocument.presentationml.notesSlide+xml"/>
  <Override PartName="/ppt/tags/tag20.xml" ContentType="application/vnd.openxmlformats-officedocument.presentationml.tags+xml"/>
  <Override PartName="/ppt/notesSlides/notesSlide7.xml" ContentType="application/vnd.openxmlformats-officedocument.presentationml.notesSlide+xml"/>
  <Override PartName="/ppt/tags/tag21.xml" ContentType="application/vnd.openxmlformats-officedocument.presentationml.tags+xml"/>
  <Override PartName="/ppt/notesSlides/notesSlide8.xml" ContentType="application/vnd.openxmlformats-officedocument.presentationml.notesSlide+xml"/>
  <Override PartName="/ppt/tags/tag22.xml" ContentType="application/vnd.openxmlformats-officedocument.presentationml.tags+xml"/>
  <Override PartName="/ppt/notesSlides/notesSlide9.xml" ContentType="application/vnd.openxmlformats-officedocument.presentationml.notesSlide+xml"/>
  <Override PartName="/ppt/tags/tag23.xml" ContentType="application/vnd.openxmlformats-officedocument.presentationml.tags+xml"/>
  <Override PartName="/ppt/notesSlides/notesSlide10.xml" ContentType="application/vnd.openxmlformats-officedocument.presentationml.notesSlide+xml"/>
  <Override PartName="/ppt/tags/tag24.xml" ContentType="application/vnd.openxmlformats-officedocument.presentationml.tags+xml"/>
  <Override PartName="/ppt/notesSlides/notesSlide11.xml" ContentType="application/vnd.openxmlformats-officedocument.presentationml.notesSlide+xml"/>
  <Override PartName="/ppt/tags/tag25.xml" ContentType="application/vnd.openxmlformats-officedocument.presentationml.tags+xml"/>
  <Override PartName="/ppt/notesSlides/notesSlide12.xml" ContentType="application/vnd.openxmlformats-officedocument.presentationml.notesSlide+xml"/>
  <Override PartName="/ppt/tags/tag26.xml" ContentType="application/vnd.openxmlformats-officedocument.presentationml.tags+xml"/>
  <Override PartName="/ppt/notesSlides/notesSlide13.xml" ContentType="application/vnd.openxmlformats-officedocument.presentationml.notesSlide+xml"/>
  <Override PartName="/ppt/tags/tag27.xml" ContentType="application/vnd.openxmlformats-officedocument.presentationml.tags+xml"/>
  <Override PartName="/ppt/notesSlides/notesSlide14.xml" ContentType="application/vnd.openxmlformats-officedocument.presentationml.notesSlide+xml"/>
  <Override PartName="/ppt/tags/tag28.xml" ContentType="application/vnd.openxmlformats-officedocument.presentationml.tags+xml"/>
  <Override PartName="/ppt/notesSlides/notesSlide15.xml" ContentType="application/vnd.openxmlformats-officedocument.presentationml.notesSlide+xml"/>
  <Override PartName="/ppt/tags/tag29.xml" ContentType="application/vnd.openxmlformats-officedocument.presentationml.tags+xml"/>
  <Override PartName="/ppt/notesSlides/notesSlide16.xml" ContentType="application/vnd.openxmlformats-officedocument.presentationml.notesSlide+xml"/>
  <Override PartName="/ppt/tags/tag30.xml" ContentType="application/vnd.openxmlformats-officedocument.presentationml.tags+xml"/>
  <Override PartName="/ppt/notesSlides/notesSlide17.xml" ContentType="application/vnd.openxmlformats-officedocument.presentationml.notesSlide+xml"/>
  <Override PartName="/ppt/tags/tag31.xml" ContentType="application/vnd.openxmlformats-officedocument.presentationml.tags+xml"/>
  <Override PartName="/ppt/notesSlides/notesSlide18.xml" ContentType="application/vnd.openxmlformats-officedocument.presentationml.notesSlide+xml"/>
  <Override PartName="/ppt/tags/tag32.xml" ContentType="application/vnd.openxmlformats-officedocument.presentationml.tags+xml"/>
  <Override PartName="/ppt/notesSlides/notesSlide19.xml" ContentType="application/vnd.openxmlformats-officedocument.presentationml.notesSlide+xml"/>
  <Override PartName="/ppt/tags/tag33.xml" ContentType="application/vnd.openxmlformats-officedocument.presentationml.tags+xml"/>
  <Override PartName="/ppt/notesSlides/notesSlide20.xml" ContentType="application/vnd.openxmlformats-officedocument.presentationml.notesSlide+xml"/>
  <Override PartName="/ppt/tags/tag34.xml" ContentType="application/vnd.openxmlformats-officedocument.presentationml.tags+xml"/>
  <Override PartName="/ppt/notesSlides/notesSlide21.xml" ContentType="application/vnd.openxmlformats-officedocument.presentationml.notesSlide+xml"/>
  <Override PartName="/ppt/tags/tag35.xml" ContentType="application/vnd.openxmlformats-officedocument.presentationml.tags+xml"/>
  <Override PartName="/ppt/notesSlides/notesSlide22.xml" ContentType="application/vnd.openxmlformats-officedocument.presentationml.notesSlide+xml"/>
  <Override PartName="/ppt/tags/tag36.xml" ContentType="application/vnd.openxmlformats-officedocument.presentationml.tags+xml"/>
  <Override PartName="/ppt/notesSlides/notesSlide23.xml" ContentType="application/vnd.openxmlformats-officedocument.presentationml.notesSlide+xml"/>
  <Override PartName="/ppt/tags/tag37.xml" ContentType="application/vnd.openxmlformats-officedocument.presentationml.tags+xml"/>
  <Override PartName="/ppt/notesSlides/notesSlide24.xml" ContentType="application/vnd.openxmlformats-officedocument.presentationml.notesSlide+xml"/>
  <Override PartName="/ppt/tags/tag38.xml" ContentType="application/vnd.openxmlformats-officedocument.presentationml.tags+xml"/>
  <Override PartName="/ppt/notesSlides/notesSlide25.xml" ContentType="application/vnd.openxmlformats-officedocument.presentationml.notesSlide+xml"/>
  <Override PartName="/ppt/tags/tag39.xml" ContentType="application/vnd.openxmlformats-officedocument.presentationml.tags+xml"/>
  <Override PartName="/ppt/notesSlides/notesSlide26.xml" ContentType="application/vnd.openxmlformats-officedocument.presentationml.notesSlide+xml"/>
  <Override PartName="/ppt/tags/tag40.xml" ContentType="application/vnd.openxmlformats-officedocument.presentationml.tags+xml"/>
  <Override PartName="/ppt/notesSlides/notesSlide27.xml" ContentType="application/vnd.openxmlformats-officedocument.presentationml.notesSlide+xml"/>
  <Override PartName="/ppt/tags/tag41.xml" ContentType="application/vnd.openxmlformats-officedocument.presentationml.tags+xml"/>
  <Override PartName="/ppt/notesSlides/notesSlide28.xml" ContentType="application/vnd.openxmlformats-officedocument.presentationml.notesSlide+xml"/>
  <Override PartName="/ppt/tags/tag42.xml" ContentType="application/vnd.openxmlformats-officedocument.presentationml.tags+xml"/>
  <Override PartName="/ppt/notesSlides/notesSlide29.xml" ContentType="application/vnd.openxmlformats-officedocument.presentationml.notesSlide+xml"/>
  <Override PartName="/ppt/tags/tag43.xml" ContentType="application/vnd.openxmlformats-officedocument.presentationml.tags+xml"/>
  <Override PartName="/ppt/notesSlides/notesSlide30.xml" ContentType="application/vnd.openxmlformats-officedocument.presentationml.notesSlide+xml"/>
  <Override PartName="/ppt/tags/tag44.xml" ContentType="application/vnd.openxmlformats-officedocument.presentationml.tags+xml"/>
  <Override PartName="/ppt/notesSlides/notesSlide31.xml" ContentType="application/vnd.openxmlformats-officedocument.presentationml.notesSlide+xml"/>
  <Override PartName="/ppt/tags/tag45.xml" ContentType="application/vnd.openxmlformats-officedocument.presentationml.tags+xml"/>
  <Override PartName="/ppt/notesSlides/notesSlide32.xml" ContentType="application/vnd.openxmlformats-officedocument.presentationml.notesSlide+xml"/>
  <Override PartName="/ppt/tags/tag46.xml" ContentType="application/vnd.openxmlformats-officedocument.presentationml.tags+xml"/>
  <Override PartName="/ppt/notesSlides/notesSlide33.xml" ContentType="application/vnd.openxmlformats-officedocument.presentationml.notesSlide+xml"/>
  <Override PartName="/ppt/tags/tag47.xml" ContentType="application/vnd.openxmlformats-officedocument.presentationml.tags+xml"/>
  <Override PartName="/ppt/notesSlides/notesSlide34.xml" ContentType="application/vnd.openxmlformats-officedocument.presentationml.notesSlide+xml"/>
  <Override PartName="/ppt/tags/tag48.xml" ContentType="application/vnd.openxmlformats-officedocument.presentationml.tags+xml"/>
  <Override PartName="/ppt/notesSlides/notesSlide35.xml" ContentType="application/vnd.openxmlformats-officedocument.presentationml.notesSlide+xml"/>
  <Override PartName="/ppt/tags/tag49.xml" ContentType="application/vnd.openxmlformats-officedocument.presentationml.tags+xml"/>
  <Override PartName="/ppt/notesSlides/notesSlide36.xml" ContentType="application/vnd.openxmlformats-officedocument.presentationml.notesSlide+xml"/>
  <Override PartName="/ppt/tags/tag50.xml" ContentType="application/vnd.openxmlformats-officedocument.presentationml.tags+xml"/>
  <Override PartName="/ppt/notesSlides/notesSlide37.xml" ContentType="application/vnd.openxmlformats-officedocument.presentationml.notesSlide+xml"/>
  <Override PartName="/ppt/tags/tag51.xml" ContentType="application/vnd.openxmlformats-officedocument.presentationml.tags+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0"/>
  </p:notesMasterIdLst>
  <p:handoutMasterIdLst>
    <p:handoutMasterId r:id="rId41"/>
  </p:handoutMasterIdLst>
  <p:sldIdLst>
    <p:sldId id="256" r:id="rId2"/>
    <p:sldId id="257" r:id="rId3"/>
    <p:sldId id="303" r:id="rId4"/>
    <p:sldId id="315" r:id="rId5"/>
    <p:sldId id="316" r:id="rId6"/>
    <p:sldId id="317" r:id="rId7"/>
    <p:sldId id="318" r:id="rId8"/>
    <p:sldId id="319" r:id="rId9"/>
    <p:sldId id="320" r:id="rId10"/>
    <p:sldId id="321" r:id="rId11"/>
    <p:sldId id="322" r:id="rId12"/>
    <p:sldId id="323" r:id="rId13"/>
    <p:sldId id="324" r:id="rId14"/>
    <p:sldId id="335" r:id="rId15"/>
    <p:sldId id="334" r:id="rId16"/>
    <p:sldId id="325" r:id="rId17"/>
    <p:sldId id="336" r:id="rId18"/>
    <p:sldId id="326" r:id="rId19"/>
    <p:sldId id="327" r:id="rId20"/>
    <p:sldId id="328" r:id="rId21"/>
    <p:sldId id="329" r:id="rId22"/>
    <p:sldId id="330" r:id="rId23"/>
    <p:sldId id="331" r:id="rId24"/>
    <p:sldId id="332" r:id="rId25"/>
    <p:sldId id="333" r:id="rId26"/>
    <p:sldId id="266" r:id="rId27"/>
    <p:sldId id="301" r:id="rId28"/>
    <p:sldId id="308" r:id="rId29"/>
    <p:sldId id="311" r:id="rId30"/>
    <p:sldId id="309" r:id="rId31"/>
    <p:sldId id="312" r:id="rId32"/>
    <p:sldId id="310" r:id="rId33"/>
    <p:sldId id="304" r:id="rId34"/>
    <p:sldId id="306" r:id="rId35"/>
    <p:sldId id="313" r:id="rId36"/>
    <p:sldId id="314" r:id="rId37"/>
    <p:sldId id="305" r:id="rId38"/>
    <p:sldId id="300" r:id="rId39"/>
  </p:sldIdLst>
  <p:sldSz cx="12192000" cy="6858000"/>
  <p:notesSz cx="6858000" cy="9144000"/>
  <p:embeddedFontLst>
    <p:embeddedFont>
      <p:font typeface="思源黑体 CN Regular" panose="020B0500000000000000"/>
      <p:regular r:id="rId42"/>
    </p:embeddedFont>
    <p:embeddedFont>
      <p:font typeface="Cambria Math" panose="02040503050406030204" pitchFamily="18" charset="0"/>
      <p:regular r:id="rId43"/>
    </p:embeddedFont>
  </p:embeddedFontLst>
  <p:custDataLst>
    <p:tags r:id="rId4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5B0F0"/>
    <a:srgbClr val="006FAE"/>
    <a:srgbClr val="00568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41" autoAdjust="0"/>
    <p:restoredTop sz="94682"/>
  </p:normalViewPr>
  <p:slideViewPr>
    <p:cSldViewPr snapToGrid="0">
      <p:cViewPr varScale="1">
        <p:scale>
          <a:sx n="119" d="100"/>
          <a:sy n="119" d="100"/>
        </p:scale>
        <p:origin x="52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思源黑体 CN Regular" panose="020B0500000000000000" charset="-122"/>
              <a:ea typeface="思源黑体 CN Regular" panose="020B0500000000000000" charset="-122"/>
              <a:cs typeface="思源黑体 CN Regular" panose="020B0500000000000000"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cs typeface="思源黑体 CN Regular" panose="020B0500000000000000" charset="-122"/>
              </a:rPr>
              <a:t>2026/5/10</a:t>
            </a:fld>
            <a:endParaRPr lang="zh-CN" altLang="en-US">
              <a:cs typeface="思源黑体 CN Regular" panose="020B0500000000000000"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思源黑体 CN Regular" panose="020B0500000000000000" charset="-122"/>
              <a:ea typeface="思源黑体 CN Regular" panose="020B0500000000000000" charset="-122"/>
              <a:cs typeface="思源黑体 CN Regular" panose="020B0500000000000000"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cs typeface="思源黑体 CN Regular" panose="020B0500000000000000" charset="-122"/>
              </a:rPr>
              <a:t>‹#›</a:t>
            </a:fld>
            <a:endParaRPr lang="zh-CN" altLang="en-US">
              <a:cs typeface="思源黑体 CN Regular" panose="020B0500000000000000"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黑体 CN Regular" panose="020B0500000000000000" charset="-122"/>
                <a:ea typeface="思源黑体 CN Regular" panose="020B0500000000000000" charset="-122"/>
                <a:cs typeface="思源黑体 CN Regular" panose="020B0500000000000000"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黑体 CN Regular" panose="020B0500000000000000" charset="-122"/>
                <a:ea typeface="思源黑体 CN Regular" panose="020B0500000000000000" charset="-122"/>
                <a:cs typeface="思源黑体 CN Regular" panose="020B0500000000000000" charset="-122"/>
              </a:defRPr>
            </a:lvl1pPr>
          </a:lstStyle>
          <a:p>
            <a:fld id="{AC6BB1A7-0D1B-4F2D-B557-917D931FD804}" type="datetimeFigureOut">
              <a:rPr lang="zh-CN" altLang="en-US" smtClean="0"/>
              <a:t>2026/5/10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黑体 CN Regular" panose="020B0500000000000000" charset="-122"/>
                <a:ea typeface="思源黑体 CN Regular" panose="020B0500000000000000" charset="-122"/>
                <a:cs typeface="思源黑体 CN Regular" panose="020B0500000000000000"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黑体 CN Regular" panose="020B0500000000000000" charset="-122"/>
                <a:ea typeface="思源黑体 CN Regular" panose="020B0500000000000000" charset="-122"/>
                <a:cs typeface="思源黑体 CN Regular" panose="020B0500000000000000" charset="-122"/>
              </a:defRPr>
            </a:lvl1pPr>
          </a:lstStyle>
          <a:p>
            <a:fld id="{24E404EE-387A-4429-A950-C98FCE955E02}"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1pPr>
    <a:lvl2pPr marL="45720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2pPr>
    <a:lvl3pPr marL="91440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3pPr>
    <a:lvl4pPr marL="137160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4pPr>
    <a:lvl5pPr marL="182880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4E404EE-387A-4429-A950-C98FCE955E02}"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t>38</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2E8E436A-E919-4421-9BC7-04029FF8AF7D}" type="datetimeFigureOut">
              <a:rPr lang="zh-CN" altLang="en-US" smtClean="0"/>
              <a:t>2026/5/10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29329AE-01FF-4B06-A12C-DAE64B6F6607}"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黑体 CN Regular" panose="020B0500000000000000" charset="-122"/>
                <a:ea typeface="思源黑体 CN Regular" panose="020B0500000000000000" charset="-122"/>
                <a:cs typeface="思源黑体 CN Regular" panose="020B0500000000000000" charset="-122"/>
              </a:defRPr>
            </a:lvl1pPr>
          </a:lstStyle>
          <a:p>
            <a:fld id="{2E8E436A-E919-4421-9BC7-04029FF8AF7D}" type="datetimeFigureOut">
              <a:rPr lang="zh-CN" altLang="en-US" smtClean="0"/>
              <a:t>2026/5/10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黑体 CN Regular" panose="020B0500000000000000" charset="-122"/>
                <a:ea typeface="思源黑体 CN Regular" panose="020B0500000000000000" charset="-122"/>
                <a:cs typeface="思源黑体 CN Regular" panose="020B0500000000000000"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黑体 CN Regular" panose="020B0500000000000000" charset="-122"/>
                <a:ea typeface="思源黑体 CN Regular" panose="020B0500000000000000" charset="-122"/>
                <a:cs typeface="思源黑体 CN Regular" panose="020B0500000000000000" charset="-122"/>
              </a:defRPr>
            </a:lvl1pPr>
          </a:lstStyle>
          <a:p>
            <a:fld id="{B29329AE-01FF-4B06-A12C-DAE64B6F6607}" type="slidenum">
              <a:rPr lang="zh-CN" altLang="en-US" smtClean="0"/>
              <a:t>‹#›</a:t>
            </a:fld>
            <a:endParaRPr lang="zh-CN" altLang="en-US"/>
          </a:p>
        </p:txBody>
      </p:sp>
      <p:grpSp>
        <p:nvGrpSpPr>
          <p:cNvPr id="7" name="组合 6"/>
          <p:cNvGrpSpPr/>
          <p:nvPr userDrawn="1"/>
        </p:nvGrpSpPr>
        <p:grpSpPr>
          <a:xfrm>
            <a:off x="0" y="0"/>
            <a:ext cx="12192000" cy="6858000"/>
            <a:chOff x="0" y="0"/>
            <a:chExt cx="12192000" cy="6858000"/>
          </a:xfrm>
        </p:grpSpPr>
        <p:grpSp>
          <p:nvGrpSpPr>
            <p:cNvPr id="8" name="组合 7"/>
            <p:cNvGrpSpPr/>
            <p:nvPr/>
          </p:nvGrpSpPr>
          <p:grpSpPr>
            <a:xfrm rot="16200000">
              <a:off x="2667000" y="-2667000"/>
              <a:ext cx="6858000" cy="12192000"/>
              <a:chOff x="0" y="0"/>
              <a:chExt cx="12192000" cy="6858000"/>
            </a:xfrm>
          </p:grpSpPr>
          <p:pic>
            <p:nvPicPr>
              <p:cNvPr id="10" name="图片 9"/>
              <p:cNvPicPr>
                <a:picLocks noChangeAspect="1"/>
              </p:cNvPicPr>
              <p:nvPr/>
            </p:nvPicPr>
            <p:blipFill rotWithShape="1">
              <a:blip r:embed="rId3">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11" name="图片 10"/>
              <p:cNvPicPr>
                <a:picLocks noChangeAspect="1"/>
              </p:cNvPicPr>
              <p:nvPr/>
            </p:nvPicPr>
            <p:blipFill rotWithShape="1">
              <a:blip r:embed="rId3">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9" name="矩形 8"/>
            <p:cNvSpPr/>
            <p:nvPr/>
          </p:nvSpPr>
          <p:spPr>
            <a:xfrm>
              <a:off x="50800" y="29138"/>
              <a:ext cx="12090400" cy="6800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思源黑体 CN Regular" panose="020B0500000000000000" charset="-122"/>
                <a:ea typeface="思源黑体 CN Regular" panose="020B0500000000000000" charset="-122"/>
                <a:cs typeface="思源黑体 CN Regular" panose="020B0500000000000000" charset="-122"/>
              </a:endParaRPr>
            </a:p>
          </p:txBody>
        </p:sp>
      </p:grpSp>
      <p:grpSp>
        <p:nvGrpSpPr>
          <p:cNvPr id="12" name="组合 11"/>
          <p:cNvGrpSpPr/>
          <p:nvPr userDrawn="1"/>
        </p:nvGrpSpPr>
        <p:grpSpPr>
          <a:xfrm>
            <a:off x="215427" y="228549"/>
            <a:ext cx="526193" cy="526193"/>
            <a:chOff x="5643770" y="2158950"/>
            <a:chExt cx="904461" cy="904461"/>
          </a:xfrm>
        </p:grpSpPr>
        <p:sp>
          <p:nvSpPr>
            <p:cNvPr id="13" name="椭圆 12"/>
            <p:cNvSpPr/>
            <p:nvPr/>
          </p:nvSpPr>
          <p:spPr>
            <a:xfrm>
              <a:off x="5643770" y="2158950"/>
              <a:ext cx="904461" cy="904461"/>
            </a:xfrm>
            <a:prstGeom prst="ellipse">
              <a:avLst/>
            </a:prstGeom>
            <a:solidFill>
              <a:srgbClr val="006F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Regular" panose="020B0500000000000000" charset="-122"/>
                <a:ea typeface="思源黑体 CN Regular" panose="020B0500000000000000" charset="-122"/>
                <a:cs typeface="思源黑体 CN Regular" panose="020B0500000000000000" charset="-122"/>
              </a:endParaRPr>
            </a:p>
          </p:txBody>
        </p:sp>
        <p:sp>
          <p:nvSpPr>
            <p:cNvPr id="14" name="Oval 14"/>
            <p:cNvSpPr/>
            <p:nvPr/>
          </p:nvSpPr>
          <p:spPr>
            <a:xfrm>
              <a:off x="5825435" y="2359230"/>
              <a:ext cx="541130" cy="503901"/>
            </a:xfrm>
            <a:custGeom>
              <a:avLst/>
              <a:gdLst>
                <a:gd name="T0" fmla="*/ 8052 w 11204"/>
                <a:gd name="T1" fmla="*/ 701 h 10433"/>
                <a:gd name="T2" fmla="*/ 7702 w 11204"/>
                <a:gd name="T3" fmla="*/ 6 h 10433"/>
                <a:gd name="T4" fmla="*/ 7352 w 11204"/>
                <a:gd name="T5" fmla="*/ 701 h 10433"/>
                <a:gd name="T6" fmla="*/ 3854 w 11204"/>
                <a:gd name="T7" fmla="*/ 353 h 10433"/>
                <a:gd name="T8" fmla="*/ 3504 w 11204"/>
                <a:gd name="T9" fmla="*/ 6 h 10433"/>
                <a:gd name="T10" fmla="*/ 3154 w 11204"/>
                <a:gd name="T11" fmla="*/ 353 h 10433"/>
                <a:gd name="T12" fmla="*/ 1755 w 11204"/>
                <a:gd name="T13" fmla="*/ 701 h 10433"/>
                <a:gd name="T14" fmla="*/ 5 w 11204"/>
                <a:gd name="T15" fmla="*/ 2438 h 10433"/>
                <a:gd name="T16" fmla="*/ 513 w 11204"/>
                <a:gd name="T17" fmla="*/ 9925 h 10433"/>
                <a:gd name="T18" fmla="*/ 9450 w 11204"/>
                <a:gd name="T19" fmla="*/ 10428 h 10433"/>
                <a:gd name="T20" fmla="*/ 11200 w 11204"/>
                <a:gd name="T21" fmla="*/ 8691 h 10433"/>
                <a:gd name="T22" fmla="*/ 10693 w 11204"/>
                <a:gd name="T23" fmla="*/ 1205 h 10433"/>
                <a:gd name="T24" fmla="*/ 707 w 11204"/>
                <a:gd name="T25" fmla="*/ 2438 h 10433"/>
                <a:gd name="T26" fmla="*/ 3155 w 11204"/>
                <a:gd name="T27" fmla="*/ 1396 h 10433"/>
                <a:gd name="T28" fmla="*/ 3252 w 11204"/>
                <a:gd name="T29" fmla="*/ 1996 h 10433"/>
                <a:gd name="T30" fmla="*/ 3759 w 11204"/>
                <a:gd name="T31" fmla="*/ 1996 h 10433"/>
                <a:gd name="T32" fmla="*/ 3855 w 11204"/>
                <a:gd name="T33" fmla="*/ 1396 h 10433"/>
                <a:gd name="T34" fmla="*/ 7353 w 11204"/>
                <a:gd name="T35" fmla="*/ 1743 h 10433"/>
                <a:gd name="T36" fmla="*/ 7950 w 11204"/>
                <a:gd name="T37" fmla="*/ 1990 h 10433"/>
                <a:gd name="T38" fmla="*/ 8053 w 11204"/>
                <a:gd name="T39" fmla="*/ 1396 h 10433"/>
                <a:gd name="T40" fmla="*/ 10500 w 11204"/>
                <a:gd name="T41" fmla="*/ 2438 h 10433"/>
                <a:gd name="T42" fmla="*/ 707 w 11204"/>
                <a:gd name="T43" fmla="*/ 3480 h 10433"/>
                <a:gd name="T44" fmla="*/ 10499 w 11204"/>
                <a:gd name="T45" fmla="*/ 8691 h 10433"/>
                <a:gd name="T46" fmla="*/ 1757 w 11204"/>
                <a:gd name="T47" fmla="*/ 9733 h 10433"/>
                <a:gd name="T48" fmla="*/ 707 w 11204"/>
                <a:gd name="T49" fmla="*/ 4175 h 10433"/>
                <a:gd name="T50" fmla="*/ 10499 w 11204"/>
                <a:gd name="T51" fmla="*/ 8691 h 10433"/>
                <a:gd name="T52" fmla="*/ 2504 w 11204"/>
                <a:gd name="T53" fmla="*/ 8691 h 10433"/>
                <a:gd name="T54" fmla="*/ 3202 w 11204"/>
                <a:gd name="T55" fmla="*/ 7996 h 10433"/>
                <a:gd name="T56" fmla="*/ 2502 w 11204"/>
                <a:gd name="T57" fmla="*/ 7301 h 10433"/>
                <a:gd name="T58" fmla="*/ 1802 w 11204"/>
                <a:gd name="T59" fmla="*/ 7996 h 10433"/>
                <a:gd name="T60" fmla="*/ 2504 w 11204"/>
                <a:gd name="T61" fmla="*/ 8691 h 10433"/>
                <a:gd name="T62" fmla="*/ 2991 w 11204"/>
                <a:gd name="T63" fmla="*/ 6398 h 10433"/>
                <a:gd name="T64" fmla="*/ 2991 w 11204"/>
                <a:gd name="T65" fmla="*/ 5426 h 10433"/>
                <a:gd name="T66" fmla="*/ 2012 w 11204"/>
                <a:gd name="T67" fmla="*/ 5426 h 10433"/>
                <a:gd name="T68" fmla="*/ 2012 w 11204"/>
                <a:gd name="T69" fmla="*/ 6398 h 10433"/>
                <a:gd name="T70" fmla="*/ 5646 w 11204"/>
                <a:gd name="T71" fmla="*/ 8691 h 10433"/>
                <a:gd name="T72" fmla="*/ 6136 w 11204"/>
                <a:gd name="T73" fmla="*/ 7510 h 10433"/>
                <a:gd name="T74" fmla="*/ 5156 w 11204"/>
                <a:gd name="T75" fmla="*/ 7510 h 10433"/>
                <a:gd name="T76" fmla="*/ 5156 w 11204"/>
                <a:gd name="T77" fmla="*/ 8482 h 10433"/>
                <a:gd name="T78" fmla="*/ 5646 w 11204"/>
                <a:gd name="T79" fmla="*/ 6606 h 10433"/>
                <a:gd name="T80" fmla="*/ 6139 w 11204"/>
                <a:gd name="T81" fmla="*/ 5426 h 10433"/>
                <a:gd name="T82" fmla="*/ 5159 w 11204"/>
                <a:gd name="T83" fmla="*/ 5426 h 10433"/>
                <a:gd name="T84" fmla="*/ 5154 w 11204"/>
                <a:gd name="T85" fmla="*/ 6398 h 10433"/>
                <a:gd name="T86" fmla="*/ 8630 w 11204"/>
                <a:gd name="T87" fmla="*/ 8691 h 10433"/>
                <a:gd name="T88" fmla="*/ 9330 w 11204"/>
                <a:gd name="T89" fmla="*/ 7996 h 10433"/>
                <a:gd name="T90" fmla="*/ 8630 w 11204"/>
                <a:gd name="T91" fmla="*/ 7301 h 10433"/>
                <a:gd name="T92" fmla="*/ 7930 w 11204"/>
                <a:gd name="T93" fmla="*/ 7996 h 10433"/>
                <a:gd name="T94" fmla="*/ 8630 w 11204"/>
                <a:gd name="T95" fmla="*/ 8691 h 10433"/>
                <a:gd name="T96" fmla="*/ 9329 w 11204"/>
                <a:gd name="T97" fmla="*/ 5912 h 10433"/>
                <a:gd name="T98" fmla="*/ 8629 w 11204"/>
                <a:gd name="T99" fmla="*/ 5217 h 10433"/>
                <a:gd name="T100" fmla="*/ 7929 w 11204"/>
                <a:gd name="T101" fmla="*/ 5912 h 10433"/>
                <a:gd name="T102" fmla="*/ 8630 w 11204"/>
                <a:gd name="T103" fmla="*/ 6606 h 10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1204" h="10433">
                  <a:moveTo>
                    <a:pt x="9450" y="701"/>
                  </a:moveTo>
                  <a:lnTo>
                    <a:pt x="8052" y="701"/>
                  </a:lnTo>
                  <a:lnTo>
                    <a:pt x="8052" y="353"/>
                  </a:lnTo>
                  <a:cubicBezTo>
                    <a:pt x="8052" y="161"/>
                    <a:pt x="7895" y="6"/>
                    <a:pt x="7702" y="6"/>
                  </a:cubicBezTo>
                  <a:cubicBezTo>
                    <a:pt x="7509" y="6"/>
                    <a:pt x="7353" y="161"/>
                    <a:pt x="7352" y="353"/>
                  </a:cubicBezTo>
                  <a:lnTo>
                    <a:pt x="7352" y="701"/>
                  </a:lnTo>
                  <a:lnTo>
                    <a:pt x="3854" y="701"/>
                  </a:lnTo>
                  <a:lnTo>
                    <a:pt x="3854" y="353"/>
                  </a:lnTo>
                  <a:cubicBezTo>
                    <a:pt x="3860" y="260"/>
                    <a:pt x="3825" y="167"/>
                    <a:pt x="3758" y="101"/>
                  </a:cubicBezTo>
                  <a:cubicBezTo>
                    <a:pt x="3690" y="35"/>
                    <a:pt x="3598" y="0"/>
                    <a:pt x="3504" y="6"/>
                  </a:cubicBezTo>
                  <a:cubicBezTo>
                    <a:pt x="3410" y="0"/>
                    <a:pt x="3318" y="35"/>
                    <a:pt x="3250" y="101"/>
                  </a:cubicBezTo>
                  <a:cubicBezTo>
                    <a:pt x="3184" y="167"/>
                    <a:pt x="3149" y="260"/>
                    <a:pt x="3154" y="353"/>
                  </a:cubicBezTo>
                  <a:lnTo>
                    <a:pt x="3154" y="701"/>
                  </a:lnTo>
                  <a:lnTo>
                    <a:pt x="1755" y="701"/>
                  </a:lnTo>
                  <a:cubicBezTo>
                    <a:pt x="1290" y="696"/>
                    <a:pt x="843" y="877"/>
                    <a:pt x="513" y="1205"/>
                  </a:cubicBezTo>
                  <a:cubicBezTo>
                    <a:pt x="184" y="1531"/>
                    <a:pt x="2" y="1975"/>
                    <a:pt x="5" y="2438"/>
                  </a:cubicBezTo>
                  <a:lnTo>
                    <a:pt x="5" y="8691"/>
                  </a:lnTo>
                  <a:cubicBezTo>
                    <a:pt x="0" y="9153"/>
                    <a:pt x="184" y="9598"/>
                    <a:pt x="513" y="9925"/>
                  </a:cubicBezTo>
                  <a:cubicBezTo>
                    <a:pt x="843" y="10252"/>
                    <a:pt x="1290" y="10433"/>
                    <a:pt x="1755" y="10428"/>
                  </a:cubicBezTo>
                  <a:lnTo>
                    <a:pt x="9450" y="10428"/>
                  </a:lnTo>
                  <a:cubicBezTo>
                    <a:pt x="9915" y="10433"/>
                    <a:pt x="10363" y="10252"/>
                    <a:pt x="10693" y="9925"/>
                  </a:cubicBezTo>
                  <a:cubicBezTo>
                    <a:pt x="11022" y="9598"/>
                    <a:pt x="11204" y="9155"/>
                    <a:pt x="11200" y="8691"/>
                  </a:cubicBezTo>
                  <a:lnTo>
                    <a:pt x="11200" y="2438"/>
                  </a:lnTo>
                  <a:cubicBezTo>
                    <a:pt x="11204" y="1976"/>
                    <a:pt x="11022" y="1531"/>
                    <a:pt x="10693" y="1205"/>
                  </a:cubicBezTo>
                  <a:cubicBezTo>
                    <a:pt x="10362" y="878"/>
                    <a:pt x="9915" y="697"/>
                    <a:pt x="9450" y="701"/>
                  </a:cubicBezTo>
                  <a:close/>
                  <a:moveTo>
                    <a:pt x="707" y="2438"/>
                  </a:moveTo>
                  <a:cubicBezTo>
                    <a:pt x="720" y="1868"/>
                    <a:pt x="1183" y="1410"/>
                    <a:pt x="1757" y="1396"/>
                  </a:cubicBezTo>
                  <a:lnTo>
                    <a:pt x="3155" y="1396"/>
                  </a:lnTo>
                  <a:lnTo>
                    <a:pt x="3155" y="1743"/>
                  </a:lnTo>
                  <a:cubicBezTo>
                    <a:pt x="3149" y="1837"/>
                    <a:pt x="3184" y="1930"/>
                    <a:pt x="3252" y="1996"/>
                  </a:cubicBezTo>
                  <a:cubicBezTo>
                    <a:pt x="3319" y="2062"/>
                    <a:pt x="3410" y="2097"/>
                    <a:pt x="3505" y="2091"/>
                  </a:cubicBezTo>
                  <a:cubicBezTo>
                    <a:pt x="3599" y="2097"/>
                    <a:pt x="3692" y="2062"/>
                    <a:pt x="3759" y="1996"/>
                  </a:cubicBezTo>
                  <a:cubicBezTo>
                    <a:pt x="3827" y="1930"/>
                    <a:pt x="3862" y="1837"/>
                    <a:pt x="3855" y="1743"/>
                  </a:cubicBezTo>
                  <a:lnTo>
                    <a:pt x="3855" y="1396"/>
                  </a:lnTo>
                  <a:lnTo>
                    <a:pt x="7353" y="1396"/>
                  </a:lnTo>
                  <a:lnTo>
                    <a:pt x="7353" y="1743"/>
                  </a:lnTo>
                  <a:cubicBezTo>
                    <a:pt x="7353" y="1936"/>
                    <a:pt x="7509" y="2091"/>
                    <a:pt x="7703" y="2091"/>
                  </a:cubicBezTo>
                  <a:cubicBezTo>
                    <a:pt x="7795" y="2091"/>
                    <a:pt x="7884" y="2055"/>
                    <a:pt x="7950" y="1990"/>
                  </a:cubicBezTo>
                  <a:cubicBezTo>
                    <a:pt x="8015" y="1925"/>
                    <a:pt x="8053" y="1836"/>
                    <a:pt x="8053" y="1743"/>
                  </a:cubicBezTo>
                  <a:lnTo>
                    <a:pt x="8053" y="1396"/>
                  </a:lnTo>
                  <a:lnTo>
                    <a:pt x="9452" y="1396"/>
                  </a:lnTo>
                  <a:cubicBezTo>
                    <a:pt x="10025" y="1410"/>
                    <a:pt x="10486" y="1868"/>
                    <a:pt x="10500" y="2438"/>
                  </a:cubicBezTo>
                  <a:lnTo>
                    <a:pt x="10500" y="3480"/>
                  </a:lnTo>
                  <a:lnTo>
                    <a:pt x="707" y="3480"/>
                  </a:lnTo>
                  <a:lnTo>
                    <a:pt x="707" y="2438"/>
                  </a:lnTo>
                  <a:close/>
                  <a:moveTo>
                    <a:pt x="10499" y="8691"/>
                  </a:moveTo>
                  <a:cubicBezTo>
                    <a:pt x="10485" y="9261"/>
                    <a:pt x="10023" y="9718"/>
                    <a:pt x="9450" y="9733"/>
                  </a:cubicBezTo>
                  <a:lnTo>
                    <a:pt x="1757" y="9733"/>
                  </a:lnTo>
                  <a:cubicBezTo>
                    <a:pt x="1183" y="9720"/>
                    <a:pt x="720" y="9261"/>
                    <a:pt x="707" y="8691"/>
                  </a:cubicBezTo>
                  <a:lnTo>
                    <a:pt x="707" y="4175"/>
                  </a:lnTo>
                  <a:lnTo>
                    <a:pt x="10500" y="4175"/>
                  </a:lnTo>
                  <a:lnTo>
                    <a:pt x="10499" y="8691"/>
                  </a:lnTo>
                  <a:close/>
                  <a:moveTo>
                    <a:pt x="10499" y="8691"/>
                  </a:moveTo>
                  <a:close/>
                  <a:moveTo>
                    <a:pt x="2504" y="8691"/>
                  </a:moveTo>
                  <a:cubicBezTo>
                    <a:pt x="2689" y="8696"/>
                    <a:pt x="2868" y="8620"/>
                    <a:pt x="2991" y="8482"/>
                  </a:cubicBezTo>
                  <a:cubicBezTo>
                    <a:pt x="3125" y="8356"/>
                    <a:pt x="3202" y="8179"/>
                    <a:pt x="3202" y="7996"/>
                  </a:cubicBezTo>
                  <a:cubicBezTo>
                    <a:pt x="3202" y="7812"/>
                    <a:pt x="3125" y="7636"/>
                    <a:pt x="2991" y="7510"/>
                  </a:cubicBezTo>
                  <a:cubicBezTo>
                    <a:pt x="2864" y="7376"/>
                    <a:pt x="2687" y="7301"/>
                    <a:pt x="2502" y="7301"/>
                  </a:cubicBezTo>
                  <a:cubicBezTo>
                    <a:pt x="2316" y="7301"/>
                    <a:pt x="2140" y="7376"/>
                    <a:pt x="2012" y="7510"/>
                  </a:cubicBezTo>
                  <a:cubicBezTo>
                    <a:pt x="1878" y="7636"/>
                    <a:pt x="1802" y="7812"/>
                    <a:pt x="1802" y="7996"/>
                  </a:cubicBezTo>
                  <a:cubicBezTo>
                    <a:pt x="1802" y="8179"/>
                    <a:pt x="1878" y="8356"/>
                    <a:pt x="2012" y="8482"/>
                  </a:cubicBezTo>
                  <a:cubicBezTo>
                    <a:pt x="2137" y="8621"/>
                    <a:pt x="2317" y="8697"/>
                    <a:pt x="2504" y="8691"/>
                  </a:cubicBezTo>
                  <a:close/>
                  <a:moveTo>
                    <a:pt x="2504" y="6606"/>
                  </a:moveTo>
                  <a:cubicBezTo>
                    <a:pt x="2689" y="6611"/>
                    <a:pt x="2868" y="6535"/>
                    <a:pt x="2991" y="6398"/>
                  </a:cubicBezTo>
                  <a:cubicBezTo>
                    <a:pt x="3118" y="6267"/>
                    <a:pt x="3193" y="6095"/>
                    <a:pt x="3202" y="5912"/>
                  </a:cubicBezTo>
                  <a:cubicBezTo>
                    <a:pt x="3194" y="5730"/>
                    <a:pt x="3119" y="5557"/>
                    <a:pt x="2991" y="5426"/>
                  </a:cubicBezTo>
                  <a:cubicBezTo>
                    <a:pt x="2864" y="5292"/>
                    <a:pt x="2687" y="5217"/>
                    <a:pt x="2502" y="5217"/>
                  </a:cubicBezTo>
                  <a:cubicBezTo>
                    <a:pt x="2316" y="5217"/>
                    <a:pt x="2139" y="5292"/>
                    <a:pt x="2012" y="5426"/>
                  </a:cubicBezTo>
                  <a:cubicBezTo>
                    <a:pt x="1885" y="5557"/>
                    <a:pt x="1810" y="5730"/>
                    <a:pt x="1802" y="5912"/>
                  </a:cubicBezTo>
                  <a:cubicBezTo>
                    <a:pt x="1810" y="6095"/>
                    <a:pt x="1884" y="6267"/>
                    <a:pt x="2012" y="6398"/>
                  </a:cubicBezTo>
                  <a:cubicBezTo>
                    <a:pt x="2137" y="6536"/>
                    <a:pt x="2317" y="6612"/>
                    <a:pt x="2504" y="6606"/>
                  </a:cubicBezTo>
                  <a:close/>
                  <a:moveTo>
                    <a:pt x="5646" y="8691"/>
                  </a:moveTo>
                  <a:cubicBezTo>
                    <a:pt x="5929" y="8695"/>
                    <a:pt x="6185" y="8526"/>
                    <a:pt x="6294" y="8265"/>
                  </a:cubicBezTo>
                  <a:cubicBezTo>
                    <a:pt x="6401" y="8005"/>
                    <a:pt x="6339" y="7705"/>
                    <a:pt x="6136" y="7510"/>
                  </a:cubicBezTo>
                  <a:cubicBezTo>
                    <a:pt x="6009" y="7376"/>
                    <a:pt x="5831" y="7301"/>
                    <a:pt x="5646" y="7301"/>
                  </a:cubicBezTo>
                  <a:cubicBezTo>
                    <a:pt x="5461" y="7301"/>
                    <a:pt x="5284" y="7376"/>
                    <a:pt x="5156" y="7510"/>
                  </a:cubicBezTo>
                  <a:cubicBezTo>
                    <a:pt x="5023" y="7636"/>
                    <a:pt x="4946" y="7812"/>
                    <a:pt x="4946" y="7996"/>
                  </a:cubicBezTo>
                  <a:cubicBezTo>
                    <a:pt x="4946" y="8179"/>
                    <a:pt x="5023" y="8356"/>
                    <a:pt x="5156" y="8482"/>
                  </a:cubicBezTo>
                  <a:cubicBezTo>
                    <a:pt x="5281" y="8621"/>
                    <a:pt x="5461" y="8696"/>
                    <a:pt x="5646" y="8691"/>
                  </a:cubicBezTo>
                  <a:close/>
                  <a:moveTo>
                    <a:pt x="5646" y="6606"/>
                  </a:moveTo>
                  <a:cubicBezTo>
                    <a:pt x="6030" y="6598"/>
                    <a:pt x="6339" y="6292"/>
                    <a:pt x="6349" y="5912"/>
                  </a:cubicBezTo>
                  <a:cubicBezTo>
                    <a:pt x="6340" y="5730"/>
                    <a:pt x="6267" y="5557"/>
                    <a:pt x="6139" y="5426"/>
                  </a:cubicBezTo>
                  <a:cubicBezTo>
                    <a:pt x="6012" y="5292"/>
                    <a:pt x="5834" y="5217"/>
                    <a:pt x="5649" y="5217"/>
                  </a:cubicBezTo>
                  <a:cubicBezTo>
                    <a:pt x="5464" y="5217"/>
                    <a:pt x="5288" y="5292"/>
                    <a:pt x="5159" y="5426"/>
                  </a:cubicBezTo>
                  <a:cubicBezTo>
                    <a:pt x="5032" y="5557"/>
                    <a:pt x="4958" y="5730"/>
                    <a:pt x="4949" y="5912"/>
                  </a:cubicBezTo>
                  <a:cubicBezTo>
                    <a:pt x="4957" y="6093"/>
                    <a:pt x="5029" y="6266"/>
                    <a:pt x="5154" y="6398"/>
                  </a:cubicBezTo>
                  <a:cubicBezTo>
                    <a:pt x="5280" y="6536"/>
                    <a:pt x="5460" y="6612"/>
                    <a:pt x="5646" y="6606"/>
                  </a:cubicBezTo>
                  <a:close/>
                  <a:moveTo>
                    <a:pt x="8630" y="8691"/>
                  </a:moveTo>
                  <a:cubicBezTo>
                    <a:pt x="8817" y="8696"/>
                    <a:pt x="8995" y="8620"/>
                    <a:pt x="9120" y="8482"/>
                  </a:cubicBezTo>
                  <a:cubicBezTo>
                    <a:pt x="9254" y="8356"/>
                    <a:pt x="9330" y="8179"/>
                    <a:pt x="9330" y="7996"/>
                  </a:cubicBezTo>
                  <a:cubicBezTo>
                    <a:pt x="9330" y="7812"/>
                    <a:pt x="9254" y="7636"/>
                    <a:pt x="9120" y="7510"/>
                  </a:cubicBezTo>
                  <a:cubicBezTo>
                    <a:pt x="8993" y="7376"/>
                    <a:pt x="8815" y="7301"/>
                    <a:pt x="8630" y="7301"/>
                  </a:cubicBezTo>
                  <a:cubicBezTo>
                    <a:pt x="8445" y="7301"/>
                    <a:pt x="8268" y="7376"/>
                    <a:pt x="8140" y="7510"/>
                  </a:cubicBezTo>
                  <a:cubicBezTo>
                    <a:pt x="8003" y="7633"/>
                    <a:pt x="7925" y="7811"/>
                    <a:pt x="7930" y="7996"/>
                  </a:cubicBezTo>
                  <a:cubicBezTo>
                    <a:pt x="7939" y="8178"/>
                    <a:pt x="8013" y="8351"/>
                    <a:pt x="8140" y="8482"/>
                  </a:cubicBezTo>
                  <a:cubicBezTo>
                    <a:pt x="8265" y="8620"/>
                    <a:pt x="8444" y="8696"/>
                    <a:pt x="8630" y="8691"/>
                  </a:cubicBezTo>
                  <a:close/>
                  <a:moveTo>
                    <a:pt x="8630" y="6606"/>
                  </a:moveTo>
                  <a:cubicBezTo>
                    <a:pt x="9013" y="6597"/>
                    <a:pt x="9320" y="6291"/>
                    <a:pt x="9329" y="5912"/>
                  </a:cubicBezTo>
                  <a:cubicBezTo>
                    <a:pt x="9320" y="5730"/>
                    <a:pt x="9247" y="5557"/>
                    <a:pt x="9119" y="5426"/>
                  </a:cubicBezTo>
                  <a:cubicBezTo>
                    <a:pt x="8992" y="5292"/>
                    <a:pt x="8814" y="5217"/>
                    <a:pt x="8629" y="5217"/>
                  </a:cubicBezTo>
                  <a:cubicBezTo>
                    <a:pt x="8444" y="5217"/>
                    <a:pt x="8267" y="5292"/>
                    <a:pt x="8139" y="5426"/>
                  </a:cubicBezTo>
                  <a:cubicBezTo>
                    <a:pt x="8013" y="5557"/>
                    <a:pt x="7938" y="5730"/>
                    <a:pt x="7929" y="5912"/>
                  </a:cubicBezTo>
                  <a:cubicBezTo>
                    <a:pt x="7938" y="6095"/>
                    <a:pt x="8012" y="6267"/>
                    <a:pt x="8139" y="6398"/>
                  </a:cubicBezTo>
                  <a:cubicBezTo>
                    <a:pt x="8265" y="6536"/>
                    <a:pt x="8444" y="6612"/>
                    <a:pt x="8630" y="6606"/>
                  </a:cubicBezTo>
                  <a:close/>
                  <a:moveTo>
                    <a:pt x="8630" y="6606"/>
                  </a:move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思源黑体 CN Regular" panose="020B0500000000000000" charset="-122"/>
                <a:ea typeface="思源黑体 CN Regular" panose="020B0500000000000000" charset="-122"/>
                <a:cs typeface="思源黑体 CN Regular" panose="020B0500000000000000" charset="-122"/>
              </a:endParaRPr>
            </a:p>
          </p:txBody>
        </p:sp>
      </p:gr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tags" Target="../tags/tag10.xml"/><Relationship Id="rId13" Type="http://schemas.openxmlformats.org/officeDocument/2006/relationships/tags" Target="../tags/tag15.xml"/><Relationship Id="rId3" Type="http://schemas.openxmlformats.org/officeDocument/2006/relationships/tags" Target="../tags/tag5.xml"/><Relationship Id="rId7" Type="http://schemas.openxmlformats.org/officeDocument/2006/relationships/tags" Target="../tags/tag9.xml"/><Relationship Id="rId12" Type="http://schemas.openxmlformats.org/officeDocument/2006/relationships/tags" Target="../tags/tag14.xml"/><Relationship Id="rId2" Type="http://schemas.openxmlformats.org/officeDocument/2006/relationships/tags" Target="../tags/tag4.xml"/><Relationship Id="rId16" Type="http://schemas.openxmlformats.org/officeDocument/2006/relationships/image" Target="../media/image1.png"/><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tags" Target="../tags/tag13.xml"/><Relationship Id="rId5" Type="http://schemas.openxmlformats.org/officeDocument/2006/relationships/tags" Target="../tags/tag7.xml"/><Relationship Id="rId15" Type="http://schemas.openxmlformats.org/officeDocument/2006/relationships/notesSlide" Target="../notesSlides/notesSlide2.xml"/><Relationship Id="rId10" Type="http://schemas.openxmlformats.org/officeDocument/2006/relationships/tags" Target="../tags/tag12.xml"/><Relationship Id="rId4" Type="http://schemas.openxmlformats.org/officeDocument/2006/relationships/tags" Target="../tags/tag6.xml"/><Relationship Id="rId9" Type="http://schemas.openxmlformats.org/officeDocument/2006/relationships/tags" Target="../tags/tag11.xml"/><Relationship Id="rId14"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16.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17.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18.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9.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20.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2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22.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2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24.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25.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ags" Target="../tags/tag26.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image" Target="../media/image17.png"/><Relationship Id="rId2" Type="http://schemas.openxmlformats.org/officeDocument/2006/relationships/slideLayout" Target="../slideLayouts/slideLayout1.xml"/><Relationship Id="rId1" Type="http://schemas.openxmlformats.org/officeDocument/2006/relationships/tags" Target="../tags/tag2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tags" Target="../tags/tag28.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tags" Target="../tags/tag29.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tags" Target="../tags/tag30.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tags" Target="../tags/tag31.xml"/><Relationship Id="rId5" Type="http://schemas.openxmlformats.org/officeDocument/2006/relationships/image" Target="../media/image2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tags" Target="../tags/tag32.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tags" Target="../tags/tag33.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tags" Target="../tags/tag34.xml"/><Relationship Id="rId5" Type="http://schemas.openxmlformats.org/officeDocument/2006/relationships/image" Target="../media/image26.png"/><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tags" Target="../tags/tag35.xml"/><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tags" Target="../tags/tag36.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tags" Target="../tags/tag37.xml"/><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tags" Target="../tags/tag38.xml"/><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tags" Target="../tags/tag39.xml"/><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tags" Target="../tags/tag40.xml"/></Relationships>
</file>

<file path=ppt/slides/_rels/slide28.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notesSlide" Target="../notesSlides/notesSlide28.xml"/><Relationship Id="rId7" Type="http://schemas.openxmlformats.org/officeDocument/2006/relationships/image" Target="../media/image34.png"/><Relationship Id="rId2" Type="http://schemas.openxmlformats.org/officeDocument/2006/relationships/slideLayout" Target="../slideLayouts/slideLayout1.xml"/><Relationship Id="rId1" Type="http://schemas.openxmlformats.org/officeDocument/2006/relationships/tags" Target="../tags/tag4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 Id="rId9" Type="http://schemas.openxmlformats.org/officeDocument/2006/relationships/image" Target="../media/image36.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tags" Target="../tags/tag4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tags" Target="../tags/tag43.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tags" Target="../tags/tag44.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tags" Target="../tags/tag45.xml"/><Relationship Id="rId5" Type="http://schemas.openxmlformats.org/officeDocument/2006/relationships/image" Target="../media/image38.png"/><Relationship Id="rId4" Type="http://schemas.openxmlformats.org/officeDocument/2006/relationships/image" Target="../media/image37.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xml"/><Relationship Id="rId1" Type="http://schemas.openxmlformats.org/officeDocument/2006/relationships/tags" Target="../tags/tag46.xml"/><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xml"/><Relationship Id="rId1" Type="http://schemas.openxmlformats.org/officeDocument/2006/relationships/tags" Target="../tags/tag47.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xml"/><Relationship Id="rId1" Type="http://schemas.openxmlformats.org/officeDocument/2006/relationships/tags" Target="../tags/tag48.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xml"/><Relationship Id="rId1" Type="http://schemas.openxmlformats.org/officeDocument/2006/relationships/tags" Target="../tags/tag49.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xml"/><Relationship Id="rId1" Type="http://schemas.openxmlformats.org/officeDocument/2006/relationships/tags" Target="../tags/tag50.xml"/><Relationship Id="rId4" Type="http://schemas.openxmlformats.org/officeDocument/2006/relationships/image" Target="../media/image1.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xml"/><Relationship Id="rId1" Type="http://schemas.openxmlformats.org/officeDocument/2006/relationships/tags" Target="../tags/tag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7" name="矩形 16"/>
          <p:cNvSpPr/>
          <p:nvPr/>
        </p:nvSpPr>
        <p:spPr>
          <a:xfrm>
            <a:off x="1621753" y="3328538"/>
            <a:ext cx="8948494" cy="737235"/>
          </a:xfrm>
          <a:prstGeom prst="rect">
            <a:avLst/>
          </a:prstGeom>
        </p:spPr>
        <p:txBody>
          <a:bodyPr wrap="square">
            <a:spAutoFit/>
          </a:bodyPr>
          <a:lstStyle/>
          <a:p>
            <a:pPr algn="ctr">
              <a:lnSpc>
                <a:spcPct val="150000"/>
              </a:lnSpc>
              <a:defRPr/>
            </a:pPr>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第</a:t>
            </a:r>
            <a:r>
              <a:rPr lang="en-US" altLang="zh-CN"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2</a:t>
            </a:r>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章</a:t>
            </a:r>
            <a:r>
              <a:rPr lang="en-US" altLang="zh-CN"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    </a:t>
            </a:r>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数据</a:t>
            </a:r>
          </a:p>
        </p:txBody>
      </p:sp>
      <p:sp>
        <p:nvSpPr>
          <p:cNvPr id="19" name="矩形 18"/>
          <p:cNvSpPr/>
          <p:nvPr/>
        </p:nvSpPr>
        <p:spPr>
          <a:xfrm>
            <a:off x="2912110" y="2776220"/>
            <a:ext cx="6367780" cy="368300"/>
          </a:xfrm>
          <a:prstGeom prst="rect">
            <a:avLst/>
          </a:prstGeom>
        </p:spPr>
        <p:txBody>
          <a:bodyPr wrap="square">
            <a:spAutoFit/>
          </a:bodyPr>
          <a:lstStyle/>
          <a:p>
            <a:pPr algn="dist"/>
            <a:r>
              <a:rPr lang="en-US" altLang="zh-CN"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Pattern Recognition and Data Mining</a:t>
            </a:r>
          </a:p>
        </p:txBody>
      </p:sp>
      <p:sp>
        <p:nvSpPr>
          <p:cNvPr id="28" name="矩形 27"/>
          <p:cNvSpPr/>
          <p:nvPr/>
        </p:nvSpPr>
        <p:spPr>
          <a:xfrm>
            <a:off x="1520327" y="1743492"/>
            <a:ext cx="9151347" cy="1106805"/>
          </a:xfrm>
          <a:prstGeom prst="rect">
            <a:avLst/>
          </a:prstGeom>
        </p:spPr>
        <p:txBody>
          <a:bodyPr wrap="square">
            <a:spAutoFit/>
          </a:bodyPr>
          <a:lstStyle/>
          <a:p>
            <a:pPr algn="ctr"/>
            <a:r>
              <a:rPr lang="zh-CN" altLang="en-US" sz="6600" dirty="0">
                <a:solidFill>
                  <a:srgbClr val="00568A"/>
                </a:solidFill>
                <a:latin typeface="思源黑体 CN Regular" panose="020B0500000000000000" charset="-122"/>
                <a:ea typeface="思源黑体 CN Regular" panose="020B0500000000000000" charset="-122"/>
                <a:cs typeface="+mn-ea"/>
                <a:sym typeface="+mn-lt"/>
              </a:rPr>
              <a:t>模式识别与数据挖掘</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0" y="0"/>
            <a:ext cx="12192000" cy="6858000"/>
            <a:chOff x="0" y="0"/>
            <a:chExt cx="12192000" cy="6858000"/>
          </a:xfrm>
        </p:grpSpPr>
        <p:pic>
          <p:nvPicPr>
            <p:cNvPr id="4" name="图片 3"/>
            <p:cNvPicPr>
              <a:picLocks noChangeAspect="1"/>
            </p:cNvPicPr>
            <p:nvPr/>
          </p:nvPicPr>
          <p:blipFill rotWithShape="1">
            <a:blip r:embed="rId16">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6">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grpSp>
        <p:nvGrpSpPr>
          <p:cNvPr id="29" name="组合 28"/>
          <p:cNvGrpSpPr/>
          <p:nvPr/>
        </p:nvGrpSpPr>
        <p:grpSpPr>
          <a:xfrm>
            <a:off x="1001337" y="2483266"/>
            <a:ext cx="2462530" cy="1322704"/>
            <a:chOff x="1873898" y="1323128"/>
            <a:chExt cx="1670063" cy="897045"/>
          </a:xfrm>
        </p:grpSpPr>
        <p:sp>
          <p:nvSpPr>
            <p:cNvPr id="30" name="椭圆 29"/>
            <p:cNvSpPr/>
            <p:nvPr/>
          </p:nvSpPr>
          <p:spPr>
            <a:xfrm>
              <a:off x="2123668" y="1323128"/>
              <a:ext cx="512352" cy="512352"/>
            </a:xfrm>
            <a:prstGeom prst="ellipse">
              <a:avLst/>
            </a:prstGeom>
            <a:solidFill>
              <a:srgbClr val="00568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solidFill>
                    <a:schemeClr val="bg1"/>
                  </a:solidFill>
                  <a:latin typeface="思源黑体 CN Regular" panose="020B0500000000000000" charset="-122"/>
                  <a:ea typeface="思源黑体 CN Regular" panose="020B0500000000000000" charset="-122"/>
                  <a:cs typeface="+mn-ea"/>
                  <a:sym typeface="Arial" panose="020B0604020202020204" pitchFamily="34" charset="0"/>
                </a:rPr>
                <a:t>目</a:t>
              </a:r>
            </a:p>
          </p:txBody>
        </p:sp>
        <p:sp>
          <p:nvSpPr>
            <p:cNvPr id="31" name="椭圆 30"/>
            <p:cNvSpPr/>
            <p:nvPr/>
          </p:nvSpPr>
          <p:spPr>
            <a:xfrm>
              <a:off x="2636020" y="1323128"/>
              <a:ext cx="512352" cy="512352"/>
            </a:xfrm>
            <a:prstGeom prst="ellipse">
              <a:avLst/>
            </a:prstGeom>
            <a:solidFill>
              <a:srgbClr val="00568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solidFill>
                    <a:schemeClr val="bg1"/>
                  </a:solidFill>
                  <a:latin typeface="思源黑体 CN Regular" panose="020B0500000000000000" charset="-122"/>
                  <a:ea typeface="思源黑体 CN Regular" panose="020B0500000000000000" charset="-122"/>
                  <a:cs typeface="+mn-ea"/>
                  <a:sym typeface="Arial" panose="020B0604020202020204" pitchFamily="34" charset="0"/>
                </a:rPr>
                <a:t>录</a:t>
              </a:r>
            </a:p>
          </p:txBody>
        </p:sp>
        <p:sp>
          <p:nvSpPr>
            <p:cNvPr id="32" name="矩形 31"/>
            <p:cNvSpPr/>
            <p:nvPr/>
          </p:nvSpPr>
          <p:spPr>
            <a:xfrm>
              <a:off x="1873898" y="1740859"/>
              <a:ext cx="1670063" cy="479314"/>
            </a:xfrm>
            <a:prstGeom prst="rect">
              <a:avLst/>
            </a:prstGeom>
          </p:spPr>
          <p:txBody>
            <a:bodyPr vert="horz" wrap="square">
              <a:spAutoFit/>
            </a:bodyPr>
            <a:lstStyle/>
            <a:p>
              <a:r>
                <a:rPr lang="zh-CN" altLang="en-US" sz="4000"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Contents</a:t>
              </a:r>
            </a:p>
          </p:txBody>
        </p:sp>
      </p:grpSp>
      <p:sp>
        <p:nvSpPr>
          <p:cNvPr id="33" name="文本框"/>
          <p:cNvSpPr/>
          <p:nvPr>
            <p:custDataLst>
              <p:tags r:id="rId2"/>
            </p:custDataLst>
          </p:nvPr>
        </p:nvSpPr>
        <p:spPr>
          <a:xfrm>
            <a:off x="4766945" y="1414780"/>
            <a:ext cx="3765608" cy="521970"/>
          </a:xfrm>
          <a:prstGeom prst="rect">
            <a:avLst/>
          </a:prstGeom>
        </p:spPr>
        <p:txBody>
          <a:bodyPr wrap="square">
            <a:spAutoFit/>
          </a:bodyPr>
          <a:lstStyle/>
          <a:p>
            <a:pPr lvl="0"/>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数据基本概念</a:t>
            </a:r>
          </a:p>
        </p:txBody>
      </p:sp>
      <p:sp>
        <p:nvSpPr>
          <p:cNvPr id="34" name="矩形 33"/>
          <p:cNvSpPr/>
          <p:nvPr>
            <p:custDataLst>
              <p:tags r:id="rId3"/>
            </p:custDataLst>
          </p:nvPr>
        </p:nvSpPr>
        <p:spPr>
          <a:xfrm flipH="1">
            <a:off x="4766945" y="1845648"/>
            <a:ext cx="3550472" cy="269241"/>
          </a:xfrm>
          <a:prstGeom prst="rect">
            <a:avLst/>
          </a:prstGeom>
        </p:spPr>
        <p:txBody>
          <a:bodyPr wrap="square">
            <a:spAutoFit/>
          </a:bodyPr>
          <a:lstStyle/>
          <a:p>
            <a:pPr lvl="0">
              <a:lnSpc>
                <a:spcPct val="130000"/>
              </a:lnSpc>
              <a:defRPr/>
            </a:pPr>
            <a:r>
              <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Basic Concepts of Data</a:t>
            </a:r>
          </a:p>
        </p:txBody>
      </p:sp>
      <p:sp>
        <p:nvSpPr>
          <p:cNvPr id="35" name="文本框"/>
          <p:cNvSpPr/>
          <p:nvPr>
            <p:custDataLst>
              <p:tags r:id="rId4"/>
            </p:custDataLst>
          </p:nvPr>
        </p:nvSpPr>
        <p:spPr>
          <a:xfrm>
            <a:off x="4766945" y="2515891"/>
            <a:ext cx="3765608" cy="521970"/>
          </a:xfrm>
          <a:prstGeom prst="rect">
            <a:avLst/>
          </a:prstGeom>
        </p:spPr>
        <p:txBody>
          <a:bodyPr wrap="square">
            <a:spAutoFit/>
          </a:bodyPr>
          <a:lstStyle/>
          <a:p>
            <a:pPr lvl="0"/>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数据采集与处理</a:t>
            </a:r>
          </a:p>
        </p:txBody>
      </p:sp>
      <p:sp>
        <p:nvSpPr>
          <p:cNvPr id="36" name="矩形 35"/>
          <p:cNvSpPr/>
          <p:nvPr>
            <p:custDataLst>
              <p:tags r:id="rId5"/>
            </p:custDataLst>
          </p:nvPr>
        </p:nvSpPr>
        <p:spPr>
          <a:xfrm flipH="1">
            <a:off x="4766945" y="2946759"/>
            <a:ext cx="3550472" cy="269241"/>
          </a:xfrm>
          <a:prstGeom prst="rect">
            <a:avLst/>
          </a:prstGeom>
        </p:spPr>
        <p:txBody>
          <a:bodyPr wrap="square">
            <a:spAutoFit/>
          </a:bodyPr>
          <a:lstStyle/>
          <a:p>
            <a:pPr lvl="0">
              <a:lnSpc>
                <a:spcPct val="130000"/>
              </a:lnSpc>
              <a:defRPr/>
            </a:pPr>
            <a:r>
              <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Data Collection and Processing</a:t>
            </a:r>
          </a:p>
        </p:txBody>
      </p:sp>
      <p:sp>
        <p:nvSpPr>
          <p:cNvPr id="37" name="文本框"/>
          <p:cNvSpPr/>
          <p:nvPr>
            <p:custDataLst>
              <p:tags r:id="rId6"/>
            </p:custDataLst>
          </p:nvPr>
        </p:nvSpPr>
        <p:spPr>
          <a:xfrm>
            <a:off x="4766945" y="3617002"/>
            <a:ext cx="3765608" cy="521970"/>
          </a:xfrm>
          <a:prstGeom prst="rect">
            <a:avLst/>
          </a:prstGeom>
        </p:spPr>
        <p:txBody>
          <a:bodyPr wrap="square">
            <a:spAutoFit/>
          </a:bodyPr>
          <a:lstStyle/>
          <a:p>
            <a:pPr lvl="0"/>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数据可视化</a:t>
            </a:r>
          </a:p>
        </p:txBody>
      </p:sp>
      <p:sp>
        <p:nvSpPr>
          <p:cNvPr id="38" name="矩形 37"/>
          <p:cNvSpPr/>
          <p:nvPr>
            <p:custDataLst>
              <p:tags r:id="rId7"/>
            </p:custDataLst>
          </p:nvPr>
        </p:nvSpPr>
        <p:spPr>
          <a:xfrm flipH="1">
            <a:off x="4766945" y="4047870"/>
            <a:ext cx="3550472" cy="269241"/>
          </a:xfrm>
          <a:prstGeom prst="rect">
            <a:avLst/>
          </a:prstGeom>
        </p:spPr>
        <p:txBody>
          <a:bodyPr wrap="square">
            <a:spAutoFit/>
          </a:bodyPr>
          <a:lstStyle/>
          <a:p>
            <a:pPr lvl="0">
              <a:lnSpc>
                <a:spcPct val="130000"/>
              </a:lnSpc>
              <a:defRPr/>
            </a:pPr>
            <a:r>
              <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Data Visualization</a:t>
            </a:r>
          </a:p>
        </p:txBody>
      </p:sp>
      <p:sp>
        <p:nvSpPr>
          <p:cNvPr id="39" name="文本框"/>
          <p:cNvSpPr/>
          <p:nvPr>
            <p:custDataLst>
              <p:tags r:id="rId8"/>
            </p:custDataLst>
          </p:nvPr>
        </p:nvSpPr>
        <p:spPr>
          <a:xfrm>
            <a:off x="4766945" y="4718112"/>
            <a:ext cx="3765608" cy="521970"/>
          </a:xfrm>
          <a:prstGeom prst="rect">
            <a:avLst/>
          </a:prstGeom>
        </p:spPr>
        <p:txBody>
          <a:bodyPr wrap="square">
            <a:spAutoFit/>
          </a:bodyPr>
          <a:lstStyle/>
          <a:p>
            <a:pPr lvl="0"/>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小结与讨论</a:t>
            </a:r>
          </a:p>
        </p:txBody>
      </p:sp>
      <p:sp>
        <p:nvSpPr>
          <p:cNvPr id="40" name="矩形 39"/>
          <p:cNvSpPr/>
          <p:nvPr>
            <p:custDataLst>
              <p:tags r:id="rId9"/>
            </p:custDataLst>
          </p:nvPr>
        </p:nvSpPr>
        <p:spPr>
          <a:xfrm flipH="1">
            <a:off x="4766945" y="5148980"/>
            <a:ext cx="3550472" cy="269241"/>
          </a:xfrm>
          <a:prstGeom prst="rect">
            <a:avLst/>
          </a:prstGeom>
        </p:spPr>
        <p:txBody>
          <a:bodyPr wrap="square">
            <a:spAutoFit/>
          </a:bodyPr>
          <a:lstStyle/>
          <a:p>
            <a:pPr lvl="0">
              <a:lnSpc>
                <a:spcPct val="130000"/>
              </a:lnSpc>
              <a:defRPr/>
            </a:pPr>
            <a:r>
              <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Summary and Discussion</a:t>
            </a:r>
          </a:p>
        </p:txBody>
      </p:sp>
      <p:sp>
        <p:nvSpPr>
          <p:cNvPr id="41" name="椭圆 40"/>
          <p:cNvSpPr/>
          <p:nvPr>
            <p:custDataLst>
              <p:tags r:id="rId10"/>
            </p:custDataLst>
          </p:nvPr>
        </p:nvSpPr>
        <p:spPr>
          <a:xfrm>
            <a:off x="3970914" y="1414780"/>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01</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42" name="椭圆 41"/>
          <p:cNvSpPr/>
          <p:nvPr>
            <p:custDataLst>
              <p:tags r:id="rId11"/>
            </p:custDataLst>
          </p:nvPr>
        </p:nvSpPr>
        <p:spPr>
          <a:xfrm>
            <a:off x="3970914" y="2515891"/>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02</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43" name="椭圆 42"/>
          <p:cNvSpPr/>
          <p:nvPr>
            <p:custDataLst>
              <p:tags r:id="rId12"/>
            </p:custDataLst>
          </p:nvPr>
        </p:nvSpPr>
        <p:spPr>
          <a:xfrm>
            <a:off x="3970914" y="3617002"/>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03</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44" name="椭圆 43"/>
          <p:cNvSpPr/>
          <p:nvPr>
            <p:custDataLst>
              <p:tags r:id="rId13"/>
            </p:custDataLst>
          </p:nvPr>
        </p:nvSpPr>
        <p:spPr>
          <a:xfrm>
            <a:off x="3970914" y="4718112"/>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04</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4">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4">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1107996"/>
          </a:xfrm>
          <a:prstGeom prst="rect">
            <a:avLst/>
          </a:prstGeom>
        </p:spPr>
        <p:txBody>
          <a:bodyPr wrap="square">
            <a:spAutoFit/>
          </a:bodyPr>
          <a:lstStyle/>
          <a:p>
            <a:pPr algn="ctr">
              <a:buClrTx/>
              <a:buSzTx/>
              <a:buFontTx/>
            </a:pP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数据基本概念</a:t>
            </a: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01</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6946156" cy="395621"/>
          </a:xfrm>
          <a:prstGeom prst="rect">
            <a:avLst/>
          </a:prstGeom>
        </p:spPr>
        <p:txBody>
          <a:bodyPr wrap="square">
            <a:spAutoFit/>
          </a:bodyPr>
          <a:lstStyle/>
          <a:p>
            <a:pPr lvl="0" algn="ctr">
              <a:lnSpc>
                <a:spcPct val="130000"/>
              </a:lnSpc>
              <a:defRPr/>
            </a:pPr>
            <a:r>
              <a:rPr kumimoji="0" lang="en-US" altLang="zh-CN" sz="180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Basic Concepts of Data</a:t>
            </a: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545465" y="1124219"/>
            <a:ext cx="10951210" cy="1707474"/>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数据类型</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数据集</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数据（集）可以定义为数据对象的集合，其中每个数据对象由一个或多个属性描述。</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属性</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：属性（</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attribute</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）表示数据对象的基本特征，其类型是由该属性可能具有的值的集合决定。根据属性值的特点，可以将属性分为四种类型：标称（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nominal</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）、序数（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ordinal</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）、区间（</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interval</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）和比率（</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ratio</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数据基本概念</a:t>
            </a:r>
          </a:p>
        </p:txBody>
      </p:sp>
      <p:graphicFrame>
        <p:nvGraphicFramePr>
          <p:cNvPr id="2" name="Table 1"/>
          <p:cNvGraphicFramePr>
            <a:graphicFrameLocks noGrp="1"/>
          </p:cNvGraphicFramePr>
          <p:nvPr/>
        </p:nvGraphicFramePr>
        <p:xfrm>
          <a:off x="653778" y="2713706"/>
          <a:ext cx="10655844" cy="3277145"/>
        </p:xfrm>
        <a:graphic>
          <a:graphicData uri="http://schemas.openxmlformats.org/drawingml/2006/table">
            <a:tbl>
              <a:tblPr firstRow="1" bandRow="1">
                <a:tableStyleId>{2D5ABB26-0587-4C30-8999-92F81FD0307C}</a:tableStyleId>
              </a:tblPr>
              <a:tblGrid>
                <a:gridCol w="2801463">
                  <a:extLst>
                    <a:ext uri="{9D8B030D-6E8A-4147-A177-3AD203B41FA5}">
                      <a16:colId xmlns:a16="http://schemas.microsoft.com/office/drawing/2014/main" val="20000"/>
                    </a:ext>
                  </a:extLst>
                </a:gridCol>
                <a:gridCol w="985531">
                  <a:extLst>
                    <a:ext uri="{9D8B030D-6E8A-4147-A177-3AD203B41FA5}">
                      <a16:colId xmlns:a16="http://schemas.microsoft.com/office/drawing/2014/main" val="20001"/>
                    </a:ext>
                  </a:extLst>
                </a:gridCol>
                <a:gridCol w="4011483">
                  <a:extLst>
                    <a:ext uri="{9D8B030D-6E8A-4147-A177-3AD203B41FA5}">
                      <a16:colId xmlns:a16="http://schemas.microsoft.com/office/drawing/2014/main" val="20002"/>
                    </a:ext>
                  </a:extLst>
                </a:gridCol>
                <a:gridCol w="2857367">
                  <a:extLst>
                    <a:ext uri="{9D8B030D-6E8A-4147-A177-3AD203B41FA5}">
                      <a16:colId xmlns:a16="http://schemas.microsoft.com/office/drawing/2014/main" val="20003"/>
                    </a:ext>
                  </a:extLst>
                </a:gridCol>
              </a:tblGrid>
              <a:tr h="655429">
                <a:tc gridSpan="2">
                  <a:txBody>
                    <a:bodyPr/>
                    <a:lstStyle/>
                    <a:p>
                      <a:pPr algn="ctr"/>
                      <a:r>
                        <a:rPr lang="en-US" sz="1600" dirty="0" err="1"/>
                        <a:t>属性类型</a:t>
                      </a:r>
                      <a:endParaRPr lang="en-US" sz="1600" dirty="0"/>
                    </a:p>
                  </a:txBody>
                  <a:tcPr anchor="ctr">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sz="1600" dirty="0" err="1"/>
                        <a:t>描述</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1600" dirty="0" err="1"/>
                        <a:t>例子</a:t>
                      </a:r>
                      <a:endParaRPr lang="en-US" sz="1600" dirty="0"/>
                    </a:p>
                  </a:txBody>
                  <a:tcPr anchor="ctr">
                    <a:lnL w="1270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0"/>
                  </a:ext>
                </a:extLst>
              </a:tr>
              <a:tr h="655429">
                <a:tc rowSpan="2">
                  <a:txBody>
                    <a:bodyPr/>
                    <a:lstStyle/>
                    <a:p>
                      <a:pPr algn="ctr"/>
                      <a:r>
                        <a:rPr lang="en-US" sz="1600" dirty="0" err="1"/>
                        <a:t>分类的</a:t>
                      </a:r>
                      <a:r>
                        <a:rPr lang="zh-CN" altLang="en-US" sz="1600" dirty="0"/>
                        <a:t>、定性的</a:t>
                      </a:r>
                      <a:endParaRPr lang="en-US" altLang="zh-CN" sz="1600" dirty="0"/>
                    </a:p>
                    <a:p>
                      <a:pPr algn="ctr"/>
                      <a:r>
                        <a:rPr lang="zh-CN" altLang="en-US" sz="1600" dirty="0"/>
                        <a:t>（不具有数的大部分性质）</a:t>
                      </a:r>
                      <a:endParaRPr lang="en-US" sz="1600"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err="1"/>
                        <a:t>标称</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err="1"/>
                        <a:t>标称属性的值用于标识和区分不同对象的名称</a:t>
                      </a:r>
                      <a:r>
                        <a:rPr lang="zh-CN" altLang="en-US" sz="1600" dirty="0"/>
                        <a:t>，不具有大小或顺序信息</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1600" dirty="0" err="1"/>
                        <a:t>学号</a:t>
                      </a:r>
                      <a:r>
                        <a:rPr lang="zh-CN" altLang="en-US" sz="1600" dirty="0"/>
                        <a:t>、职业、肤色、性别</a:t>
                      </a:r>
                      <a:endParaRPr lang="en-US" sz="16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55429">
                <a:tc vMerge="1">
                  <a:txBody>
                    <a:bodyPr/>
                    <a:lstStyle/>
                    <a:p>
                      <a:endParaRPr lang="zh-CN"/>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err="1"/>
                        <a:t>序数</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err="1"/>
                        <a:t>序数属性的值能够确定对象的相对次序</a:t>
                      </a:r>
                      <a:r>
                        <a:rPr lang="zh-CN" altLang="en-US" sz="1600" dirty="0"/>
                        <a:t>，但不同值之间的间隔大小无法准确衡量</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1600" dirty="0" err="1"/>
                        <a:t>街道号码</a:t>
                      </a:r>
                      <a:r>
                        <a:rPr lang="zh-CN" altLang="en-US" sz="1600" dirty="0"/>
                        <a:t>、满意度、职称</a:t>
                      </a:r>
                      <a:endParaRPr lang="en-US" sz="16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55429">
                <a:tc rowSpan="2">
                  <a:txBody>
                    <a:bodyPr/>
                    <a:lstStyle/>
                    <a:p>
                      <a:pPr algn="ctr"/>
                      <a:r>
                        <a:rPr lang="en-US" sz="1600" dirty="0" err="1"/>
                        <a:t>数值的</a:t>
                      </a:r>
                      <a:r>
                        <a:rPr lang="zh-CN" altLang="en-US" sz="1600" dirty="0"/>
                        <a:t>、定量的</a:t>
                      </a:r>
                      <a:endParaRPr lang="en-US" altLang="zh-CN" sz="1600" dirty="0"/>
                    </a:p>
                    <a:p>
                      <a:pPr algn="ctr"/>
                      <a:r>
                        <a:rPr lang="zh-CN" altLang="en-US" sz="1600" dirty="0"/>
                        <a:t>（具有数的大部分性质）</a:t>
                      </a:r>
                      <a:endParaRPr lang="en-US" sz="1600"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1600" dirty="0" err="1"/>
                        <a:t>区间</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err="1"/>
                        <a:t>区间属性</a:t>
                      </a:r>
                      <a:r>
                        <a:rPr lang="zh-CN" altLang="en-US" sz="1600" dirty="0"/>
                        <a:t>的值存在测量单位，其值之间的差是有意义的</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1600" dirty="0" err="1"/>
                        <a:t>日期</a:t>
                      </a:r>
                      <a:r>
                        <a:rPr lang="zh-CN" altLang="en-US" sz="1600" dirty="0"/>
                        <a:t>、摄氏或华氏温度</a:t>
                      </a:r>
                      <a:endParaRPr lang="en-US" sz="16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655429">
                <a:tc vMerge="1">
                  <a:txBody>
                    <a:bodyPr/>
                    <a:lstStyle/>
                    <a:p>
                      <a:endParaRPr lang="zh-CN"/>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1600" dirty="0" err="1"/>
                        <a:t>比率</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600" dirty="0" err="1"/>
                        <a:t>比率属性的值的差和比率都是有意义的</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1600" dirty="0" err="1"/>
                        <a:t>货币量</a:t>
                      </a:r>
                      <a:r>
                        <a:rPr lang="zh-CN" altLang="en-US" sz="1600" dirty="0"/>
                        <a:t>、年龄、长度、速度</a:t>
                      </a:r>
                      <a:endParaRPr lang="en-US" sz="16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TextBox 3"/>
          <p:cNvSpPr txBox="1"/>
          <p:nvPr/>
        </p:nvSpPr>
        <p:spPr>
          <a:xfrm>
            <a:off x="653778" y="6231539"/>
            <a:ext cx="10655844" cy="461665"/>
          </a:xfrm>
          <a:prstGeom prst="rect">
            <a:avLst/>
          </a:prstGeom>
          <a:noFill/>
        </p:spPr>
        <p:txBody>
          <a:bodyPr wrap="square" rtlCol="0">
            <a:spAutoFit/>
          </a:bodyPr>
          <a:lstStyle/>
          <a:p>
            <a:r>
              <a:rPr lang="zh-CN" altLang="en-US" sz="1200" dirty="0"/>
              <a:t>需要注意的是，表中每种属性类型不仅具有并支持其上方属性类型的所有性质和操作，还拥有其自身特定的操作。然而，对于某种属性类型适用的操作，对其上方的属性类型未必完全适用。</a:t>
            </a:r>
            <a:endParaRPr lang="en-US" sz="1200" dirty="0"/>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545465" y="1124220"/>
            <a:ext cx="10951210" cy="1206026"/>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属性变换</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属性的类型可以通过不改变属性意义的变换来表述。例如，对于性别，我们可以使用编码方式，其中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0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表示女，</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1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表示男，更多信息如下表所示：</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数据基本概念</a:t>
            </a:r>
          </a:p>
        </p:txBody>
      </p:sp>
      <p:graphicFrame>
        <p:nvGraphicFramePr>
          <p:cNvPr id="2" name="Table 1"/>
          <p:cNvGraphicFramePr>
            <a:graphicFrameLocks noGrp="1"/>
          </p:cNvGraphicFramePr>
          <p:nvPr/>
        </p:nvGraphicFramePr>
        <p:xfrm>
          <a:off x="653778" y="2500881"/>
          <a:ext cx="10655844" cy="3444676"/>
        </p:xfrm>
        <a:graphic>
          <a:graphicData uri="http://schemas.openxmlformats.org/drawingml/2006/table">
            <a:tbl>
              <a:tblPr firstRow="1" bandRow="1">
                <a:tableStyleId>{2D5ABB26-0587-4C30-8999-92F81FD0307C}</a:tableStyleId>
              </a:tblPr>
              <a:tblGrid>
                <a:gridCol w="2035503">
                  <a:extLst>
                    <a:ext uri="{9D8B030D-6E8A-4147-A177-3AD203B41FA5}">
                      <a16:colId xmlns:a16="http://schemas.microsoft.com/office/drawing/2014/main" val="20000"/>
                    </a:ext>
                  </a:extLst>
                </a:gridCol>
                <a:gridCol w="1460090">
                  <a:extLst>
                    <a:ext uri="{9D8B030D-6E8A-4147-A177-3AD203B41FA5}">
                      <a16:colId xmlns:a16="http://schemas.microsoft.com/office/drawing/2014/main" val="20001"/>
                    </a:ext>
                  </a:extLst>
                </a:gridCol>
                <a:gridCol w="3141407">
                  <a:extLst>
                    <a:ext uri="{9D8B030D-6E8A-4147-A177-3AD203B41FA5}">
                      <a16:colId xmlns:a16="http://schemas.microsoft.com/office/drawing/2014/main" val="20002"/>
                    </a:ext>
                  </a:extLst>
                </a:gridCol>
                <a:gridCol w="4018844">
                  <a:extLst>
                    <a:ext uri="{9D8B030D-6E8A-4147-A177-3AD203B41FA5}">
                      <a16:colId xmlns:a16="http://schemas.microsoft.com/office/drawing/2014/main" val="20003"/>
                    </a:ext>
                  </a:extLst>
                </a:gridCol>
              </a:tblGrid>
              <a:tr h="655429">
                <a:tc gridSpan="2">
                  <a:txBody>
                    <a:bodyPr/>
                    <a:lstStyle/>
                    <a:p>
                      <a:pPr algn="ctr"/>
                      <a:r>
                        <a:rPr lang="en-US" sz="1600" dirty="0" err="1"/>
                        <a:t>属性类型</a:t>
                      </a:r>
                      <a:endParaRPr lang="en-US" sz="1600" dirty="0"/>
                    </a:p>
                  </a:txBody>
                  <a:tcPr anchor="ctr">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sz="1600" dirty="0" err="1"/>
                        <a:t>变换</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1600" dirty="0" err="1"/>
                        <a:t>注释</a:t>
                      </a:r>
                      <a:endParaRPr lang="en-US" sz="1600" dirty="0"/>
                    </a:p>
                  </a:txBody>
                  <a:tcPr anchor="ctr">
                    <a:lnL w="1270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0"/>
                  </a:ext>
                </a:extLst>
              </a:tr>
              <a:tr h="655429">
                <a:tc rowSpan="2">
                  <a:txBody>
                    <a:bodyPr/>
                    <a:lstStyle/>
                    <a:p>
                      <a:pPr algn="ctr"/>
                      <a:r>
                        <a:rPr lang="zh-CN" altLang="en-US" sz="1600" dirty="0"/>
                        <a:t>分类的</a:t>
                      </a:r>
                      <a:endParaRPr lang="en-US" altLang="zh-CN" sz="1600" dirty="0"/>
                    </a:p>
                    <a:p>
                      <a:pPr algn="ctr"/>
                      <a:r>
                        <a:rPr lang="zh-CN" altLang="en-US" sz="1600" dirty="0"/>
                        <a:t>（定性的）</a:t>
                      </a:r>
                      <a:endParaRPr lang="en-US" altLang="zh-CN" sz="1600"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err="1"/>
                        <a:t>标称</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err="1"/>
                        <a:t>任何一对一变换</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l"/>
                      <a:r>
                        <a:rPr lang="en-US" sz="1600" dirty="0" err="1"/>
                        <a:t>例如</a:t>
                      </a:r>
                      <a:r>
                        <a:rPr lang="zh-CN" altLang="en-US" sz="1600" dirty="0"/>
                        <a:t>，如果所有学生的学号都重新赋值，不会有不同之处</a:t>
                      </a:r>
                      <a:endParaRPr lang="en-US" sz="16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55429">
                <a:tc vMerge="1">
                  <a:txBody>
                    <a:bodyPr/>
                    <a:lstStyle/>
                    <a:p>
                      <a:endParaRPr lang="zh-CN"/>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err="1"/>
                        <a:t>序数</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值的变换保序</a:t>
                      </a:r>
                      <a:r>
                        <a:rPr lang="zh-CN" altLang="en-US" sz="1600" dirty="0"/>
                        <a:t>，即</a:t>
                      </a:r>
                      <a:endParaRPr lang="en-US" altLang="zh-CN" sz="1600" dirty="0"/>
                    </a:p>
                    <a:p>
                      <a:pPr algn="ctr"/>
                      <a:r>
                        <a:rPr lang="zh-CN" altLang="en-US" sz="1600" dirty="0"/>
                        <a:t>新值 </a:t>
                      </a:r>
                      <a:r>
                        <a:rPr lang="en-US" altLang="zh-CN" sz="1600" dirty="0"/>
                        <a:t>=</a:t>
                      </a:r>
                      <a:r>
                        <a:rPr lang="zh-CN" altLang="en-US" sz="1600" dirty="0"/>
                        <a:t> </a:t>
                      </a:r>
                      <a:r>
                        <a:rPr lang="en-US" altLang="zh-CN" sz="1600" i="1" dirty="0">
                          <a:latin typeface="Times New Roman" panose="02020603050405020304" pitchFamily="18" charset="0"/>
                          <a:cs typeface="Times New Roman" panose="02020603050405020304" pitchFamily="18" charset="0"/>
                        </a:rPr>
                        <a:t>f</a:t>
                      </a:r>
                      <a:r>
                        <a:rPr lang="zh-CN" altLang="en-US" sz="1600" i="1" dirty="0">
                          <a:latin typeface="Times New Roman" panose="02020603050405020304" pitchFamily="18" charset="0"/>
                          <a:cs typeface="Times New Roman" panose="02020603050405020304" pitchFamily="18" charset="0"/>
                        </a:rPr>
                        <a:t> </a:t>
                      </a:r>
                      <a:r>
                        <a:rPr lang="en-US" altLang="zh-CN" sz="1600" dirty="0"/>
                        <a:t>(</a:t>
                      </a:r>
                      <a:r>
                        <a:rPr lang="zh-CN" altLang="en-US" sz="1600" dirty="0"/>
                        <a:t>旧值</a:t>
                      </a:r>
                      <a:r>
                        <a:rPr lang="en-US" altLang="zh-CN" sz="1600" dirty="0"/>
                        <a:t>)</a:t>
                      </a:r>
                    </a:p>
                    <a:p>
                      <a:pPr algn="ctr"/>
                      <a:r>
                        <a:rPr lang="en-US" sz="1600" dirty="0" err="1"/>
                        <a:t>其中</a:t>
                      </a:r>
                      <a:r>
                        <a:rPr lang="zh-CN" altLang="en-US" sz="1600" dirty="0"/>
                        <a:t> </a:t>
                      </a:r>
                      <a:r>
                        <a:rPr lang="en-US" altLang="zh-CN" sz="1600" i="1" dirty="0">
                          <a:latin typeface="Times New Roman" panose="02020603050405020304" pitchFamily="18" charset="0"/>
                          <a:cs typeface="Times New Roman" panose="02020603050405020304" pitchFamily="18" charset="0"/>
                        </a:rPr>
                        <a:t>f</a:t>
                      </a:r>
                      <a:r>
                        <a:rPr lang="zh-CN" altLang="en-US" sz="1600" i="1" dirty="0">
                          <a:latin typeface="Times New Roman" panose="02020603050405020304" pitchFamily="18" charset="0"/>
                          <a:cs typeface="Times New Roman" panose="02020603050405020304" pitchFamily="18" charset="0"/>
                        </a:rPr>
                        <a:t> </a:t>
                      </a:r>
                      <a:r>
                        <a:rPr lang="zh-CN" altLang="en-US" sz="1600" i="0" dirty="0">
                          <a:latin typeface="Times New Roman" panose="02020603050405020304" pitchFamily="18" charset="0"/>
                          <a:cs typeface="Times New Roman" panose="02020603050405020304" pitchFamily="18" charset="0"/>
                        </a:rPr>
                        <a:t>是单调函数</a:t>
                      </a:r>
                      <a:endParaRPr lang="en-US" sz="1600" i="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l"/>
                      <a:r>
                        <a:rPr lang="en-US" sz="1600" dirty="0" err="1"/>
                        <a:t>例如</a:t>
                      </a:r>
                      <a:r>
                        <a:rPr lang="zh-CN" altLang="en-US" sz="1600" dirty="0"/>
                        <a:t>，包含很不满意、不太满意、一般、满意、十分满意的属性可以完全等价地用值 </a:t>
                      </a:r>
                      <a:r>
                        <a:rPr lang="en-US" altLang="zh-CN" sz="1600" dirty="0"/>
                        <a:t>{0,</a:t>
                      </a:r>
                      <a:r>
                        <a:rPr lang="zh-CN" altLang="en-US" sz="1600" dirty="0"/>
                        <a:t> </a:t>
                      </a:r>
                      <a:r>
                        <a:rPr lang="en-US" altLang="zh-CN" sz="1600" dirty="0"/>
                        <a:t>1,</a:t>
                      </a:r>
                      <a:r>
                        <a:rPr lang="zh-CN" altLang="en-US" sz="1600" dirty="0"/>
                        <a:t> </a:t>
                      </a:r>
                      <a:r>
                        <a:rPr lang="en-US" altLang="zh-CN" sz="1600" dirty="0"/>
                        <a:t>2,</a:t>
                      </a:r>
                      <a:r>
                        <a:rPr lang="zh-CN" altLang="en-US" sz="1600" dirty="0"/>
                        <a:t> </a:t>
                      </a:r>
                      <a:r>
                        <a:rPr lang="en-US" altLang="zh-CN" sz="1600" dirty="0"/>
                        <a:t>3,</a:t>
                      </a:r>
                      <a:r>
                        <a:rPr lang="zh-CN" altLang="en-US" sz="1600" dirty="0"/>
                        <a:t> </a:t>
                      </a:r>
                      <a:r>
                        <a:rPr lang="en-US" altLang="zh-CN" sz="1600" dirty="0"/>
                        <a:t>4}</a:t>
                      </a:r>
                      <a:r>
                        <a:rPr lang="zh-CN" altLang="en-US" sz="1600" dirty="0"/>
                        <a:t> 表示</a:t>
                      </a:r>
                      <a:endParaRPr lang="en-US" sz="16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55429">
                <a:tc rowSpan="2">
                  <a:txBody>
                    <a:bodyPr/>
                    <a:lstStyle/>
                    <a:p>
                      <a:pPr algn="ctr"/>
                      <a:r>
                        <a:rPr lang="zh-CN" altLang="en-US" sz="1600" dirty="0"/>
                        <a:t>数值的</a:t>
                      </a:r>
                      <a:endParaRPr lang="en-US" altLang="zh-CN" sz="1600" dirty="0"/>
                    </a:p>
                    <a:p>
                      <a:pPr algn="ctr"/>
                      <a:r>
                        <a:rPr lang="zh-CN" altLang="en-US" sz="1600" dirty="0"/>
                        <a:t>（定量的）</a:t>
                      </a:r>
                      <a:endParaRPr lang="en-US" sz="1600"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1600" dirty="0" err="1"/>
                        <a:t>区间</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新值</a:t>
                      </a:r>
                      <a:r>
                        <a:rPr lang="zh-CN" altLang="en-US" sz="1600" dirty="0"/>
                        <a:t> </a:t>
                      </a:r>
                      <a:r>
                        <a:rPr lang="en-US" altLang="zh-CN" sz="1600" dirty="0"/>
                        <a:t>=</a:t>
                      </a:r>
                      <a:r>
                        <a:rPr lang="zh-CN" altLang="en-US" sz="1600" dirty="0"/>
                        <a:t> </a:t>
                      </a:r>
                      <a:r>
                        <a:rPr lang="en-US" altLang="zh-CN" sz="1600" i="1" dirty="0">
                          <a:latin typeface="Times New Roman" panose="02020603050405020304" pitchFamily="18" charset="0"/>
                          <a:cs typeface="Times New Roman" panose="02020603050405020304" pitchFamily="18" charset="0"/>
                        </a:rPr>
                        <a:t>a</a:t>
                      </a:r>
                      <a:r>
                        <a:rPr lang="zh-CN" altLang="en-US" sz="1600" dirty="0"/>
                        <a:t> </a:t>
                      </a:r>
                      <a:r>
                        <a:rPr lang="en-US" altLang="zh-CN" sz="1600" dirty="0"/>
                        <a:t>×</a:t>
                      </a:r>
                      <a:r>
                        <a:rPr lang="zh-CN" altLang="en-US" sz="1600" dirty="0"/>
                        <a:t> 旧值 </a:t>
                      </a:r>
                      <a:r>
                        <a:rPr lang="en-US" altLang="zh-CN" sz="1600" dirty="0"/>
                        <a:t>+</a:t>
                      </a:r>
                      <a:r>
                        <a:rPr lang="zh-CN" altLang="en-US" sz="1600" dirty="0"/>
                        <a:t> </a:t>
                      </a:r>
                      <a:r>
                        <a:rPr lang="en-US" altLang="zh-CN" sz="1600" i="1" dirty="0">
                          <a:latin typeface="Times New Roman" panose="02020603050405020304" pitchFamily="18" charset="0"/>
                          <a:cs typeface="Times New Roman" panose="02020603050405020304" pitchFamily="18" charset="0"/>
                        </a:rPr>
                        <a:t>b</a:t>
                      </a:r>
                      <a:r>
                        <a:rPr lang="zh-CN" altLang="en-US" sz="1600" dirty="0"/>
                        <a:t>，</a:t>
                      </a:r>
                      <a:endParaRPr lang="en-US" altLang="zh-CN" sz="1600" dirty="0"/>
                    </a:p>
                    <a:p>
                      <a:pPr algn="ctr"/>
                      <a:r>
                        <a:rPr lang="zh-CN" altLang="en-US" sz="1600" dirty="0"/>
                        <a:t>其中 </a:t>
                      </a:r>
                      <a:r>
                        <a:rPr lang="en-US" altLang="zh-CN" sz="1600" i="1" dirty="0">
                          <a:latin typeface="Times New Roman" panose="02020603050405020304" pitchFamily="18" charset="0"/>
                          <a:cs typeface="Times New Roman" panose="02020603050405020304" pitchFamily="18" charset="0"/>
                        </a:rPr>
                        <a:t>a</a:t>
                      </a:r>
                      <a:r>
                        <a:rPr lang="zh-CN" altLang="en-US" sz="1600" dirty="0"/>
                        <a:t>、</a:t>
                      </a:r>
                      <a:r>
                        <a:rPr lang="en-US" altLang="zh-CN" sz="1600" i="1" dirty="0">
                          <a:latin typeface="Times New Roman" panose="02020603050405020304" pitchFamily="18" charset="0"/>
                          <a:cs typeface="Times New Roman" panose="02020603050405020304" pitchFamily="18" charset="0"/>
                        </a:rPr>
                        <a:t>b</a:t>
                      </a:r>
                      <a:r>
                        <a:rPr lang="zh-CN" altLang="en-US" sz="1600" dirty="0"/>
                        <a:t> 是常数</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l"/>
                      <a:r>
                        <a:rPr lang="en-US" sz="1600" dirty="0" err="1"/>
                        <a:t>例如</a:t>
                      </a:r>
                      <a:r>
                        <a:rPr lang="zh-CN" altLang="en-US" sz="1600" dirty="0"/>
                        <a:t>，华氏和摄氏温度的零度的位置不同，</a:t>
                      </a:r>
                      <a:r>
                        <a:rPr lang="en-US" altLang="zh-CN" sz="1600" dirty="0"/>
                        <a:t>1</a:t>
                      </a:r>
                      <a:r>
                        <a:rPr lang="zh-CN" altLang="en-US" sz="1600" dirty="0"/>
                        <a:t> 度的大小（即单位长度）也不同</a:t>
                      </a:r>
                      <a:endParaRPr lang="en-US" sz="16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655429">
                <a:tc vMerge="1">
                  <a:txBody>
                    <a:bodyPr/>
                    <a:lstStyle/>
                    <a:p>
                      <a:endParaRPr lang="zh-CN"/>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1600" dirty="0" err="1"/>
                        <a:t>比率</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1600" dirty="0"/>
                        <a:t>新值</a:t>
                      </a:r>
                      <a:r>
                        <a:rPr lang="zh-CN" altLang="en-US" sz="1600" dirty="0"/>
                        <a:t> </a:t>
                      </a:r>
                      <a:r>
                        <a:rPr lang="en-US" altLang="zh-CN" sz="1600" dirty="0"/>
                        <a:t>=</a:t>
                      </a:r>
                      <a:r>
                        <a:rPr lang="zh-CN" altLang="en-US" sz="1600" dirty="0"/>
                        <a:t> </a:t>
                      </a:r>
                      <a:r>
                        <a:rPr lang="en-US" altLang="zh-CN" sz="1600" i="1" dirty="0">
                          <a:latin typeface="Times New Roman" panose="02020603050405020304" pitchFamily="18" charset="0"/>
                          <a:cs typeface="Times New Roman" panose="02020603050405020304" pitchFamily="18" charset="0"/>
                        </a:rPr>
                        <a:t>a</a:t>
                      </a:r>
                      <a:r>
                        <a:rPr lang="zh-CN" altLang="en-US" sz="1600" dirty="0"/>
                        <a:t> </a:t>
                      </a:r>
                      <a:r>
                        <a:rPr lang="en-US" altLang="zh-CN" sz="1600" dirty="0"/>
                        <a:t>×</a:t>
                      </a:r>
                      <a:r>
                        <a:rPr lang="zh-CN" altLang="en-US" sz="1600" dirty="0"/>
                        <a:t> 旧值</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l"/>
                      <a:r>
                        <a:rPr lang="en-US" sz="1600" dirty="0"/>
                        <a:t>例如</a:t>
                      </a:r>
                      <a:r>
                        <a:rPr lang="zh-CN" altLang="en-US" sz="1600" dirty="0"/>
                        <a:t>，长度可以用米度量</a:t>
                      </a:r>
                      <a:endParaRPr lang="en-US" sz="16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7"/>
          <p:cNvSpPr/>
          <p:nvPr/>
        </p:nvSpPr>
        <p:spPr>
          <a:xfrm>
            <a:off x="898259" y="4365536"/>
            <a:ext cx="9956553" cy="478708"/>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圆角矩形 7"/>
          <p:cNvSpPr/>
          <p:nvPr/>
        </p:nvSpPr>
        <p:spPr>
          <a:xfrm>
            <a:off x="898260" y="3552653"/>
            <a:ext cx="3526256" cy="478708"/>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数据基本概念</a:t>
            </a:r>
          </a:p>
        </p:txBody>
      </p:sp>
      <p:sp>
        <p:nvSpPr>
          <p:cNvPr id="9" name="TextBox 8"/>
          <p:cNvSpPr txBox="1"/>
          <p:nvPr/>
        </p:nvSpPr>
        <p:spPr>
          <a:xfrm>
            <a:off x="545465" y="1124220"/>
            <a:ext cx="11202250" cy="5335574"/>
          </a:xfrm>
          <a:prstGeom prst="rect">
            <a:avLst/>
          </a:prstGeom>
          <a:noFill/>
        </p:spPr>
        <p:txBody>
          <a:bodyPr wrap="square" lIns="0" tIns="0" rIns="0" bIns="0" rtlCol="0" anchor="t">
            <a:noAutofit/>
          </a:bodyPr>
          <a:lstStyle/>
          <a:p>
            <a:pPr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离散属性和连续属性</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离散属性</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离散属性</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discrete attribute</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）可以取有限个值，或无限但可数的值。它们可以是分类的（如肤色），也可以是数值的（如计数）。</a:t>
            </a:r>
            <a:endPar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二元属性：</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二元属性（</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binary attribute</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）是离散属性的一种特殊类型，仅接受两个可能的取值，例如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和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1</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或真和假。通常，二元</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属性可以用布尔变量表示，或用仅取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0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和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1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两个值的整型变量表示。</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endParaRPr>
          </a:p>
          <a:p>
            <a:pPr marL="320675" defTabSz="1219200">
              <a:lnSpc>
                <a:spcPct val="150000"/>
              </a:lnSpc>
              <a:spcBef>
                <a:spcPts val="15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当二元属性的两种状态具有相同的重要性和权重时，该属性是</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对称的</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。即，无论哪个状态被编码为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0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或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1</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，并无区别。</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endParaRPr>
          </a:p>
          <a:p>
            <a:pPr marL="320675" defTabSz="1219200">
              <a:lnSpc>
                <a:spcPct val="150000"/>
              </a:lnSpc>
              <a:spcBef>
                <a:spcPct val="200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    例如，性别可视为对称的二元属性。</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endParaRPr>
          </a:p>
          <a:p>
            <a:pPr marL="320675" defTabSz="1219200">
              <a:lnSpc>
                <a:spcPct val="150000"/>
              </a:lnSpc>
              <a:spcBef>
                <a:spcPct val="200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如果二元属性的两个状态在重要性上存在差异，则该属性是</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非对称的</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endParaRPr>
          </a:p>
          <a:p>
            <a:pPr marL="320675" defTabSz="1219200">
              <a:lnSpc>
                <a:spcPct val="150000"/>
              </a:lnSpc>
              <a:spcBef>
                <a:spcPct val="200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    例如，在肝功检测结果中，若阳性编码为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1</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，阴性编码为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0</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，如果更关注阳性病例，则该二元属性是非对称的。</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endParaRPr>
          </a:p>
          <a:p>
            <a:pPr marL="320675" defTabSz="1219200">
              <a:lnSpc>
                <a:spcPct val="150000"/>
              </a:lnSpc>
              <a:spcBef>
                <a:spcPct val="20000"/>
              </a:spcBef>
              <a:spcAft>
                <a:spcPts val="1500"/>
              </a:spcAft>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此外，非对称属性不仅限于二元属性，还可以是离散或连续的。例如，在满意度评价中，用户评分数据通常属于非对称的离散属性。</a:t>
            </a:r>
            <a:endPar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连续属性：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连续属性（</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continuous attribute</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）是取实数值的属性，例如，身高和体重。通常，连续属性使用浮点数表示。</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extBox 8"/>
              <p:cNvSpPr txBox="1"/>
              <p:nvPr/>
            </p:nvSpPr>
            <p:spPr>
              <a:xfrm>
                <a:off x="506095" y="994981"/>
                <a:ext cx="11319112" cy="5863019"/>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中心趋势度量</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假设属性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Times New Roman" panose="02020603050405020304" pitchFamily="18" charset="0"/>
                        <a:sym typeface="Arial" panose="020B0604020202020204" pitchFamily="34" charset="0"/>
                      </a:rPr>
                      <m:t>𝑋</m:t>
                    </m:r>
                  </m:oMath>
                </a14:m>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代表考试成绩，记录了某班级学生的考试成绩。设这些成绩为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Times New Roman" panose="02020603050405020304" pitchFamily="18" charset="0"/>
                        <a:sym typeface="Arial" panose="020B0604020202020204" pitchFamily="34" charset="0"/>
                      </a:rPr>
                      <m:t>𝑋</m:t>
                    </m:r>
                  </m:oMath>
                </a14:m>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 </a:t>
                </a:r>
                <a:r>
                  <a:rPr lang="en-US" altLang="zh-CN" sz="1600" i="1" dirty="0">
                    <a:solidFill>
                      <a:schemeClr val="tx1">
                        <a:lumMod val="75000"/>
                        <a:lumOff val="25000"/>
                      </a:schemeClr>
                    </a:solidFill>
                    <a:latin typeface="Times New Roman" panose="02020603050405020304" pitchFamily="18" charset="0"/>
                    <a:ea typeface="思源黑体 CN Regular" panose="020B0500000000000000" charset="-122"/>
                    <a:cs typeface="Times New Roman" panose="02020603050405020304" pitchFamily="18" charset="0"/>
                    <a:sym typeface="Arial" panose="020B0604020202020204" pitchFamily="34" charset="0"/>
                  </a:rPr>
                  <a:t>N</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个观测值或数据点 </a:t>
                </a:r>
                <a:r>
                  <a:rPr lang="en-US" altLang="zh-CN" sz="1600" i="1" dirty="0">
                    <a:solidFill>
                      <a:schemeClr val="tx1">
                        <a:lumMod val="75000"/>
                        <a:lumOff val="25000"/>
                      </a:schemeClr>
                    </a:solidFill>
                    <a:latin typeface="Times New Roman" panose="02020603050405020304" pitchFamily="18" charset="0"/>
                    <a:ea typeface="思源黑体 CN Regular" panose="020B0500000000000000" charset="-122"/>
                    <a:cs typeface="Times New Roman" panose="02020603050405020304" pitchFamily="18" charset="0"/>
                    <a:sym typeface="Arial" panose="020B0604020202020204" pitchFamily="34" charset="0"/>
                  </a:rPr>
                  <a:t>x</a:t>
                </a:r>
                <a:r>
                  <a:rPr lang="en-US" altLang="zh-CN" sz="1600" baseline="-250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1</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en-US" altLang="zh-CN" sz="1600" i="1" dirty="0">
                    <a:solidFill>
                      <a:schemeClr val="tx1">
                        <a:lumMod val="75000"/>
                        <a:lumOff val="25000"/>
                      </a:schemeClr>
                    </a:solidFill>
                    <a:latin typeface="Times New Roman" panose="02020603050405020304" pitchFamily="18" charset="0"/>
                    <a:ea typeface="思源黑体 CN Regular" panose="020B0500000000000000" charset="-122"/>
                    <a:cs typeface="Times New Roman" panose="02020603050405020304" pitchFamily="18" charset="0"/>
                    <a:sym typeface="Arial" panose="020B0604020202020204" pitchFamily="34" charset="0"/>
                  </a:rPr>
                  <a:t>x</a:t>
                </a:r>
                <a:r>
                  <a:rPr lang="en-US" altLang="zh-CN" sz="1600" baseline="-250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 </a:t>
                </a:r>
                <a:r>
                  <a:rPr lang="en-US" altLang="zh-CN" sz="1600" i="1" dirty="0" err="1">
                    <a:solidFill>
                      <a:schemeClr val="tx1">
                        <a:lumMod val="75000"/>
                        <a:lumOff val="25000"/>
                      </a:schemeClr>
                    </a:solidFill>
                    <a:latin typeface="Times New Roman" panose="02020603050405020304" pitchFamily="18" charset="0"/>
                    <a:ea typeface="思源黑体 CN Regular" panose="020B0500000000000000" charset="-122"/>
                    <a:cs typeface="Times New Roman" panose="02020603050405020304" pitchFamily="18" charset="0"/>
                    <a:sym typeface="Arial" panose="020B0604020202020204" pitchFamily="34" charset="0"/>
                  </a:rPr>
                  <a:t>x</a:t>
                </a:r>
                <a:r>
                  <a:rPr lang="en-US" altLang="zh-CN" sz="1600" i="1" baseline="-25000" dirty="0" err="1">
                    <a:solidFill>
                      <a:schemeClr val="tx1">
                        <a:lumMod val="75000"/>
                        <a:lumOff val="25000"/>
                      </a:schemeClr>
                    </a:solidFill>
                    <a:latin typeface="Times New Roman" panose="02020603050405020304" pitchFamily="18" charset="0"/>
                    <a:ea typeface="思源黑体 CN Regular" panose="020B0500000000000000" charset="-122"/>
                    <a:cs typeface="Times New Roman" panose="02020603050405020304" pitchFamily="18" charset="0"/>
                    <a:sym typeface="Arial" panose="020B0604020202020204" pitchFamily="34" charset="0"/>
                  </a:rPr>
                  <a:t>N</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，则它们也可以视为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Times New Roman" panose="02020603050405020304" pitchFamily="18" charset="0"/>
                        <a:sym typeface="Arial" panose="020B0604020202020204" pitchFamily="34" charset="0"/>
                      </a:rPr>
                      <m:t>𝑋</m:t>
                    </m:r>
                  </m:oMath>
                </a14:m>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数据集”。当绘制完这些观测值后，可以观察到数据大多集中在某个区域，这便是数据中心趋势的体现。常见的中心趋势度量包括均值、中位数、众数和中列数，这些指标有助于衡量数据的集中程度，即数据在分布中的中心位置。</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defRPr/>
                </a:pPr>
                <a:endPar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均值：</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均值（</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mean</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）是最常用、最有效的数值度量，用于表示数据集的“中心”。设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Times New Roman" panose="02020603050405020304" pitchFamily="18" charset="0"/>
                        <a:sym typeface="Arial" panose="020B0604020202020204" pitchFamily="34" charset="0"/>
                      </a:rPr>
                      <m:t>𝑋</m:t>
                    </m:r>
                  </m:oMath>
                </a14:m>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为某数值属性（如考试成绩），其 </a:t>
                </a:r>
                <a:r>
                  <a:rPr lang="en-US" altLang="zh-CN" sz="1600" i="1" dirty="0">
                    <a:solidFill>
                      <a:schemeClr val="tx1">
                        <a:lumMod val="75000"/>
                        <a:lumOff val="25000"/>
                      </a:schemeClr>
                    </a:solidFill>
                    <a:latin typeface="Times New Roman" panose="02020603050405020304" pitchFamily="18" charset="0"/>
                    <a:ea typeface="思源黑体 CN Regular" panose="020B0500000000000000" charset="-122"/>
                    <a:cs typeface="Times New Roman" panose="02020603050405020304" pitchFamily="18" charset="0"/>
                    <a:sym typeface="Arial" panose="020B0604020202020204" pitchFamily="34" charset="0"/>
                  </a:rPr>
                  <a:t>N</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个观测值为 </a:t>
                </a:r>
                <a:r>
                  <a:rPr lang="en-US" altLang="zh-CN" sz="1600" i="1" dirty="0">
                    <a:solidFill>
                      <a:schemeClr val="tx1">
                        <a:lumMod val="75000"/>
                        <a:lumOff val="25000"/>
                      </a:schemeClr>
                    </a:solidFill>
                    <a:latin typeface="Times New Roman" panose="02020603050405020304" pitchFamily="18" charset="0"/>
                    <a:ea typeface="思源黑体 CN Regular" panose="020B0500000000000000" charset="-122"/>
                    <a:cs typeface="Times New Roman" panose="02020603050405020304" pitchFamily="18" charset="0"/>
                    <a:sym typeface="Arial" panose="020B0604020202020204" pitchFamily="34" charset="0"/>
                  </a:rPr>
                  <a:t>x</a:t>
                </a:r>
                <a:r>
                  <a:rPr lang="en-US" altLang="zh-CN" sz="1600" baseline="-250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1</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en-US" altLang="zh-CN" sz="1600" i="1" dirty="0">
                    <a:solidFill>
                      <a:schemeClr val="tx1">
                        <a:lumMod val="75000"/>
                        <a:lumOff val="25000"/>
                      </a:schemeClr>
                    </a:solidFill>
                    <a:latin typeface="Times New Roman" panose="02020603050405020304" pitchFamily="18" charset="0"/>
                    <a:ea typeface="思源黑体 CN Regular" panose="020B0500000000000000" charset="-122"/>
                    <a:cs typeface="Times New Roman" panose="02020603050405020304" pitchFamily="18" charset="0"/>
                    <a:sym typeface="Arial" panose="020B0604020202020204" pitchFamily="34" charset="0"/>
                  </a:rPr>
                  <a:t>x</a:t>
                </a:r>
                <a:r>
                  <a:rPr lang="en-US" altLang="zh-CN" sz="1600" baseline="-250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 </a:t>
                </a:r>
                <a:r>
                  <a:rPr lang="en-US" altLang="zh-CN" sz="1600" i="1" dirty="0" err="1">
                    <a:solidFill>
                      <a:schemeClr val="tx1">
                        <a:lumMod val="75000"/>
                        <a:lumOff val="25000"/>
                      </a:schemeClr>
                    </a:solidFill>
                    <a:latin typeface="Times New Roman" panose="02020603050405020304" pitchFamily="18" charset="0"/>
                    <a:ea typeface="思源黑体 CN Regular" panose="020B0500000000000000" charset="-122"/>
                    <a:cs typeface="Times New Roman" panose="02020603050405020304" pitchFamily="18" charset="0"/>
                    <a:sym typeface="Arial" panose="020B0604020202020204" pitchFamily="34" charset="0"/>
                  </a:rPr>
                  <a:t>x</a:t>
                </a:r>
                <a:r>
                  <a:rPr lang="en-US" altLang="zh-CN" sz="1600" i="1" baseline="-25000" dirty="0" err="1">
                    <a:solidFill>
                      <a:schemeClr val="tx1">
                        <a:lumMod val="75000"/>
                        <a:lumOff val="25000"/>
                      </a:schemeClr>
                    </a:solidFill>
                    <a:latin typeface="Times New Roman" panose="02020603050405020304" pitchFamily="18" charset="0"/>
                    <a:ea typeface="思源黑体 CN Regular" panose="020B0500000000000000" charset="-122"/>
                    <a:cs typeface="Times New Roman" panose="02020603050405020304" pitchFamily="18" charset="0"/>
                    <a:sym typeface="Arial" panose="020B0604020202020204" pitchFamily="34" charset="0"/>
                  </a:rPr>
                  <a:t>N</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，那么该观测值集合的均值为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p>
              <a:p>
                <a:pPr defTabSz="1219200">
                  <a:lnSpc>
                    <a:spcPct val="150000"/>
                  </a:lnSpc>
                  <a:spcBef>
                    <a:spcPct val="20000"/>
                  </a:spcBef>
                  <a:defRPr/>
                </a:pPr>
                <a14:m>
                  <m:oMathPara xmlns:m="http://schemas.openxmlformats.org/officeDocument/2006/math">
                    <m:oMathParaPr>
                      <m:jc m:val="centerGroup"/>
                    </m:oMathParaPr>
                    <m:oMath xmlns:m="http://schemas.openxmlformats.org/officeDocument/2006/math">
                      <m:acc>
                        <m:accPr>
                          <m:chr m:val="̅"/>
                          <m:ctrlPr>
                            <a:rPr lang="en-US" altLang="zh-CN" sz="160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accPr>
                        <m:e>
                          <m:r>
                            <m:rPr>
                              <m:sty m:val="p"/>
                            </m:rP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x</m:t>
                          </m:r>
                        </m:e>
                      </m:acc>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zh-CN" altLang="en-US"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 </m:t>
                      </m:r>
                      <m:f>
                        <m:fPr>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fPr>
                        <m:num>
                          <m:nary>
                            <m:naryPr>
                              <m:chr m:val="∑"/>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naryPr>
                            <m:sub>
                              <m:r>
                                <m:rPr>
                                  <m:brk m:alnAt="23"/>
                                </m:r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𝑖</m:t>
                              </m:r>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=1</m:t>
                              </m:r>
                            </m:sub>
                            <m:sup>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𝑁</m:t>
                              </m:r>
                            </m:sup>
                            <m:e>
                              <m:sSub>
                                <m:sSubPr>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𝑥</m:t>
                                  </m:r>
                                </m:e>
                                <m:sub>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𝑖</m:t>
                                  </m:r>
                                </m:sub>
                              </m:sSub>
                            </m:e>
                          </m:nary>
                        </m:num>
                        <m:den>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𝑁</m:t>
                          </m:r>
                        </m:den>
                      </m:f>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zh-CN" altLang="en-US"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 </m:t>
                      </m:r>
                      <m:f>
                        <m:fPr>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fPr>
                        <m:num>
                          <m:sSub>
                            <m:sSubPr>
                              <m:ctrl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𝑥</m:t>
                              </m:r>
                            </m:e>
                            <m:sub>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1</m:t>
                              </m:r>
                            </m:sub>
                          </m:sSub>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sSub>
                            <m:sSubPr>
                              <m:ctrlP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𝑥</m:t>
                              </m:r>
                            </m:e>
                            <m:sub>
                              <m:r>
                                <a:rPr lang="en-US" altLang="zh-CN" sz="1600" i="1">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1</m:t>
                              </m:r>
                            </m:sub>
                          </m:sSub>
                          <m: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zh-CN" altLang="en-US"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sub>
                          </m:sSub>
                        </m:num>
                        <m:den>
                          <m:r>
                            <m:rPr>
                              <m:sty m:val="p"/>
                            </m:rPr>
                            <a:rPr lang="en-US" altLang="zh-CN" sz="1600" b="0" i="1"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N</m:t>
                          </m:r>
                        </m:den>
                      </m:f>
                    </m:oMath>
                  </m:oMathPara>
                </a14:m>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defRPr/>
                </a:pPr>
                <a14:m>
                  <m:oMath xmlns:m="http://schemas.openxmlformats.org/officeDocument/2006/math">
                    <m:acc>
                      <m:accPr>
                        <m:chr m:val="̅"/>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acc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acc>
                  </m:oMath>
                </a14:m>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表示属性</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Times New Roman" panose="02020603050405020304" pitchFamily="18" charset="0"/>
                        <a:sym typeface="Arial" panose="020B0604020202020204" pitchFamily="34" charset="0"/>
                      </a:rPr>
                      <m:t>𝑋</m:t>
                    </m:r>
                  </m:oMath>
                </a14:m>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的均值。</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有时，对于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oMath>
                </a14:m>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，每个值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i</m:t>
                        </m:r>
                      </m:sub>
                    </m:sSub>
                  </m:oMath>
                </a14:m>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都可能与一个权重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m:rPr>
                            <m:sty m:val="p"/>
                          </m:rPr>
                          <a:rPr lang="en-US" altLang="zh-CN" sz="1600" b="0" i="1" dirty="0" smtClean="0">
                            <a:solidFill>
                              <a:schemeClr val="tx1">
                                <a:lumMod val="75000"/>
                                <a:lumOff val="25000"/>
                              </a:schemeClr>
                            </a:solidFill>
                            <a:latin typeface="Cambria Math" panose="02040503050406030204" pitchFamily="18" charset="0"/>
                            <a:ea typeface="Cambria Math" panose="02040503050406030204" pitchFamily="18" charset="0"/>
                            <a:sym typeface="Arial" panose="020B0604020202020204" pitchFamily="34" charset="0"/>
                          </a:rPr>
                          <m:t>w</m:t>
                        </m:r>
                      </m:e>
                      <m:sub>
                        <m:r>
                          <m:rPr>
                            <m:sty m:val="p"/>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i</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oMath>
                </a14:m>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相关联。权重 </a:t>
                </a:r>
                <a14:m>
                  <m:oMath xmlns:m="http://schemas.openxmlformats.org/officeDocument/2006/math">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m:rPr>
                            <m:sty m:val="p"/>
                          </m:rPr>
                          <a:rPr lang="en-US" altLang="zh-CN" sz="1600" i="1" dirty="0" smtClean="0">
                            <a:solidFill>
                              <a:schemeClr val="tx1">
                                <a:lumMod val="75000"/>
                                <a:lumOff val="25000"/>
                              </a:schemeClr>
                            </a:solidFill>
                            <a:latin typeface="Cambria Math" panose="02040503050406030204" pitchFamily="18" charset="0"/>
                            <a:ea typeface="Cambria Math" panose="02040503050406030204" pitchFamily="18" charset="0"/>
                            <a:sym typeface="Arial" panose="020B0604020202020204" pitchFamily="34" charset="0"/>
                          </a:rPr>
                          <m:t>w</m:t>
                        </m:r>
                      </m:e>
                      <m:sub>
                        <m:r>
                          <m:rPr>
                            <m:sty m:val="p"/>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i</m:t>
                        </m:r>
                      </m:sub>
                    </m:sSub>
                  </m:oMath>
                </a14:m>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反映了其对应值 </a:t>
                </a:r>
                <a14:m>
                  <m:oMath xmlns:m="http://schemas.openxmlformats.org/officeDocument/2006/math">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m:rPr>
                            <m:sty m:val="p"/>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i</m:t>
                        </m:r>
                      </m:sub>
                    </m:sSub>
                  </m:oMath>
                </a14:m>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的意义、重要性或出现频率。在这种情况下，我们可以计算加权算数均值或加权平均，其计算公式如下：</a:t>
                </a:r>
              </a:p>
              <a:p>
                <a:pPr defTabSz="1219200">
                  <a:lnSpc>
                    <a:spcPct val="150000"/>
                  </a:lnSpc>
                  <a:spcBef>
                    <a:spcPct val="20000"/>
                  </a:spcBef>
                  <a:defRPr/>
                </a:pPr>
                <a14:m>
                  <m:oMathPara xmlns:m="http://schemas.openxmlformats.org/officeDocument/2006/math">
                    <m:oMathParaPr>
                      <m:jc m:val="centerGroup"/>
                    </m:oMathParaPr>
                    <m:oMath xmlns:m="http://schemas.openxmlformats.org/officeDocument/2006/math">
                      <m:acc>
                        <m:accPr>
                          <m:chr m:val="̅"/>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acc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acc>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nary>
                            <m:naryPr>
                              <m: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naryPr>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sup>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𝑤</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e>
                          </m:nary>
                        </m:num>
                        <m:den>
                          <m:nary>
                            <m:naryPr>
                              <m: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naryPr>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sup>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𝑤</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e>
                          </m:nary>
                        </m:den>
                      </m:f>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𝑤</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𝑤</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b>
                          </m:sSub>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𝑤</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sub>
                          </m:sSub>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sub>
                          </m:sSub>
                        </m:num>
                        <m:den>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𝑤</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𝑤</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𝑤</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sub>
                          </m:sSub>
                        </m:den>
                      </m:f>
                    </m:oMath>
                  </m:oMathPara>
                </a14:m>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506095" y="994981"/>
                <a:ext cx="11319112" cy="5863019"/>
              </a:xfrm>
              <a:prstGeom prst="rect">
                <a:avLst/>
              </a:prstGeom>
              <a:blipFill rotWithShape="1">
                <a:blip r:embed="rId4"/>
                <a:stretch>
                  <a:fillRect t="-530" r="2"/>
                </a:stretch>
              </a:blipFill>
            </p:spPr>
            <p:txBody>
              <a:bodyPr/>
              <a:lstStyle/>
              <a:p>
                <a:r>
                  <a:rPr lang="zh-CN" altLang="en-US">
                    <a:noFill/>
                  </a:rPr>
                  <a:t> </a:t>
                </a:r>
              </a:p>
            </p:txBody>
          </p:sp>
        </mc:Fallback>
      </mc:AlternateContent>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数据基本概念</a:t>
            </a: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extBox 8"/>
              <p:cNvSpPr txBox="1"/>
              <p:nvPr/>
            </p:nvSpPr>
            <p:spPr>
              <a:xfrm>
                <a:off x="506095" y="994982"/>
                <a:ext cx="11319112" cy="4429426"/>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中心趋势度量</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对于倾斜分布（非对称分布）的数据，</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中位数</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median</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）通常是更合适作为数据中心趋势的度量。在概率论与统计学中，中位数常用于数值数据，但这一概念也可以扩展到序数数据。假设某属性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Times New Roman" panose="02020603050405020304" pitchFamily="18" charset="0"/>
                        <a:sym typeface="Arial" panose="020B0604020202020204" pitchFamily="34" charset="0"/>
                      </a:rPr>
                      <m:t>𝑋</m:t>
                    </m:r>
                  </m:oMath>
                </a14:m>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的 </a:t>
                </a:r>
                <a:r>
                  <a:rPr lang="en-US" altLang="zh-CN" sz="1600" i="1" dirty="0">
                    <a:solidFill>
                      <a:schemeClr val="tx1">
                        <a:lumMod val="75000"/>
                        <a:lumOff val="25000"/>
                      </a:schemeClr>
                    </a:solidFill>
                    <a:latin typeface="Times New Roman" panose="02020603050405020304" pitchFamily="18" charset="0"/>
                    <a:ea typeface="思源黑体 CN Regular" panose="020B0500000000000000" charset="-122"/>
                    <a:cs typeface="Times New Roman" panose="02020603050405020304" pitchFamily="18" charset="0"/>
                    <a:sym typeface="Arial" panose="020B0604020202020204" pitchFamily="34" charset="0"/>
                  </a:rPr>
                  <a:t>N</a:t>
                </a:r>
                <a:r>
                  <a:rPr lang="zh-CN" altLang="en-US" sz="1600" i="1" dirty="0">
                    <a:solidFill>
                      <a:schemeClr val="tx1">
                        <a:lumMod val="75000"/>
                        <a:lumOff val="25000"/>
                      </a:schemeClr>
                    </a:solidFill>
                    <a:latin typeface="思源黑体 CN Regular" panose="020B0500000000000000" charset="-122"/>
                    <a:ea typeface="思源黑体 CN Regular" panose="020B0500000000000000" charset="-122"/>
                    <a:cs typeface="Times New Roman" panose="02020603050405020304" pitchFamily="18" charset="0"/>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个值已经按递增顺序排列：</a:t>
                </a:r>
              </a:p>
              <a:p>
                <a:pPr marL="285750" indent="-285750"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如果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Times New Roman" panose="02020603050405020304" pitchFamily="18" charset="0"/>
                        <a:sym typeface="Arial" panose="020B0604020202020204" pitchFamily="34" charset="0"/>
                      </a:rPr>
                      <m:t>𝑁</m:t>
                    </m:r>
                  </m:oMath>
                </a14:m>
                <a:r>
                  <a:rPr lang="zh-CN" altLang="en-US" sz="1600" i="1" dirty="0">
                    <a:solidFill>
                      <a:schemeClr val="tx1">
                        <a:lumMod val="75000"/>
                        <a:lumOff val="25000"/>
                      </a:schemeClr>
                    </a:solidFill>
                    <a:latin typeface="Times New Roman" panose="02020603050405020304" pitchFamily="18" charset="0"/>
                    <a:ea typeface="思源黑体 CN Regular" panose="020B0500000000000000" charset="-122"/>
                    <a:cs typeface="Times New Roman" panose="02020603050405020304" pitchFamily="18" charset="0"/>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是奇数，中位数就是有序集合的中间值，即：</a:t>
                </a:r>
                <a:endPar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defRPr/>
                </a:pPr>
                <a14:m>
                  <m:oMathPara xmlns:m="http://schemas.openxmlformats.org/officeDocument/2006/math">
                    <m:oMathParaPr>
                      <m:jc m:val="centerGroup"/>
                    </m:oMathParaPr>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𝑚𝑒𝑑𝑖𝑎𝑛</m:t>
                          </m:r>
                        </m:sub>
                      </m:s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f>
                            <m:f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num>
                            <m:den>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den>
                          </m:f>
                        </m:sub>
                      </m:sSub>
                    </m:oMath>
                  </m:oMathPara>
                </a14:m>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如果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Times New Roman" panose="02020603050405020304" pitchFamily="18" charset="0"/>
                        <a:sym typeface="Arial" panose="020B0604020202020204" pitchFamily="34" charset="0"/>
                      </a:rPr>
                      <m:t>𝑁</m:t>
                    </m:r>
                  </m:oMath>
                </a14:m>
                <a:r>
                  <a:rPr lang="zh-CN" altLang="en-US" sz="1600" i="1" dirty="0">
                    <a:solidFill>
                      <a:schemeClr val="tx1">
                        <a:lumMod val="75000"/>
                        <a:lumOff val="25000"/>
                      </a:schemeClr>
                    </a:solidFill>
                    <a:latin typeface="Times New Roman" panose="02020603050405020304" pitchFamily="18" charset="0"/>
                    <a:ea typeface="思源黑体 CN Regular" panose="020B0500000000000000" charset="-122"/>
                    <a:cs typeface="Times New Roman" panose="02020603050405020304" pitchFamily="18" charset="0"/>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是偶数，中位数是最中间的两个值和它们之间的任意值。但对于数值属性 </a:t>
                </a:r>
                <a:r>
                  <a:rPr lang="en-US" altLang="zh-CN" sz="1600" i="1" dirty="0">
                    <a:solidFill>
                      <a:schemeClr val="tx1">
                        <a:lumMod val="75000"/>
                        <a:lumOff val="25000"/>
                      </a:schemeClr>
                    </a:solidFill>
                    <a:latin typeface="Times New Roman" panose="02020603050405020304" pitchFamily="18" charset="0"/>
                    <a:ea typeface="思源黑体 CN Regular" panose="020B0500000000000000" charset="-122"/>
                    <a:cs typeface="Times New Roman" panose="02020603050405020304" pitchFamily="18" charset="0"/>
                    <a:sym typeface="Arial" panose="020B0604020202020204" pitchFamily="34" charset="0"/>
                  </a:rPr>
                  <a:t>X</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，中位数通常取这两个中间值的平均值，即：</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defRPr/>
                </a:pPr>
                <a14:m>
                  <m:oMathPara xmlns:m="http://schemas.openxmlformats.org/officeDocument/2006/math">
                    <m:oMathParaPr>
                      <m:jc m:val="centerGroup"/>
                    </m:oMathParaPr>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𝑚𝑒𝑑𝑖𝑎𝑛</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f>
                                <m:f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num>
                                <m:den>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den>
                              </m:f>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f>
                                <m:f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num>
                                <m:den>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den>
                              </m:f>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num>
                        <m:den>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den>
                      </m:f>
                    </m:oMath>
                  </m:oMathPara>
                </a14:m>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506095" y="994982"/>
                <a:ext cx="11319112" cy="4429426"/>
              </a:xfrm>
              <a:prstGeom prst="rect">
                <a:avLst/>
              </a:prstGeom>
              <a:blipFill rotWithShape="1">
                <a:blip r:embed="rId4"/>
                <a:stretch>
                  <a:fillRect t="-701" r="2" b="5"/>
                </a:stretch>
              </a:blipFill>
            </p:spPr>
            <p:txBody>
              <a:bodyPr/>
              <a:lstStyle/>
              <a:p>
                <a:r>
                  <a:rPr lang="zh-CN" altLang="en-US">
                    <a:noFill/>
                  </a:rPr>
                  <a:t> </a:t>
                </a:r>
              </a:p>
            </p:txBody>
          </p:sp>
        </mc:Fallback>
      </mc:AlternateContent>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数据基本概念</a:t>
            </a: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509155" y="1010480"/>
            <a:ext cx="11055928" cy="3443127"/>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中心趋势度量</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众数</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：众数（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mode</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）是另一种常用的中心趋势度量。数据集的众数指的是在集合中出现次数最多的值。因此，众数可以适用于定性和定量属性。</a:t>
            </a:r>
          </a:p>
          <a:p>
            <a:pPr marL="447675" defTabSz="1219200">
              <a:lnSpc>
                <a:spcPct val="150000"/>
              </a:lnSpc>
              <a:spcBef>
                <a:spcPct val="200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在某些情况下，出现频率最高的值可能对应多个不同的值，从而导致数据集存在多个众数。根据众数的数量不同，数据集可以是单峰的、双峰的或三峰的。一般而言，具有两个或更多众数的数据集是多峰的。如果每个数据值仅出现一次，则该数据集没有众数。</a:t>
            </a:r>
            <a:endParaRPr lang="en-US" altLang="zh-CN" sz="1600" i="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78130" indent="-263525"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在一个完全对称的单峰分布数据集中，均值、中位数和众数是相同的中心值。然而，在大多数实际应用中，数据分布往往是不对称的。数据可能呈现正倾斜（右倾斜），此时众数小于中位数，中位数小于均值；或者呈现负倾斜（左倾斜），此时众数大于中位数，中位数大于均值。这种分布特性表明，在非对称数据集中，不同的中心趋势度量可能会有所偏差（如图所示）。</a:t>
            </a:r>
          </a:p>
        </p:txBody>
      </p:sp>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数据基本概念</a:t>
            </a:r>
          </a:p>
        </p:txBody>
      </p:sp>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96245" y="5847520"/>
            <a:ext cx="2180239" cy="652740"/>
          </a:xfrm>
          <a:prstGeom prst="rect">
            <a:avLst/>
          </a:prstGeom>
        </p:spPr>
      </p:pic>
      <p:pic>
        <p:nvPicPr>
          <p:cNvPr id="11" name="Picture 1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036198" y="4674042"/>
            <a:ext cx="3652416" cy="2047009"/>
          </a:xfrm>
          <a:prstGeom prst="rect">
            <a:avLst/>
          </a:prstGeom>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extBox 8"/>
              <p:cNvSpPr txBox="1"/>
              <p:nvPr/>
            </p:nvSpPr>
            <p:spPr>
              <a:xfrm>
                <a:off x="437408" y="870431"/>
                <a:ext cx="10961419" cy="3714174"/>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数据散布度量</a:t>
                </a:r>
                <a:endPar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设 </a:t>
                </a:r>
                <a14:m>
                  <m:oMath xmlns:m="http://schemas.openxmlformats.org/officeDocument/2006/math">
                    <m:r>
                      <a:rPr lang="en-US" altLang="zh-CN" sz="16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sub>
                    </m:sSub>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oMath>
                </a14:m>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是某数值属性 </a:t>
                </a:r>
                <a14:m>
                  <m:oMath xmlns:m="http://schemas.openxmlformats.org/officeDocument/2006/math">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𝑋</m:t>
                    </m:r>
                  </m:oMath>
                </a14:m>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的观测值集合。该集合的</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极差（</a:t>
                </a: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range</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定义为最大值与最小值之差，表示为：</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14:m>
                  <m:oMathPara xmlns:m="http://schemas.openxmlformats.org/officeDocument/2006/math">
                    <m:oMathParaPr>
                      <m:jc m:val="centerGroup"/>
                    </m:oMathParaPr>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𝑟𝑎𝑛𝑔𝑒</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unc>
                        <m:func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uncPr>
                        <m:fName>
                          <m:r>
                            <m:rPr>
                              <m:sty m:val="p"/>
                            </m:rPr>
                            <a:rPr lang="en-US" altLang="zh-CN" sz="1600" i="0"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max</m:t>
                          </m:r>
                        </m:fName>
                        <m:e>
                          <m:d>
                            <m:d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b>
                              </m:s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sub>
                              </m:sSub>
                            </m:e>
                          </m:d>
                        </m:e>
                      </m:func>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unc>
                        <m:func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uncPr>
                        <m:fName>
                          <m:r>
                            <m:rPr>
                              <m:sty m:val="p"/>
                            </m:rPr>
                            <a:rPr lang="en-US" altLang="zh-CN" sz="1600" i="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min</m:t>
                          </m:r>
                        </m:fName>
                        <m:e>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sub>
                              </m:sSub>
                            </m:e>
                          </m:d>
                        </m:e>
                      </m:func>
                    </m:oMath>
                  </m:oMathPara>
                </a14:m>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78130" defTabSz="1219200">
                  <a:spcBef>
                    <a:spcPct val="200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极差反映了数据集中最大与最小观测值之间的范围。</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分位数：</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分位数（</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quantile</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）是将数据分布按一定间隔划分为基本上大小相等的连续集合的点。由于可能不存在精确地将数据分成完全相等的诸子集的值，因此我们称之为“基本上大小相等”。对于给定的数据分布，第 </a:t>
                </a:r>
                <a14:m>
                  <m:oMath xmlns:m="http://schemas.openxmlformats.org/officeDocument/2006/math">
                    <m:r>
                      <a:rPr lang="zh-CN" altLang="en-US"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个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𝑞</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分位数是一个值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，使得小于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的数据值占比最多为 </a:t>
                </a:r>
                <a14:m>
                  <m:oMath xmlns:m="http://schemas.openxmlformats.org/officeDocument/2006/math">
                    <m:f>
                      <m:f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num>
                      <m:den>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𝑞</m:t>
                        </m:r>
                      </m:den>
                    </m:f>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，而大于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的数据值占比最多为 </a:t>
                </a:r>
                <a14:m>
                  <m:oMath xmlns:m="http://schemas.openxmlformats.org/officeDocument/2006/math">
                    <m:f>
                      <m:f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𝑞</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num>
                      <m:den>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𝑞</m:t>
                        </m:r>
                      </m:den>
                    </m:f>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，其中</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是正整数且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&lt;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&lt;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𝑞</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。因此，一个数据集共有</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𝑞</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个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𝑞</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分位数。</a:t>
                </a:r>
              </a:p>
              <a:p>
                <a:pPr marL="711200" indent="-417830" defTabSz="1219200">
                  <a:spcBef>
                    <a:spcPct val="20000"/>
                  </a:spcBef>
                  <a:buFont typeface="Wingdings" panose="05000000000000000000" pitchFamily="2" charset="2"/>
                  <a:buChar char="ü"/>
                  <a:defRPr/>
                </a:pP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2-</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分位数是将数据分布划分为两半的点，对应于中位数。</a:t>
                </a:r>
              </a:p>
              <a:p>
                <a:pPr marL="711200" indent="-417830" defTabSz="1219200">
                  <a:spcBef>
                    <a:spcPct val="20000"/>
                  </a:spcBef>
                  <a:buFont typeface="Wingdings" panose="05000000000000000000" pitchFamily="2" charset="2"/>
                  <a:buChar char="ü"/>
                  <a:defRPr/>
                </a:pP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4-</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分位数则是三个将数据分布划分为四个相等部分的点，通常称它们为</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四分位数（</a:t>
                </a:r>
                <a:r>
                  <a:rPr lang="en-US" altLang="zh-CN"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quartile</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，每部分代表整个数据的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1/4</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p>
              <a:p>
                <a:pPr marL="711200" indent="-417830" defTabSz="1219200">
                  <a:spcBef>
                    <a:spcPct val="20000"/>
                  </a:spcBef>
                  <a:buFont typeface="Wingdings" panose="05000000000000000000" pitchFamily="2" charset="2"/>
                  <a:buChar char="ü"/>
                  <a:defRPr/>
                </a:pP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100-</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分位数称为</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百分位数（</a:t>
                </a:r>
                <a:r>
                  <a:rPr lang="en-US" altLang="zh-CN"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percentile</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，它们将数据划分为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100</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个大小相等的连贯集。</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78130" defTabSz="1219200">
                  <a:spcBef>
                    <a:spcPct val="20000"/>
                  </a:spcBef>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中位数、四分位数和百分位数是最常用的分位数。</a:t>
                </a:r>
              </a:p>
            </p:txBody>
          </p:sp>
        </mc:Choice>
        <mc:Fallback xmlns="">
          <p:sp>
            <p:nvSpPr>
              <p:cNvPr id="9" name="TextBox 8"/>
              <p:cNvSpPr txBox="1">
                <a:spLocks noRot="1" noChangeAspect="1" noMove="1" noResize="1" noEditPoints="1" noAdjustHandles="1" noChangeArrowheads="1" noChangeShapeType="1" noTextEdit="1"/>
              </p:cNvSpPr>
              <p:nvPr/>
            </p:nvSpPr>
            <p:spPr>
              <a:xfrm>
                <a:off x="437408" y="870431"/>
                <a:ext cx="10961419" cy="3714174"/>
              </a:xfrm>
              <a:prstGeom prst="rect">
                <a:avLst/>
              </a:prstGeom>
              <a:blipFill rotWithShape="1">
                <a:blip r:embed="rId4"/>
                <a:stretch>
                  <a:fillRect l="-5" t="-834" r="-1310" b="-7593"/>
                </a:stretch>
              </a:blipFill>
            </p:spPr>
            <p:txBody>
              <a:bodyPr/>
              <a:lstStyle/>
              <a:p>
                <a:r>
                  <a:rPr lang="zh-CN" altLang="en-US">
                    <a:noFill/>
                  </a:rPr>
                  <a:t> </a:t>
                </a:r>
              </a:p>
            </p:txBody>
          </p:sp>
        </mc:Fallback>
      </mc:AlternateContent>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数据基本概念</a:t>
            </a:r>
          </a:p>
        </p:txBody>
      </p:sp>
      <p:sp>
        <p:nvSpPr>
          <p:cNvPr id="2" name="圆角矩形 7"/>
          <p:cNvSpPr/>
          <p:nvPr/>
        </p:nvSpPr>
        <p:spPr>
          <a:xfrm>
            <a:off x="508916" y="4998027"/>
            <a:ext cx="6831727" cy="1809358"/>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 name="TextBox 8"/>
              <p:cNvSpPr txBox="1"/>
              <p:nvPr/>
            </p:nvSpPr>
            <p:spPr>
              <a:xfrm>
                <a:off x="738785" y="5203739"/>
                <a:ext cx="6313226" cy="1445915"/>
              </a:xfrm>
              <a:prstGeom prst="rect">
                <a:avLst/>
              </a:prstGeom>
              <a:noFill/>
            </p:spPr>
            <p:txBody>
              <a:bodyPr wrap="square" lIns="0" tIns="0" rIns="0" bIns="0" rtlCol="0" anchor="t">
                <a:noAutofit/>
              </a:bodyPr>
              <a:lstStyle/>
              <a:p>
                <a:pPr defTabSz="1219200">
                  <a:spcBef>
                    <a:spcPct val="20000"/>
                  </a:spcBef>
                  <a:defRPr/>
                </a:pPr>
                <a:r>
                  <a:rPr lang="zh-CN" altLang="en-US"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某属性 </a:t>
                </a:r>
                <a14:m>
                  <m:oMath xmlns:m="http://schemas.openxmlformats.org/officeDocument/2006/math">
                    <m:r>
                      <a:rPr lang="en-US" altLang="zh-CN" sz="1600" i="1" dirty="0" smtClean="0">
                        <a:solidFill>
                          <a:srgbClr val="05B0F0"/>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𝑋</m:t>
                    </m:r>
                  </m:oMath>
                </a14:m>
                <a:r>
                  <a:rPr lang="en-US" altLang="zh-CN"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的数据分布图及其第 </a:t>
                </a:r>
                <a:r>
                  <a:rPr lang="en-US" altLang="zh-CN"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1</a:t>
                </a:r>
                <a:r>
                  <a:rPr lang="zh-CN" altLang="en-US"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、第 </a:t>
                </a:r>
                <a:r>
                  <a:rPr lang="en-US" altLang="zh-CN"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 </a:t>
                </a:r>
                <a:r>
                  <a:rPr lang="zh-CN" altLang="en-US"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和 第 </a:t>
                </a:r>
                <a:r>
                  <a:rPr lang="en-US" altLang="zh-CN"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3 </a:t>
                </a:r>
                <a:r>
                  <a:rPr lang="zh-CN" altLang="en-US"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四分位数</a:t>
                </a:r>
                <a:endParaRPr lang="en-US" altLang="zh-CN"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对于四分位数来说，它们提供了数据分布的中心、离散程度和形状的有用信息。第 </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1</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个四分位数 </a:t>
                </a:r>
                <a14:m>
                  <m:oMath xmlns:m="http://schemas.openxmlformats.org/officeDocument/2006/math">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𝑄</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oMath>
                </a14:m>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是第 </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25</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个百分位数，表示数据中最低的 </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25%</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；第 </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3</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个四分位数 </a:t>
                </a:r>
                <a14:m>
                  <m:oMath xmlns:m="http://schemas.openxmlformats.org/officeDocument/2006/math">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𝑄</m:t>
                        </m:r>
                      </m:e>
                      <m:sub>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3</m:t>
                        </m:r>
                      </m:sub>
                    </m:sSub>
                  </m:oMath>
                </a14:m>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是第 </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75</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个百分位数，表示最低的</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75%</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（或最高的 </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25%</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）。第二个四分位数 </a:t>
                </a:r>
                <a14:m>
                  <m:oMath xmlns:m="http://schemas.openxmlformats.org/officeDocument/2006/math">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𝑄</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b>
                    </m:sSub>
                  </m:oMath>
                </a14:m>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是第 </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50</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个百分位数，对应于中位数，表示数据分布的中心。</a:t>
                </a:r>
                <a:endPar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Choice>
        <mc:Fallback xmlns="">
          <p:sp>
            <p:nvSpPr>
              <p:cNvPr id="3" name="TextBox 8"/>
              <p:cNvSpPr txBox="1">
                <a:spLocks noRot="1" noChangeAspect="1" noMove="1" noResize="1" noEditPoints="1" noAdjustHandles="1" noChangeArrowheads="1" noChangeShapeType="1" noTextEdit="1"/>
              </p:cNvSpPr>
              <p:nvPr/>
            </p:nvSpPr>
            <p:spPr>
              <a:xfrm>
                <a:off x="738785" y="5203739"/>
                <a:ext cx="6313226" cy="1445915"/>
              </a:xfrm>
              <a:prstGeom prst="rect">
                <a:avLst/>
              </a:prstGeom>
              <a:blipFill rotWithShape="1">
                <a:blip r:embed="rId5"/>
                <a:stretch>
                  <a:fillRect l="-4" t="-1707" r="5" b="39"/>
                </a:stretch>
              </a:blipFill>
            </p:spPr>
            <p:txBody>
              <a:bodyPr/>
              <a:lstStyle/>
              <a:p>
                <a:r>
                  <a:rPr lang="zh-CN" altLang="en-US">
                    <a:noFill/>
                  </a:rPr>
                  <a:t> </a:t>
                </a:r>
              </a:p>
            </p:txBody>
          </p:sp>
        </mc:Fallback>
      </mc:AlternateContent>
      <p:pic>
        <p:nvPicPr>
          <p:cNvPr id="6" name="Picture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806952" y="4998027"/>
            <a:ext cx="4025315" cy="1859973"/>
          </a:xfrm>
          <a:prstGeom prst="rect">
            <a:avLst/>
          </a:prstGeom>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extBox 8"/>
              <p:cNvSpPr txBox="1"/>
              <p:nvPr/>
            </p:nvSpPr>
            <p:spPr>
              <a:xfrm>
                <a:off x="664029" y="950817"/>
                <a:ext cx="10896600" cy="3714174"/>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数据散布度量</a:t>
                </a:r>
              </a:p>
              <a:p>
                <a:pPr defTabSz="1219200">
                  <a:spcBef>
                    <a:spcPct val="20000"/>
                  </a:spcBef>
                  <a:defRPr/>
                </a:pP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第一四分位数</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𝑄</m:t>
                        </m:r>
                      </m:e>
                      <m: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和第三四分位数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𝑄</m:t>
                        </m:r>
                      </m:e>
                      <m: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3</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之间的距离是衡量数据散布的一种简单度量，称为</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四分位数极差（</a:t>
                </a:r>
                <a:r>
                  <a:rPr lang="en-US" altLang="zh-CN"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interquartile range</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r>
                  <a:rPr lang="en-US" altLang="zh-CN"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IQR</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，也称四分位距）</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，定义为：</a:t>
                </a:r>
              </a:p>
              <a:p>
                <a:pPr defTabSz="1219200">
                  <a:spcBef>
                    <a:spcPct val="20000"/>
                  </a:spcBef>
                  <a:defRPr/>
                </a:pPr>
                <a14:m>
                  <m:oMathPara xmlns:m="http://schemas.openxmlformats.org/officeDocument/2006/math">
                    <m:oMathParaPr>
                      <m:jc m:val="centerGroup"/>
                    </m:oMathParaPr>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𝐼𝑄𝑅</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𝑄</m:t>
                          </m:r>
                        </m:e>
                        <m: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3</m:t>
                          </m:r>
                        </m:sub>
                      </m:s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𝑄</m:t>
                          </m:r>
                        </m:e>
                        <m: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oMath>
                  </m:oMathPara>
                </a14:m>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它给出被数据的中间一半所覆盖的范围。</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在描述数据分布时，对于对称分布，中位数（以及其他中心趋势度量）将数据均匀地分为两部分。然而，对于倾斜分布，单一的散布度量往往不足以完整反映数据的特征。因此，除了中位数外，提供两个四分位数 </a:t>
                </a:r>
                <a14:m>
                  <m:oMath xmlns:m="http://schemas.openxmlformats.org/officeDocument/2006/math">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𝑄</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𝑄</m:t>
                        </m:r>
                      </m:e>
                      <m:sub>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3</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也非常重要。识别可疑离群点的一种常用方法是挑选出那些位于第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1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四分位数 </a:t>
                </a:r>
                <a14:m>
                  <m:oMath xmlns:m="http://schemas.openxmlformats.org/officeDocument/2006/math">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𝑄</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以下或第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3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四分位数 </a:t>
                </a:r>
                <a14:m>
                  <m:oMath xmlns:m="http://schemas.openxmlformats.org/officeDocument/2006/math">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𝑄</m:t>
                        </m:r>
                      </m:e>
                      <m:sub>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3</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以上，且与四分位数的距离至少为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1.5 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zh-CN" altLang="en-US"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𝐼𝑄𝑅</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的值。由于 </a:t>
                </a:r>
                <a14:m>
                  <m:oMath xmlns:m="http://schemas.openxmlformats.org/officeDocument/2006/math">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𝑄</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、中位数和 </a:t>
                </a:r>
                <a14:m>
                  <m:oMath xmlns:m="http://schemas.openxmlformats.org/officeDocument/2006/math">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𝑄</m:t>
                        </m:r>
                      </m:e>
                      <m:sub>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3</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不包含数据的端点信息，为了更全面地概括分布形状，通常还需要提供数据的最大值和最小值，这种组合称为五数概括，即分布的</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五数概括（</a:t>
                </a:r>
                <a:r>
                  <a:rPr lang="en-US" altLang="zh-CN"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five-number summary</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由中位数 </a:t>
                </a:r>
                <a14:m>
                  <m:oMath xmlns:m="http://schemas.openxmlformats.org/officeDocument/2006/math">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𝑄</m:t>
                        </m:r>
                      </m:e>
                      <m:sub>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b>
                    </m:sSub>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、第一四分位数 </a:t>
                </a:r>
                <a14:m>
                  <m:oMath xmlns:m="http://schemas.openxmlformats.org/officeDocument/2006/math">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𝑄</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、第三四分位数 </a:t>
                </a:r>
                <a14:m>
                  <m:oMath xmlns:m="http://schemas.openxmlformats.org/officeDocument/2006/math">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𝑄</m:t>
                        </m:r>
                      </m:e>
                      <m:sub>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3</m:t>
                        </m:r>
                      </m:sub>
                    </m:sSub>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、最小值和最大值组成，按顺序写作：</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𝑀𝑖𝑛𝑖𝑚𝑢𝑚</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𝑄</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m:rPr>
                        <m:lit/>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𝑀𝑒𝑑𝑖𝑎𝑛</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𝑄</m:t>
                        </m:r>
                      </m:e>
                      <m:sub>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3</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m:rPr>
                        <m:lit/>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𝑀𝑎𝑥𝑖𝑚𝑢𝑚</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p>
            </p:txBody>
          </p:sp>
        </mc:Choice>
        <mc:Fallback xmlns="">
          <p:sp>
            <p:nvSpPr>
              <p:cNvPr id="9" name="TextBox 8"/>
              <p:cNvSpPr txBox="1">
                <a:spLocks noRot="1" noChangeAspect="1" noMove="1" noResize="1" noEditPoints="1" noAdjustHandles="1" noChangeArrowheads="1" noChangeShapeType="1" noTextEdit="1"/>
              </p:cNvSpPr>
              <p:nvPr/>
            </p:nvSpPr>
            <p:spPr>
              <a:xfrm>
                <a:off x="664029" y="950817"/>
                <a:ext cx="10896600" cy="3714174"/>
              </a:xfrm>
              <a:prstGeom prst="rect">
                <a:avLst/>
              </a:prstGeom>
              <a:blipFill rotWithShape="1">
                <a:blip r:embed="rId4"/>
                <a:stretch>
                  <a:fillRect l="-4" t="-827" r="4" b="8"/>
                </a:stretch>
              </a:blipFill>
            </p:spPr>
            <p:txBody>
              <a:bodyPr/>
              <a:lstStyle/>
              <a:p>
                <a:r>
                  <a:rPr lang="zh-CN" altLang="en-US">
                    <a:noFill/>
                  </a:rPr>
                  <a:t> </a:t>
                </a:r>
              </a:p>
            </p:txBody>
          </p:sp>
        </mc:Fallback>
      </mc:AlternateContent>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数据基本概念</a:t>
            </a: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extBox 8"/>
              <p:cNvSpPr txBox="1"/>
              <p:nvPr/>
            </p:nvSpPr>
            <p:spPr>
              <a:xfrm>
                <a:off x="464949" y="950816"/>
                <a:ext cx="11282766" cy="5356993"/>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数据散布度量</a:t>
                </a:r>
              </a:p>
              <a:p>
                <a:pPr marL="285750" indent="-285750" defTabSz="1219200">
                  <a:spcBef>
                    <a:spcPct val="20000"/>
                  </a:spcBef>
                  <a:buFont typeface="Arial" panose="020B0604020202020204" pitchFamily="34" charset="0"/>
                  <a:buChar char="•"/>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方差和标准差都是衡量数据散布程度的重要指标，它们反映了数据值偏离均值的程度。低标准差表示数据观测值集中在均值附近，而高标准差则表示数据分布在较大的值域范围内。</a:t>
                </a:r>
              </a:p>
              <a:p>
                <a:pPr defTabSz="1219200">
                  <a:spcBef>
                    <a:spcPct val="20000"/>
                  </a:spcBef>
                  <a:defRPr/>
                </a:pP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设数值属性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𝑋</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的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个观测值为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sub>
                    </m:sSub>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。其</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方差（</a:t>
                </a:r>
                <a:r>
                  <a:rPr lang="en-US" altLang="zh-CN"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variance</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定义为：</a:t>
                </a:r>
              </a:p>
              <a:p>
                <a:pPr defTabSz="1219200">
                  <a:spcBef>
                    <a:spcPct val="20000"/>
                  </a:spcBef>
                  <a:defRPr/>
                </a:pPr>
                <a14:m>
                  <m:oMathPara xmlns:m="http://schemas.openxmlformats.org/officeDocument/2006/math">
                    <m:oMathParaPr>
                      <m:jc m:val="centerGroup"/>
                    </m:oMathParaPr>
                    <m:oMath xmlns:m="http://schemas.openxmlformats.org/officeDocument/2006/math">
                      <m:sSup>
                        <m:sSup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𝜎</m:t>
                          </m:r>
                        </m:e>
                        <m:sup>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num>
                        <m:den>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den>
                      </m:f>
                      <m:nary>
                        <m:naryPr>
                          <m:chr m:val="∑"/>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naryPr>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sup>
                        <m:e>
                          <m:sSup>
                            <m:sSup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acc>
                                    <m:accPr>
                                      <m: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acc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acc>
                                </m:e>
                              </m:d>
                            </m:e>
                            <m: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e>
                      </m:nary>
                    </m:oMath>
                  </m:oMathPara>
                </a14:m>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78130" defTabSz="1219200">
                  <a:spcBef>
                    <a:spcPct val="20000"/>
                  </a:spcBef>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其中，</a:t>
                </a:r>
                <a14:m>
                  <m:oMath xmlns:m="http://schemas.openxmlformats.org/officeDocument/2006/math">
                    <m:acc>
                      <m:accPr>
                        <m:chr m:val="̅"/>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acc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acc>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是观测值的均值。观测值的</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标准差（</a:t>
                </a:r>
                <a:r>
                  <a:rPr lang="en-US" altLang="zh-CN"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standard deviation</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𝜎</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是方差 </a:t>
                </a:r>
                <a14:m>
                  <m:oMath xmlns:m="http://schemas.openxmlformats.org/officeDocument/2006/math">
                    <m:sSup>
                      <m:sSup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𝜎</m:t>
                        </m:r>
                      </m:e>
                      <m: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的平方根。</a:t>
                </a:r>
              </a:p>
              <a:p>
                <a:pPr marL="278130" defTabSz="1219200">
                  <a:spcBef>
                    <a:spcPct val="20000"/>
                  </a:spcBef>
                  <a:defRPr/>
                </a:pP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309880" indent="-309880" defTabSz="1219200">
                  <a:spcBef>
                    <a:spcPct val="20000"/>
                  </a:spcBef>
                  <a:buFont typeface="Arial" panose="020B0604020202020204" pitchFamily="34" charset="0"/>
                  <a:buChar char="•"/>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作为数据散布程度的度量，标准差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𝜎</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具有以下性质：</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711200" indent="-417830" defTabSz="1219200">
                  <a:spcBef>
                    <a:spcPct val="20000"/>
                  </a:spcBef>
                  <a:buFont typeface="Wingdings" panose="05000000000000000000" pitchFamily="2" charset="2"/>
                  <a:buChar char="ü"/>
                  <a:defRPr/>
                </a:pP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𝜎</m:t>
                    </m:r>
                  </m:oMath>
                </a14:m>
                <a:r>
                  <a:rPr lang="en-US" altLang="zh-CN" sz="16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a:t>度量数据与均值的偏离程度，因此适用于以均值作为中心度量的场合。</a:t>
                </a:r>
                <a:endParaRPr lang="zh-CN" altLang="en-US"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endParaRPr>
              </a:p>
              <a:p>
                <a:pPr marL="711200" indent="-417830" defTabSz="1219200">
                  <a:spcBef>
                    <a:spcPct val="20000"/>
                  </a:spcBef>
                  <a:buFont typeface="Wingdings" panose="05000000000000000000" pitchFamily="2" charset="2"/>
                  <a:buChar char="ü"/>
                  <a:defRPr/>
                </a:pPr>
                <a:r>
                  <a:rPr lang="zh-CN" altLang="en-US" sz="16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a:t>仅当所有观测值都相同的情况下，</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𝜎</m:t>
                    </m:r>
                    <m:r>
                      <a:rPr lang="zh-CN" altLang="en-US"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0</m:t>
                    </m:r>
                  </m:oMath>
                </a14:m>
                <a:r>
                  <a:rPr lang="zh-CN" altLang="en-US" sz="16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a:t>；否则，</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𝜎</m:t>
                    </m:r>
                    <m:r>
                      <a:rPr lang="zh-CN" altLang="en-US"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&gt; 0</m:t>
                    </m:r>
                  </m:oMath>
                </a14:m>
                <a:r>
                  <a:rPr lang="zh-CN" altLang="en-US" sz="16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endParaRPr>
              </a:p>
              <a:p>
                <a:pPr marL="711200" indent="-417830" defTabSz="1219200">
                  <a:spcBef>
                    <a:spcPct val="20000"/>
                  </a:spcBef>
                  <a:buFont typeface="Wingdings" panose="05000000000000000000" pitchFamily="2" charset="2"/>
                  <a:buChar char="ü"/>
                  <a:defRPr/>
                </a:pPr>
                <a:endParaRPr lang="en-US" altLang="zh-CN" sz="16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endParaRPr>
              </a:p>
              <a:p>
                <a:pPr marL="293370" defTabSz="1219200">
                  <a:spcBef>
                    <a:spcPct val="20000"/>
                  </a:spcBef>
                  <a:defRPr/>
                </a:pPr>
                <a:r>
                  <a:rPr lang="zh-CN" altLang="en-US" sz="16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a:t>通常，观测值不会偏离均值超过标准差的几倍。更精确地说，根据切比雪夫不等式，至少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num>
                      <m:den>
                        <m:sSup>
                          <m:sSup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e>
                          <m: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den>
                    </m:f>
                  </m:oMath>
                </a14:m>
                <a:r>
                  <a:rPr lang="en-US" altLang="zh-CN" sz="16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a:t>的观测值与均值的距离不会超过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oMath>
                </a14:m>
                <a:r>
                  <a:rPr lang="en-US" altLang="zh-CN" sz="16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a:t>倍的标准差。因此，标准差是衡量数据集发散情况的一个有效指标。</a:t>
                </a:r>
              </a:p>
            </p:txBody>
          </p:sp>
        </mc:Choice>
        <mc:Fallback xmlns="">
          <p:sp>
            <p:nvSpPr>
              <p:cNvPr id="9" name="TextBox 8"/>
              <p:cNvSpPr txBox="1">
                <a:spLocks noRot="1" noChangeAspect="1" noMove="1" noResize="1" noEditPoints="1" noAdjustHandles="1" noChangeArrowheads="1" noChangeShapeType="1" noTextEdit="1"/>
              </p:cNvSpPr>
              <p:nvPr/>
            </p:nvSpPr>
            <p:spPr>
              <a:xfrm>
                <a:off x="464949" y="950816"/>
                <a:ext cx="11282766" cy="5356993"/>
              </a:xfrm>
              <a:prstGeom prst="rect">
                <a:avLst/>
              </a:prstGeom>
              <a:blipFill rotWithShape="1">
                <a:blip r:embed="rId4"/>
                <a:stretch>
                  <a:fillRect l="-1" t="-573" r="2" b="7"/>
                </a:stretch>
              </a:blipFill>
            </p:spPr>
            <p:txBody>
              <a:bodyPr/>
              <a:lstStyle/>
              <a:p>
                <a:r>
                  <a:rPr lang="zh-CN" altLang="en-US">
                    <a:noFill/>
                  </a:rPr>
                  <a:t> </a:t>
                </a:r>
              </a:p>
            </p:txBody>
          </p:sp>
        </mc:Fallback>
      </mc:AlternateContent>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数据基本概念</a:t>
            </a: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extBox 8"/>
              <p:cNvSpPr txBox="1"/>
              <p:nvPr/>
            </p:nvSpPr>
            <p:spPr>
              <a:xfrm>
                <a:off x="469899" y="842330"/>
                <a:ext cx="11303001" cy="2777170"/>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数据散布度量</a:t>
                </a:r>
              </a:p>
              <a:p>
                <a:pPr marL="285750" indent="-285750" defTabSz="1219200">
                  <a:spcBef>
                    <a:spcPct val="20000"/>
                  </a:spcBef>
                  <a:buFont typeface="Arial" panose="020B0604020202020204" pitchFamily="34" charset="0"/>
                  <a:buChar char="•"/>
                  <a:defRPr/>
                </a:pP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协方差矩阵：</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对于包含多个属性的数据（多源数据），每个属性的散布可以独立于其他属性来计算。然而，对于具有连续变量的数据，通常使用协方差矩阵（</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covariance matrix</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14:m>
                  <m:oMath xmlns:m="http://schemas.openxmlformats.org/officeDocument/2006/math">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𝑺</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来表示数据的散布。协方差矩阵的元素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𝑠</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𝑖𝑗</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表示数据的第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个属性和第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个属性之间的协方差。具体来说，如果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分别是第</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个和第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个属性，那么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𝑠</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𝑖𝑗</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由以下公式给出：</a:t>
                </a:r>
              </a:p>
              <a:p>
                <a:pPr defTabSz="1219200">
                  <a:spcBef>
                    <a:spcPct val="20000"/>
                  </a:spcBef>
                  <a:defRPr/>
                </a:pPr>
                <a14:m>
                  <m:oMathPara xmlns:m="http://schemas.openxmlformats.org/officeDocument/2006/math">
                    <m:oMathParaPr>
                      <m:jc m:val="centerGroup"/>
                    </m:oMathParaPr>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𝑠</m:t>
                          </m:r>
                        </m:e>
                        <m:sub>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𝑖𝑗</m:t>
                          </m:r>
                        </m:sub>
                      </m:s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m:rPr>
                          <m:nor/>
                        </m:rPr>
                        <a:rPr lang="en-US" altLang="zh-CN" sz="1600" i="0"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covariance</m:t>
                      </m:r>
                      <m:d>
                        <m:d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num>
                        <m:den>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den>
                      </m:f>
                      <m:nary>
                        <m:naryPr>
                          <m:chr m:val="∑"/>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naryPr>
                        <m: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up>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sup>
                        <m:e>
                          <m:d>
                            <m:d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sub>
                              </m:s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acc>
                                <m:accPr>
                                  <m:chr m:val="̅"/>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accPr>
                                <m:e>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e>
                              </m:acc>
                            </m:e>
                          </m:d>
                          <m:d>
                            <m:d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sub>
                              </m:s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acc>
                                <m:accPr>
                                  <m:chr m:val="̅"/>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accPr>
                                <m:e>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acc>
                            </m:e>
                          </m:d>
                        </m:e>
                      </m:nary>
                    </m:oMath>
                  </m:oMathPara>
                </a14:m>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323850" defTabSz="1219200">
                  <a:spcBef>
                    <a:spcPct val="20000"/>
                  </a:spcBef>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其中，</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分别是第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个数据对象在第</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个属性和第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个属性上的观测值。同时，</a:t>
                </a:r>
                <a14:m>
                  <m:oMath xmlns:m="http://schemas.openxmlformats.org/officeDocument/2006/math">
                    <m:acc>
                      <m:accPr>
                        <m:chr m:val="̅"/>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accPr>
                      <m:e>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e>
                    </m:acc>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acc>
                      <m:accPr>
                        <m:chr m:val="̅"/>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accPr>
                      <m:e>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acc>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分别是属性</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的均值，</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𝑁</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是观测值的数量。需要注意的是，当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时，协方差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𝑠</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𝑖𝑖</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是属性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的方差，即：</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𝑠</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m:rPr>
                        <m:nor/>
                      </m:rPr>
                      <a:rPr lang="en-US" altLang="zh-CN" sz="1600" i="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variance</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e>
                    </m:d>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。因此，协方差矩阵 </a:t>
                </a:r>
                <a14:m>
                  <m:oMath xmlns:m="http://schemas.openxmlformats.org/officeDocument/2006/math">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𝑺</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的对角线元素表示各属性的方差。</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469899" y="842330"/>
                <a:ext cx="11303001" cy="2777170"/>
              </a:xfrm>
              <a:prstGeom prst="rect">
                <a:avLst/>
              </a:prstGeom>
              <a:blipFill rotWithShape="1">
                <a:blip r:embed="rId4"/>
                <a:stretch>
                  <a:fillRect l="-6" t="-1109" r="-253"/>
                </a:stretch>
              </a:blipFill>
            </p:spPr>
            <p:txBody>
              <a:bodyPr/>
              <a:lstStyle/>
              <a:p>
                <a:r>
                  <a:rPr lang="zh-CN" altLang="en-US">
                    <a:noFill/>
                  </a:rPr>
                  <a:t> </a:t>
                </a:r>
              </a:p>
            </p:txBody>
          </p:sp>
        </mc:Fallback>
      </mc:AlternateContent>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数据基本概念</a:t>
            </a:r>
          </a:p>
        </p:txBody>
      </p:sp>
      <p:sp>
        <p:nvSpPr>
          <p:cNvPr id="2" name="圆角矩形 7"/>
          <p:cNvSpPr/>
          <p:nvPr/>
        </p:nvSpPr>
        <p:spPr>
          <a:xfrm>
            <a:off x="787400" y="3727768"/>
            <a:ext cx="10604500" cy="2343885"/>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TextBox 8"/>
          <p:cNvSpPr txBox="1"/>
          <p:nvPr/>
        </p:nvSpPr>
        <p:spPr>
          <a:xfrm>
            <a:off x="1016779" y="3992391"/>
            <a:ext cx="9901159" cy="728898"/>
          </a:xfrm>
          <a:prstGeom prst="rect">
            <a:avLst/>
          </a:prstGeom>
          <a:noFill/>
        </p:spPr>
        <p:txBody>
          <a:bodyPr wrap="square" lIns="0" tIns="0" rIns="0" bIns="0" rtlCol="0" anchor="t">
            <a:noAutofit/>
          </a:bodyPr>
          <a:lstStyle/>
          <a:p>
            <a:pPr defTabSz="1219200">
              <a:spcBef>
                <a:spcPct val="20000"/>
              </a:spcBef>
              <a:defRPr/>
            </a:pPr>
            <a:r>
              <a:rPr lang="zh-CN" altLang="en-US"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协方差矩阵：学生成绩与游戏时间</a:t>
            </a:r>
          </a:p>
          <a:p>
            <a:pPr defTabSz="1219200">
              <a:spcBef>
                <a:spcPct val="20000"/>
              </a:spcBef>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假设我们调查了</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6</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名同学，记录了他们数学成绩（满分</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100</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分），每天玩手机游戏的时间（小时），数据如下：</a:t>
            </a:r>
            <a:endPar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nvGraphicFramePr>
            <p:xfrm>
              <a:off x="1222051" y="4687335"/>
              <a:ext cx="9638783" cy="1038924"/>
            </p:xfrm>
            <a:graphic>
              <a:graphicData uri="http://schemas.openxmlformats.org/drawingml/2006/table">
                <a:tbl>
                  <a:tblPr firstRow="1" bandRow="1">
                    <a:tableStyleId>{2D5ABB26-0587-4C30-8999-92F81FD0307C}</a:tableStyleId>
                  </a:tblPr>
                  <a:tblGrid>
                    <a:gridCol w="1722227">
                      <a:extLst>
                        <a:ext uri="{9D8B030D-6E8A-4147-A177-3AD203B41FA5}">
                          <a16:colId xmlns:a16="http://schemas.microsoft.com/office/drawing/2014/main" val="20000"/>
                        </a:ext>
                      </a:extLst>
                    </a:gridCol>
                    <a:gridCol w="1319426">
                      <a:extLst>
                        <a:ext uri="{9D8B030D-6E8A-4147-A177-3AD203B41FA5}">
                          <a16:colId xmlns:a16="http://schemas.microsoft.com/office/drawing/2014/main" val="20001"/>
                        </a:ext>
                      </a:extLst>
                    </a:gridCol>
                    <a:gridCol w="1319426">
                      <a:extLst>
                        <a:ext uri="{9D8B030D-6E8A-4147-A177-3AD203B41FA5}">
                          <a16:colId xmlns:a16="http://schemas.microsoft.com/office/drawing/2014/main" val="20002"/>
                        </a:ext>
                      </a:extLst>
                    </a:gridCol>
                    <a:gridCol w="1319426">
                      <a:extLst>
                        <a:ext uri="{9D8B030D-6E8A-4147-A177-3AD203B41FA5}">
                          <a16:colId xmlns:a16="http://schemas.microsoft.com/office/drawing/2014/main" val="20003"/>
                        </a:ext>
                      </a:extLst>
                    </a:gridCol>
                    <a:gridCol w="1319426">
                      <a:extLst>
                        <a:ext uri="{9D8B030D-6E8A-4147-A177-3AD203B41FA5}">
                          <a16:colId xmlns:a16="http://schemas.microsoft.com/office/drawing/2014/main" val="20004"/>
                        </a:ext>
                      </a:extLst>
                    </a:gridCol>
                    <a:gridCol w="1319426">
                      <a:extLst>
                        <a:ext uri="{9D8B030D-6E8A-4147-A177-3AD203B41FA5}">
                          <a16:colId xmlns:a16="http://schemas.microsoft.com/office/drawing/2014/main" val="20005"/>
                        </a:ext>
                      </a:extLst>
                    </a:gridCol>
                    <a:gridCol w="1319426">
                      <a:extLst>
                        <a:ext uri="{9D8B030D-6E8A-4147-A177-3AD203B41FA5}">
                          <a16:colId xmlns:a16="http://schemas.microsoft.com/office/drawing/2014/main" val="20006"/>
                        </a:ext>
                      </a:extLst>
                    </a:gridCol>
                  </a:tblGrid>
                  <a:tr h="314703">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zh-CN" altLang="en-US" sz="1600" kern="1200" dirty="0" smtClean="0">
                                    <a:solidFill>
                                      <a:schemeClr val="tx1"/>
                                    </a:solidFill>
                                    <a:latin typeface="Cambria Math" panose="02040503050406030204" pitchFamily="18" charset="0"/>
                                    <a:ea typeface="+mn-ea"/>
                                    <a:cs typeface="+mn-cs"/>
                                    <a:sym typeface="Arial" panose="020B0604020202020204" pitchFamily="34" charset="0"/>
                                  </a:rPr>
                                  <m:t>学生</m:t>
                                </m:r>
                              </m:oMath>
                            </m:oMathPara>
                          </a14:m>
                          <a:endParaRPr lang="en-US" sz="1600" kern="1200" dirty="0">
                            <a:solidFill>
                              <a:schemeClr val="tx1"/>
                            </a:solidFill>
                            <a:latin typeface="+mn-lt"/>
                            <a:ea typeface="+mn-ea"/>
                            <a:cs typeface="+mn-cs"/>
                          </a:endParaRPr>
                        </a:p>
                      </a:txBody>
                      <a:tcPr anchor="ctr">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1600" dirty="0"/>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t>B</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CN" sz="1600" dirty="0"/>
                            <a:t>C</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t>D</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CN" sz="1600" dirty="0"/>
                            <a:t>E</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t>F</a:t>
                          </a:r>
                          <a:endParaRPr lang="en-US" sz="1600" dirty="0"/>
                        </a:p>
                      </a:txBody>
                      <a:tcPr anchor="ctr">
                        <a:lnL w="1270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0"/>
                      </a:ext>
                    </a:extLst>
                  </a:tr>
                  <a:tr h="312278">
                    <a:tc>
                      <a:txBody>
                        <a:bodyPr/>
                        <a:lstStyle/>
                        <a:p>
                          <a:pPr marL="0" algn="ctr" defTabSz="914400" rtl="0" eaLnBrk="1" latinLnBrk="0" hangingPunct="1"/>
                          <a:r>
                            <a:rPr lang="zh-CN" altLang="en-US" sz="1600" kern="1200" dirty="0">
                              <a:solidFill>
                                <a:schemeClr val="tx1"/>
                              </a:solidFill>
                              <a:latin typeface="+mn-lt"/>
                              <a:ea typeface="+mn-ea"/>
                              <a:cs typeface="+mn-cs"/>
                            </a:rPr>
                            <a:t>数学成绩（</a:t>
                          </a:r>
                          <a14:m>
                            <m:oMath xmlns:m="http://schemas.openxmlformats.org/officeDocument/2006/math">
                              <m:sSub>
                                <m:sSubPr>
                                  <m:ctrlPr>
                                    <a:rPr lang="en-US" altLang="zh-CN" sz="1600" i="1" kern="1200" dirty="0" smtClean="0">
                                      <a:solidFill>
                                        <a:schemeClr val="tx1"/>
                                      </a:solidFill>
                                      <a:latin typeface="Cambria Math" panose="02040503050406030204" pitchFamily="18" charset="0"/>
                                      <a:ea typeface="+mn-ea"/>
                                      <a:cs typeface="+mn-cs"/>
                                    </a:rPr>
                                  </m:ctrlPr>
                                </m:sSubPr>
                                <m:e>
                                  <m:r>
                                    <a:rPr lang="zh-CN" altLang="en-US" sz="1600" kern="1200" dirty="0" smtClean="0">
                                      <a:solidFill>
                                        <a:schemeClr val="tx1"/>
                                      </a:solidFill>
                                      <a:latin typeface="Cambria Math" panose="02040503050406030204" pitchFamily="18" charset="0"/>
                                      <a:ea typeface="+mn-ea"/>
                                      <a:cs typeface="+mn-cs"/>
                                    </a:rPr>
                                    <m:t>𝑥</m:t>
                                  </m:r>
                                </m:e>
                                <m:sub>
                                  <m:r>
                                    <a:rPr lang="en-US" altLang="zh-CN" sz="1600" kern="1200" dirty="0" smtClean="0">
                                      <a:solidFill>
                                        <a:schemeClr val="tx1"/>
                                      </a:solidFill>
                                      <a:latin typeface="Cambria Math" panose="02040503050406030204" pitchFamily="18" charset="0"/>
                                      <a:ea typeface="+mn-ea"/>
                                      <a:cs typeface="+mn-cs"/>
                                    </a:rPr>
                                    <m:t>1</m:t>
                                  </m:r>
                                </m:sub>
                              </m:sSub>
                            </m:oMath>
                          </a14:m>
                          <a:r>
                            <a:rPr lang="zh-CN" altLang="en-US" sz="1600" kern="1200" dirty="0">
                              <a:solidFill>
                                <a:schemeClr val="tx1"/>
                              </a:solidFill>
                              <a:latin typeface="+mn-lt"/>
                              <a:ea typeface="+mn-ea"/>
                              <a:cs typeface="+mn-cs"/>
                            </a:rPr>
                            <a:t>）</a:t>
                          </a:r>
                          <a:endParaRPr lang="en-US" sz="1600" kern="1200" dirty="0">
                            <a:solidFill>
                              <a:schemeClr val="tx1"/>
                            </a:solidFill>
                            <a:latin typeface="+mn-lt"/>
                            <a:ea typeface="+mn-ea"/>
                            <a:cs typeface="+mn-cs"/>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CN" sz="1600" dirty="0"/>
                            <a:t>95</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t>85</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CN" sz="1600" dirty="0"/>
                            <a:t>75</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t>65</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CN" sz="1600" dirty="0"/>
                            <a:t>55</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t>90</a:t>
                          </a:r>
                          <a:endParaRPr lang="en-US" sz="16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1"/>
                      </a:ext>
                    </a:extLst>
                  </a:tr>
                  <a:tr h="340667">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600" kern="1200" dirty="0">
                              <a:solidFill>
                                <a:schemeClr val="tx1"/>
                              </a:solidFill>
                              <a:latin typeface="+mn-lt"/>
                              <a:ea typeface="+mn-ea"/>
                              <a:cs typeface="+mn-cs"/>
                            </a:rPr>
                            <a:t>游戏时间绩（</a:t>
                          </a:r>
                          <a14:m>
                            <m:oMath xmlns:m="http://schemas.openxmlformats.org/officeDocument/2006/math">
                              <m:sSub>
                                <m:sSubPr>
                                  <m:ctrlPr>
                                    <a:rPr lang="en-US" altLang="zh-CN" sz="1600" i="1" kern="1200" dirty="0" smtClean="0">
                                      <a:solidFill>
                                        <a:schemeClr val="tx1"/>
                                      </a:solidFill>
                                      <a:latin typeface="Cambria Math" panose="02040503050406030204" pitchFamily="18" charset="0"/>
                                      <a:ea typeface="+mn-ea"/>
                                      <a:cs typeface="+mn-cs"/>
                                    </a:rPr>
                                  </m:ctrlPr>
                                </m:sSubPr>
                                <m:e>
                                  <m:r>
                                    <a:rPr lang="zh-CN" altLang="en-US" sz="1600" kern="1200" dirty="0" smtClean="0">
                                      <a:solidFill>
                                        <a:schemeClr val="tx1"/>
                                      </a:solidFill>
                                      <a:latin typeface="Cambria Math" panose="02040503050406030204" pitchFamily="18" charset="0"/>
                                      <a:ea typeface="+mn-ea"/>
                                      <a:cs typeface="+mn-cs"/>
                                    </a:rPr>
                                    <m:t>𝑥</m:t>
                                  </m:r>
                                </m:e>
                                <m:sub>
                                  <m:r>
                                    <a:rPr lang="en-US" altLang="zh-CN" sz="1600" b="0" i="0" kern="1200" dirty="0" smtClean="0">
                                      <a:solidFill>
                                        <a:schemeClr val="tx1"/>
                                      </a:solidFill>
                                      <a:latin typeface="Cambria Math" panose="02040503050406030204" pitchFamily="18" charset="0"/>
                                      <a:ea typeface="+mn-ea"/>
                                      <a:cs typeface="+mn-cs"/>
                                    </a:rPr>
                                    <m:t>2</m:t>
                                  </m:r>
                                </m:sub>
                              </m:sSub>
                            </m:oMath>
                          </a14:m>
                          <a:r>
                            <a:rPr lang="zh-CN" altLang="en-US" sz="1600" kern="1200" dirty="0">
                              <a:solidFill>
                                <a:schemeClr val="tx1"/>
                              </a:solidFill>
                              <a:latin typeface="+mn-lt"/>
                              <a:ea typeface="+mn-ea"/>
                              <a:cs typeface="+mn-cs"/>
                            </a:rPr>
                            <a:t>）</a:t>
                          </a:r>
                          <a:endParaRPr lang="en-US" sz="1600" kern="1200" dirty="0">
                            <a:solidFill>
                              <a:schemeClr val="tx1"/>
                            </a:solidFill>
                            <a:latin typeface="+mn-lt"/>
                            <a:ea typeface="+mn-ea"/>
                            <a:cs typeface="+mn-cs"/>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CN" sz="1600" dirty="0"/>
                            <a:t>1.0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dirty="0"/>
                            <a:t>2.0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CN" dirty="0"/>
                            <a:t>3.0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dirty="0"/>
                            <a:t>4.0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CN" dirty="0"/>
                            <a:t>5.0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dirty="0"/>
                            <a:t>1.5</a:t>
                          </a:r>
                          <a:endParaRPr lang="en-US"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2"/>
                      </a:ext>
                    </a:extLst>
                  </a:tr>
                </a:tbl>
              </a:graphicData>
            </a:graphic>
          </p:graphicFrame>
        </mc:Choice>
        <mc:Fallback xmlns="">
          <p:graphicFrame>
            <p:nvGraphicFramePr>
              <p:cNvPr id="4" name="Table 3"/>
              <p:cNvGraphicFramePr>
                <a:graphicFrameLocks noGrp="1"/>
              </p:cNvGraphicFramePr>
              <p:nvPr/>
            </p:nvGraphicFramePr>
            <p:xfrm>
              <a:off x="1222051" y="4687335"/>
              <a:ext cx="9638783" cy="1038924"/>
            </p:xfrm>
            <a:graphic>
              <a:graphicData uri="http://schemas.openxmlformats.org/drawingml/2006/table">
                <a:tbl>
                  <a:tblPr firstRow="1" bandRow="1">
                    <a:tableStyleId>{2D5ABB26-0587-4C30-8999-92F81FD0307C}</a:tableStyleId>
                  </a:tblPr>
                  <a:tblGrid>
                    <a:gridCol w="1722227"/>
                    <a:gridCol w="1319426"/>
                    <a:gridCol w="1319426"/>
                    <a:gridCol w="1319426"/>
                    <a:gridCol w="1319426"/>
                    <a:gridCol w="1319426"/>
                    <a:gridCol w="1319426"/>
                  </a:tblGrid>
                  <a:tr h="440690">
                    <a:tc>
                      <a:txBody>
                        <a:bodyPr/>
                        <a:lstStyle/>
                        <a:p>
                          <a:endParaRPr lang="zh-CN"/>
                        </a:p>
                      </a:txBody>
                      <a:tcPr anchor="ctr">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blipFill>
                      </a:tcPr>
                    </a:tc>
                    <a:tc>
                      <a:txBody>
                        <a:bodyPr/>
                        <a:lstStyle/>
                        <a:p>
                          <a:pPr algn="ctr"/>
                          <a:r>
                            <a:rPr lang="en-US" sz="1600" dirty="0"/>
                            <a:t>A</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t>B</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CN" sz="1600" dirty="0"/>
                            <a:t>C</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t>D</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CN" sz="1600" dirty="0"/>
                            <a:t>E</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t>F</a:t>
                          </a:r>
                          <a:endParaRPr lang="en-US" sz="1600" dirty="0"/>
                        </a:p>
                      </a:txBody>
                      <a:tcPr anchor="ctr">
                        <a:lnL w="1270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r h="335280">
                    <a:tc>
                      <a:txBody>
                        <a:bodyPr/>
                        <a:lstStyle/>
                        <a:p>
                          <a:endParaRPr lang="zh-CN"/>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blipFill>
                      </a:tcPr>
                    </a:tc>
                    <a:tc>
                      <a:txBody>
                        <a:bodyPr/>
                        <a:lstStyle/>
                        <a:p>
                          <a:pPr algn="ctr"/>
                          <a:r>
                            <a:rPr lang="en-US" altLang="zh-CN" sz="1600" dirty="0"/>
                            <a:t>95</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t>85</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CN" sz="1600" dirty="0"/>
                            <a:t>75</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t>65</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CN" sz="1600" dirty="0"/>
                            <a:t>55</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t>90</a:t>
                          </a:r>
                          <a:endParaRPr lang="en-US" sz="16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r h="365760">
                    <a:tc>
                      <a:txBody>
                        <a:bodyPr/>
                        <a:lstStyle/>
                        <a:p>
                          <a:endParaRPr lang="zh-CN"/>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blipFill>
                      </a:tcPr>
                    </a:tc>
                    <a:tc>
                      <a:txBody>
                        <a:bodyPr/>
                        <a:lstStyle/>
                        <a:p>
                          <a:pPr algn="ctr"/>
                          <a:r>
                            <a:rPr lang="en-US" altLang="zh-CN" sz="1600" dirty="0"/>
                            <a:t>1.0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dirty="0"/>
                            <a:t>2.0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CN" dirty="0"/>
                            <a:t>3.0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dirty="0"/>
                            <a:t>4.0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CN" dirty="0"/>
                            <a:t>5.0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dirty="0"/>
                            <a:t>1.5</a:t>
                          </a:r>
                          <a:endParaRPr lang="en-US"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bl>
              </a:graphicData>
            </a:graphic>
          </p:graphicFrame>
        </mc:Fallback>
      </mc:AlternateContent>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469899" y="842330"/>
            <a:ext cx="11303001" cy="426633"/>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数据散布度量</a:t>
            </a:r>
          </a:p>
        </p:txBody>
      </p:sp>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数据基本概念</a:t>
            </a:r>
          </a:p>
        </p:txBody>
      </p:sp>
      <p:sp>
        <p:nvSpPr>
          <p:cNvPr id="2" name="圆角矩形 7"/>
          <p:cNvSpPr/>
          <p:nvPr/>
        </p:nvSpPr>
        <p:spPr>
          <a:xfrm>
            <a:off x="887270" y="1456001"/>
            <a:ext cx="10604500" cy="4653853"/>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3" name="TextBox 8"/>
              <p:cNvSpPr txBox="1"/>
              <p:nvPr/>
            </p:nvSpPr>
            <p:spPr>
              <a:xfrm>
                <a:off x="1238940" y="1614456"/>
                <a:ext cx="9901159" cy="4401214"/>
              </a:xfrm>
              <a:prstGeom prst="rect">
                <a:avLst/>
              </a:prstGeom>
              <a:noFill/>
            </p:spPr>
            <p:txBody>
              <a:bodyPr wrap="square" lIns="0" tIns="0" rIns="0" bIns="0" rtlCol="0" anchor="t">
                <a:noAutofit/>
              </a:bodyPr>
              <a:lstStyle/>
              <a:p>
                <a:pPr defTabSz="1219200">
                  <a:spcBef>
                    <a:spcPct val="20000"/>
                  </a:spcBef>
                  <a:defRPr/>
                </a:pPr>
                <a:r>
                  <a:rPr lang="zh-CN" altLang="en-US" sz="16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协方差矩阵：学生成绩与游戏时间</a:t>
                </a:r>
              </a:p>
              <a:p>
                <a:pPr defTabSz="1219200">
                  <a:spcBef>
                    <a:spcPct val="20000"/>
                  </a:spcBef>
                  <a:defRPr/>
                </a:pPr>
                <a:r>
                  <a:rPr lang="zh-CN" altLang="en-US" sz="14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第一步：计算均值</a:t>
                </a:r>
                <a:endParaRPr lang="en-US" altLang="zh-CN" sz="14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14:m>
                  <m:oMathPara xmlns:m="http://schemas.openxmlformats.org/officeDocument/2006/math">
                    <m:oMathParaPr>
                      <m:jc m:val="centerGroup"/>
                    </m:oMathParaPr>
                    <m:oMath xmlns:m="http://schemas.openxmlformats.org/officeDocument/2006/math">
                      <m:acc>
                        <m:accPr>
                          <m:chr m:val="̅"/>
                          <m:ctrlP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accPr>
                        <m:e>
                          <m:sSub>
                            <m:sSubPr>
                              <m:ctrlP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b>
                          </m:sSub>
                        </m:e>
                      </m:acc>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1.0+2.0+3.0+4.0+5.0+1.5</m:t>
                          </m:r>
                        </m:num>
                        <m:den>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6</m:t>
                          </m:r>
                        </m:den>
                      </m:f>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16.5</m:t>
                          </m:r>
                        </m:num>
                        <m:den>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6</m:t>
                          </m:r>
                        </m:den>
                      </m:f>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=2.75</m:t>
                      </m:r>
                      <m:r>
                        <a:rPr lang="en-US" sz="1400" i="1" dirty="0" smtClean="0">
                          <a:solidFill>
                            <a:schemeClr val="tx1"/>
                          </a:solidFill>
                          <a:latin typeface="Cambria Math" panose="02040503050406030204" pitchFamily="18" charset="0"/>
                        </a:rPr>
                        <m:t>​</m:t>
                      </m:r>
                      <m:acc>
                        <m:accPr>
                          <m:chr m:val="̅"/>
                          <m:ctrlPr>
                            <a:rPr lang="en-US" altLang="zh-CN" sz="1400" i="1" dirty="0" smtClean="0">
                              <a:solidFill>
                                <a:schemeClr val="tx1"/>
                              </a:solidFill>
                              <a:latin typeface="Cambria Math" panose="02040503050406030204" pitchFamily="18" charset="0"/>
                              <a:sym typeface="Arial" panose="020B0604020202020204" pitchFamily="34" charset="0"/>
                            </a:rPr>
                          </m:ctrlPr>
                        </m:accPr>
                        <m:e>
                          <m:sSub>
                            <m:sSubPr>
                              <m:ctrlPr>
                                <a:rPr lang="en-US" altLang="zh-CN" sz="1400" i="1" dirty="0" smtClean="0">
                                  <a:solidFill>
                                    <a:schemeClr val="tx1"/>
                                  </a:solidFill>
                                  <a:latin typeface="Cambria Math" panose="02040503050406030204" pitchFamily="18" charset="0"/>
                                  <a:sym typeface="Arial" panose="020B0604020202020204" pitchFamily="34" charset="0"/>
                                </a:rPr>
                              </m:ctrlPr>
                            </m:sSubPr>
                            <m:e>
                              <m:r>
                                <a:rPr lang="en-US" altLang="zh-CN" sz="1400"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e>
                      </m:acc>
                      <m:r>
                        <a:rPr lang="en-US" altLang="zh-CN" sz="1400"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400"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400"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95+85+75+65+55+90</m:t>
                          </m:r>
                        </m:num>
                        <m:den>
                          <m:r>
                            <a:rPr lang="en-US" altLang="zh-CN" sz="1400"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6</m:t>
                          </m:r>
                        </m:den>
                      </m:f>
                      <m:r>
                        <a:rPr lang="en-US" altLang="zh-CN" sz="1400"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400"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400"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465</m:t>
                          </m:r>
                        </m:num>
                        <m:den>
                          <m:r>
                            <a:rPr lang="en-US" altLang="zh-CN" sz="1400"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6</m:t>
                          </m:r>
                        </m:den>
                      </m:f>
                      <m:r>
                        <a:rPr lang="en-US" altLang="zh-CN" sz="1400"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77.5</m:t>
                      </m:r>
                    </m:oMath>
                  </m:oMathPara>
                </a14:m>
                <a:endParaRPr lang="en-US" altLang="zh-CN" sz="14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endParaRPr lang="en-US" altLang="zh-CN" sz="14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endParaRPr lang="en-US" altLang="zh-CN" sz="1400" dirty="0">
                  <a:latin typeface="思源黑体 CN Regular" panose="020B0500000000000000" charset="-122"/>
                  <a:ea typeface="思源黑体 CN Regular" panose="020B0500000000000000" charset="-122"/>
                </a:endParaRPr>
              </a:p>
              <a:p>
                <a:pPr defTabSz="1219200">
                  <a:spcBef>
                    <a:spcPct val="20000"/>
                  </a:spcBef>
                  <a:defRPr/>
                </a:pPr>
                <a:r>
                  <a:rPr lang="zh-CN" altLang="en-US" sz="1400" dirty="0">
                    <a:latin typeface="思源黑体 CN Regular" panose="020B0500000000000000" charset="-122"/>
                    <a:ea typeface="思源黑体 CN Regular" panose="020B0500000000000000" charset="-122"/>
                  </a:rPr>
                  <a:t>第二步：计算协方差矩阵元素</a:t>
                </a:r>
              </a:p>
              <a:p>
                <a:pPr defTabSz="1219200">
                  <a:spcBef>
                    <a:spcPct val="20000"/>
                  </a:spcBef>
                  <a:defRPr/>
                </a:pPr>
                <a:endParaRPr lang="en-US" altLang="zh-CN" sz="14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endParaRPr lang="en-US" altLang="zh-CN" sz="14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endParaRPr lang="en-US" altLang="zh-CN" sz="14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endParaRPr lang="en-US" altLang="zh-CN" sz="14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endParaRPr lang="en-US" altLang="zh-CN" sz="14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endParaRPr lang="en-US" altLang="zh-CN" sz="1400"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r>
                  <a:rPr lang="zh-CN" altLang="en-US" sz="1400" dirty="0">
                    <a:solidFill>
                      <a:schemeClr val="tx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第三步：得到协方差矩阵</a:t>
                </a:r>
                <a:endParaRPr lang="en-US" altLang="zh-CN" sz="1400" dirty="0">
                  <a:solidFill>
                    <a:schemeClr val="tx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endParaRPr lang="en-US" altLang="zh-CN" sz="1400"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14:m>
                  <m:oMathPara xmlns:m="http://schemas.openxmlformats.org/officeDocument/2006/math">
                    <m:oMathParaPr>
                      <m:jc m:val="centerGroup"/>
                    </m:oMathParaPr>
                    <m:oMath xmlns:m="http://schemas.openxmlformats.org/officeDocument/2006/math">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𝑺</m:t>
                      </m:r>
                      <m:r>
                        <a:rPr lang="en-US" altLang="zh-CN" sz="1400"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 </m:t>
                      </m:r>
                      <m:d>
                        <m:dPr>
                          <m:begChr m:val="["/>
                          <m:endChr m:val="]"/>
                          <m:ctrlPr>
                            <a:rPr lang="en-US" altLang="zh-CN" sz="1400" i="1" dirty="0" smtClean="0">
                              <a:solidFill>
                                <a:schemeClr val="tx1"/>
                              </a:solidFill>
                              <a:latin typeface="Cambria Math" panose="02040503050406030204" pitchFamily="18" charset="0"/>
                              <a:ea typeface="思源黑体 CN Regular" panose="020B0500000000000000" charset="-122"/>
                              <a:sym typeface="Arial" panose="020B0604020202020204" pitchFamily="34" charset="0"/>
                            </a:rPr>
                          </m:ctrlPr>
                        </m:dPr>
                        <m:e>
                          <m:m>
                            <m:mPr>
                              <m:mcs>
                                <m:mc>
                                  <m:mcPr>
                                    <m:count m:val="2"/>
                                    <m:mcJc m:val="center"/>
                                  </m:mcPr>
                                </m:mc>
                              </m:mcs>
                              <m:ctrlPr>
                                <a:rPr lang="en-US" altLang="zh-CN" sz="1400" i="1" dirty="0" smtClean="0">
                                  <a:solidFill>
                                    <a:schemeClr val="tx1"/>
                                  </a:solidFill>
                                  <a:latin typeface="Cambria Math" panose="02040503050406030204" pitchFamily="18" charset="0"/>
                                  <a:ea typeface="思源黑体 CN Regular" panose="020B0500000000000000" charset="-122"/>
                                  <a:sym typeface="Arial" panose="020B0604020202020204" pitchFamily="34" charset="0"/>
                                </a:rPr>
                              </m:ctrlPr>
                            </m:mPr>
                            <m:mr>
                              <m:e>
                                <m:sSub>
                                  <m:sSubPr>
                                    <m:ctrlPr>
                                      <a:rPr lang="en-US" altLang="zh-CN" sz="1400" i="1" dirty="0" smtClean="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𝑠</m:t>
                                    </m:r>
                                  </m:e>
                                  <m: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11</m:t>
                                    </m:r>
                                  </m:sub>
                                </m:sSub>
                              </m:e>
                              <m:e>
                                <m:sSub>
                                  <m:sSubPr>
                                    <m:ctrlPr>
                                      <a:rPr lang="en-US" altLang="zh-CN" sz="1400" i="1" dirty="0" smtClean="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𝑠</m:t>
                                    </m:r>
                                  </m:e>
                                  <m: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12</m:t>
                                    </m:r>
                                  </m:sub>
                                </m:sSub>
                              </m:e>
                            </m:mr>
                            <m:mr>
                              <m:e>
                                <m:sSub>
                                  <m:sSubPr>
                                    <m:ctrlPr>
                                      <a:rPr lang="en-US" altLang="zh-CN" sz="1400" i="1" dirty="0" smtClean="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𝑠</m:t>
                                    </m:r>
                                  </m:e>
                                  <m: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21</m:t>
                                    </m:r>
                                  </m:sub>
                                </m:sSub>
                              </m:e>
                              <m:e>
                                <m:sSub>
                                  <m:sSubPr>
                                    <m:ctrlPr>
                                      <a:rPr lang="en-US" altLang="zh-CN" sz="1400" i="1" dirty="0" smtClean="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𝑠</m:t>
                                    </m:r>
                                  </m:e>
                                  <m: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22</m:t>
                                    </m:r>
                                  </m:sub>
                                </m:sSub>
                              </m:e>
                            </m:mr>
                          </m:m>
                        </m:e>
                      </m:d>
                      <m:r>
                        <a:rPr lang="en-US" altLang="zh-CN" sz="1400" i="1" dirty="0" smtClean="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d>
                        <m:dPr>
                          <m:begChr m:val="["/>
                          <m:endChr m:val="]"/>
                          <m:ctrlPr>
                            <a:rPr lang="en-US" altLang="zh-CN" sz="1400" i="1" dirty="0" smtClean="0">
                              <a:solidFill>
                                <a:schemeClr val="tx1"/>
                              </a:solidFill>
                              <a:latin typeface="Cambria Math" panose="02040503050406030204" pitchFamily="18" charset="0"/>
                              <a:ea typeface="思源黑体 CN Regular" panose="020B0500000000000000" charset="-122"/>
                              <a:sym typeface="Arial" panose="020B0604020202020204" pitchFamily="34" charset="0"/>
                            </a:rPr>
                          </m:ctrlPr>
                        </m:dPr>
                        <m:e>
                          <m:m>
                            <m:mPr>
                              <m:mcs>
                                <m:mc>
                                  <m:mcPr>
                                    <m:count m:val="2"/>
                                    <m:mcJc m:val="center"/>
                                  </m:mcPr>
                                </m:mc>
                              </m:mcs>
                              <m:ctrlPr>
                                <a:rPr lang="en-US" altLang="zh-CN" sz="1400" i="1" dirty="0" smtClean="0">
                                  <a:solidFill>
                                    <a:schemeClr val="tx1"/>
                                  </a:solidFill>
                                  <a:latin typeface="Cambria Math" panose="02040503050406030204" pitchFamily="18" charset="0"/>
                                  <a:ea typeface="思源黑体 CN Regular" panose="020B0500000000000000" charset="-122"/>
                                  <a:sym typeface="Arial" panose="020B0604020202020204" pitchFamily="34" charset="0"/>
                                </a:rPr>
                              </m:ctrlPr>
                            </m:mPr>
                            <m:mr>
                              <m:e>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197.92</m:t>
                                </m:r>
                              </m:e>
                              <m:e>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−19.79</m:t>
                                </m:r>
                              </m:e>
                            </m:mr>
                            <m:mr>
                              <m:e>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−19.79</m:t>
                                </m:r>
                              </m:e>
                              <m:e>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1.98</m:t>
                                </m:r>
                              </m:e>
                            </m:mr>
                          </m:m>
                        </m:e>
                      </m:d>
                    </m:oMath>
                  </m:oMathPara>
                </a14:m>
                <a:endParaRPr lang="en-US" altLang="zh-CN" sz="1400"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endParaRPr lang="en-US" altLang="zh-CN" sz="1400" i="1" dirty="0">
                  <a:solidFill>
                    <a:schemeClr val="tx1"/>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endParaRPr>
              </a:p>
            </p:txBody>
          </p:sp>
        </mc:Choice>
        <mc:Fallback xmlns="">
          <p:sp>
            <p:nvSpPr>
              <p:cNvPr id="3" name="TextBox 8"/>
              <p:cNvSpPr txBox="1">
                <a:spLocks noRot="1" noChangeAspect="1" noMove="1" noResize="1" noEditPoints="1" noAdjustHandles="1" noChangeArrowheads="1" noChangeShapeType="1" noTextEdit="1"/>
              </p:cNvSpPr>
              <p:nvPr/>
            </p:nvSpPr>
            <p:spPr>
              <a:xfrm>
                <a:off x="1238940" y="1614456"/>
                <a:ext cx="9901159" cy="4401214"/>
              </a:xfrm>
              <a:prstGeom prst="rect">
                <a:avLst/>
              </a:prstGeom>
              <a:blipFill rotWithShape="1">
                <a:blip r:embed="rId4"/>
                <a:stretch>
                  <a:fillRect l="-1" t="-555" r="3" b="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4771350" y="3563108"/>
                <a:ext cx="2480872" cy="1322542"/>
              </a:xfrm>
              <a:prstGeom prst="rect">
                <a:avLst/>
              </a:prstGeom>
              <a:noFill/>
            </p:spPr>
            <p:txBody>
              <a:bodyPr wrap="none" rtlCol="0">
                <a:spAutoFit/>
              </a:bodyPr>
              <a:lstStyle/>
              <a:p>
                <a:pPr defTabSz="1219200">
                  <a:spcBef>
                    <a:spcPct val="20000"/>
                  </a:spcBef>
                  <a:defRPr/>
                </a:pPr>
                <a14:m>
                  <m:oMath xmlns:m="http://schemas.openxmlformats.org/officeDocument/2006/math">
                    <m:sSub>
                      <m:sSub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𝑠</m:t>
                        </m:r>
                      </m:e>
                      <m: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22</m:t>
                        </m:r>
                      </m:sub>
                    </m:sSub>
                  </m:oMath>
                </a14:m>
                <a:r>
                  <a:rPr lang="zh-CN" altLang="en-US" sz="14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（游戏时间的方差）</a:t>
                </a:r>
                <a:endParaRPr lang="en-US" altLang="zh-CN" sz="14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19405" defTabSz="1219200">
                  <a:spcBef>
                    <a:spcPct val="20000"/>
                  </a:spcBef>
                  <a:defRPr/>
                </a:pPr>
                <a14:m>
                  <m:oMathPara xmlns:m="http://schemas.openxmlformats.org/officeDocument/2006/math">
                    <m:oMathParaPr>
                      <m:jc m:val="centerGroup"/>
                    </m:oMathParaPr>
                    <m:oMath xmlns:m="http://schemas.openxmlformats.org/officeDocument/2006/math">
                      <m:sSub>
                        <m:sSub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𝑠</m:t>
                          </m:r>
                        </m:e>
                        <m: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22</m:t>
                          </m:r>
                        </m:sub>
                      </m:s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num>
                        <m:den>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6</m:t>
                          </m:r>
                        </m:den>
                      </m:f>
                      <m:nary>
                        <m:naryPr>
                          <m:chr m:val="∑"/>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naryPr>
                        <m: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up>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6</m:t>
                          </m:r>
                        </m:sup>
                        <m:e>
                          <m:sSup>
                            <m:sSup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d>
                                <m:d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sub>
                                  </m:s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−2.75</m:t>
                                  </m:r>
                                </m:e>
                              </m:d>
                            </m:e>
                            <m:sup>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e>
                      </m:nary>
                    </m:oMath>
                  </m:oMathPara>
                </a14:m>
                <a:endPar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endParaRPr>
              </a:p>
              <a:p>
                <a:pPr marL="319405" defTabSz="1219200">
                  <a:spcBef>
                    <a:spcPct val="20000"/>
                  </a:spcBef>
                  <a:defRPr/>
                </a:pPr>
                <a14:m>
                  <m:oMathPara xmlns:m="http://schemas.openxmlformats.org/officeDocument/2006/math">
                    <m:oMathParaPr>
                      <m:jc m:val="centerGroup"/>
                    </m:oMathParaPr>
                    <m:oMath xmlns:m="http://schemas.openxmlformats.org/officeDocument/2006/math">
                      <m:sSub>
                        <m:sSub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𝑠</m:t>
                          </m:r>
                        </m:e>
                        <m: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22</m:t>
                          </m:r>
                        </m:sub>
                      </m:s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11.8750</m:t>
                          </m:r>
                        </m:num>
                        <m:den>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6</m:t>
                          </m:r>
                        </m:den>
                      </m:f>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≈1.9792</m:t>
                      </m:r>
                    </m:oMath>
                  </m:oMathPara>
                </a14:m>
                <a:endParaRPr lang="en-US" sz="1400" dirty="0"/>
              </a:p>
            </p:txBody>
          </p:sp>
        </mc:Choice>
        <mc:Fallback xmlns="">
          <p:sp>
            <p:nvSpPr>
              <p:cNvPr id="5" name="TextBox 4"/>
              <p:cNvSpPr txBox="1">
                <a:spLocks noRot="1" noChangeAspect="1" noMove="1" noResize="1" noEditPoints="1" noAdjustHandles="1" noChangeArrowheads="1" noChangeShapeType="1" noTextEdit="1"/>
              </p:cNvSpPr>
              <p:nvPr/>
            </p:nvSpPr>
            <p:spPr>
              <a:xfrm>
                <a:off x="4771350" y="3563108"/>
                <a:ext cx="2480872" cy="1322542"/>
              </a:xfrm>
              <a:prstGeom prst="rect">
                <a:avLst/>
              </a:prstGeom>
              <a:blipFill rotWithShape="1">
                <a:blip r:embed="rId5"/>
                <a:stretch>
                  <a:fillRect l="-24" t="-9" r="-3742" b="4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1768877" y="3563108"/>
                <a:ext cx="2472536" cy="1537985"/>
              </a:xfrm>
              <a:prstGeom prst="rect">
                <a:avLst/>
              </a:prstGeom>
              <a:noFill/>
            </p:spPr>
            <p:txBody>
              <a:bodyPr wrap="none" rtlCol="0">
                <a:spAutoFit/>
              </a:bodyPr>
              <a:lstStyle/>
              <a:p>
                <a:pPr defTabSz="1219200">
                  <a:spcBef>
                    <a:spcPct val="20000"/>
                  </a:spcBef>
                  <a:defRPr/>
                </a:pPr>
                <a14:m>
                  <m:oMath xmlns:m="http://schemas.openxmlformats.org/officeDocument/2006/math">
                    <m:sSub>
                      <m:sSub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𝑠</m:t>
                        </m:r>
                      </m:e>
                      <m: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11</m:t>
                        </m:r>
                      </m:sub>
                    </m:sSub>
                  </m:oMath>
                </a14:m>
                <a:r>
                  <a:rPr lang="zh-CN" altLang="en-US" sz="14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（数学成绩的方差）</a:t>
                </a:r>
                <a:endParaRPr lang="en-US" altLang="zh-CN" sz="14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19405" defTabSz="1219200">
                  <a:spcBef>
                    <a:spcPct val="20000"/>
                  </a:spcBef>
                  <a:defRPr/>
                </a:pPr>
                <a14:m>
                  <m:oMathPara xmlns:m="http://schemas.openxmlformats.org/officeDocument/2006/math">
                    <m:oMathParaPr>
                      <m:jc m:val="left"/>
                    </m:oMathParaPr>
                    <m:oMath xmlns:m="http://schemas.openxmlformats.org/officeDocument/2006/math">
                      <m:sSub>
                        <m:sSub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𝑠</m:t>
                          </m:r>
                        </m:e>
                        <m: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11</m:t>
                          </m:r>
                        </m:sub>
                      </m:s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num>
                        <m:den>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6</m:t>
                          </m:r>
                        </m:den>
                      </m:f>
                      <m:nary>
                        <m:naryPr>
                          <m:chr m:val="∑"/>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naryPr>
                        <m: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up>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6</m:t>
                          </m:r>
                        </m:sup>
                        <m:e>
                          <m:sSup>
                            <m:sSup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d>
                                <m:d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sub>
                                  </m:s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−77.5</m:t>
                                  </m:r>
                                </m:e>
                              </m:d>
                            </m:e>
                            <m:sup>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e>
                      </m:nary>
                    </m:oMath>
                  </m:oMathPara>
                </a14:m>
                <a:endParaRPr lang="en-US" altLang="zh-CN" sz="14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19405" defTabSz="1219200">
                  <a:spcBef>
                    <a:spcPct val="20000"/>
                  </a:spcBef>
                  <a:defRPr/>
                </a:pPr>
                <a14:m>
                  <m:oMathPara xmlns:m="http://schemas.openxmlformats.org/officeDocument/2006/math">
                    <m:oMathParaPr>
                      <m:jc m:val="left"/>
                    </m:oMathParaPr>
                    <m:oMath xmlns:m="http://schemas.openxmlformats.org/officeDocument/2006/math">
                      <m:sSub>
                        <m:sSub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𝑠</m:t>
                          </m:r>
                        </m:e>
                        <m: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11</m:t>
                          </m:r>
                        </m:sub>
                      </m:s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1187.50</m:t>
                          </m:r>
                        </m:num>
                        <m:den>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6</m:t>
                          </m:r>
                        </m:den>
                      </m:f>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≈197.92</m:t>
                      </m:r>
                    </m:oMath>
                  </m:oMathPara>
                </a14:m>
                <a:endParaRPr lang="en-US" altLang="zh-CN" sz="14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endParaRPr lang="en-US" sz="1400" dirty="0"/>
              </a:p>
            </p:txBody>
          </p:sp>
        </mc:Choice>
        <mc:Fallback xmlns="">
          <p:sp>
            <p:nvSpPr>
              <p:cNvPr id="6" name="TextBox 5"/>
              <p:cNvSpPr txBox="1">
                <a:spLocks noRot="1" noChangeAspect="1" noMove="1" noResize="1" noEditPoints="1" noAdjustHandles="1" noChangeArrowheads="1" noChangeShapeType="1" noTextEdit="1"/>
              </p:cNvSpPr>
              <p:nvPr/>
            </p:nvSpPr>
            <p:spPr>
              <a:xfrm>
                <a:off x="1768877" y="3563108"/>
                <a:ext cx="2472536" cy="1537985"/>
              </a:xfrm>
              <a:prstGeom prst="rect">
                <a:avLst/>
              </a:prstGeom>
              <a:blipFill rotWithShape="1">
                <a:blip r:embed="rId6"/>
                <a:stretch>
                  <a:fillRect l="-16" t="-8" r="10" b="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7782159" y="3563108"/>
                <a:ext cx="3342390" cy="1537985"/>
              </a:xfrm>
              <a:prstGeom prst="rect">
                <a:avLst/>
              </a:prstGeom>
              <a:noFill/>
            </p:spPr>
            <p:txBody>
              <a:bodyPr wrap="none" rtlCol="0">
                <a:spAutoFit/>
              </a:bodyPr>
              <a:lstStyle/>
              <a:p>
                <a:pPr defTabSz="1219200">
                  <a:spcBef>
                    <a:spcPct val="20000"/>
                  </a:spcBef>
                  <a:defRPr/>
                </a:pPr>
                <a14:m>
                  <m:oMath xmlns:m="http://schemas.openxmlformats.org/officeDocument/2006/math">
                    <m:sSub>
                      <m:sSub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𝑠</m:t>
                        </m:r>
                      </m:e>
                      <m: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12</m:t>
                        </m:r>
                      </m:sub>
                    </m:sSub>
                  </m:oMath>
                </a14:m>
                <a:r>
                  <a:rPr lang="zh-CN" altLang="en-US" sz="14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（数学成绩与游戏时间的协方差）</a:t>
                </a:r>
                <a:endParaRPr lang="en-US" altLang="zh-CN" sz="14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14:m>
                  <m:oMathPara xmlns:m="http://schemas.openxmlformats.org/officeDocument/2006/math">
                    <m:oMathParaPr>
                      <m:jc m:val="centerGroup"/>
                    </m:oMathParaPr>
                    <m:oMath xmlns:m="http://schemas.openxmlformats.org/officeDocument/2006/math">
                      <m:sSub>
                        <m:sSub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𝑠</m:t>
                          </m:r>
                        </m:e>
                        <m: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12</m:t>
                          </m:r>
                        </m:sub>
                      </m:s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num>
                        <m:den>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6</m:t>
                          </m:r>
                        </m:den>
                      </m:f>
                      <m:nary>
                        <m:naryPr>
                          <m:chr m:val="∑"/>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naryPr>
                        <m: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up>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6</m:t>
                          </m:r>
                        </m:sup>
                        <m:e>
                          <m:d>
                            <m:d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sub>
                              </m:s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−77.5</m:t>
                              </m:r>
                            </m:e>
                          </m:d>
                          <m:d>
                            <m:d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sub>
                              </m:s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−2.75</m:t>
                              </m:r>
                            </m:e>
                          </m:d>
                        </m:e>
                      </m:nary>
                    </m:oMath>
                  </m:oMathPara>
                </a14:m>
                <a:endPar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14:m>
                  <m:oMathPara xmlns:m="http://schemas.openxmlformats.org/officeDocument/2006/math">
                    <m:oMathParaPr>
                      <m:jc m:val="centerGroup"/>
                    </m:oMathParaPr>
                    <m:oMath xmlns:m="http://schemas.openxmlformats.org/officeDocument/2006/math">
                      <m:sSub>
                        <m:sSub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𝑠</m:t>
                          </m:r>
                        </m:e>
                        <m: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12</m:t>
                          </m:r>
                        </m:sub>
                      </m:sSub>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−118.75</m:t>
                          </m:r>
                        </m:num>
                        <m:den>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6</m:t>
                          </m:r>
                        </m:den>
                      </m:f>
                      <m:r>
                        <a:rPr lang="en-US" altLang="zh-CN" sz="1400" i="1" dirty="0">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≈−19.792</m:t>
                      </m:r>
                    </m:oMath>
                  </m:oMathPara>
                </a14:m>
                <a:endParaRPr lang="en-US" altLang="zh-CN" sz="1400" dirty="0">
                  <a:ea typeface="思源黑体 CN Regular" panose="020B0500000000000000" charset="-122"/>
                  <a:cs typeface="思源黑体 CN Regular" panose="020B0500000000000000" charset="-122"/>
                  <a:sym typeface="Arial" panose="020B0604020202020204" pitchFamily="34" charset="0"/>
                </a:endParaRPr>
              </a:p>
              <a:p>
                <a:endParaRPr lang="en-US" sz="1400" dirty="0"/>
              </a:p>
            </p:txBody>
          </p:sp>
        </mc:Choice>
        <mc:Fallback xmlns="">
          <p:sp>
            <p:nvSpPr>
              <p:cNvPr id="7" name="TextBox 6"/>
              <p:cNvSpPr txBox="1">
                <a:spLocks noRot="1" noChangeAspect="1" noMove="1" noResize="1" noEditPoints="1" noAdjustHandles="1" noChangeArrowheads="1" noChangeShapeType="1" noTextEdit="1"/>
              </p:cNvSpPr>
              <p:nvPr/>
            </p:nvSpPr>
            <p:spPr>
              <a:xfrm>
                <a:off x="7782159" y="3563108"/>
                <a:ext cx="3342390" cy="1537985"/>
              </a:xfrm>
              <a:prstGeom prst="rect">
                <a:avLst/>
              </a:prstGeom>
              <a:blipFill rotWithShape="1">
                <a:blip r:embed="rId7"/>
                <a:stretch>
                  <a:fillRect l="-7" t="-8" r="19" b="9"/>
                </a:stretch>
              </a:blipFill>
            </p:spPr>
            <p:txBody>
              <a:bodyPr/>
              <a:lstStyle/>
              <a:p>
                <a:r>
                  <a:rPr lang="zh-CN" altLang="en-US">
                    <a:noFill/>
                  </a:rPr>
                  <a:t> </a:t>
                </a:r>
              </a:p>
            </p:txBody>
          </p:sp>
        </mc:Fallback>
      </mc:AlternateContent>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extBox 8"/>
              <p:cNvSpPr txBox="1"/>
              <p:nvPr/>
            </p:nvSpPr>
            <p:spPr>
              <a:xfrm>
                <a:off x="675410" y="842330"/>
                <a:ext cx="10609118" cy="4851888"/>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数据散布度量</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300355" indent="-285750" defTabSz="1219200">
                  <a:spcBef>
                    <a:spcPct val="20000"/>
                  </a:spcBef>
                  <a:buFont typeface="Arial" panose="020B0604020202020204" pitchFamily="34" charset="0"/>
                  <a:buChar char="•"/>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协方差用于度量两个属性的协同变化程度。若协方差的值接近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0</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，表示两个变量之间没有显著的（线性）关系。然而，协方差的数值大小受变量的单位和取值范围影响。例如，身高若以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m</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（米）为单位，身高与体重的协方差可能为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0.5</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，当身高改为以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cm</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（厘米）为单位时，协方差将扩大至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50</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，但两者的线性关系本质未变。因此，协方差无法直接用于跨变量对的关联强度比较。相比协方差，相关性通过标准化协方差消除了单位的影响，其取值范围为</a:t>
                </a:r>
                <a14:m>
                  <m:oMath xmlns:m="http://schemas.openxmlformats.org/officeDocument/2006/math">
                    <m:r>
                      <a:rPr lang="zh-CN" altLang="en-US"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1, 1</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，可能更适合反映两个属性之间（线性）相关的程度。</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300355" indent="-285750" defTabSz="1219200">
                  <a:spcBef>
                    <a:spcPct val="20000"/>
                  </a:spcBef>
                  <a:buFont typeface="Arial" panose="020B0604020202020204" pitchFamily="34" charset="0"/>
                  <a:buChar char="•"/>
                  <a:defRPr/>
                </a:pP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300355" indent="-285750" defTabSz="1219200">
                  <a:spcBef>
                    <a:spcPct val="20000"/>
                  </a:spcBef>
                  <a:buFont typeface="Arial" panose="020B0604020202020204" pitchFamily="34" charset="0"/>
                  <a:buChar char="•"/>
                  <a:defRPr/>
                </a:pP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相关矩阵：</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相关矩阵（</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correlation matrix</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14:m>
                  <m:oMath xmlns:m="http://schemas.openxmlformats.org/officeDocument/2006/math">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𝑹</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的第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𝑖𝑗</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个元素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𝑖𝑗</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表示数据的第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个属性和第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个属性之间的相关性。其定义为：</a:t>
                </a:r>
              </a:p>
              <a:p>
                <a:pPr marL="323850" defTabSz="1219200">
                  <a:spcBef>
                    <a:spcPct val="20000"/>
                  </a:spcBef>
                  <a:defRPr/>
                </a:pPr>
                <a14:m>
                  <m:oMathPara xmlns:m="http://schemas.openxmlformats.org/officeDocument/2006/math">
                    <m:oMathParaPr>
                      <m:jc m:val="centerGroup"/>
                    </m:oMathParaPr>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𝑖𝑗</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m:rPr>
                          <m:nor/>
                        </m:rPr>
                        <a:rPr lang="en-US" altLang="zh-CN" sz="1600" i="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correlation</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m:rPr>
                              <m:nor/>
                            </m:rPr>
                            <a:rPr lang="en-US" altLang="zh-CN" sz="1600" i="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covariance</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num>
                        <m:den>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𝜎</m:t>
                              </m:r>
                            </m:e>
                            <m:sub>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sub>
                          </m:sSub>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𝜎</m:t>
                              </m:r>
                            </m:e>
                            <m:sub>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sub>
                          </m:sSub>
                        </m:den>
                      </m:f>
                    </m:oMath>
                  </m:oMathPara>
                </a14:m>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323850" defTabSz="1219200">
                  <a:spcBef>
                    <a:spcPct val="20000"/>
                  </a:spcBef>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其中，</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𝜎</m:t>
                        </m:r>
                      </m:e>
                      <m:sub>
                        <m:sSub>
                          <m:sSubPr>
                            <m:ctrlP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𝜎</m:t>
                        </m:r>
                      </m:e>
                      <m:sub>
                        <m:sSub>
                          <m:sSubPr>
                            <m:ctrlP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分别是属性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的标准差。相关性</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𝑖𝑗</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的值范围为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 1]</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，越接近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1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或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-1</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，表示两个属性的线性关系越强。而相关矩阵 </a:t>
                </a:r>
                <a14:m>
                  <m:oMath xmlns:m="http://schemas.openxmlformats.org/officeDocument/2006/math">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𝑹</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的对角线上的元素恒为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1</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，这是因为对于任意属性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，其与自身的相关性总是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1</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，即 </a:t>
                </a:r>
                <a14:m>
                  <m:oMath xmlns:m="http://schemas.openxmlformats.org/officeDocument/2006/math">
                    <m:r>
                      <m:rPr>
                        <m:nor/>
                      </m:rPr>
                      <a:rPr lang="en-US" altLang="zh-CN" sz="1600" i="0"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correlation</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e>
                    </m:d>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。此外，考虑包含每对数据对象而不是每对属性之间相关性的相关矩阵，也可以为数据分析提供有益的视角。</a:t>
                </a:r>
              </a:p>
            </p:txBody>
          </p:sp>
        </mc:Choice>
        <mc:Fallback xmlns="">
          <p:sp>
            <p:nvSpPr>
              <p:cNvPr id="9" name="TextBox 8"/>
              <p:cNvSpPr txBox="1">
                <a:spLocks noRot="1" noChangeAspect="1" noMove="1" noResize="1" noEditPoints="1" noAdjustHandles="1" noChangeArrowheads="1" noChangeShapeType="1" noTextEdit="1"/>
              </p:cNvSpPr>
              <p:nvPr/>
            </p:nvSpPr>
            <p:spPr>
              <a:xfrm>
                <a:off x="675410" y="842330"/>
                <a:ext cx="10609118" cy="4851888"/>
              </a:xfrm>
              <a:prstGeom prst="rect">
                <a:avLst/>
              </a:prstGeom>
              <a:blipFill rotWithShape="1">
                <a:blip r:embed="rId4"/>
                <a:stretch>
                  <a:fillRect l="-4" t="-635" r="5" b="4"/>
                </a:stretch>
              </a:blipFill>
            </p:spPr>
            <p:txBody>
              <a:bodyPr/>
              <a:lstStyle/>
              <a:p>
                <a:r>
                  <a:rPr lang="zh-CN" altLang="en-US">
                    <a:noFill/>
                  </a:rPr>
                  <a:t> </a:t>
                </a:r>
              </a:p>
            </p:txBody>
          </p:sp>
        </mc:Fallback>
      </mc:AlternateContent>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数据基本概念</a:t>
            </a:r>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extBox 8"/>
              <p:cNvSpPr txBox="1"/>
              <p:nvPr/>
            </p:nvSpPr>
            <p:spPr>
              <a:xfrm>
                <a:off x="633845" y="842330"/>
                <a:ext cx="10557165" cy="3303643"/>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数据相似性</a:t>
                </a:r>
              </a:p>
              <a:p>
                <a:pPr marL="285750" indent="-285750" defTabSz="1219200">
                  <a:spcBef>
                    <a:spcPct val="20000"/>
                  </a:spcBef>
                  <a:buFont typeface="Arial" panose="020B0604020202020204" pitchFamily="34" charset="0"/>
                  <a:buChar char="•"/>
                  <a:defRPr/>
                </a:pP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在聚类、图像识别等应用中，我们需要评估对象之间的相似或相异程度。例如，在推荐系统中，评估两个用户的偏好相似性是很重要的。通过计算用户之间的相似性，系统可以根据其他与当前用户具有相似偏好的人所喜欢的事物，推荐符合其兴趣的内容，从而提升用户体验，并帮助用户发现他们可能感兴趣但尚未接触的物品。</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相似性（</a:t>
                </a:r>
                <a:r>
                  <a:rPr lang="en-US" altLang="zh-CN"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similarity</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相异性（</a:t>
                </a:r>
                <a:r>
                  <a:rPr lang="en-US" altLang="zh-CN"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dissimilarity</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均可视为</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邻近性（</a:t>
                </a:r>
                <a:r>
                  <a:rPr lang="en-US" altLang="zh-CN"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proximity</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。具体来说，如果两个对象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不相似，则它们的相似性度量将返回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0</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（假设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1</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表示完全相似）。相似性值越高，表示对象之间的相似性越大。相异性度量则与之相反。如果两个对象完全相同，则相异性度量返回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0</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；相异性值越高，表示两个对象之间的差异越大。</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633845" y="842330"/>
                <a:ext cx="10557165" cy="3303643"/>
              </a:xfrm>
              <a:prstGeom prst="rect">
                <a:avLst/>
              </a:prstGeom>
              <a:blipFill rotWithShape="1">
                <a:blip r:embed="rId4"/>
                <a:stretch>
                  <a:fillRect l="-1" t="-932" r="-868" b="2"/>
                </a:stretch>
              </a:blipFill>
            </p:spPr>
            <p:txBody>
              <a:bodyPr/>
              <a:lstStyle/>
              <a:p>
                <a:r>
                  <a:rPr lang="zh-CN" altLang="en-US">
                    <a:noFill/>
                  </a:rPr>
                  <a:t> </a:t>
                </a:r>
              </a:p>
            </p:txBody>
          </p:sp>
        </mc:Fallback>
      </mc:AlternateContent>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数据基本概念</a:t>
            </a:r>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extBox 8"/>
              <p:cNvSpPr txBox="1"/>
              <p:nvPr/>
            </p:nvSpPr>
            <p:spPr>
              <a:xfrm>
                <a:off x="573437" y="842330"/>
                <a:ext cx="11128706" cy="6015670"/>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数据相似性</a:t>
                </a:r>
              </a:p>
              <a:p>
                <a:pPr marL="285750" indent="-285750" defTabSz="1219200">
                  <a:spcBef>
                    <a:spcPct val="20000"/>
                  </a:spcBef>
                  <a:buFont typeface="Arial" panose="020B0604020202020204" pitchFamily="34" charset="0"/>
                  <a:buChar char="•"/>
                  <a:defRPr/>
                </a:pP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通常，邻近性度量会被定义为或转换到区间 </a:t>
                </a:r>
                <a14:m>
                  <m:oMath xmlns:m="http://schemas.openxmlformats.org/officeDocument/2006/math">
                    <m:d>
                      <m:dPr>
                        <m:begChr m:val="["/>
                        <m:endChr m:val="]"/>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0,1</m:t>
                        </m:r>
                      </m:e>
                    </m:d>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中的值。这样做的目的是通过使用适当的尺度，使邻近性的数值能够直观地表示两个对象之间的相似性或相异性。如果相似性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𝑠</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（或相异性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𝑑</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）落在 </a:t>
                </a:r>
                <a14:m>
                  <m:oMath xmlns:m="http://schemas.openxmlformats.org/officeDocument/2006/math">
                    <m:d>
                      <m:dPr>
                        <m:begChr m:val="["/>
                        <m:end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0,1</m:t>
                        </m:r>
                      </m:e>
                    </m:d>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区间，则可以通过以下公式进行转换：</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algn="ctr" defTabSz="1219200">
                  <a:spcBef>
                    <a:spcPct val="20000"/>
                  </a:spcBef>
                  <a:defRPr/>
                </a:pPr>
                <a:endPar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endParaRPr>
              </a:p>
              <a:p>
                <a:pPr algn="ctr" defTabSz="1219200">
                  <a:spcBef>
                    <a:spcPct val="20000"/>
                  </a:spcBef>
                  <a:defRPr/>
                </a:pPr>
                <a14:m>
                  <m:oMathPara xmlns:m="http://schemas.openxmlformats.org/officeDocument/2006/math">
                    <m:oMathParaPr>
                      <m:jc m:val="centerGroup"/>
                    </m:oMathParaPr>
                    <m:oMath xmlns:m="http://schemas.openxmlformats.org/officeDocument/2006/math">
                      <m:r>
                        <m:rPr>
                          <m:nor/>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d</m:t>
                      </m:r>
                      <m:d>
                        <m:d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r>
                        <m:rPr>
                          <m:nor/>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s</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m:rPr>
                          <m:nor/>
                        </m:rPr>
                        <a:rPr lang="zh-CN" altLang="en-US" sz="1600" i="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或</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m:rPr>
                          <m:nor/>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s</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r>
                        <m:rPr>
                          <m:nor/>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d</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oMath>
                  </m:oMathPara>
                </a14:m>
                <a:endParaRPr lang="en-US" altLang="zh-CN" sz="1600" i="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algn="ctr" defTabSz="1219200">
                  <a:spcBef>
                    <a:spcPct val="20000"/>
                  </a:spcBef>
                  <a:defRPr/>
                </a:pPr>
                <a:endParaRPr lang="en-US" altLang="zh-CN" sz="1600" i="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78130" defTabSz="1219200">
                  <a:spcBef>
                    <a:spcPct val="20000"/>
                  </a:spcBef>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其中，</a:t>
                </a:r>
                <a14:m>
                  <m:oMath xmlns:m="http://schemas.openxmlformats.org/officeDocument/2006/math">
                    <m:r>
                      <m:rPr>
                        <m:nor/>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d</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表示对象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m:rPr>
                            <m:sty m:val="p"/>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j</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之间的相异性，</a:t>
                </a:r>
                <a14:m>
                  <m:oMath xmlns:m="http://schemas.openxmlformats.org/officeDocument/2006/math">
                    <m:r>
                      <m:rPr>
                        <m:nor/>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s</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表示它们之间的相似性。这样，在 </a:t>
                </a:r>
                <a14:m>
                  <m:oMath xmlns:m="http://schemas.openxmlformats.org/officeDocument/2006/math">
                    <m:d>
                      <m:dPr>
                        <m:begChr m:val="["/>
                        <m:end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0,1</m:t>
                        </m:r>
                      </m:e>
                    </m:d>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区间内的度量提供了一种简单且统一的方式来描述对象之间的相似性或差异性。</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78130" defTabSz="1219200">
                  <a:spcBef>
                    <a:spcPct val="20000"/>
                  </a:spcBef>
                  <a:defRPr/>
                </a:pP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300355" indent="-285750" defTabSz="1219200">
                  <a:spcBef>
                    <a:spcPct val="20000"/>
                  </a:spcBef>
                  <a:buFont typeface="Arial" panose="020B0604020202020204" pitchFamily="34" charset="0"/>
                  <a:buChar char="•"/>
                  <a:defRPr/>
                </a:pP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300355" indent="-285750" defTabSz="1219200">
                  <a:spcBef>
                    <a:spcPct val="20000"/>
                  </a:spcBef>
                  <a:buFont typeface="Arial" panose="020B0604020202020204" pitchFamily="34" charset="0"/>
                  <a:buChar char="•"/>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如果相似性的值不必局限于 </a:t>
                </a:r>
                <a14:m>
                  <m:oMath xmlns:m="http://schemas.openxmlformats.org/officeDocument/2006/math">
                    <m:d>
                      <m:dPr>
                        <m:begChr m:val="["/>
                        <m:end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0,1</m:t>
                        </m:r>
                      </m:e>
                    </m:d>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区间，还可以使用其他变换方式，例如：</a:t>
                </a:r>
              </a:p>
              <a:p>
                <a:pPr marL="278130" algn="ctr" defTabSz="1219200">
                  <a:spcBef>
                    <a:spcPct val="20000"/>
                  </a:spcBef>
                  <a:defRPr/>
                </a:pPr>
                <a:endPar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endParaRPr>
              </a:p>
              <a:p>
                <a:pPr marL="278130" algn="ctr" defTabSz="1219200">
                  <a:spcBef>
                    <a:spcPct val="20000"/>
                  </a:spcBef>
                  <a:defRPr/>
                </a:pPr>
                <a14:m>
                  <m:oMath xmlns:m="http://schemas.openxmlformats.org/officeDocument/2006/math">
                    <m:r>
                      <m:rPr>
                        <m:nor/>
                      </m:r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s</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num>
                      <m:den>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𝑑</m:t>
                        </m:r>
                        <m:r>
                          <a:rPr lang="en-US" altLang="zh-CN" sz="1600" b="0" i="1" dirty="0" smtClean="0">
                            <a:solidFill>
                              <a:schemeClr val="tx1">
                                <a:lumMod val="75000"/>
                                <a:lumOff val="25000"/>
                              </a:schemeClr>
                            </a:solidFill>
                            <a:latin typeface="Cambria Math" panose="02040503050406030204" pitchFamily="18" charset="0"/>
                            <a:ea typeface="Cambria Math" panose="02040503050406030204" pitchFamily="18" charset="0"/>
                            <a:cs typeface="思源黑体 CN Regular" panose="020B0500000000000000" charset="-122"/>
                            <a:sym typeface="Arial" panose="020B0604020202020204" pitchFamily="34" charset="0"/>
                          </a:rPr>
                          <m:t>+</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den>
                    </m:f>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m:rPr>
                        <m:lit/>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m:rPr>
                        <m:nor/>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s</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p>
                      <m:sSup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𝑒</m:t>
                        </m:r>
                      </m:e>
                      <m:sup>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𝑑</m:t>
                        </m:r>
                      </m:sup>
                    </m:s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m:rPr>
                        <m:lit/>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m:rPr>
                        <m:nor/>
                      </m:rPr>
                      <a:rPr lang="zh-CN" altLang="en-US" sz="1600" i="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或</m:t>
                    </m:r>
                    <m:r>
                      <m:rPr>
                        <m:lit/>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m:rPr>
                        <m:nor/>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s</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f>
                      <m:f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𝑑</m:t>
                        </m:r>
                        <m:r>
                          <a:rPr lang="zh-CN" altLang="en-US"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𝑑</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𝑚𝑖𝑛</m:t>
                            </m:r>
                          </m:sub>
                        </m:sSub>
                      </m:num>
                      <m:den>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𝑑</m:t>
                            </m:r>
                          </m:e>
                          <m:sub>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𝑚𝑎𝑥</m:t>
                            </m:r>
                          </m:sub>
                        </m:sSub>
                        <m:r>
                          <a:rPr lang="en-US" altLang="zh-CN" sz="1600" b="0" i="1" dirty="0" smtClean="0">
                            <a:solidFill>
                              <a:schemeClr val="tx1">
                                <a:lumMod val="75000"/>
                                <a:lumOff val="25000"/>
                              </a:schemeClr>
                            </a:solidFill>
                            <a:latin typeface="Cambria Math" panose="02040503050406030204" pitchFamily="18" charset="0"/>
                            <a:ea typeface="Cambria Math" panose="02040503050406030204" pitchFamily="18" charset="0"/>
                            <a:sym typeface="Arial" panose="020B0604020202020204" pitchFamily="34" charset="0"/>
                          </a:rPr>
                          <m:t>−</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𝑑</m:t>
                            </m:r>
                          </m:e>
                          <m:sub>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𝑚𝑖𝑛</m:t>
                            </m:r>
                          </m:sub>
                        </m:sSub>
                      </m:den>
                    </m:f>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78130" algn="ctr" defTabSz="1219200">
                  <a:spcBef>
                    <a:spcPct val="20000"/>
                  </a:spcBef>
                  <a:defRPr/>
                </a:pP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78130" defTabSz="1219200">
                  <a:spcBef>
                    <a:spcPct val="20000"/>
                  </a:spcBef>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一般来说，任何单调减函数都可实现相异性与相似性的相互转换。但是，在进行相互转换或将它们的值变换到新的尺度时，还需要考虑一些其他因素，例如保持属性的原有意义或者满足目标数据分析工具的需要。因此，选择合适的转换函数应结合具体应用场景进行权衡。</a:t>
                </a:r>
              </a:p>
            </p:txBody>
          </p:sp>
        </mc:Choice>
        <mc:Fallback xmlns="">
          <p:sp>
            <p:nvSpPr>
              <p:cNvPr id="9" name="TextBox 8"/>
              <p:cNvSpPr txBox="1">
                <a:spLocks noRot="1" noChangeAspect="1" noMove="1" noResize="1" noEditPoints="1" noAdjustHandles="1" noChangeArrowheads="1" noChangeShapeType="1" noTextEdit="1"/>
              </p:cNvSpPr>
              <p:nvPr/>
            </p:nvSpPr>
            <p:spPr>
              <a:xfrm>
                <a:off x="573437" y="842330"/>
                <a:ext cx="11128706" cy="6015670"/>
              </a:xfrm>
              <a:prstGeom prst="rect">
                <a:avLst/>
              </a:prstGeom>
              <a:blipFill rotWithShape="1">
                <a:blip r:embed="rId4"/>
                <a:stretch>
                  <a:fillRect t="-512" r="-1098"/>
                </a:stretch>
              </a:blipFill>
            </p:spPr>
            <p:txBody>
              <a:bodyPr/>
              <a:lstStyle/>
              <a:p>
                <a:r>
                  <a:rPr lang="zh-CN" altLang="en-US">
                    <a:noFill/>
                  </a:rPr>
                  <a:t> </a:t>
                </a:r>
              </a:p>
            </p:txBody>
          </p:sp>
        </mc:Fallback>
      </mc:AlternateContent>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数据基本概念</a:t>
            </a: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extBox 8"/>
              <p:cNvSpPr txBox="1"/>
              <p:nvPr/>
            </p:nvSpPr>
            <p:spPr>
              <a:xfrm>
                <a:off x="685799" y="842330"/>
                <a:ext cx="10922431" cy="3424870"/>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数据相似性</a:t>
                </a:r>
              </a:p>
              <a:p>
                <a:pPr marL="285750" indent="-285750" defTabSz="1219200">
                  <a:spcBef>
                    <a:spcPct val="20000"/>
                  </a:spcBef>
                  <a:buFont typeface="Arial" panose="020B0604020202020204" pitchFamily="34" charset="0"/>
                  <a:buChar char="•"/>
                  <a:defRPr/>
                </a:pP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由标称属性描述的数据的相似性：</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设两个对象</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均由</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𝑝</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个标称属性描述。如果在这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𝑝</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个标称属性中有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𝑚</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个属性都取相同的值，那么对象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的相异性可以根据不匹配率计算为：</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14:m>
                  <m:oMathPara xmlns:m="http://schemas.openxmlformats.org/officeDocument/2006/math">
                    <m:oMathParaPr>
                      <m:jc m:val="centerGroup"/>
                    </m:oMathParaPr>
                    <m:oMath xmlns:m="http://schemas.openxmlformats.org/officeDocument/2006/math">
                      <m:r>
                        <m:rPr>
                          <m:nor/>
                        </m:rPr>
                        <a:rPr lang="en-US" altLang="zh-CN" sz="1600"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d</m:t>
                      </m:r>
                      <m:d>
                        <m:d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𝑝</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𝑚</m:t>
                          </m:r>
                        </m:num>
                        <m:den>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𝑝</m:t>
                          </m:r>
                        </m:den>
                      </m:f>
                    </m:oMath>
                  </m:oMathPara>
                </a14:m>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78130" defTabSz="1219200">
                  <a:spcBef>
                    <a:spcPct val="20000"/>
                  </a:spcBef>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相应地，相似性可以通过以下公式计算：</a:t>
                </a:r>
              </a:p>
              <a:p>
                <a:pPr defTabSz="1219200">
                  <a:spcBef>
                    <a:spcPct val="20000"/>
                  </a:spcBef>
                  <a:defRPr/>
                </a:pPr>
                <a14:m>
                  <m:oMathPara xmlns:m="http://schemas.openxmlformats.org/officeDocument/2006/math">
                    <m:oMathParaPr>
                      <m:jc m:val="centerGroup"/>
                    </m:oMathParaPr>
                    <m:oMath xmlns:m="http://schemas.openxmlformats.org/officeDocument/2006/math">
                      <m:r>
                        <m:rPr>
                          <m:nor/>
                        </m:rPr>
                        <a:rPr lang="en-US" altLang="zh-CN" sz="1600" i="0"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s</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𝑚</m:t>
                          </m:r>
                        </m:num>
                        <m:den>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𝑝</m:t>
                          </m:r>
                        </m:den>
                      </m:f>
                    </m:oMath>
                  </m:oMathPara>
                </a14:m>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由二元属性描述的数据的相似性：</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设两个仅包含二元属性的对象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，它们之间的相似性度量也称为相似系数（</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similarity coefficient</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）。若它们的所有二元属性都具有相同的权重，我们可以构建一个列联表。其中，</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𝑞</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𝑤</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𝑡</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分别表示对象</a:t>
                </a:r>
                <a14:m>
                  <m:oMath xmlns:m="http://schemas.openxmlformats.org/officeDocument/2006/math">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14:m>
                  <m:oMath xmlns:m="http://schemas.openxmlformats.org/officeDocument/2006/math">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不同取值下的属性数。若属性的总数为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𝑝</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，则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𝑝</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𝑞</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 </m:t>
                    </m:r>
                    <m:r>
                      <m:rPr>
                        <m:sty m:val="p"/>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w</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𝑡</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685799" y="842330"/>
                <a:ext cx="10922431" cy="3424870"/>
              </a:xfrm>
              <a:prstGeom prst="rect">
                <a:avLst/>
              </a:prstGeom>
              <a:blipFill rotWithShape="1">
                <a:blip r:embed="rId4"/>
                <a:stretch>
                  <a:fillRect l="-6" t="-899" r="4"/>
                </a:stretch>
              </a:blipFill>
            </p:spPr>
            <p:txBody>
              <a:bodyPr/>
              <a:lstStyle/>
              <a:p>
                <a:r>
                  <a:rPr lang="zh-CN" altLang="en-US">
                    <a:noFill/>
                  </a:rPr>
                  <a:t> </a:t>
                </a:r>
              </a:p>
            </p:txBody>
          </p:sp>
        </mc:Fallback>
      </mc:AlternateContent>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数据基本概念</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nvGraphicFramePr>
            <p:xfrm>
              <a:off x="1578429" y="4467201"/>
              <a:ext cx="8588828" cy="1787462"/>
            </p:xfrm>
            <a:graphic>
              <a:graphicData uri="http://schemas.openxmlformats.org/drawingml/2006/table">
                <a:tbl>
                  <a:tblPr firstRow="1" bandRow="1">
                    <a:tableStyleId>{2D5ABB26-0587-4C30-8999-92F81FD0307C}</a:tableStyleId>
                  </a:tblPr>
                  <a:tblGrid>
                    <a:gridCol w="3052395">
                      <a:extLst>
                        <a:ext uri="{9D8B030D-6E8A-4147-A177-3AD203B41FA5}">
                          <a16:colId xmlns:a16="http://schemas.microsoft.com/office/drawing/2014/main" val="20000"/>
                        </a:ext>
                      </a:extLst>
                    </a:gridCol>
                    <a:gridCol w="3233337">
                      <a:extLst>
                        <a:ext uri="{9D8B030D-6E8A-4147-A177-3AD203B41FA5}">
                          <a16:colId xmlns:a16="http://schemas.microsoft.com/office/drawing/2014/main" val="20001"/>
                        </a:ext>
                      </a:extLst>
                    </a:gridCol>
                    <a:gridCol w="2303096">
                      <a:extLst>
                        <a:ext uri="{9D8B030D-6E8A-4147-A177-3AD203B41FA5}">
                          <a16:colId xmlns:a16="http://schemas.microsoft.com/office/drawing/2014/main" val="20002"/>
                        </a:ext>
                      </a:extLst>
                    </a:gridCol>
                  </a:tblGrid>
                  <a:tr h="306914">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oMath>
                            </m:oMathPara>
                          </a14:m>
                          <a:endParaRPr lang="en-US" sz="1600" dirty="0"/>
                        </a:p>
                      </a:txBody>
                      <a:tcPr anchor="ctr">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oMath>
                            </m:oMathPara>
                          </a14:m>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1600" dirty="0" err="1"/>
                            <a:t>属性数</a:t>
                          </a:r>
                          <a:endParaRPr lang="en-US" sz="1600" dirty="0"/>
                        </a:p>
                      </a:txBody>
                      <a:tcPr anchor="ctr">
                        <a:lnL w="1270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0"/>
                      </a:ext>
                    </a:extLst>
                  </a:tr>
                  <a:tr h="289945">
                    <a:tc>
                      <a:txBody>
                        <a:bodyPr/>
                        <a:lstStyle/>
                        <a:p>
                          <a:pPr algn="ctr"/>
                          <a:r>
                            <a:rPr lang="en-US" altLang="zh-CN" sz="1600" dirty="0"/>
                            <a:t>1</a:t>
                          </a:r>
                          <a:endParaRPr lang="en-US" sz="1600"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t>1</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𝑞</m:t>
                                </m:r>
                              </m:oMath>
                            </m:oMathPara>
                          </a14:m>
                          <a:endParaRPr lang="en-US" sz="16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16304">
                    <a:tc>
                      <a:txBody>
                        <a:bodyPr/>
                        <a:lstStyle/>
                        <a:p>
                          <a:pPr algn="ctr"/>
                          <a:r>
                            <a:rPr lang="en-US" altLang="zh-CN" sz="1600" dirty="0"/>
                            <a:t>1</a:t>
                          </a:r>
                          <a:endParaRPr lang="en-US"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t>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sz="18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oMath>
                            </m:oMathPara>
                          </a14:m>
                          <a:endParaRPr lang="en-US"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16304">
                    <a:tc>
                      <a:txBody>
                        <a:bodyPr/>
                        <a:lstStyle/>
                        <a:p>
                          <a:pPr algn="ctr"/>
                          <a:r>
                            <a:rPr lang="en-US" altLang="zh-CN" dirty="0"/>
                            <a:t>0</a:t>
                          </a:r>
                          <a:endParaRPr lang="en-US"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1</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m:rPr>
                                    <m:sty m:val="p"/>
                                  </m:rPr>
                                  <a:rPr lang="en-US" altLang="zh-CN" sz="18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w</m:t>
                                </m:r>
                              </m:oMath>
                            </m:oMathPara>
                          </a14:m>
                          <a:endParaRPr lang="en-US"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16304">
                    <a:tc>
                      <a:txBody>
                        <a:bodyPr/>
                        <a:lstStyle/>
                        <a:p>
                          <a:pPr algn="ctr"/>
                          <a:r>
                            <a:rPr lang="en-US" altLang="zh-CN" dirty="0"/>
                            <a:t>0</a:t>
                          </a:r>
                          <a:endParaRPr lang="en-US"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sz="18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𝑡</m:t>
                                </m:r>
                              </m:oMath>
                            </m:oMathPara>
                          </a14:m>
                          <a:endParaRPr lang="en-US"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xmlns="">
          <p:graphicFrame>
            <p:nvGraphicFramePr>
              <p:cNvPr id="2" name="Table 1"/>
              <p:cNvGraphicFramePr>
                <a:graphicFrameLocks noGrp="1"/>
              </p:cNvGraphicFramePr>
              <p:nvPr/>
            </p:nvGraphicFramePr>
            <p:xfrm>
              <a:off x="1578429" y="4467201"/>
              <a:ext cx="8588828" cy="1787462"/>
            </p:xfrm>
            <a:graphic>
              <a:graphicData uri="http://schemas.openxmlformats.org/drawingml/2006/table">
                <a:tbl>
                  <a:tblPr firstRow="1" bandRow="1">
                    <a:tableStyleId>{2D5ABB26-0587-4C30-8999-92F81FD0307C}</a:tableStyleId>
                  </a:tblPr>
                  <a:tblGrid>
                    <a:gridCol w="3052395"/>
                    <a:gridCol w="3233337"/>
                    <a:gridCol w="2303096"/>
                  </a:tblGrid>
                  <a:tr h="344805">
                    <a:tc>
                      <a:txBody>
                        <a:bodyPr/>
                        <a:lstStyle/>
                        <a:p>
                          <a:endParaRPr lang="zh-CN"/>
                        </a:p>
                      </a:txBody>
                      <a:tcPr anchor="ctr">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blipFill>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blipFill>
                      </a:tcPr>
                    </a:tc>
                    <a:tc>
                      <a:txBody>
                        <a:bodyPr/>
                        <a:lstStyle/>
                        <a:p>
                          <a:pPr algn="ctr"/>
                          <a:r>
                            <a:rPr lang="en-US" sz="1600" dirty="0" err="1"/>
                            <a:t>属性数</a:t>
                          </a:r>
                          <a:endParaRPr lang="en-US" sz="1600" dirty="0"/>
                        </a:p>
                      </a:txBody>
                      <a:tcPr anchor="ctr">
                        <a:lnL w="1270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335280">
                    <a:tc>
                      <a:txBody>
                        <a:bodyPr/>
                        <a:lstStyle/>
                        <a:p>
                          <a:pPr algn="ctr"/>
                          <a:r>
                            <a:rPr lang="en-US" altLang="zh-CN" sz="1600" dirty="0"/>
                            <a:t>1</a:t>
                          </a:r>
                          <a:endParaRPr lang="en-US" sz="1600"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t>1</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endParaRPr lang="zh-CN"/>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blipFill>
                      </a:tcPr>
                    </a:tc>
                  </a:tr>
                  <a:tr h="365760">
                    <a:tc>
                      <a:txBody>
                        <a:bodyPr/>
                        <a:lstStyle/>
                        <a:p>
                          <a:pPr algn="ctr"/>
                          <a:r>
                            <a:rPr lang="en-US" altLang="zh-CN" sz="1600" dirty="0"/>
                            <a:t>1</a:t>
                          </a:r>
                          <a:endParaRPr lang="en-US"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t>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endParaRPr lang="zh-CN"/>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blipFill>
                      </a:tcPr>
                    </a:tc>
                  </a:tr>
                  <a:tr h="365760">
                    <a:tc>
                      <a:txBody>
                        <a:bodyPr/>
                        <a:lstStyle/>
                        <a:p>
                          <a:pPr algn="ctr"/>
                          <a:r>
                            <a:rPr lang="en-US" altLang="zh-CN" dirty="0"/>
                            <a:t>0</a:t>
                          </a:r>
                          <a:endParaRPr lang="en-US"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1</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endParaRPr lang="zh-CN"/>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blipFill>
                      </a:tcPr>
                    </a:tc>
                  </a:tr>
                  <a:tr h="365760">
                    <a:tc>
                      <a:txBody>
                        <a:bodyPr/>
                        <a:lstStyle/>
                        <a:p>
                          <a:pPr algn="ctr"/>
                          <a:r>
                            <a:rPr lang="en-US" altLang="zh-CN" dirty="0"/>
                            <a:t>0</a:t>
                          </a:r>
                          <a:endParaRPr lang="en-US"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endParaRPr lang="zh-CN"/>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blipFill>
                      </a:tcPr>
                    </a:tc>
                  </a:tr>
                </a:tbl>
              </a:graphicData>
            </a:graphic>
          </p:graphicFrame>
        </mc:Fallback>
      </mc:AlternateContent>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extBox 8"/>
              <p:cNvSpPr txBox="1"/>
              <p:nvPr/>
            </p:nvSpPr>
            <p:spPr>
              <a:xfrm>
                <a:off x="573437" y="842329"/>
                <a:ext cx="11034794" cy="4589641"/>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数据相似性</a:t>
                </a:r>
              </a:p>
              <a:p>
                <a:pPr marL="9525" defTabSz="1219200">
                  <a:spcBef>
                    <a:spcPct val="20000"/>
                  </a:spcBef>
                  <a:defRPr/>
                </a:pP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95275" indent="-285750" defTabSz="1219200">
                  <a:spcBef>
                    <a:spcPct val="20000"/>
                  </a:spcBef>
                  <a:buFont typeface="Arial" panose="020B0604020202020204" pitchFamily="34" charset="0"/>
                  <a:buChar char="•"/>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基于对称二元属性的相异性度量称为对称二元相异性。对于由对称二元属性描述的对象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，它们的相异性可以通过简单匹配系（</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simple matching coefficient</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）表示：</a:t>
                </a:r>
              </a:p>
              <a:p>
                <a:pPr defTabSz="1219200">
                  <a:spcBef>
                    <a:spcPct val="20000"/>
                  </a:spcBef>
                  <a:defRPr/>
                </a:pPr>
                <a14:m>
                  <m:oMathPara xmlns:m="http://schemas.openxmlformats.org/officeDocument/2006/math">
                    <m:oMathParaPr>
                      <m:jc m:val="centerGroup"/>
                    </m:oMathParaPr>
                    <m:oMath xmlns:m="http://schemas.openxmlformats.org/officeDocument/2006/math">
                      <m:r>
                        <m:rPr>
                          <m:nor/>
                        </m:rPr>
                        <a:rPr lang="en-US" altLang="zh-CN" sz="1600" i="0"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d</m:t>
                      </m:r>
                      <m:d>
                        <m:d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m:rPr>
                              <m:sty m:val="p"/>
                            </m:rP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w</m:t>
                          </m:r>
                        </m:num>
                        <m:den>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𝑝</m:t>
                          </m:r>
                        </m:den>
                      </m:f>
                    </m:oMath>
                  </m:oMathPara>
                </a14:m>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基于非对称二元属性的相异性度量称为非对称二元相异性。对于非对称二元属性，在计算相异性时，正匹配（即两个属性都取值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1</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）的情况比负匹配（即两个属性都取值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0</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）更重要。在这种情况下，负匹配数</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𝑡</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被认为是不重要的，因此它在计算时被忽略。非对称二元相异性可通过 </a:t>
                </a:r>
                <a:r>
                  <a:rPr lang="en-US" altLang="zh-CN"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Jaccard </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距离（</a:t>
                </a:r>
                <a:r>
                  <a:rPr lang="en-US" altLang="zh-CN"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Jaccard distance</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来度量，定义如下：</a:t>
                </a:r>
              </a:p>
              <a:p>
                <a:pPr defTabSz="1219200">
                  <a:spcBef>
                    <a:spcPct val="20000"/>
                  </a:spcBef>
                  <a:defRPr/>
                </a:pPr>
                <a14:m>
                  <m:oMathPara xmlns:m="http://schemas.openxmlformats.org/officeDocument/2006/math">
                    <m:oMathParaPr>
                      <m:jc m:val="centerGroup"/>
                    </m:oMathParaPr>
                    <m:oMath xmlns:m="http://schemas.openxmlformats.org/officeDocument/2006/math">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𝑑</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𝑤</m:t>
                          </m:r>
                        </m:num>
                        <m:den>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𝑞</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𝑤</m:t>
                          </m:r>
                        </m:den>
                      </m:f>
                    </m:oMath>
                  </m:oMathPara>
                </a14:m>
                <a:endParaRPr lang="en-US" altLang="zh-CN" sz="1600" i="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311150" defTabSz="1219200">
                  <a:spcBef>
                    <a:spcPct val="20000"/>
                  </a:spcBef>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对应的相似性度量为 </a:t>
                </a:r>
                <a:r>
                  <a:rPr lang="en-US" altLang="zh-CN"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Jaccard </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系数（</a:t>
                </a:r>
                <a:r>
                  <a:rPr lang="en-US" altLang="zh-CN"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Jaccard coefficient</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p>
              <a:p>
                <a:pPr defTabSz="1219200">
                  <a:spcBef>
                    <a:spcPct val="20000"/>
                  </a:spcBef>
                  <a:defRPr/>
                </a:pPr>
                <a14:m>
                  <m:oMathPara xmlns:m="http://schemas.openxmlformats.org/officeDocument/2006/math">
                    <m:oMathParaPr>
                      <m:jc m:val="centerGroup"/>
                    </m:oMathParaPr>
                    <m:oMath xmlns:m="http://schemas.openxmlformats.org/officeDocument/2006/math">
                      <m:r>
                        <m:rPr>
                          <m:nor/>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s</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𝑦</m:t>
                          </m:r>
                        </m:e>
                      </m:d>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𝑞</m:t>
                          </m:r>
                        </m:num>
                        <m:den>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𝑞</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m:rPr>
                              <m:sty m:val="p"/>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w</m:t>
                          </m:r>
                        </m:den>
                      </m:f>
                    </m:oMath>
                  </m:oMathPara>
                </a14:m>
                <a:endParaRPr lang="en-US" altLang="zh-CN" sz="1600" i="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endParaRPr lang="en-US" altLang="zh-CN" sz="1600" i="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573437" y="842329"/>
                <a:ext cx="11034794" cy="4589641"/>
              </a:xfrm>
              <a:prstGeom prst="rect">
                <a:avLst/>
              </a:prstGeom>
              <a:blipFill rotWithShape="1">
                <a:blip r:embed="rId4"/>
                <a:stretch>
                  <a:fillRect t="-671" r="4" b="4"/>
                </a:stretch>
              </a:blipFill>
            </p:spPr>
            <p:txBody>
              <a:bodyPr/>
              <a:lstStyle/>
              <a:p>
                <a:r>
                  <a:rPr lang="zh-CN" altLang="en-US">
                    <a:noFill/>
                  </a:rPr>
                  <a:t> </a:t>
                </a:r>
              </a:p>
            </p:txBody>
          </p:sp>
        </mc:Fallback>
      </mc:AlternateContent>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数据基本概念</a:t>
            </a: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extBox 8"/>
              <p:cNvSpPr txBox="1"/>
              <p:nvPr/>
            </p:nvSpPr>
            <p:spPr>
              <a:xfrm>
                <a:off x="217714" y="842329"/>
                <a:ext cx="11800115" cy="6015671"/>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数据相似性</a:t>
                </a:r>
              </a:p>
              <a:p>
                <a:pPr marL="285750" indent="-285750" defTabSz="1219200">
                  <a:spcBef>
                    <a:spcPct val="20000"/>
                  </a:spcBef>
                  <a:buFont typeface="Arial" panose="020B0604020202020204" pitchFamily="34" charset="0"/>
                  <a:buChar char="•"/>
                  <a:defRPr/>
                </a:pP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由数值属性描述的数据的相似性：</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首先通过讨论如何度量数值属性刻画的对象的相异性，引入距离度量的概念。在某些情况下，计算距离之前应对数据进行规范化，确保它们落入较小的公共值域（如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1, 1</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或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0, 1</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），以避免不同属性的尺度影响。</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最常用的距离度量是</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欧几里得距离（</a:t>
                </a:r>
                <a:r>
                  <a:rPr lang="en-US" altLang="zh-CN"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Euclidean distance</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。设 </a:t>
                </a:r>
                <a14:m>
                  <m:oMath xmlns:m="http://schemas.openxmlformats.org/officeDocument/2006/math">
                    <m:sSub>
                      <m:sSubPr>
                        <m:ctrlP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𝑖𝑝</m:t>
                            </m:r>
                          </m:sub>
                        </m:sSub>
                      </m:e>
                    </m:d>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sSub>
                      <m:sSubPr>
                        <m:ctrlP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𝑗𝑝</m:t>
                            </m:r>
                          </m:sub>
                        </m:sSub>
                      </m:e>
                    </m:d>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是两个由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𝑝</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个数值属性描述的对象，其中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𝑖𝑘</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是对象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的第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个属性值，且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𝑝</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。对象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之间的欧几里得距离定义为：</a:t>
                </a:r>
              </a:p>
              <a:p>
                <a:pPr defTabSz="1219200">
                  <a:spcBef>
                    <a:spcPct val="20000"/>
                  </a:spcBef>
                  <a:defRPr/>
                </a:pPr>
                <a14:m>
                  <m:oMathPara xmlns:m="http://schemas.openxmlformats.org/officeDocument/2006/math">
                    <m:oMathParaPr>
                      <m:jc m:val="centerGroup"/>
                    </m:oMathParaPr>
                    <m:oMath xmlns:m="http://schemas.openxmlformats.org/officeDocument/2006/math">
                      <m:r>
                        <m:rPr>
                          <m:nor/>
                        </m:rPr>
                        <a:rPr lang="en-US" altLang="zh-CN" sz="1600" i="0"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d</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ad>
                        <m:radPr>
                          <m:degHide m:val="on"/>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radPr>
                        <m:deg/>
                        <m:e>
                          <m:nary>
                            <m:naryPr>
                              <m: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naryPr>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𝑝</m:t>
                              </m:r>
                            </m:sup>
                            <m:e>
                              <m:sSup>
                                <m:sSup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𝑖𝑘</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𝑗𝑘</m:t>
                                          </m:r>
                                        </m:sub>
                                      </m:sSub>
                                    </m:e>
                                  </m:d>
                                </m:e>
                                <m: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e>
                          </m:nary>
                        </m:e>
                      </m:rad>
                    </m:oMath>
                  </m:oMathPara>
                </a14:m>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另一个著名的距离度量是曼哈顿距离（</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Manhattan distance</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），又称为城市区块距离或出租车距离，其定义为：</a:t>
                </a:r>
              </a:p>
              <a:p>
                <a:pPr defTabSz="1219200">
                  <a:spcBef>
                    <a:spcPct val="20000"/>
                  </a:spcBef>
                  <a:defRPr/>
                </a:pPr>
                <a14:m>
                  <m:oMathPara xmlns:m="http://schemas.openxmlformats.org/officeDocument/2006/math">
                    <m:oMathParaPr>
                      <m:jc m:val="centerGroup"/>
                    </m:oMathParaPr>
                    <m:oMath xmlns:m="http://schemas.openxmlformats.org/officeDocument/2006/math">
                      <m:r>
                        <m:rPr>
                          <m:nor/>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d</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nary>
                        <m:naryPr>
                          <m: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naryPr>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𝑝</m:t>
                          </m:r>
                        </m:sup>
                        <m:e>
                          <m:d>
                            <m:dPr>
                              <m:begChr m:val="|"/>
                              <m:end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𝑖𝑘</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𝑗𝑘</m:t>
                                  </m:r>
                                </m:sub>
                              </m:sSub>
                            </m:e>
                          </m:d>
                        </m:e>
                      </m:nary>
                    </m:oMath>
                  </m:oMathPara>
                </a14:m>
                <a:endParaRPr lang="en-US" altLang="zh-CN" sz="1600" i="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311150" defTabSz="1219200">
                  <a:spcBef>
                    <a:spcPct val="20000"/>
                  </a:spcBef>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欧几里得距离和曼哈顿距离都满足如下数学性质：</a:t>
                </a:r>
              </a:p>
              <a:p>
                <a:pPr marL="581025" defTabSz="1219200">
                  <a:spcBef>
                    <a:spcPct val="20000"/>
                  </a:spcBef>
                  <a:buFont typeface="Wingdings" panose="05000000000000000000" pitchFamily="2" charset="2"/>
                  <a:buChar char="Ø"/>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非负性：</a:t>
                </a:r>
                <a14:m>
                  <m:oMath xmlns:m="http://schemas.openxmlformats.org/officeDocument/2006/math">
                    <m:r>
                      <m:rPr>
                        <m:nor/>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d</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，距离是个非负的数值。</a:t>
                </a:r>
              </a:p>
              <a:p>
                <a:pPr marL="581025" defTabSz="1219200">
                  <a:spcBef>
                    <a:spcPct val="20000"/>
                  </a:spcBef>
                  <a:buFont typeface="Wingdings" panose="05000000000000000000" pitchFamily="2" charset="2"/>
                  <a:buChar char="Ø"/>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同一性：</a:t>
                </a:r>
                <a14:m>
                  <m:oMath xmlns:m="http://schemas.openxmlformats.org/officeDocument/2006/math">
                    <m:r>
                      <m:rPr>
                        <m:nor/>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d</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当且仅当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，即对象到自身的距离为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0</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p>
              <a:p>
                <a:pPr marL="581025" defTabSz="1219200">
                  <a:spcBef>
                    <a:spcPct val="20000"/>
                  </a:spcBef>
                  <a:buFont typeface="Wingdings" panose="05000000000000000000" pitchFamily="2" charset="2"/>
                  <a:buChar char="Ø"/>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对称性：</a:t>
                </a:r>
                <a14:m>
                  <m:oMath xmlns:m="http://schemas.openxmlformats.org/officeDocument/2006/math">
                    <m:r>
                      <m:rPr>
                        <m:nor/>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d</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m:rPr>
                        <m:nor/>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d</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e>
                    </m:d>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，距离是一个对称函数。</a:t>
                </a:r>
              </a:p>
              <a:p>
                <a:pPr marL="581025" defTabSz="1219200">
                  <a:spcBef>
                    <a:spcPct val="20000"/>
                  </a:spcBef>
                  <a:buFont typeface="Wingdings" panose="05000000000000000000" pitchFamily="2" charset="2"/>
                  <a:buChar char="Ø"/>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三角不等式：</a:t>
                </a:r>
                <a14:m>
                  <m:oMath xmlns:m="http://schemas.openxmlformats.org/officeDocument/2006/math">
                    <m:r>
                      <m:rPr>
                        <m:nor/>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d</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m:rPr>
                        <m:nor/>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d</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sub>
                        </m:sSub>
                      </m:e>
                    </m:d>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m:rPr>
                        <m:nor/>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d</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，即两点之间线段最短。</a:t>
                </a:r>
              </a:p>
              <a:p>
                <a:pPr marL="311150" defTabSz="1219200">
                  <a:spcBef>
                    <a:spcPct val="20000"/>
                  </a:spcBef>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满足这些性质的测度称为</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度量（</a:t>
                </a:r>
                <a:r>
                  <a:rPr lang="en-US" altLang="zh-CN"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metric</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endParaRPr lang="en-US" altLang="zh-CN" sz="1600" i="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217714" y="842329"/>
                <a:ext cx="11800115" cy="6015671"/>
              </a:xfrm>
              <a:prstGeom prst="rect">
                <a:avLst/>
              </a:prstGeom>
              <a:blipFill rotWithShape="1">
                <a:blip r:embed="rId4"/>
                <a:stretch>
                  <a:fillRect l="-5" t="-512" r="4" b="-4708"/>
                </a:stretch>
              </a:blipFill>
            </p:spPr>
            <p:txBody>
              <a:bodyPr/>
              <a:lstStyle/>
              <a:p>
                <a:r>
                  <a:rPr lang="zh-CN" altLang="en-US">
                    <a:noFill/>
                  </a:rPr>
                  <a:t> </a:t>
                </a:r>
              </a:p>
            </p:txBody>
          </p:sp>
        </mc:Fallback>
      </mc:AlternateContent>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数据基本概念</a:t>
            </a:r>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extBox 8"/>
              <p:cNvSpPr txBox="1"/>
              <p:nvPr/>
            </p:nvSpPr>
            <p:spPr>
              <a:xfrm>
                <a:off x="217714" y="755242"/>
                <a:ext cx="11800115" cy="4295728"/>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数据相似性</a:t>
                </a:r>
              </a:p>
              <a:p>
                <a:pPr marL="285750" indent="-285750" defTabSz="1219200">
                  <a:spcBef>
                    <a:spcPct val="20000"/>
                  </a:spcBef>
                  <a:buFont typeface="Arial" panose="020B0604020202020204" pitchFamily="34" charset="0"/>
                  <a:buChar char="•"/>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事实上，欧几里得距离和曼哈顿距离可以视作</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闵可夫斯基距离（</a:t>
                </a:r>
                <a:r>
                  <a:rPr lang="en-US" altLang="zh-CN"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Minkowski distance</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的特例，其公式为：</a:t>
                </a:r>
              </a:p>
              <a:p>
                <a:pPr defTabSz="1219200">
                  <a:spcBef>
                    <a:spcPct val="20000"/>
                  </a:spcBef>
                  <a:defRPr/>
                </a:pPr>
                <a14:m>
                  <m:oMathPara xmlns:m="http://schemas.openxmlformats.org/officeDocument/2006/math">
                    <m:oMathParaPr>
                      <m:jc m:val="centerGroup"/>
                    </m:oMathParaPr>
                    <m:oMath xmlns:m="http://schemas.openxmlformats.org/officeDocument/2006/math">
                      <m:r>
                        <m:rPr>
                          <m:nor/>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d</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p>
                        <m:sSup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nary>
                                <m:naryPr>
                                  <m: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naryPr>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𝑝</m:t>
                                  </m:r>
                                </m:sup>
                                <m:e>
                                  <m:sSup>
                                    <m:sSup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d>
                                        <m:dPr>
                                          <m:begChr m:val="|"/>
                                          <m:end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𝑖𝑘</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𝑗𝑘</m:t>
                                              </m:r>
                                            </m:sub>
                                          </m:sSub>
                                        </m:e>
                                      </m:d>
                                    </m:e>
                                    <m: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sup>
                                  </m:sSup>
                                </m:e>
                              </m:nary>
                            </m:e>
                          </m:d>
                        </m:e>
                        <m:sup>
                          <m:f>
                            <m:f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num>
                            <m:den>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den>
                          </m:f>
                        </m:sup>
                      </m:sSup>
                    </m:oMath>
                  </m:oMathPara>
                </a14:m>
                <a:endParaRPr lang="en-US" altLang="zh-CN" sz="1600" i="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311150" defTabSz="1219200">
                  <a:spcBef>
                    <a:spcPct val="20000"/>
                  </a:spcBef>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其中，</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为正整数。</a:t>
                </a:r>
              </a:p>
              <a:p>
                <a:pPr defTabSz="1219200">
                  <a:spcBef>
                    <a:spcPct val="20000"/>
                  </a:spcBef>
                  <a:defRPr/>
                </a:pP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581025" indent="-281305" defTabSz="1219200">
                  <a:spcBef>
                    <a:spcPct val="20000"/>
                  </a:spcBef>
                  <a:buFont typeface="Wingdings" panose="05000000000000000000" pitchFamily="2" charset="2"/>
                  <a:buChar char="Ø"/>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当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 1 </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时，闵可夫斯基距离为曼哈顿距离（即，</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𝐿</m:t>
                        </m:r>
                      </m:e>
                      <m: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范式）。</a:t>
                </a:r>
              </a:p>
              <a:p>
                <a:pPr marL="581025" indent="-281305" defTabSz="1219200">
                  <a:spcBef>
                    <a:spcPct val="20000"/>
                  </a:spcBef>
                  <a:buFont typeface="Wingdings" panose="05000000000000000000" pitchFamily="2" charset="2"/>
                  <a:buChar char="Ø"/>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当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 2 </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时，闵可夫斯基距离为欧几里得距离（即，</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𝐿</m:t>
                        </m:r>
                      </m:e>
                      <m: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b>
                    </m:sSub>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范式）；</a:t>
                </a:r>
              </a:p>
              <a:p>
                <a:pPr marL="581025" indent="-281305" defTabSz="1219200">
                  <a:spcBef>
                    <a:spcPct val="20000"/>
                  </a:spcBef>
                  <a:buFont typeface="Wingdings" panose="05000000000000000000" pitchFamily="2" charset="2"/>
                  <a:buChar char="Ø"/>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当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时，闵可夫斯基距离收敛为上确界距离。为了计算这种距离，我们需要找到使两个对象在所有属性中差值最大的属性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，该最大差值即为上确界距离，其形式化定义如下：</a:t>
                </a:r>
              </a:p>
              <a:p>
                <a:pPr defTabSz="1219200">
                  <a:spcBef>
                    <a:spcPct val="20000"/>
                  </a:spcBef>
                  <a:defRPr/>
                </a:pPr>
                <a14:m>
                  <m:oMathPara xmlns:m="http://schemas.openxmlformats.org/officeDocument/2006/math">
                    <m:oMathParaPr>
                      <m:jc m:val="centerGroup"/>
                    </m:oMathParaPr>
                    <m:oMath xmlns:m="http://schemas.openxmlformats.org/officeDocument/2006/math">
                      <m:r>
                        <m:rPr>
                          <m:nor/>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d</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unc>
                        <m:func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uncPr>
                        <m:fName>
                          <m:limLow>
                            <m:limLow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limLow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𝑙𝑖𝑚</m:t>
                              </m:r>
                            </m:e>
                            <m:lim>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lim>
                          </m:limLow>
                        </m:fName>
                        <m:e>
                          <m:sSup>
                            <m:sSup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nary>
                                    <m:naryPr>
                                      <m: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naryPr>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𝑝</m:t>
                                      </m:r>
                                    </m:sup>
                                    <m:e>
                                      <m:sSup>
                                        <m:sSup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d>
                                            <m:dPr>
                                              <m:begChr m:val="|"/>
                                              <m:end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𝑖𝑘</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𝑗𝑘</m:t>
                                                  </m:r>
                                                </m:sub>
                                              </m:sSub>
                                            </m:e>
                                          </m:d>
                                        </m:e>
                                        <m: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sup>
                                      </m:sSup>
                                    </m:e>
                                  </m:nary>
                                </m:e>
                              </m:d>
                            </m:e>
                            <m:sup>
                              <m:f>
                                <m:f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num>
                                <m:den>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den>
                              </m:f>
                            </m:sup>
                          </m:sSup>
                        </m:e>
                      </m:func>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unc>
                        <m:func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uncPr>
                        <m:fName>
                          <m:limLow>
                            <m:limLow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limLow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𝑚𝑎𝑥</m:t>
                              </m:r>
                            </m:e>
                            <m:lim>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𝑝</m:t>
                              </m:r>
                            </m:lim>
                          </m:limLow>
                        </m:fName>
                        <m:e>
                          <m:d>
                            <m:dPr>
                              <m:begChr m:val="|"/>
                              <m:end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𝑖𝑘</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𝑗𝑘</m:t>
                                  </m:r>
                                </m:sub>
                              </m:sSub>
                            </m:e>
                          </m:d>
                        </m:e>
                      </m:func>
                    </m:oMath>
                  </m:oMathPara>
                </a14:m>
                <a:endParaRPr lang="en-US" altLang="zh-CN" sz="1600" i="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581025" defTabSz="1219200">
                  <a:spcBef>
                    <a:spcPct val="20000"/>
                  </a:spcBef>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此距离也被称为</a:t>
                </a:r>
                <a:r>
                  <a:rPr lang="zh-CN" altLang="en-US" sz="1600" i="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sSub>
                      <m:sSubPr>
                        <m:ctrlP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bPr>
                      <m:e>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𝑳</m:t>
                        </m:r>
                      </m:e>
                      <m:sub>
                        <m:r>
                          <a:rPr lang="en-US" altLang="zh-CN" sz="1600" b="1" i="1" dirty="0" smtClean="0">
                            <a:solidFill>
                              <a:schemeClr val="tx1">
                                <a:lumMod val="75000"/>
                                <a:lumOff val="25000"/>
                              </a:schemeClr>
                            </a:solidFill>
                            <a:latin typeface="Cambria Math" panose="02040503050406030204" pitchFamily="18" charset="0"/>
                            <a:ea typeface="Cambria Math" panose="02040503050406030204" pitchFamily="18" charset="0"/>
                            <a:sym typeface="Arial" panose="020B0604020202020204" pitchFamily="34" charset="0"/>
                          </a:rPr>
                          <m:t>∞</m:t>
                        </m:r>
                      </m:sub>
                    </m:sSub>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oMath>
                </a14:m>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范数</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或</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一致范数（</a:t>
                </a:r>
                <a:r>
                  <a:rPr lang="en-US" altLang="zh-CN"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uniform norm</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，它度量了两个对象在所有属性中的最大差异。</a:t>
                </a:r>
                <a:endParaRPr lang="en-US" altLang="zh-CN" sz="1600" i="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217714" y="755242"/>
                <a:ext cx="11800115" cy="4295728"/>
              </a:xfrm>
              <a:prstGeom prst="rect">
                <a:avLst/>
              </a:prstGeom>
              <a:blipFill rotWithShape="1">
                <a:blip r:embed="rId4"/>
                <a:stretch>
                  <a:fillRect l="-5" t="-715" r="4" b="-3174"/>
                </a:stretch>
              </a:blipFill>
            </p:spPr>
            <p:txBody>
              <a:bodyPr/>
              <a:lstStyle/>
              <a:p>
                <a:r>
                  <a:rPr lang="zh-CN" altLang="en-US">
                    <a:noFill/>
                  </a:rPr>
                  <a:t> </a:t>
                </a:r>
              </a:p>
            </p:txBody>
          </p:sp>
        </mc:Fallback>
      </mc:AlternateContent>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数据基本概念</a:t>
            </a:r>
          </a:p>
        </p:txBody>
      </p:sp>
      <p:sp>
        <p:nvSpPr>
          <p:cNvPr id="2" name="圆角矩形 7"/>
          <p:cNvSpPr/>
          <p:nvPr/>
        </p:nvSpPr>
        <p:spPr>
          <a:xfrm>
            <a:off x="1208405" y="5315585"/>
            <a:ext cx="8006080" cy="1388745"/>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 name="TextBox 8"/>
              <p:cNvSpPr txBox="1"/>
              <p:nvPr/>
            </p:nvSpPr>
            <p:spPr>
              <a:xfrm>
                <a:off x="1318260" y="5535295"/>
                <a:ext cx="7787005" cy="1310005"/>
              </a:xfrm>
              <a:prstGeom prst="rect">
                <a:avLst/>
              </a:prstGeom>
              <a:noFill/>
            </p:spPr>
            <p:txBody>
              <a:bodyPr wrap="square" lIns="0" tIns="0" rIns="0" bIns="0" rtlCol="0" anchor="t">
                <a:noAutofit/>
              </a:bodyPr>
              <a:lstStyle/>
              <a:p>
                <a:pPr indent="457200" defTabSz="1219200">
                  <a:lnSpc>
                    <a:spcPct val="150000"/>
                  </a:lnSpc>
                  <a:spcBef>
                    <a:spcPct val="20000"/>
                  </a:spcBef>
                  <a:buFont typeface="Arial" panose="020B0604020202020204" pitchFamily="34" charset="0"/>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给定两个对象 </a:t>
                </a:r>
                <a14:m>
                  <m:oMath xmlns:m="http://schemas.openxmlformats.org/officeDocument/2006/math">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d>
                      <m:d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3,7,2</m:t>
                        </m:r>
                      </m:e>
                    </m:d>
                  </m:oMath>
                </a14:m>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b>
                    </m:s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d>
                      <m:d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1,5,6</m:t>
                        </m:r>
                      </m:e>
                    </m:d>
                  </m:oMath>
                </a14:m>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，它们的上确界距离为 </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4</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。这是因为：</a:t>
                </a:r>
                <a:endPar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defTabSz="1219200">
                  <a:lnSpc>
                    <a:spcPct val="150000"/>
                  </a:lnSpc>
                  <a:spcBef>
                    <a:spcPct val="20000"/>
                  </a:spcBef>
                  <a:buFont typeface="Arial" panose="020B0604020202020204" pitchFamily="34" charset="0"/>
                  <a:defRPr/>
                </a:pPr>
                <a14:m>
                  <m:oMath xmlns:m="http://schemas.openxmlformats.org/officeDocument/2006/math">
                    <m:d>
                      <m:dPr>
                        <m:begChr m:val="|"/>
                        <m:endChr m:val="|"/>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11</m:t>
                            </m:r>
                          </m:sub>
                        </m:sSub>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21</m:t>
                            </m:r>
                          </m:sub>
                        </m:sSub>
                      </m:e>
                    </m:d>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d>
                      <m:dPr>
                        <m:begChr m:val="|"/>
                        <m:endChr m:val="|"/>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3−1</m:t>
                        </m:r>
                      </m:e>
                    </m:d>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oMath>
                </a14:m>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d>
                      <m:dPr>
                        <m:begChr m:val="|"/>
                        <m:endChr m:val="|"/>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12</m:t>
                            </m:r>
                          </m:sub>
                        </m:sSub>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22</m:t>
                            </m:r>
                          </m:sub>
                        </m:sSub>
                      </m:e>
                    </m:d>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d>
                      <m:dPr>
                        <m:begChr m:val="|"/>
                        <m:endChr m:val="|"/>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7−5</m:t>
                        </m:r>
                      </m:e>
                    </m:d>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oMath>
                </a14:m>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d>
                      <m:dPr>
                        <m:begChr m:val="|"/>
                        <m:endChr m:val="|"/>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13</m:t>
                            </m:r>
                          </m:sub>
                        </m:s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23</m:t>
                            </m:r>
                          </m:sub>
                        </m:sSub>
                      </m:e>
                    </m:d>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d>
                      <m:dPr>
                        <m:begChr m:val="|"/>
                        <m:endChr m:val="|"/>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2−6</m:t>
                        </m:r>
                      </m:e>
                    </m:d>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=4</m:t>
                    </m:r>
                  </m:oMath>
                </a14:m>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defTabSz="1219200">
                  <a:lnSpc>
                    <a:spcPct val="150000"/>
                  </a:lnSpc>
                  <a:spcBef>
                    <a:spcPct val="20000"/>
                  </a:spcBef>
                  <a:buFont typeface="Arial" panose="020B0604020202020204" pitchFamily="34" charset="0"/>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那么，</a:t>
                </a:r>
                <a14:m>
                  <m:oMath xmlns:m="http://schemas.openxmlformats.org/officeDocument/2006/math">
                    <m:r>
                      <m:rPr>
                        <m:nor/>
                      </m:r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d</m:t>
                    </m:r>
                    <m:d>
                      <m:d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b>
                        </m:sSub>
                      </m:e>
                    </m:d>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unc>
                      <m:func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uncPr>
                      <m:fNa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𝑚𝑎𝑥</m:t>
                        </m:r>
                      </m:fName>
                      <m:e>
                        <m:r>
                          <m:rPr>
                            <m:lit/>
                          </m:r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e>
                    </m:func>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2,2,4</m:t>
                    </m:r>
                    <m:r>
                      <m:rPr>
                        <m:lit/>
                      </m:r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=4</m:t>
                    </m:r>
                  </m:oMath>
                </a14:m>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p>
            </p:txBody>
          </p:sp>
        </mc:Choice>
        <mc:Fallback xmlns="">
          <p:sp>
            <p:nvSpPr>
              <p:cNvPr id="3" name="TextBox 8"/>
              <p:cNvSpPr txBox="1">
                <a:spLocks noRot="1" noChangeAspect="1" noMove="1" noResize="1" noEditPoints="1" noAdjustHandles="1" noChangeArrowheads="1" noChangeShapeType="1" noTextEdit="1"/>
              </p:cNvSpPr>
              <p:nvPr/>
            </p:nvSpPr>
            <p:spPr>
              <a:xfrm>
                <a:off x="1318260" y="5535295"/>
                <a:ext cx="7787005" cy="1310005"/>
              </a:xfrm>
              <a:prstGeom prst="rect">
                <a:avLst/>
              </a:prstGeom>
              <a:blipFill rotWithShape="1">
                <a:blip r:embed="rId5"/>
                <a:stretch>
                  <a:fillRect/>
                </a:stretch>
              </a:blipFill>
            </p:spPr>
            <p:txBody>
              <a:bodyPr/>
              <a:lstStyle/>
              <a:p>
                <a:r>
                  <a:rPr lang="zh-CN" altLang="en-US">
                    <a:noFill/>
                  </a:rPr>
                  <a:t> </a:t>
                </a:r>
              </a:p>
            </p:txBody>
          </p:sp>
        </mc:Fallback>
      </mc:AlternateContent>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extBox 8"/>
              <p:cNvSpPr txBox="1"/>
              <p:nvPr/>
            </p:nvSpPr>
            <p:spPr>
              <a:xfrm>
                <a:off x="424543" y="842330"/>
                <a:ext cx="10940144" cy="5656442"/>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数据相似性</a:t>
                </a:r>
              </a:p>
              <a:p>
                <a:pPr marL="285750" indent="-285750" defTabSz="1219200">
                  <a:spcBef>
                    <a:spcPct val="20000"/>
                  </a:spcBef>
                  <a:buFont typeface="Arial" panose="020B0604020202020204" pitchFamily="34" charset="0"/>
                  <a:buChar char="•"/>
                  <a:defRPr/>
                </a:pP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由序数属性描述的数据的相似性：</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序数属性的可能值之间具有有意义的顺序或排位，但相邻值之间的量化差异未知。例如，“高校教师职称”这一属性的可能值有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4</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个，其序列为：讲师，助理教授，副教授，教授。其实，数值属性的值域也可以划分成有限个类别，并按照一定的顺序进行组织，从而将数值属性离散化为序数属性。也就是说，数值属性的值域可以映射为具有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𝑒</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个状态的序数属性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𝛼</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。此外，某些区间属性也可以视为序数属性，例如，摄氏温度可以划分为不同的区间，如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10 ∼20</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20 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50</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50 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100</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分别对应“低温”、“中温”和“高温”状态。这样，摄氏温度就可以作为序数属性进行处理。在计算由序数属性描述的对象之间的相异性时，序数属性的处理方式与数值属性非常相似。具体来说，处理步骤如下：</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763905" indent="-398780" defTabSz="1219200">
                  <a:spcBef>
                    <a:spcPct val="20000"/>
                  </a:spcBef>
                  <a:buFont typeface="+mj-lt"/>
                  <a:buAutoNum type="romanUcPeriod"/>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首先，假设对象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的第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𝑘</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个序数属性，记作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𝛼</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，其值为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𝑖𝑘</m:t>
                        </m:r>
                      </m:sub>
                    </m:sSub>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且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𝛼</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有</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𝑒</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个有序状态，记为</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 2, …, </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𝑒</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。用其对应的排位值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𝑖𝑘</m:t>
                        </m:r>
                      </m:sub>
                    </m:s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m:rPr>
                        <m:lit/>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 2, …,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𝑒</m:t>
                    </m:r>
                    <m:r>
                      <m:rPr>
                        <m:lit/>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来替代</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𝑖𝑘</m:t>
                        </m:r>
                      </m:sub>
                    </m:sSub>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p>
              <a:p>
                <a:pPr marL="763905" indent="-398780" defTabSz="1219200">
                  <a:spcBef>
                    <a:spcPct val="20000"/>
                  </a:spcBef>
                  <a:buFont typeface="+mj-lt"/>
                  <a:buAutoNum type="romanUcPeriod"/>
                  <a:defRPr/>
                </a:pP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763905" indent="-398780" defTabSz="1219200">
                  <a:spcBef>
                    <a:spcPct val="20000"/>
                  </a:spcBef>
                  <a:buFont typeface="+mj-lt"/>
                  <a:buAutoNum type="romanUcPeriod"/>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其次，由于不同序数属性的状态数量可能不同，我们通常需要将每个属性的值域映射到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0, 1</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区间上，以消除不同属性的尺度差异。我们用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𝑧</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𝑖𝑘</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代替对象</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的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𝑖𝑘</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来实现数据的规范化，公式如下：</a:t>
                </a:r>
              </a:p>
              <a:p>
                <a:pPr marL="763905" indent="-398780" defTabSz="1219200">
                  <a:spcBef>
                    <a:spcPct val="20000"/>
                  </a:spcBef>
                  <a:defRPr/>
                </a:pPr>
                <a14:m>
                  <m:oMathPara xmlns:m="http://schemas.openxmlformats.org/officeDocument/2006/math">
                    <m:oMathParaPr>
                      <m:jc m:val="centerGroup"/>
                    </m:oMathParaPr>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𝑧</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𝑖𝑘</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sSub>
                            <m:sSub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𝑖𝑘</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num>
                        <m:den>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𝑒</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den>
                      </m:f>
                    </m:oMath>
                  </m:oMathPara>
                </a14:m>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765175" indent="-400050" defTabSz="1219200">
                  <a:spcBef>
                    <a:spcPct val="20000"/>
                  </a:spcBef>
                  <a:buFont typeface="+mj-lt"/>
                  <a:buAutoNum type="romanUcPeriod" startAt="3"/>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最后，规范化后的值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𝑧</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𝑖𝑘</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可用于计算对象</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之间的相异性。相异性可以通过之前介绍的任意一种数值属性的距离度量来计算。</a:t>
                </a:r>
              </a:p>
              <a:p>
                <a:pPr marL="285750" indent="-285750" defTabSz="1219200">
                  <a:spcBef>
                    <a:spcPct val="20000"/>
                  </a:spcBef>
                  <a:buFont typeface="Arial" panose="020B0604020202020204" pitchFamily="34" charset="0"/>
                  <a:buChar char="•"/>
                  <a:defRPr/>
                </a:pP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序数属性的相似性可由相异性计算得出：</a:t>
                </a:r>
                <a14:m>
                  <m:oMath xmlns:m="http://schemas.openxmlformats.org/officeDocument/2006/math">
                    <m:r>
                      <m:rPr>
                        <m:nor/>
                      </m:rPr>
                      <a:rPr lang="en-US" altLang="zh-CN" sz="1600" i="0"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s</m:t>
                    </m:r>
                    <m:d>
                      <m:d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r>
                      <m:rPr>
                        <m:nor/>
                      </m:rPr>
                      <a:rPr lang="en-US" altLang="zh-CN" sz="1600" i="0"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d</m:t>
                    </m:r>
                    <m:d>
                      <m:d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𝑗</m:t>
                            </m:r>
                          </m:sub>
                        </m:sSub>
                      </m:e>
                    </m:d>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424543" y="842330"/>
                <a:ext cx="10940144" cy="5656442"/>
              </a:xfrm>
              <a:prstGeom prst="rect">
                <a:avLst/>
              </a:prstGeom>
              <a:blipFill rotWithShape="1">
                <a:blip r:embed="rId4"/>
                <a:stretch>
                  <a:fillRect l="-3" t="-545" r="1" b="3"/>
                </a:stretch>
              </a:blipFill>
            </p:spPr>
            <p:txBody>
              <a:bodyPr/>
              <a:lstStyle/>
              <a:p>
                <a:r>
                  <a:rPr lang="zh-CN" altLang="en-US">
                    <a:noFill/>
                  </a:rPr>
                  <a:t> </a:t>
                </a:r>
              </a:p>
            </p:txBody>
          </p:sp>
        </mc:Fallback>
      </mc:AlternateContent>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数据基本概念</a:t>
            </a:r>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数据基本概念</a:t>
            </a:r>
          </a:p>
        </p:txBody>
      </p:sp>
      <p:sp>
        <p:nvSpPr>
          <p:cNvPr id="2" name="圆角矩形 7"/>
          <p:cNvSpPr/>
          <p:nvPr/>
        </p:nvSpPr>
        <p:spPr>
          <a:xfrm>
            <a:off x="599076" y="1221921"/>
            <a:ext cx="10145123" cy="4536622"/>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 name="TextBox 8"/>
              <p:cNvSpPr txBox="1"/>
              <p:nvPr/>
            </p:nvSpPr>
            <p:spPr>
              <a:xfrm>
                <a:off x="828947" y="1463221"/>
                <a:ext cx="9556024" cy="3863154"/>
              </a:xfrm>
              <a:prstGeom prst="rect">
                <a:avLst/>
              </a:prstGeom>
              <a:noFill/>
            </p:spPr>
            <p:txBody>
              <a:bodyPr wrap="square" lIns="0" tIns="0" rIns="0" bIns="0" rtlCol="0" anchor="t">
                <a:noAutofit/>
              </a:bodyPr>
              <a:lstStyle/>
              <a:p>
                <a:pPr defTabSz="1219200">
                  <a:spcBef>
                    <a:spcPct val="20000"/>
                  </a:spcBef>
                  <a:defRPr/>
                </a:pPr>
                <a:r>
                  <a:rPr lang="zh-CN" altLang="en-US"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由序数属性描述的数据的相似性示例</a:t>
                </a:r>
                <a:endParaRPr lang="en-US" altLang="zh-CN" sz="12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defTabSz="1219200">
                  <a:lnSpc>
                    <a:spcPct val="150000"/>
                  </a:lnSpc>
                  <a:spcBef>
                    <a:spcPct val="20000"/>
                  </a:spcBef>
                  <a:buFont typeface="Arial" panose="020B0604020202020204" pitchFamily="34" charset="0"/>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假设有两位高校教师 </a:t>
                </a:r>
                <a14:m>
                  <m:oMath xmlns:m="http://schemas.openxmlformats.org/officeDocument/2006/math">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oMath>
                </a14:m>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b>
                    </m:sSub>
                  </m:oMath>
                </a14:m>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，他们都有一序数属性，高校教师职称，其值分别是：</a:t>
                </a:r>
                <a14:m>
                  <m:oMath xmlns:m="http://schemas.openxmlformats.org/officeDocument/2006/math">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11</m:t>
                        </m:r>
                      </m:sub>
                    </m:s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oMath>
                </a14:m>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副教授，</a:t>
                </a:r>
                <a14:m>
                  <m:oMath xmlns:m="http://schemas.openxmlformats.org/officeDocument/2006/math">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21</m:t>
                        </m:r>
                      </m:sub>
                    </m:s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oMath>
                </a14:m>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讲师。已知该属性值的次序为：讲师（排名 </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1</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），助理教授（排名 </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2</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），副教授（排名 </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3</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），教授（排名 </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4</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）。首先，根据职称值的次序，用排位 </a:t>
                </a:r>
                <a14:m>
                  <m:oMath xmlns:m="http://schemas.openxmlformats.org/officeDocument/2006/math">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11</m:t>
                        </m:r>
                      </m:sub>
                    </m:sSub>
                  </m:oMath>
                </a14:m>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12</m:t>
                        </m:r>
                      </m:sub>
                    </m:sSub>
                  </m:oMath>
                </a14:m>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来表示 </a:t>
                </a:r>
                <a14:m>
                  <m:oMath xmlns:m="http://schemas.openxmlformats.org/officeDocument/2006/math">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11</m:t>
                        </m:r>
                      </m:sub>
                    </m:sSub>
                  </m:oMath>
                </a14:m>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21</m:t>
                        </m:r>
                      </m:sub>
                    </m:sSub>
                  </m:oMath>
                </a14:m>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，即</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e>
                      <m:sub>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11</m:t>
                        </m:r>
                      </m:sub>
                    </m:sSub>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=3</m:t>
                    </m:r>
                  </m:oMath>
                </a14:m>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e>
                      <m:sub>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21</m:t>
                        </m:r>
                      </m:sub>
                    </m:sSub>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oMath>
                </a14:m>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。然后，我们使用公式 </a:t>
                </a:r>
                <a14:m>
                  <m:oMath xmlns:m="http://schemas.openxmlformats.org/officeDocument/2006/math">
                    <m:sSub>
                      <m:sSubPr>
                        <m:ctrlP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𝑧</m:t>
                        </m:r>
                      </m:e>
                      <m:sub>
                        <m:r>
                          <a:rPr lang="en-US" altLang="zh-CN" sz="14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𝑖𝑘</m:t>
                        </m:r>
                      </m:sub>
                    </m:sSub>
                    <m: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sSub>
                          <m:sSubPr>
                            <m:ctrlP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e>
                          <m:sub>
                            <m:r>
                              <a:rPr lang="en-US" altLang="zh-CN" sz="14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𝑖𝑘</m:t>
                            </m:r>
                          </m:sub>
                        </m:sSub>
                        <m: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num>
                      <m:den>
                        <m: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𝑒</m:t>
                        </m:r>
                        <m:r>
                          <a:rPr lang="en-US" altLang="zh-CN" sz="14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den>
                    </m:f>
                  </m:oMath>
                </a14:m>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进行规范化，其中，</a:t>
                </a:r>
                <a14:m>
                  <m:oMath xmlns:m="http://schemas.openxmlformats.org/officeDocument/2006/math">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𝑟</m:t>
                        </m:r>
                      </m:e>
                      <m:sub>
                        <m:r>
                          <a:rPr lang="en-US" altLang="zh-CN" sz="1400" i="1" dirty="0" err="1">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𝑖𝑘</m:t>
                        </m:r>
                      </m:sub>
                    </m:sSub>
                  </m:oMath>
                </a14:m>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是排位值，</a:t>
                </a:r>
                <a14:m>
                  <m:oMath xmlns:m="http://schemas.openxmlformats.org/officeDocument/2006/math">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𝑒</m:t>
                    </m:r>
                  </m:oMath>
                </a14:m>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是序数属性的总状态数（这里 </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𝑒</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 4</m:t>
                    </m:r>
                  </m:oMath>
                </a14:m>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。那么，</a:t>
                </a:r>
                <a14:m>
                  <m:oMath xmlns:m="http://schemas.openxmlformats.org/officeDocument/2006/math">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𝑧</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11</m:t>
                        </m:r>
                      </m:sub>
                    </m:s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3−1</m:t>
                        </m:r>
                      </m:num>
                      <m:den>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4−1</m:t>
                        </m:r>
                      </m:den>
                    </m:f>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num>
                      <m:den>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3</m:t>
                        </m:r>
                      </m:den>
                    </m:f>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=0.67</m:t>
                    </m:r>
                  </m:oMath>
                </a14:m>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14:m>
                  <m:oMath xmlns:m="http://schemas.openxmlformats.org/officeDocument/2006/math">
                    <m:sSub>
                      <m:sSub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𝑧</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21</m:t>
                        </m:r>
                      </m:sub>
                    </m:s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1−1</m:t>
                        </m:r>
                      </m:num>
                      <m:den>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4−1</m:t>
                        </m:r>
                      </m:den>
                    </m:f>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m:t>
                        </m:r>
                      </m:num>
                      <m:den>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3</m:t>
                        </m:r>
                      </m:den>
                    </m:f>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=0.00</m:t>
                    </m:r>
                  </m:oMath>
                </a14:m>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。最后，我们使用曼哈顿距离来计算相异性：</a:t>
                </a:r>
              </a:p>
              <a:p>
                <a:pPr indent="457200" defTabSz="1219200">
                  <a:lnSpc>
                    <a:spcPct val="150000"/>
                  </a:lnSpc>
                  <a:spcBef>
                    <a:spcPct val="20000"/>
                  </a:spcBef>
                  <a:buFont typeface="Arial" panose="020B0604020202020204" pitchFamily="34" charset="0"/>
                  <a:defRPr/>
                </a:pPr>
                <a14:m>
                  <m:oMathPara xmlns:m="http://schemas.openxmlformats.org/officeDocument/2006/math">
                    <m:oMathParaPr>
                      <m:jc m:val="centerGroup"/>
                    </m:oMathParaPr>
                    <m:oMath xmlns:m="http://schemas.openxmlformats.org/officeDocument/2006/math">
                      <m:r>
                        <m:rPr>
                          <m:nor/>
                        </m:r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d</m:t>
                      </m:r>
                      <m:d>
                        <m:d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b>
                          </m:sSub>
                        </m:e>
                      </m:d>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d>
                        <m:dPr>
                          <m:begChr m:val="|"/>
                          <m:endChr m:val="|"/>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𝑧</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11</m:t>
                              </m:r>
                            </m:sub>
                          </m:s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𝑧</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21</m:t>
                              </m:r>
                            </m:sub>
                          </m:sSub>
                        </m:e>
                      </m:d>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d>
                        <m:dPr>
                          <m:begChr m:val="|"/>
                          <m:endChr m:val="|"/>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0.67−0.00</m:t>
                          </m:r>
                        </m:e>
                      </m:d>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=0.67</m:t>
                      </m:r>
                    </m:oMath>
                  </m:oMathPara>
                </a14:m>
                <a:endPar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defTabSz="1219200">
                  <a:lnSpc>
                    <a:spcPct val="150000"/>
                  </a:lnSpc>
                  <a:spcBef>
                    <a:spcPct val="20000"/>
                  </a:spcBef>
                  <a:buFont typeface="Arial" panose="020B0604020202020204" pitchFamily="34" charset="0"/>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相应地，其相似性为：</a:t>
                </a:r>
              </a:p>
              <a:p>
                <a:pPr indent="457200" defTabSz="1219200">
                  <a:lnSpc>
                    <a:spcPct val="150000"/>
                  </a:lnSpc>
                  <a:spcBef>
                    <a:spcPct val="20000"/>
                  </a:spcBef>
                  <a:buFont typeface="Arial" panose="020B0604020202020204" pitchFamily="34" charset="0"/>
                  <a:defRPr/>
                </a:pPr>
                <a14:m>
                  <m:oMathPara xmlns:m="http://schemas.openxmlformats.org/officeDocument/2006/math">
                    <m:oMathParaPr>
                      <m:jc m:val="centerGroup"/>
                    </m:oMathParaPr>
                    <m:oMath xmlns:m="http://schemas.openxmlformats.org/officeDocument/2006/math">
                      <m:r>
                        <m:rPr>
                          <m:nor/>
                        </m:rPr>
                        <a:rPr lang="en-US" altLang="zh-CN" sz="1400" i="0"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s</m:t>
                      </m:r>
                      <m:d>
                        <m:d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b>
                          </m:sSub>
                        </m:e>
                      </m:d>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r>
                        <m:rPr>
                          <m:nor/>
                        </m:rPr>
                        <a:rPr lang="en-US" altLang="zh-CN" sz="1400" i="0"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d</m:t>
                      </m:r>
                      <m:d>
                        <m:d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sSub>
                            <m:sSub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b>
                            <m:sSub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b>
                          </m:sSub>
                        </m:e>
                      </m:d>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=1−0.67=0.33</m:t>
                      </m:r>
                    </m:oMath>
                  </m:oMathPara>
                </a14:m>
                <a:endPar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defTabSz="1219200">
                  <a:lnSpc>
                    <a:spcPct val="150000"/>
                  </a:lnSpc>
                  <a:spcBef>
                    <a:spcPct val="20000"/>
                  </a:spcBef>
                  <a:buFont typeface="Arial" panose="020B0604020202020204" pitchFamily="34" charset="0"/>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这表明，副教授和讲师的相似性程度为 </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0.33</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，相异性程度为 </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0.67</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Choice>
        <mc:Fallback xmlns="">
          <p:sp>
            <p:nvSpPr>
              <p:cNvPr id="3" name="TextBox 8"/>
              <p:cNvSpPr txBox="1">
                <a:spLocks noRot="1" noChangeAspect="1" noMove="1" noResize="1" noEditPoints="1" noAdjustHandles="1" noChangeArrowheads="1" noChangeShapeType="1" noTextEdit="1"/>
              </p:cNvSpPr>
              <p:nvPr/>
            </p:nvSpPr>
            <p:spPr>
              <a:xfrm>
                <a:off x="828947" y="1463221"/>
                <a:ext cx="9556024" cy="3863154"/>
              </a:xfrm>
              <a:prstGeom prst="rect">
                <a:avLst/>
              </a:prstGeom>
              <a:blipFill rotWithShape="1">
                <a:blip r:embed="rId4"/>
                <a:stretch>
                  <a:fillRect l="-3" t="-711" r="2" b="16"/>
                </a:stretch>
              </a:blipFill>
            </p:spPr>
            <p:txBody>
              <a:bodyPr/>
              <a:lstStyle/>
              <a:p>
                <a:r>
                  <a:rPr lang="zh-CN" altLang="en-US">
                    <a:noFill/>
                  </a:rPr>
                  <a:t> </a:t>
                </a:r>
              </a:p>
            </p:txBody>
          </p:sp>
        </mc:Fallback>
      </mc:AlternateContent>
      <p:sp>
        <p:nvSpPr>
          <p:cNvPr id="7" name="文本框 6"/>
          <p:cNvSpPr txBox="1"/>
          <p:nvPr/>
        </p:nvSpPr>
        <p:spPr>
          <a:xfrm>
            <a:off x="599076" y="852589"/>
            <a:ext cx="6104964" cy="369332"/>
          </a:xfrm>
          <a:prstGeom prst="rect">
            <a:avLst/>
          </a:prstGeom>
          <a:noFill/>
        </p:spPr>
        <p:txBody>
          <a:bodyPr wrap="square">
            <a:spAutoFit/>
          </a:bodyPr>
          <a:lstStyle/>
          <a:p>
            <a:pPr algn="l" defTabSz="1219200">
              <a:spcBef>
                <a:spcPct val="20000"/>
              </a:spcBef>
              <a:defRPr/>
            </a:pPr>
            <a:r>
              <a:rPr lang="zh-CN" altLang="en-US" sz="18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数据相似性</a:t>
            </a:r>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extBox 8"/>
              <p:cNvSpPr txBox="1"/>
              <p:nvPr/>
            </p:nvSpPr>
            <p:spPr>
              <a:xfrm>
                <a:off x="424543" y="842330"/>
                <a:ext cx="11408228" cy="5656442"/>
              </a:xfrm>
              <a:prstGeom prst="rect">
                <a:avLst/>
              </a:prstGeom>
              <a:noFill/>
            </p:spPr>
            <p:txBody>
              <a:bodyPr wrap="square" lIns="0" tIns="0" rIns="0" bIns="0" rtlCol="0" anchor="t">
                <a:noAutofit/>
              </a:bodyPr>
              <a:lstStyle/>
              <a:p>
                <a:pPr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余弦相似度</a:t>
                </a:r>
              </a:p>
              <a:p>
                <a:pPr marL="285750" indent="-285750" defTabSz="1219200">
                  <a:spcBef>
                    <a:spcPct val="20000"/>
                  </a:spcBef>
                  <a:buFont typeface="Arial" panose="020B0604020202020204" pitchFamily="34" charset="0"/>
                  <a:buChar char="•"/>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给定两个向量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，它们的维度是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𝑛</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，可以使用</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余弦相似度（</a:t>
                </a:r>
                <a:r>
                  <a:rPr lang="en-US" altLang="zh-CN"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cosine similarity</a:t>
                </a:r>
                <a:r>
                  <a:rPr lang="zh-CN" altLang="en-US" sz="1600" b="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来衡量它们之间的相似性，其定义如下：</a:t>
                </a:r>
              </a:p>
              <a:p>
                <a:pPr defTabSz="1219200">
                  <a:spcBef>
                    <a:spcPct val="20000"/>
                  </a:spcBef>
                  <a:defRPr/>
                </a:pPr>
                <a14:m>
                  <m:oMathPara xmlns:m="http://schemas.openxmlformats.org/officeDocument/2006/math">
                    <m:oMathParaPr>
                      <m:jc m:val="centerGroup"/>
                    </m:oMathParaPr>
                    <m:oMath xmlns:m="http://schemas.openxmlformats.org/officeDocument/2006/math">
                      <m:r>
                        <m:rPr>
                          <m:nor/>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s</m:t>
                      </m:r>
                      <m:d>
                        <m:d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𝒙</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𝒚</m:t>
                          </m:r>
                        </m:e>
                      </m:d>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𝒙</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𝒚</m:t>
                          </m:r>
                        </m:num>
                        <m:den>
                          <m:r>
                            <m:rPr>
                              <m:lit/>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𝒙</m:t>
                          </m:r>
                          <m:r>
                            <m:rPr>
                              <m:lit/>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𝒚</m:t>
                          </m:r>
                          <m:r>
                            <m:rPr>
                              <m:lit/>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den>
                      </m:f>
                    </m:oMath>
                  </m:oMathPara>
                </a14:m>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68605" defTabSz="1219200">
                  <a:spcBef>
                    <a:spcPct val="20000"/>
                  </a:spcBef>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其中，</a:t>
                </a:r>
                <a14:m>
                  <m:oMath xmlns:m="http://schemas.openxmlformats.org/officeDocument/2006/math">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𝒙</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𝒚</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 </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是向量</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𝒙</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𝒚</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的内积，</a:t>
                </a:r>
                <a14:m>
                  <m:oMath xmlns:m="http://schemas.openxmlformats.org/officeDocument/2006/math">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𝒙</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𝒚</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nary>
                      <m:naryPr>
                        <m: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naryPr>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𝑛</m:t>
                        </m:r>
                      </m:sup>
                      <m:e>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sSub>
                          <m:sSubPr>
                            <m:ctrlP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𝑦</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e>
                    </m:nary>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14:m>
                  <m:oMath xmlns:m="http://schemas.openxmlformats.org/officeDocument/2006/math">
                    <m:r>
                      <m:rPr>
                        <m:lit/>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𝒙</m:t>
                    </m:r>
                    <m:r>
                      <m:rPr>
                        <m:lit/>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r>
                      <m:rPr>
                        <m:lit/>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𝒚</m:t>
                    </m:r>
                    <m:r>
                      <m:rPr>
                        <m:lit/>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分别是向量 </a:t>
                </a:r>
                <a14:m>
                  <m:oMath xmlns:m="http://schemas.openxmlformats.org/officeDocument/2006/math">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𝒙</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𝒚</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的欧几里得范数（即向量的长度），</a:t>
                </a:r>
                <a14:m>
                  <m:oMath xmlns:m="http://schemas.openxmlformats.org/officeDocument/2006/math">
                    <m:r>
                      <m:rPr>
                        <m:lit/>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𝒙</m:t>
                    </m:r>
                    <m:r>
                      <m:rPr>
                        <m:lit/>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ad>
                      <m:radPr>
                        <m:degHide m:val="on"/>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radPr>
                      <m:deg/>
                      <m:e>
                        <m:nary>
                          <m:naryPr>
                            <m: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naryPr>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𝑛</m:t>
                            </m:r>
                          </m:sup>
                          <m:e>
                            <m:sSubSup>
                              <m:sSubSup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Sup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bSup>
                          </m:e>
                        </m:nary>
                      </m:e>
                    </m:rad>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14:m>
                  <m:oMath xmlns:m="http://schemas.openxmlformats.org/officeDocument/2006/math">
                    <m:r>
                      <m:rPr>
                        <m:lit/>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𝒚</m:t>
                    </m:r>
                    <m:r>
                      <m:rPr>
                        <m:lit/>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ad>
                      <m:radPr>
                        <m:degHide m:val="on"/>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radPr>
                      <m:deg/>
                      <m:e>
                        <m:nary>
                          <m:naryPr>
                            <m: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naryPr>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sub>
                          <m: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𝑛</m:t>
                            </m:r>
                          </m:sup>
                          <m:e>
                            <m:sSubSup>
                              <m:sSubSup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SupPr>
                              <m:e>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𝑦</m:t>
                                </m:r>
                              </m:e>
                              <m: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bSup>
                          </m:e>
                        </m:nary>
                      </m:e>
                    </m:rad>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当属性是二值属性时，若 </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𝑥</m:t>
                        </m:r>
                      </m:e>
                      <m:sub>
                        <m:r>
                          <a:rPr lang="en-US" altLang="zh-CN" sz="1600" i="1" dirty="0" err="1">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，表示对象 </a:t>
                </a:r>
                <a14:m>
                  <m:oMath xmlns:m="http://schemas.openxmlformats.org/officeDocument/2006/math">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具有第</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个属性；同理，</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bPr>
                      <m:e>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𝑦</m:t>
                        </m:r>
                      </m:e>
                      <m:sub>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𝑖</m:t>
                        </m:r>
                      </m:sub>
                    </m:sSub>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1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表示对象</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具有该属性。此时，余弦相似度公式为：</a:t>
                </a:r>
                <a14:m>
                  <m:oMath xmlns:m="http://schemas.openxmlformats.org/officeDocument/2006/math">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𝑐𝑜𝑠</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oMath>
                </a14:m>
                <a:r>
                  <a:rPr lang="en-US" altLang="zh-CN" sz="1600" i="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f>
                      <m:f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num>
                      <m:den>
                        <m:r>
                          <m:rPr>
                            <m:lit/>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r>
                          <m:rPr>
                            <m:lit/>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r>
                          <m:rPr>
                            <m:lit/>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den>
                    </m:f>
                  </m:oMath>
                </a14:m>
                <a:r>
                  <a:rPr lang="en-US" altLang="zh-CN" sz="1600" i="1"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 </a:t>
                </a:r>
                <a14:m>
                  <m:oMath xmlns:m="http://schemas.openxmlformats.org/officeDocument/2006/math">
                    <m:r>
                      <m:rPr>
                        <m:lit/>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d>
                          <m:dPr>
                            <m:begChr m:val="|"/>
                            <m:endChr m:val="|"/>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e>
                        </m:d>
                      </m:num>
                      <m:den>
                        <m:rad>
                          <m:radPr>
                            <m:degHide m:val="on"/>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radPr>
                          <m:deg/>
                          <m:e>
                            <m:d>
                              <m:dPr>
                                <m:begChr m:val="|"/>
                                <m:endChr m:val="|"/>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e>
                            </m:d>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d>
                              <m:dPr>
                                <m:begChr m:val="|"/>
                                <m:endChr m:val="|"/>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e>
                            </m:d>
                          </m:e>
                        </m:rad>
                      </m:den>
                    </m:f>
                    <m:r>
                      <m:rPr>
                        <m:lit/>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，其中，</a:t>
                </a:r>
                <a14:m>
                  <m:oMath xmlns:m="http://schemas.openxmlformats.org/officeDocument/2006/math">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d>
                      <m:dPr>
                        <m:begChr m:val="|"/>
                        <m:end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e>
                    </m:d>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表示 </a:t>
                </a:r>
                <a14:m>
                  <m:oMath xmlns:m="http://schemas.openxmlformats.org/officeDocument/2006/math">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14:m>
                  <m:oMath xmlns:m="http://schemas.openxmlformats.org/officeDocument/2006/math">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共同具有的属性数，而</a:t>
                </a:r>
                <a14:m>
                  <m:oMath xmlns:m="http://schemas.openxmlformats.org/officeDocument/2006/math">
                    <m:r>
                      <m:rPr>
                        <m:lit/>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r>
                      <m:rPr>
                        <m:lit/>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ad>
                      <m:radPr>
                        <m:degHide m:val="on"/>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radPr>
                      <m:deg/>
                      <m:e>
                        <m:d>
                          <m:dPr>
                            <m:begChr m:val="|"/>
                            <m:end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e>
                        </m:d>
                      </m:e>
                    </m:rad>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14:m>
                  <m:oMath xmlns:m="http://schemas.openxmlformats.org/officeDocument/2006/math">
                    <m:r>
                      <m:rPr>
                        <m:lit/>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m:rPr>
                        <m:lit/>
                      </m:rP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r>
                      <m:rPr>
                        <m:lit/>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ad>
                      <m:radPr>
                        <m:degHide m:val="on"/>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radPr>
                      <m:deg/>
                      <m:e>
                        <m:d>
                          <m:dPr>
                            <m:begChr m:val="|"/>
                            <m:end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m:rPr>
                                <m:sty m:val="p"/>
                              </m:rP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y</m:t>
                            </m:r>
                          </m:e>
                        </m:d>
                      </m:e>
                    </m:rad>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代表 </a:t>
                </a:r>
                <a14:m>
                  <m:oMath xmlns:m="http://schemas.openxmlformats.org/officeDocument/2006/math">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各自具有的属性数的几何平均数。</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endPar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spcBef>
                    <a:spcPct val="20000"/>
                  </a:spcBef>
                  <a:buFont typeface="Arial" panose="020B0604020202020204" pitchFamily="34" charset="0"/>
                  <a:buChar char="•"/>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在二值属性的情况下，余弦相似度的一个常用变种是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Jaccard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系数，定义为：</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defTabSz="1219200">
                  <a:spcBef>
                    <a:spcPct val="20000"/>
                  </a:spcBef>
                  <a:defRPr/>
                </a:pPr>
                <a14:m>
                  <m:oMathPara xmlns:m="http://schemas.openxmlformats.org/officeDocument/2006/math">
                    <m:oMathParaPr>
                      <m:jc m:val="centerGroup"/>
                    </m:oMathParaPr>
                    <m:oMath xmlns:m="http://schemas.openxmlformats.org/officeDocument/2006/math">
                      <m:r>
                        <m:rPr>
                          <m:nor/>
                        </m:rPr>
                        <a:rPr lang="en-US" altLang="zh-CN" sz="1600" b="1" i="0"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s</m:t>
                      </m:r>
                      <m:d>
                        <m:d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e>
                      </m:d>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d>
                            <m:dPr>
                              <m:begChr m:val="|"/>
                              <m:endChr m:val="|"/>
                              <m:ctrlP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e>
                          </m:d>
                        </m:num>
                        <m:den>
                          <m:d>
                            <m:dPr>
                              <m:begChr m:val="|"/>
                              <m:endChr m:val="|"/>
                              <m:ctrlP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e>
                          </m:d>
                        </m:den>
                      </m:f>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num>
                        <m:den>
                          <m:d>
                            <m:dPr>
                              <m:begChr m:val="|"/>
                              <m:endChr m:val="|"/>
                              <m:ctrlP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e>
                          </m:d>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d>
                            <m:dPr>
                              <m:begChr m:val="|"/>
                              <m:endChr m:val="|"/>
                              <m:ctrlP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e>
                          </m:d>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r>
                            <a:rPr lang="en-US" altLang="zh-CN" sz="1600" b="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den>
                      </m:f>
                    </m:oMath>
                  </m:oMathPara>
                </a14:m>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a:p>
                <a:pPr marL="268605" defTabSz="1219200">
                  <a:spcBef>
                    <a:spcPct val="20000"/>
                  </a:spcBef>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它表示 </a:t>
                </a:r>
                <a14:m>
                  <m:oMath xmlns:m="http://schemas.openxmlformats.org/officeDocument/2006/math">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和 </a:t>
                </a:r>
                <a14:m>
                  <m:oMath xmlns:m="http://schemas.openxmlformats.org/officeDocument/2006/math">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共同具有的属性数与它们总属性数之比。</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Tanimoto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系数是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Jaccard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系数的推广，适用于非二值向量，例如实数向量或频次向量。</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Tanimoto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系数的定义为：</a:t>
                </a:r>
                <a14:m>
                  <m:oMath xmlns:m="http://schemas.openxmlformats.org/officeDocument/2006/math">
                    <m:r>
                      <m:rPr>
                        <m:nor/>
                      </m:rPr>
                      <a:rPr lang="en-US" altLang="zh-CN" sz="1600" i="0"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Tanimoto</m:t>
                    </m:r>
                    <m:d>
                      <m:d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e>
                    </m:d>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num>
                      <m:den>
                        <m:r>
                          <m:rPr>
                            <m:lit/>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sSup>
                          <m:sSup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r>
                              <m:rPr>
                                <m:lit/>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e>
                          <m: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m:rPr>
                            <m:lit/>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sSup>
                          <m:sSup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r>
                              <m:rPr>
                                <m:lit/>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e>
                          <m: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den>
                    </m:f>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，在二值属性的情况下，由于 </a:t>
                </a:r>
                <a14:m>
                  <m:oMath xmlns:m="http://schemas.openxmlformats.org/officeDocument/2006/math">
                    <m:sSup>
                      <m:sSupPr>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pPr>
                      <m:e>
                        <m:d>
                          <m:dPr>
                            <m:begChr m:val="‖"/>
                            <m:endChr m:val="‖"/>
                            <m:ctrl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dPr>
                          <m:e>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𝒙</m:t>
                            </m:r>
                          </m:e>
                        </m:d>
                      </m:e>
                      <m:sup>
                        <m:r>
                          <a:rPr lang="en-US" altLang="zh-CN" sz="1600" b="0"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2</m:t>
                        </m:r>
                      </m:sup>
                    </m:s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d>
                      <m:dPr>
                        <m:begChr m:val="|"/>
                        <m:end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e>
                    </m:d>
                  </m:oMath>
                </a14:m>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且 </a:t>
                </a:r>
                <a14:m>
                  <m:oMath xmlns:m="http://schemas.openxmlformats.org/officeDocument/2006/math">
                    <m:r>
                      <m:rPr>
                        <m:lit/>
                      </m:rPr>
                      <a:rPr lang="en-US" altLang="zh-CN" sz="1600" i="1" dirty="0" smtClean="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p>
                      <m:sSupPr>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sSupPr>
                      <m:e>
                        <m:d>
                          <m:dPr>
                            <m:begChr m:val="‖"/>
                            <m:end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ctrlPr>
                          </m:dPr>
                          <m:e>
                            <m:r>
                              <a:rPr lang="en-US" altLang="zh-CN" sz="1600" b="1" i="1" dirty="0" smtClean="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𝒚</m:t>
                            </m:r>
                          </m:e>
                        </m:d>
                      </m:e>
                      <m: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sym typeface="Arial" panose="020B0604020202020204" pitchFamily="34" charset="0"/>
                          </a:rPr>
                          <m:t>2</m:t>
                        </m:r>
                      </m:sup>
                    </m:sSup>
                    <m: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d>
                      <m:dPr>
                        <m:begChr m:val="|"/>
                        <m:endChr m:val="|"/>
                        <m:ctrl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600" b="1"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e>
                    </m:d>
                    <m:r>
                      <m:rPr>
                        <m:lit/>
                      </m:rPr>
                      <a:rPr lang="en-US" altLang="zh-CN" sz="1600" i="1" dirty="0">
                        <a:solidFill>
                          <a:schemeClr val="tx1">
                            <a:lumMod val="75000"/>
                            <a:lumOff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oMath>
                </a14:m>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Tanimoto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系数退化为 </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Jaccard </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系数。</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424543" y="842330"/>
                <a:ext cx="11408228" cy="5656442"/>
              </a:xfrm>
              <a:prstGeom prst="rect">
                <a:avLst/>
              </a:prstGeom>
              <a:blipFill rotWithShape="1">
                <a:blip r:embed="rId4"/>
                <a:stretch>
                  <a:fillRect l="-3" t="-545" r="-26" b="3"/>
                </a:stretch>
              </a:blipFill>
            </p:spPr>
            <p:txBody>
              <a:bodyPr/>
              <a:lstStyle/>
              <a:p>
                <a:r>
                  <a:rPr lang="zh-CN" altLang="en-US">
                    <a:noFill/>
                  </a:rPr>
                  <a:t> </a:t>
                </a:r>
              </a:p>
            </p:txBody>
          </p:sp>
        </mc:Fallback>
      </mc:AlternateContent>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数据基本概念</a:t>
            </a:r>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424543" y="842330"/>
            <a:ext cx="11408228" cy="1378356"/>
          </a:xfrm>
          <a:prstGeom prst="rect">
            <a:avLst/>
          </a:prstGeom>
          <a:noFill/>
        </p:spPr>
        <p:txBody>
          <a:bodyPr wrap="square" lIns="0" tIns="0" rIns="0" bIns="0" rtlCol="0" anchor="t">
            <a:noAutofit/>
          </a:bodyPr>
          <a:lstStyle/>
          <a:p>
            <a:pPr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余弦相似度</a:t>
            </a:r>
          </a:p>
          <a:p>
            <a:pPr marL="285750" indent="-285750" defTabSz="1219200">
              <a:spcBef>
                <a:spcPct val="20000"/>
              </a:spcBef>
              <a:buFont typeface="Arial" panose="020B0604020202020204" pitchFamily="34" charset="0"/>
              <a:buChar char="•"/>
              <a:defRPr/>
            </a:pP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由于余弦相似度仅反映向量方向的相似性，而不考虑向量长度，它不满足典型的度量定义所要求的所有条件（非负性、同一性、对称性、三角不等式），因此它被称为非度量测度（</a:t>
            </a:r>
            <a:r>
              <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nonmetric measure</a:t>
            </a:r>
            <a:r>
              <a:rPr lang="zh-CN" altLang="en-US"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rPr>
              <a:t>）。尽管如此，余弦相似度在文本分析、推荐系统等领域有着广泛应用，因其对向量长度不敏感的特性适合高维稀疏数据。</a:t>
            </a:r>
            <a:endParaRPr lang="en-US" altLang="zh-CN" sz="1600" dirty="0">
              <a:solidFill>
                <a:schemeClr val="tx1">
                  <a:lumMod val="75000"/>
                  <a:lumOff val="25000"/>
                </a:schemeClr>
              </a:solidFill>
              <a:ea typeface="思源黑体 CN Regular" panose="020B0500000000000000" charset="-122"/>
              <a:cs typeface="思源黑体 CN Regular" panose="020B0500000000000000" charset="-122"/>
              <a:sym typeface="Arial" panose="020B0604020202020204" pitchFamily="34" charset="0"/>
            </a:endParaRPr>
          </a:p>
        </p:txBody>
      </p:sp>
      <p:sp>
        <p:nvSpPr>
          <p:cNvPr id="13" name="文本框"/>
          <p:cNvSpPr/>
          <p:nvPr/>
        </p:nvSpPr>
        <p:spPr>
          <a:xfrm>
            <a:off x="787400" y="206480"/>
            <a:ext cx="5194300" cy="583565"/>
          </a:xfrm>
          <a:prstGeom prst="rect">
            <a:avLst/>
          </a:prstGeom>
        </p:spPr>
        <p:txBody>
          <a:bodyPr wrap="square">
            <a:spAutoFit/>
          </a:bodyPr>
          <a:lstStyle/>
          <a:p>
            <a:pPr lvl="0"/>
            <a:r>
              <a:rPr lang="zh-CN" altLang="en-US" sz="3200" b="1">
                <a:latin typeface="思源黑体 CN Regular" panose="020B0500000000000000" charset="-122"/>
                <a:ea typeface="思源黑体 CN Regular" panose="020B0500000000000000" charset="-122"/>
                <a:cs typeface="+mn-ea"/>
                <a:sym typeface="Arial" panose="020B0604020202020204" pitchFamily="34" charset="0"/>
              </a:rPr>
              <a:t>数据基本概念</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 name="圆角矩形 7"/>
          <p:cNvSpPr/>
          <p:nvPr/>
        </p:nvSpPr>
        <p:spPr>
          <a:xfrm>
            <a:off x="228599" y="3450773"/>
            <a:ext cx="11756571" cy="3381328"/>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 name="TextBox 8"/>
              <p:cNvSpPr txBox="1"/>
              <p:nvPr/>
            </p:nvSpPr>
            <p:spPr>
              <a:xfrm>
                <a:off x="555172" y="3528062"/>
                <a:ext cx="11277600" cy="3206064"/>
              </a:xfrm>
              <a:prstGeom prst="rect">
                <a:avLst/>
              </a:prstGeom>
              <a:noFill/>
            </p:spPr>
            <p:txBody>
              <a:bodyPr wrap="square" lIns="0" tIns="0" rIns="0" bIns="0" rtlCol="0" anchor="t">
                <a:noAutofit/>
              </a:bodyPr>
              <a:lstStyle/>
              <a:p>
                <a:pPr defTabSz="1219200">
                  <a:spcBef>
                    <a:spcPct val="20000"/>
                  </a:spcBef>
                  <a:defRPr/>
                </a:pPr>
                <a:r>
                  <a:rPr lang="zh-CN" altLang="en-US"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余弦相似度计算示例</a:t>
                </a:r>
                <a:endParaRPr lang="en-US" altLang="zh-CN" sz="1200" dirty="0">
                  <a:solidFill>
                    <a:srgbClr val="05B0F0"/>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defTabSz="1219200">
                  <a:lnSpc>
                    <a:spcPct val="150000"/>
                  </a:lnSpc>
                  <a:spcBef>
                    <a:spcPct val="20000"/>
                  </a:spcBef>
                  <a:buFont typeface="Arial" panose="020B0604020202020204" pitchFamily="34" charset="0"/>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在文档处理中，我们通常使用向量表示形式，其中每个词对应向量的一个维度，且该维度的值表示该词在文档中的出现频率，如表所示。这种词频向量通常是高维且稀疏的，即包含大量零值，即使文档中包含成千上万个词。此时，我们就可以借助余弦相似度来度量不同词频向量之间的相似性，从而实现比较不同文档之间的相似性。即：</a:t>
                </a:r>
              </a:p>
              <a:p>
                <a:pPr indent="457200" defTabSz="1219200">
                  <a:lnSpc>
                    <a:spcPct val="150000"/>
                  </a:lnSpc>
                  <a:spcBef>
                    <a:spcPct val="20000"/>
                  </a:spcBef>
                  <a:buFont typeface="Arial" panose="020B0604020202020204" pitchFamily="34" charset="0"/>
                  <a:defRPr/>
                </a:pPr>
                <a14:m>
                  <m:oMathPara xmlns:m="http://schemas.openxmlformats.org/officeDocument/2006/math">
                    <m:oMathParaPr>
                      <m:jc m:val="centerGroup"/>
                    </m:oMathParaPr>
                    <m:oMath xmlns:m="http://schemas.openxmlformats.org/officeDocument/2006/math">
                      <m:r>
                        <a:rPr lang="en-US" altLang="zh-CN" sz="1400" b="1"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 (11, 27, 7, 11, 5, 31, 0), </m:t>
                      </m:r>
                      <m:r>
                        <a:rPr lang="zh-CN" altLang="en-US" sz="1400" b="1"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400" b="1"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 (7, 19, 7, 12, 3, 0, 0)</m:t>
                      </m:r>
                    </m:oMath>
                  </m:oMathPara>
                </a14:m>
                <a:endPar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defTabSz="1219200">
                  <a:lnSpc>
                    <a:spcPct val="150000"/>
                  </a:lnSpc>
                  <a:spcBef>
                    <a:spcPct val="20000"/>
                  </a:spcBef>
                  <a:buFont typeface="Arial" panose="020B0604020202020204" pitchFamily="34" charset="0"/>
                  <a:defRPr/>
                </a:pPr>
                <a14:m>
                  <m:oMathPara xmlns:m="http://schemas.openxmlformats.org/officeDocument/2006/math">
                    <m:oMathParaPr>
                      <m:jc m:val="centerGroup"/>
                    </m:oMathParaPr>
                    <m:oMath xmlns:m="http://schemas.openxmlformats.org/officeDocument/2006/math">
                      <m:r>
                        <a:rPr lang="en-US" altLang="zh-CN" sz="1400" b="1"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400" b="1"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 11 ×7 + 27 ×19 + 7 ×7 + 11 ×12 + 5 ×3 + 31 ×0 + 0 ×0 = 786</m:t>
                      </m:r>
                    </m:oMath>
                  </m:oMathPara>
                </a14:m>
                <a:endPar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defTabSz="1219200">
                  <a:lnSpc>
                    <a:spcPct val="150000"/>
                  </a:lnSpc>
                  <a:spcBef>
                    <a:spcPct val="20000"/>
                  </a:spcBef>
                  <a:buFont typeface="Arial" panose="020B0604020202020204" pitchFamily="34" charset="0"/>
                  <a:defRPr/>
                </a:pPr>
                <a14:m>
                  <m:oMathPara xmlns:m="http://schemas.openxmlformats.org/officeDocument/2006/math">
                    <m:oMathParaPr>
                      <m:jc m:val="centerGroup"/>
                    </m:oMathParaPr>
                    <m:oMath xmlns:m="http://schemas.openxmlformats.org/officeDocument/2006/math">
                      <m:d>
                        <m:dPr>
                          <m:begChr m:val="‖"/>
                          <m:endChr m:val="‖"/>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sym typeface="Arial" panose="020B0604020202020204" pitchFamily="34" charset="0"/>
                            </a:rPr>
                          </m:ctrlPr>
                        </m:dPr>
                        <m:e>
                          <m:r>
                            <a:rPr lang="en-US" altLang="zh-CN" sz="1400" b="1"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e>
                      </m:d>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ad>
                        <m:radPr>
                          <m:degHide m:val="on"/>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sym typeface="Arial" panose="020B0604020202020204" pitchFamily="34" charset="0"/>
                            </a:rPr>
                          </m:ctrlPr>
                        </m:radPr>
                        <m:deg/>
                        <m:e>
                          <m:sSup>
                            <m:sSup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11</m:t>
                              </m:r>
                            </m:e>
                            <m: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p>
                            <m:sSup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27</m:t>
                              </m:r>
                            </m:e>
                            <m: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p>
                            <m:sSup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7</m:t>
                              </m:r>
                            </m:e>
                            <m: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p>
                            <m:sSup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11</m:t>
                              </m:r>
                            </m:e>
                            <m: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p>
                            <m:sSup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5</m:t>
                              </m:r>
                            </m:e>
                            <m: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p>
                            <m:sSup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31</m:t>
                              </m:r>
                            </m:e>
                            <m: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p>
                            <m:sSup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m:t>
                              </m:r>
                            </m:e>
                            <m: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e>
                      </m:rad>
                      <m:r>
                        <a:rPr lang="zh-CN" altLang="en-US" sz="1400" b="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ad>
                        <m:radPr>
                          <m:degHide m:val="on"/>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sym typeface="Arial" panose="020B0604020202020204" pitchFamily="34" charset="0"/>
                            </a:rPr>
                          </m:ctrlPr>
                        </m:radPr>
                        <m:deg/>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2006</m:t>
                          </m:r>
                        </m:e>
                      </m:rad>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400" i="1" dirty="0" smtClean="0">
                          <a:solidFill>
                            <a:schemeClr val="bg2">
                              <a:lumMod val="25000"/>
                            </a:schemeClr>
                          </a:solidFill>
                          <a:latin typeface="Cambria Math" panose="02040503050406030204" pitchFamily="18" charset="0"/>
                          <a:ea typeface="Cambria Math" panose="02040503050406030204" pitchFamily="18" charset="0"/>
                          <a:cs typeface="思源黑体 CN Regular" panose="020B0500000000000000" charset="-122"/>
                          <a:sym typeface="Arial" panose="020B0604020202020204" pitchFamily="34" charset="0"/>
                        </a:rPr>
                        <m:t>≈</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44.</m:t>
                      </m:r>
                      <m:r>
                        <a:rPr lang="en-US" altLang="zh-CN" sz="1400" b="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79</m:t>
                      </m:r>
                      <m:r>
                        <a:rPr lang="zh-CN" altLang="en-US" sz="1400" b="0" i="0"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zh-CN" altLang="en-US" sz="1400" b="0" i="0"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d>
                        <m:dPr>
                          <m:begChr m:val="‖"/>
                          <m:endChr m:val="‖"/>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sym typeface="Arial" panose="020B0604020202020204" pitchFamily="34" charset="0"/>
                            </a:rPr>
                          </m:ctrlPr>
                        </m:dPr>
                        <m:e>
                          <m:r>
                            <a:rPr lang="en-US" altLang="zh-CN" sz="1400" b="1" i="1" dirty="0">
                              <a:solidFill>
                                <a:schemeClr val="bg2">
                                  <a:lumMod val="25000"/>
                                </a:schemeClr>
                              </a:solidFill>
                              <a:latin typeface="Cambria Math" panose="02040503050406030204" pitchFamily="18" charset="0"/>
                              <a:ea typeface="思源黑体 CN Regular" panose="020B0500000000000000" charset="-122"/>
                              <a:sym typeface="Arial" panose="020B0604020202020204" pitchFamily="34" charset="0"/>
                            </a:rPr>
                            <m:t>𝒚</m:t>
                          </m:r>
                        </m:e>
                      </m:d>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 </m:t>
                      </m:r>
                      <m:rad>
                        <m:radPr>
                          <m:degHide m:val="on"/>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sym typeface="Arial" panose="020B0604020202020204" pitchFamily="34" charset="0"/>
                            </a:rPr>
                          </m:ctrlPr>
                        </m:radPr>
                        <m:deg/>
                        <m:e>
                          <m:sSup>
                            <m:sSup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7</m:t>
                              </m:r>
                            </m:e>
                            <m: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p>
                            <m:sSup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19</m:t>
                              </m:r>
                            </m:e>
                            <m: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p>
                            <m:sSup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7</m:t>
                              </m:r>
                            </m:e>
                            <m: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p>
                            <m:sSup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12</m:t>
                              </m:r>
                            </m:e>
                            <m: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p>
                            <m:sSup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3</m:t>
                              </m:r>
                            </m:e>
                            <m: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p>
                            <m:sSup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m:t>
                              </m:r>
                            </m:e>
                            <m: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sSup>
                            <m:sSup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sSupPr>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m:t>
                              </m:r>
                            </m:e>
                            <m:sup>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m:t>
                              </m:r>
                            </m:sup>
                          </m:sSup>
                        </m:e>
                      </m:rad>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  </m:t>
                      </m:r>
                      <m:rad>
                        <m:radPr>
                          <m:degHide m:val="on"/>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sym typeface="Arial" panose="020B0604020202020204" pitchFamily="34" charset="0"/>
                            </a:rPr>
                          </m:ctrlPr>
                        </m:radPr>
                        <m:deg/>
                        <m:e>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612</m:t>
                          </m:r>
                        </m:e>
                      </m:rad>
                      <m:r>
                        <a:rPr lang="en-US" altLang="zh-CN" sz="1400" i="1" dirty="0">
                          <a:solidFill>
                            <a:schemeClr val="bg2">
                              <a:lumMod val="25000"/>
                            </a:schemeClr>
                          </a:solidFill>
                          <a:latin typeface="Cambria Math" panose="02040503050406030204" pitchFamily="18" charset="0"/>
                          <a:ea typeface="Cambria Math" panose="02040503050406030204" pitchFamily="18" charset="0"/>
                          <a:cs typeface="思源黑体 CN Regular" panose="020B0500000000000000" charset="-122"/>
                          <a:sym typeface="Arial" panose="020B0604020202020204" pitchFamily="34" charset="0"/>
                        </a:rPr>
                        <m:t>≈</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24.74</m:t>
                      </m:r>
                    </m:oMath>
                  </m:oMathPara>
                </a14:m>
                <a:endPar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457200" defTabSz="1219200">
                  <a:lnSpc>
                    <a:spcPct val="150000"/>
                  </a:lnSpc>
                  <a:spcBef>
                    <a:spcPct val="20000"/>
                  </a:spcBef>
                  <a:buFont typeface="Arial" panose="020B0604020202020204" pitchFamily="34" charset="0"/>
                  <a:defRPr/>
                </a:pPr>
                <a14:m>
                  <m:oMathPara xmlns:m="http://schemas.openxmlformats.org/officeDocument/2006/math">
                    <m:oMathParaPr>
                      <m:jc m:val="centerGroup"/>
                    </m:oMathParaPr>
                    <m:oMath xmlns:m="http://schemas.openxmlformats.org/officeDocument/2006/math">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𝑠𝑖𝑚</m:t>
                      </m:r>
                      <m:d>
                        <m:d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dPr>
                        <m:e>
                          <m:r>
                            <a:rPr lang="en-US" altLang="zh-CN" sz="1400" b="1"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b="1"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e>
                      </m:d>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400" b="1"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𝒙</m:t>
                          </m:r>
                          <m:r>
                            <a:rPr lang="en-US" altLang="zh-CN" sz="140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b="1"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𝒚</m:t>
                          </m:r>
                        </m:num>
                        <m:den>
                          <m:d>
                            <m:dPr>
                              <m:begChr m:val="‖"/>
                              <m:endChr m:val="‖"/>
                              <m:ctrlPr>
                                <a:rPr lang="en-US" altLang="zh-CN" sz="1400" i="1" dirty="0" smtClean="0">
                                  <a:solidFill>
                                    <a:schemeClr val="bg2">
                                      <a:lumMod val="25000"/>
                                    </a:schemeClr>
                                  </a:solidFill>
                                  <a:latin typeface="Cambria Math" panose="02040503050406030204" pitchFamily="18" charset="0"/>
                                  <a:ea typeface="思源黑体 CN Regular" panose="020B0500000000000000" charset="-122"/>
                                  <a:sym typeface="Arial" panose="020B0604020202020204" pitchFamily="34" charset="0"/>
                                </a:rPr>
                              </m:ctrlPr>
                            </m:dPr>
                            <m:e>
                              <m:r>
                                <a:rPr lang="en-US" altLang="zh-CN" sz="1400" b="1" i="1" dirty="0" smtClean="0">
                                  <a:solidFill>
                                    <a:schemeClr val="bg2">
                                      <a:lumMod val="25000"/>
                                    </a:schemeClr>
                                  </a:solidFill>
                                  <a:latin typeface="Cambria Math" panose="02040503050406030204" pitchFamily="18" charset="0"/>
                                  <a:ea typeface="思源黑体 CN Regular" panose="020B0500000000000000" charset="-122"/>
                                  <a:sym typeface="Arial" panose="020B0604020202020204" pitchFamily="34" charset="0"/>
                                </a:rPr>
                                <m:t>𝒙</m:t>
                              </m:r>
                            </m:e>
                          </m:d>
                          <m:d>
                            <m:dPr>
                              <m:begChr m:val="‖"/>
                              <m:endChr m:val="‖"/>
                              <m:ctrlPr>
                                <a:rPr lang="en-US" altLang="zh-CN" sz="1400" b="1" i="1" dirty="0" smtClean="0">
                                  <a:solidFill>
                                    <a:schemeClr val="bg2">
                                      <a:lumMod val="25000"/>
                                    </a:schemeClr>
                                  </a:solidFill>
                                  <a:latin typeface="Cambria Math" panose="02040503050406030204" pitchFamily="18" charset="0"/>
                                  <a:ea typeface="思源黑体 CN Regular" panose="020B0500000000000000" charset="-122"/>
                                  <a:sym typeface="Arial" panose="020B0604020202020204" pitchFamily="34" charset="0"/>
                                </a:rPr>
                              </m:ctrlPr>
                            </m:dPr>
                            <m:e>
                              <m:r>
                                <a:rPr lang="en-US" altLang="zh-CN" sz="1400" b="1" i="1" dirty="0" smtClean="0">
                                  <a:solidFill>
                                    <a:schemeClr val="bg2">
                                      <a:lumMod val="25000"/>
                                    </a:schemeClr>
                                  </a:solidFill>
                                  <a:latin typeface="Cambria Math" panose="02040503050406030204" pitchFamily="18" charset="0"/>
                                  <a:ea typeface="思源黑体 CN Regular" panose="020B0500000000000000" charset="-122"/>
                                  <a:sym typeface="Arial" panose="020B0604020202020204" pitchFamily="34" charset="0"/>
                                </a:rPr>
                                <m:t>𝒚</m:t>
                              </m:r>
                            </m:e>
                          </m:d>
                        </m:den>
                      </m:f>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786</m:t>
                          </m:r>
                        </m:num>
                        <m:den>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44.</m:t>
                          </m:r>
                          <m:r>
                            <a:rPr lang="en-US" altLang="zh-CN" sz="1400" b="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79</m:t>
                          </m:r>
                          <m:r>
                            <a:rPr lang="zh-CN" altLang="en-US" sz="1400" b="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zh-CN" altLang="en-US" sz="1400" b="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 </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24.74</m:t>
                          </m:r>
                        </m:den>
                      </m:f>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f>
                        <m:fPr>
                          <m:ctrlP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ctrlPr>
                        </m:fPr>
                        <m:num>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786</m:t>
                          </m:r>
                        </m:num>
                        <m:den>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110</m:t>
                          </m:r>
                          <m:r>
                            <a:rPr lang="en-US" altLang="zh-CN" sz="1400" b="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8</m:t>
                          </m:r>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m:t>
                          </m:r>
                          <m:r>
                            <a:rPr lang="en-US" altLang="zh-CN" sz="1400" b="0" i="1" dirty="0" smtClean="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10</m:t>
                          </m:r>
                        </m:den>
                      </m:f>
                      <m:r>
                        <a:rPr lang="en-US" altLang="zh-CN" sz="1400" i="1" dirty="0">
                          <a:solidFill>
                            <a:schemeClr val="bg2">
                              <a:lumMod val="25000"/>
                            </a:schemeClr>
                          </a:solidFill>
                          <a:latin typeface="Cambria Math" panose="02040503050406030204" pitchFamily="18" charset="0"/>
                          <a:ea typeface="思源黑体 CN Regular" panose="020B0500000000000000" charset="-122"/>
                          <a:cs typeface="思源黑体 CN Regular" panose="020B0500000000000000" charset="-122"/>
                          <a:sym typeface="Arial" panose="020B0604020202020204" pitchFamily="34" charset="0"/>
                        </a:rPr>
                        <m:t>≈0.71</m:t>
                      </m:r>
                    </m:oMath>
                  </m:oMathPara>
                </a14:m>
                <a:endPar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9525" defTabSz="1219200">
                  <a:lnSpc>
                    <a:spcPct val="150000"/>
                  </a:lnSpc>
                  <a:spcBef>
                    <a:spcPct val="20000"/>
                  </a:spcBef>
                  <a:buFont typeface="Arial" panose="020B0604020202020204" pitchFamily="34" charset="0"/>
                  <a:defRPr/>
                </a:pP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那么，表中文档 </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1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和 文档 </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 </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的相似性为 </a:t>
                </a:r>
                <a:r>
                  <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0.71</a:t>
                </a:r>
                <a:r>
                  <a:rPr lang="zh-CN" altLang="en-US"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en-US" altLang="zh-CN" sz="14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mc:Choice>
        <mc:Fallback xmlns="">
          <p:sp>
            <p:nvSpPr>
              <p:cNvPr id="3" name="TextBox 8"/>
              <p:cNvSpPr txBox="1">
                <a:spLocks noRot="1" noChangeAspect="1" noMove="1" noResize="1" noEditPoints="1" noAdjustHandles="1" noChangeArrowheads="1" noChangeShapeType="1" noTextEdit="1"/>
              </p:cNvSpPr>
              <p:nvPr/>
            </p:nvSpPr>
            <p:spPr>
              <a:xfrm>
                <a:off x="555172" y="3528062"/>
                <a:ext cx="11277600" cy="3206064"/>
              </a:xfrm>
              <a:prstGeom prst="rect">
                <a:avLst/>
              </a:prstGeom>
              <a:blipFill rotWithShape="1">
                <a:blip r:embed="rId4"/>
                <a:stretch>
                  <a:fillRect l="-2" t="-852" r="2" b="-3705"/>
                </a:stretch>
              </a:blipFill>
            </p:spPr>
            <p:txBody>
              <a:bodyPr/>
              <a:lstStyle/>
              <a:p>
                <a:r>
                  <a:rPr lang="zh-CN" altLang="en-US">
                    <a:noFill/>
                  </a:rPr>
                  <a:t> </a:t>
                </a:r>
              </a:p>
            </p:txBody>
          </p:sp>
        </mc:Fallback>
      </mc:AlternateContent>
      <p:graphicFrame>
        <p:nvGraphicFramePr>
          <p:cNvPr id="4" name="Table 3"/>
          <p:cNvGraphicFramePr>
            <a:graphicFrameLocks noGrp="1"/>
          </p:cNvGraphicFramePr>
          <p:nvPr/>
        </p:nvGraphicFramePr>
        <p:xfrm>
          <a:off x="2498868" y="2011678"/>
          <a:ext cx="7194264" cy="1341120"/>
        </p:xfrm>
        <a:graphic>
          <a:graphicData uri="http://schemas.openxmlformats.org/drawingml/2006/table">
            <a:tbl>
              <a:tblPr firstRow="1" bandRow="1">
                <a:tableStyleId>{2D5ABB26-0587-4C30-8999-92F81FD0307C}</a:tableStyleId>
              </a:tblPr>
              <a:tblGrid>
                <a:gridCol w="945700">
                  <a:extLst>
                    <a:ext uri="{9D8B030D-6E8A-4147-A177-3AD203B41FA5}">
                      <a16:colId xmlns:a16="http://schemas.microsoft.com/office/drawing/2014/main" val="20000"/>
                    </a:ext>
                  </a:extLst>
                </a:gridCol>
                <a:gridCol w="892652">
                  <a:extLst>
                    <a:ext uri="{9D8B030D-6E8A-4147-A177-3AD203B41FA5}">
                      <a16:colId xmlns:a16="http://schemas.microsoft.com/office/drawing/2014/main" val="20001"/>
                    </a:ext>
                  </a:extLst>
                </a:gridCol>
                <a:gridCol w="892652">
                  <a:extLst>
                    <a:ext uri="{9D8B030D-6E8A-4147-A177-3AD203B41FA5}">
                      <a16:colId xmlns:a16="http://schemas.microsoft.com/office/drawing/2014/main" val="20002"/>
                    </a:ext>
                  </a:extLst>
                </a:gridCol>
                <a:gridCol w="892652">
                  <a:extLst>
                    <a:ext uri="{9D8B030D-6E8A-4147-A177-3AD203B41FA5}">
                      <a16:colId xmlns:a16="http://schemas.microsoft.com/office/drawing/2014/main" val="20003"/>
                    </a:ext>
                  </a:extLst>
                </a:gridCol>
                <a:gridCol w="892652">
                  <a:extLst>
                    <a:ext uri="{9D8B030D-6E8A-4147-A177-3AD203B41FA5}">
                      <a16:colId xmlns:a16="http://schemas.microsoft.com/office/drawing/2014/main" val="20004"/>
                    </a:ext>
                  </a:extLst>
                </a:gridCol>
                <a:gridCol w="892652">
                  <a:extLst>
                    <a:ext uri="{9D8B030D-6E8A-4147-A177-3AD203B41FA5}">
                      <a16:colId xmlns:a16="http://schemas.microsoft.com/office/drawing/2014/main" val="20005"/>
                    </a:ext>
                  </a:extLst>
                </a:gridCol>
                <a:gridCol w="892652">
                  <a:extLst>
                    <a:ext uri="{9D8B030D-6E8A-4147-A177-3AD203B41FA5}">
                      <a16:colId xmlns:a16="http://schemas.microsoft.com/office/drawing/2014/main" val="20006"/>
                    </a:ext>
                  </a:extLst>
                </a:gridCol>
                <a:gridCol w="892652">
                  <a:extLst>
                    <a:ext uri="{9D8B030D-6E8A-4147-A177-3AD203B41FA5}">
                      <a16:colId xmlns:a16="http://schemas.microsoft.com/office/drawing/2014/main" val="20007"/>
                    </a:ext>
                  </a:extLst>
                </a:gridCol>
              </a:tblGrid>
              <a:tr h="251189">
                <a:tc rowSpan="2">
                  <a:txBody>
                    <a:bodyPr/>
                    <a:lstStyle/>
                    <a:p>
                      <a:pPr algn="ctr"/>
                      <a:r>
                        <a:rPr lang="en-US" sz="1600" dirty="0" err="1"/>
                        <a:t>文档</a:t>
                      </a:r>
                      <a:endParaRPr lang="en-US" sz="1600" dirty="0"/>
                    </a:p>
                  </a:txBody>
                  <a:tcPr anchor="ctr">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7">
                  <a:txBody>
                    <a:bodyPr/>
                    <a:lstStyle/>
                    <a:p>
                      <a:pPr algn="ctr"/>
                      <a:r>
                        <a:rPr lang="en-US" sz="1600" dirty="0" err="1"/>
                        <a:t>词频</a:t>
                      </a:r>
                      <a:endParaRPr lang="en-US" sz="1600" dirty="0"/>
                    </a:p>
                  </a:txBody>
                  <a:tcPr anchor="ctr">
                    <a:lnL w="1270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endParaRPr lang="zh-CN"/>
                    </a:p>
                  </a:txBody>
                  <a:tcPr anchor="ctr">
                    <a:lnL w="1270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0"/>
                  </a:ext>
                </a:extLst>
              </a:tr>
              <a:tr h="251189">
                <a:tc vMerge="1">
                  <a:txBody>
                    <a:bodyPr/>
                    <a:lstStyle/>
                    <a:p>
                      <a:endParaRPr lang="zh-CN"/>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err="1"/>
                        <a:t>我</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sz="1600" kern="1200" dirty="0" err="1">
                          <a:solidFill>
                            <a:schemeClr val="tx1"/>
                          </a:solidFill>
                          <a:latin typeface="+mn-lt"/>
                          <a:ea typeface="+mn-ea"/>
                          <a:cs typeface="+mn-cs"/>
                        </a:rPr>
                        <a:t>爱</a:t>
                      </a:r>
                      <a:endParaRPr lang="en-US" sz="16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1600" dirty="0" err="1"/>
                        <a:t>中国</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err="1"/>
                        <a:t>富强</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1600" dirty="0" err="1"/>
                        <a:t>民主</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err="1"/>
                        <a:t>文明</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1600" dirty="0" err="1"/>
                        <a:t>和谐</a:t>
                      </a:r>
                      <a:endParaRPr lang="en-US" sz="16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51189">
                <a:tc>
                  <a:txBody>
                    <a:bodyPr/>
                    <a:lstStyle/>
                    <a:p>
                      <a:pPr algn="ctr"/>
                      <a:r>
                        <a:rPr lang="en-US" sz="1600" dirty="0" err="1"/>
                        <a:t>文档</a:t>
                      </a:r>
                      <a:r>
                        <a:rPr lang="zh-CN" altLang="en-US" sz="1600" dirty="0"/>
                        <a:t> </a:t>
                      </a:r>
                      <a:r>
                        <a:rPr lang="en-US" altLang="zh-CN" sz="1600" dirty="0"/>
                        <a:t>1</a:t>
                      </a:r>
                      <a:endParaRPr lang="en-US" sz="1600"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t>11</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altLang="zh-CN" sz="1600" kern="1200" dirty="0">
                          <a:solidFill>
                            <a:schemeClr val="tx1"/>
                          </a:solidFill>
                          <a:latin typeface="+mn-lt"/>
                          <a:ea typeface="+mn-ea"/>
                          <a:cs typeface="+mn-cs"/>
                        </a:rPr>
                        <a:t>27</a:t>
                      </a:r>
                      <a:endParaRPr lang="en-US" sz="16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algn="ctr" defTabSz="914400" rtl="0" eaLnBrk="1" latinLnBrk="0" hangingPunct="1"/>
                      <a:r>
                        <a:rPr lang="en-US" altLang="zh-CN" sz="1600" kern="1200" dirty="0">
                          <a:solidFill>
                            <a:schemeClr val="tx1"/>
                          </a:solidFill>
                          <a:latin typeface="+mn-lt"/>
                          <a:ea typeface="+mn-ea"/>
                          <a:cs typeface="+mn-cs"/>
                        </a:rPr>
                        <a:t>7</a:t>
                      </a:r>
                      <a:endParaRPr lang="en-US" sz="16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t>11</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CN" sz="1600" dirty="0"/>
                        <a:t>5</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t>31</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CN" sz="1600" dirty="0"/>
                        <a:t>0</a:t>
                      </a:r>
                      <a:endParaRPr lang="en-US" sz="16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51189">
                <a:tc>
                  <a:txBody>
                    <a:bodyPr/>
                    <a:lstStyle/>
                    <a:p>
                      <a:pPr algn="ctr"/>
                      <a:r>
                        <a:rPr lang="en-US" sz="1600" dirty="0" err="1"/>
                        <a:t>文档</a:t>
                      </a:r>
                      <a:r>
                        <a:rPr lang="zh-CN" altLang="en-US" sz="1600" dirty="0"/>
                        <a:t> </a:t>
                      </a:r>
                      <a:r>
                        <a:rPr lang="en-US" altLang="zh-CN" sz="1600" dirty="0"/>
                        <a:t>2</a:t>
                      </a:r>
                      <a:endParaRPr lang="en-US" sz="1600" dirty="0"/>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t>7</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altLang="zh-CN" sz="1600" kern="1200" dirty="0">
                          <a:solidFill>
                            <a:schemeClr val="tx1"/>
                          </a:solidFill>
                          <a:latin typeface="+mn-lt"/>
                          <a:ea typeface="+mn-ea"/>
                          <a:cs typeface="+mn-cs"/>
                        </a:rPr>
                        <a:t>19</a:t>
                      </a:r>
                      <a:endParaRPr lang="en-US" sz="16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CN" sz="1600" dirty="0"/>
                        <a:t>7</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t>12</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CN" sz="1600" dirty="0"/>
                        <a:t>3</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t>0</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altLang="zh-CN" sz="1600" dirty="0"/>
                        <a:t>0</a:t>
                      </a:r>
                      <a:endParaRPr lang="en-US" sz="16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4">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4">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1107996"/>
          </a:xfrm>
          <a:prstGeom prst="rect">
            <a:avLst/>
          </a:prstGeom>
        </p:spPr>
        <p:txBody>
          <a:bodyPr wrap="square">
            <a:spAutoFit/>
          </a:bodyPr>
          <a:lstStyle/>
          <a:p>
            <a:pPr algn="ctr">
              <a:buClrTx/>
              <a:buSzTx/>
              <a:buFontTx/>
            </a:pP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数据采集与处理</a:t>
            </a: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02</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6946156" cy="395621"/>
          </a:xfrm>
          <a:prstGeom prst="rect">
            <a:avLst/>
          </a:prstGeom>
        </p:spPr>
        <p:txBody>
          <a:bodyPr wrap="square">
            <a:spAutoFit/>
          </a:bodyPr>
          <a:lstStyle/>
          <a:p>
            <a:pPr lvl="0" algn="ctr">
              <a:lnSpc>
                <a:spcPct val="130000"/>
              </a:lnSpc>
              <a:defRPr/>
            </a:pPr>
            <a:r>
              <a:rPr kumimoji="0" lang="en-US" altLang="zh-CN" sz="180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Data Collection and Processing</a:t>
            </a:r>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976804" y="1488446"/>
            <a:ext cx="9743440" cy="4048288"/>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概念：</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从多样化外部数据源获取信息，为分析决策提供基础支撑。贯穿数据从获取到应用的全生命周期。</a:t>
            </a:r>
          </a:p>
          <a:p>
            <a:pPr algn="l" defTabSz="1219200" fontAlgn="auto">
              <a:lnSpc>
                <a:spcPct val="150000"/>
              </a:lnSpc>
              <a:spcBef>
                <a:spcPts val="600"/>
              </a:spcBef>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三大核心要点：</a:t>
            </a:r>
          </a:p>
          <a:p>
            <a:pPr marL="342900" indent="-342900" algn="l" defTabSz="1219200" fontAlgn="auto">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全面性：数据量足、价值高、维度广，确保情境完整与用户画像清晰。</a:t>
            </a:r>
          </a:p>
          <a:p>
            <a:pPr marL="342900" indent="-342900" algn="l" defTabSz="1219200" fontAlgn="auto">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多维性：涵盖多种属性与类型，支持从多角度进行深度业务洞察。</a:t>
            </a:r>
          </a:p>
          <a:p>
            <a:pPr marL="342900" indent="-342900" algn="l" defTabSz="1219200" fontAlgn="auto">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高效性：追求快速、精准、经济的数据获取流程，优化采集效率。</a:t>
            </a:r>
          </a:p>
          <a:p>
            <a:pPr algn="l" defTabSz="1219200" fontAlgn="auto">
              <a:lnSpc>
                <a:spcPct val="150000"/>
              </a:lnSpc>
              <a:spcBef>
                <a:spcPts val="600"/>
              </a:spcBef>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主要数据源：</a:t>
            </a:r>
          </a:p>
          <a:p>
            <a:pPr marL="342900" indent="-342900" algn="l" defTabSz="1219200" fontAlgn="auto">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物理世界（硬感知）：图像数据、传感器数据、工业设备数据。</a:t>
            </a:r>
          </a:p>
          <a:p>
            <a:pPr marL="342900" indent="-342900" algn="l" defTabSz="1219200" fontAlgn="auto">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sym typeface="Arial" panose="020B0604020202020204" pitchFamily="34" charset="0"/>
              </a:rPr>
              <a:t>数字世界（软感知）：互联网数据（网络爬虫）、日志文件、企业业务系统数据。</a:t>
            </a:r>
          </a:p>
          <a:p>
            <a:pPr indent="0" algn="l" defTabSz="1219200" fontAlgn="auto">
              <a:lnSpc>
                <a:spcPct val="150000"/>
              </a:lnSpc>
              <a:spcBef>
                <a:spcPts val="6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数据采集与处理</a:t>
            </a:r>
          </a:p>
        </p:txBody>
      </p:sp>
      <p:sp>
        <p:nvSpPr>
          <p:cNvPr id="5" name="文本框 4"/>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数据采集：数据分析的起点</a:t>
            </a:r>
          </a:p>
        </p:txBody>
      </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976804" y="1488446"/>
            <a:ext cx="9743440" cy="4048288"/>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必要性：</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原始数据存在“脏乱”问题，必须清洗以确保分析准确性。</a:t>
            </a:r>
          </a:p>
          <a:p>
            <a:pPr algn="l" defTabSz="1219200" fontAlgn="auto">
              <a:lnSpc>
                <a:spcPct val="150000"/>
              </a:lnSpc>
              <a:spcBef>
                <a:spcPts val="600"/>
              </a:spcBef>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主要数据质量问题：</a:t>
            </a:r>
          </a:p>
          <a:p>
            <a:pPr marL="342900" indent="-342900" algn="l" defTabSz="1219200" fontAlgn="auto">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异常值：显著偏离正常模式的数据。</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800100" lvl="1" indent="-342900" defTabSz="1219200">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噪声：随机波动（图</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2.3</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p>
          <a:p>
            <a:pPr marL="800100" lvl="1" indent="-342900" defTabSz="1219200">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离群点：明显孤立的点（图</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2.4</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p>
          <a:p>
            <a:pPr marL="800100" lvl="1" indent="-342900" defTabSz="1219200">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识别工具：箱线图、散点图（图</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2.5</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p>
          <a:p>
            <a:pPr marL="342900" indent="-342900" algn="l" defTabSz="1219200" fontAlgn="auto">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缺失值：数据完全随机丢失、随机丢失、非随机丢失。</a:t>
            </a:r>
          </a:p>
          <a:p>
            <a:pPr marL="342900" indent="-342900" algn="l" defTabSz="1219200" fontAlgn="auto">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非一致值：违反逻辑或业务规则的值（如年龄为负数）。</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重复数据：完全相同、关键字段相同或高度相似的记录。</a:t>
            </a:r>
          </a:p>
          <a:p>
            <a:pPr indent="0" algn="l" defTabSz="1219200" fontAlgn="auto">
              <a:lnSpc>
                <a:spcPct val="150000"/>
              </a:lnSpc>
              <a:spcBef>
                <a:spcPts val="6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数据采集与处理</a:t>
            </a:r>
          </a:p>
        </p:txBody>
      </p:sp>
      <p:sp>
        <p:nvSpPr>
          <p:cNvPr id="5" name="文本框 4"/>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数据清洗：识别四大数据质量问题</a:t>
            </a:r>
          </a:p>
        </p:txBody>
      </p:sp>
      <p:pic>
        <p:nvPicPr>
          <p:cNvPr id="4" name="图片 3" descr="图表, 折线图&#10;&#10;AI 生成的内容可能不正确。"/>
          <p:cNvPicPr>
            <a:picLocks noChangeAspect="1"/>
          </p:cNvPicPr>
          <p:nvPr/>
        </p:nvPicPr>
        <p:blipFill>
          <a:blip r:embed="rId4"/>
          <a:srcRect l="-1" r="485" b="7388"/>
          <a:stretch>
            <a:fillRect/>
          </a:stretch>
        </p:blipFill>
        <p:spPr>
          <a:xfrm>
            <a:off x="6197972" y="1875735"/>
            <a:ext cx="3003179" cy="1838132"/>
          </a:xfrm>
          <a:prstGeom prst="rect">
            <a:avLst/>
          </a:prstGeom>
        </p:spPr>
      </p:pic>
      <p:pic>
        <p:nvPicPr>
          <p:cNvPr id="7" name="图片 6" descr="图表, 散点图&#10;&#10;AI 生成的内容可能不正确。"/>
          <p:cNvPicPr>
            <a:picLocks noChangeAspect="1"/>
          </p:cNvPicPr>
          <p:nvPr/>
        </p:nvPicPr>
        <p:blipFill>
          <a:blip r:embed="rId5"/>
          <a:srcRect b="8626"/>
          <a:stretch>
            <a:fillRect/>
          </a:stretch>
        </p:blipFill>
        <p:spPr>
          <a:xfrm>
            <a:off x="9213235" y="1795095"/>
            <a:ext cx="2657396" cy="1999463"/>
          </a:xfrm>
          <a:prstGeom prst="rect">
            <a:avLst/>
          </a:prstGeom>
        </p:spPr>
      </p:pic>
      <p:pic>
        <p:nvPicPr>
          <p:cNvPr id="10" name="图片 9" descr="文本&#10;&#10;AI 生成的内容可能不正确。"/>
          <p:cNvPicPr>
            <a:picLocks noChangeAspect="1"/>
          </p:cNvPicPr>
          <p:nvPr/>
        </p:nvPicPr>
        <p:blipFill>
          <a:blip r:embed="rId6"/>
          <a:stretch>
            <a:fillRect/>
          </a:stretch>
        </p:blipFill>
        <p:spPr>
          <a:xfrm>
            <a:off x="6639144" y="3713867"/>
            <a:ext cx="2394073" cy="406421"/>
          </a:xfrm>
          <a:prstGeom prst="rect">
            <a:avLst/>
          </a:prstGeom>
        </p:spPr>
      </p:pic>
      <p:pic>
        <p:nvPicPr>
          <p:cNvPr id="12" name="图片 11"/>
          <p:cNvPicPr>
            <a:picLocks noChangeAspect="1"/>
          </p:cNvPicPr>
          <p:nvPr/>
        </p:nvPicPr>
        <p:blipFill>
          <a:blip r:embed="rId7"/>
          <a:stretch>
            <a:fillRect/>
          </a:stretch>
        </p:blipFill>
        <p:spPr>
          <a:xfrm>
            <a:off x="9666491" y="3717476"/>
            <a:ext cx="1936850" cy="381020"/>
          </a:xfrm>
          <a:prstGeom prst="rect">
            <a:avLst/>
          </a:prstGeom>
        </p:spPr>
      </p:pic>
      <p:pic>
        <p:nvPicPr>
          <p:cNvPr id="15" name="图片 14" descr="图表, 散点图, 箱线图&#10;&#10;AI 生成的内容可能不正确。"/>
          <p:cNvPicPr>
            <a:picLocks noChangeAspect="1"/>
          </p:cNvPicPr>
          <p:nvPr/>
        </p:nvPicPr>
        <p:blipFill>
          <a:blip r:embed="rId8"/>
          <a:stretch>
            <a:fillRect/>
          </a:stretch>
        </p:blipFill>
        <p:spPr>
          <a:xfrm>
            <a:off x="6313690" y="4120289"/>
            <a:ext cx="4406554" cy="2235046"/>
          </a:xfrm>
          <a:prstGeom prst="rect">
            <a:avLst/>
          </a:prstGeom>
        </p:spPr>
      </p:pic>
      <p:pic>
        <p:nvPicPr>
          <p:cNvPr id="17" name="图片 16"/>
          <p:cNvPicPr>
            <a:picLocks noChangeAspect="1"/>
          </p:cNvPicPr>
          <p:nvPr/>
        </p:nvPicPr>
        <p:blipFill>
          <a:blip r:embed="rId9"/>
          <a:stretch>
            <a:fillRect/>
          </a:stretch>
        </p:blipFill>
        <p:spPr>
          <a:xfrm>
            <a:off x="7604914" y="6345710"/>
            <a:ext cx="1936850" cy="292115"/>
          </a:xfrm>
          <a:prstGeom prst="rect">
            <a:avLst/>
          </a:prstGeom>
        </p:spPr>
      </p:pic>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976804" y="1488446"/>
            <a:ext cx="9743440" cy="4048288"/>
          </a:xfrm>
          <a:prstGeom prst="rect">
            <a:avLst/>
          </a:prstGeom>
          <a:noFill/>
        </p:spPr>
        <p:txBody>
          <a:bodyPr wrap="square" lIns="0" tIns="0" rIns="0" bIns="0" rtlCol="0" anchor="t">
            <a:noAutofit/>
          </a:bodyPr>
          <a:lstStyle/>
          <a:p>
            <a:pPr marL="342900" indent="-342900" algn="l" defTabSz="1219200" fontAlgn="auto">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处理异常值</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800100" lvl="1" indent="-342900" defTabSz="1219200">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识别：用箱线图（</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IQR</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法） 和散点图定位。</a:t>
            </a:r>
          </a:p>
          <a:p>
            <a:pPr marL="800100" lvl="1" indent="-342900" defTabSz="1219200">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处理：删除、替换（中位数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均值）、转换。</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800100" lvl="1" indent="-342900" defTabSz="1219200">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缺失值：数据完全随机丢失、随机丢失、非随机丢失。</a:t>
            </a:r>
          </a:p>
          <a:p>
            <a:pPr marL="342900" indent="-342900" algn="l" defTabSz="1219200" fontAlgn="auto">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处理缺失值</a:t>
            </a:r>
          </a:p>
          <a:p>
            <a:pPr marL="800100" lvl="1" indent="-342900" defTabSz="1219200">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删除法：直接移除缺失记录（适用于少量缺失）。</a:t>
            </a:r>
          </a:p>
          <a:p>
            <a:pPr marL="800100" lvl="1" indent="-342900" defTabSz="1219200">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填充法：用均值、中位数、插值或机器学习预测值填充。</a:t>
            </a:r>
          </a:p>
          <a:p>
            <a:pPr marL="800100" lvl="1" indent="-342900" defTabSz="1219200">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保留法：将缺失本身作为一个特征。</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处理非一致值</a:t>
            </a:r>
          </a:p>
          <a:p>
            <a:pPr marL="800100" lvl="1" indent="-342900" defTabSz="1219200">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标准化：统一日期、文本、数值、编码的格式（如所有日期转为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YYYY-MM-DD</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defTabSz="1219200">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处理重复数据</a:t>
            </a:r>
          </a:p>
          <a:p>
            <a:pPr marL="800100" lvl="1" indent="-342900" defTabSz="1219200">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去重：使用如</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Pandas</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duplicated()</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函数识别并删除重复行。</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数据采集与处理</a:t>
            </a:r>
          </a:p>
        </p:txBody>
      </p:sp>
      <p:sp>
        <p:nvSpPr>
          <p:cNvPr id="5" name="文本框 4"/>
          <p:cNvSpPr txBox="1"/>
          <p:nvPr/>
        </p:nvSpPr>
        <p:spPr>
          <a:xfrm>
            <a:off x="336550"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数据清洗：关键处理方法与步骤</a:t>
            </a:r>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976804" y="1488446"/>
            <a:ext cx="9743440" cy="5163074"/>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目标：</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将来自多个异构数据源的信息融合成一个一致、高质量的数据集。</a:t>
            </a:r>
          </a:p>
          <a:p>
            <a:pPr algn="l" defTabSz="1219200" fontAlgn="auto">
              <a:lnSpc>
                <a:spcPct val="150000"/>
              </a:lnSpc>
              <a:spcBef>
                <a:spcPts val="600"/>
              </a:spcBef>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关键流程：</a:t>
            </a:r>
          </a:p>
          <a:p>
            <a:pPr marL="342900" indent="-342900" algn="l" defTabSz="1219200" fontAlgn="auto">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数据源识别：利用机器学习、深度学习（如</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BERT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）、知识图谱等技术自动识别数据源结构与语义。</a:t>
            </a:r>
          </a:p>
          <a:p>
            <a:pPr marL="342900" indent="-342900" algn="l" defTabSz="1219200" fontAlgn="auto">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数据转换：</a:t>
            </a:r>
          </a:p>
          <a:p>
            <a:pPr marL="800100" lvl="1" indent="-342900" defTabSz="1219200">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方式：</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ETL</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（先转换后加载）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vs. ELT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（先加载后转换，适合大数据）。</a:t>
            </a:r>
          </a:p>
          <a:p>
            <a:pPr marL="800100" lvl="1" indent="-342900" defTabSz="1219200">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冲突处理：检测（基于规则</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机器学习）与解决（基于优先级、规则或协同过滤）。非一致值：违反逻辑或业务规则的值（如年龄为负数）。</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数据匹配与融合：</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800100" lvl="1" indent="-342900" defTabSz="1219200">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模式匹配：识别不同数据源字段间的对应关系（模式连接、实体解析）。</a:t>
            </a:r>
          </a:p>
          <a:p>
            <a:pPr marL="800100" lvl="1" indent="-342900" defTabSz="1219200">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数据融合：合并信息，消除冗余。方法包括基于规则、概率、特征级、决策级融合。</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数据加载与存储：采用自适应数据流、增量加载、并行加载等技术优化效率，并选择合适存储方案（数据仓库</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数据湖）。</a:t>
            </a:r>
          </a:p>
        </p:txBody>
      </p:sp>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数据采集与处理</a:t>
            </a:r>
          </a:p>
        </p:txBody>
      </p:sp>
      <p:sp>
        <p:nvSpPr>
          <p:cNvPr id="5" name="文本框 4"/>
          <p:cNvSpPr txBox="1"/>
          <p:nvPr/>
        </p:nvSpPr>
        <p:spPr>
          <a:xfrm>
            <a:off x="365912"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数据集成：融合多源信息</a:t>
            </a:r>
          </a:p>
        </p:txBody>
      </p: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976804" y="1488446"/>
            <a:ext cx="9743440" cy="5163074"/>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目标：</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从海量数据中策略性地选取代表性子集，以降低计算复杂度、提高分析效率，同时保持总体关键特性。</a:t>
            </a:r>
          </a:p>
          <a:p>
            <a:pPr algn="l" defTabSz="1219200" fontAlgn="auto">
              <a:lnSpc>
                <a:spcPct val="150000"/>
              </a:lnSpc>
              <a:spcBef>
                <a:spcPts val="600"/>
              </a:spcBef>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基本策略：</a:t>
            </a:r>
          </a:p>
          <a:p>
            <a:pPr marL="285750" indent="-285750" algn="l" defTabSz="1219200" fontAlgn="auto">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简单随机采样：总体中每个单位被选中的概率均等，确保随机性与代表性。广泛应用于调研、质量控制等领域。</a:t>
            </a:r>
          </a:p>
          <a:p>
            <a:pPr marL="285750" indent="-285750" algn="l" defTabSz="1219200" fontAlgn="auto">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分层采样：先将总体按特征划分为若干互斥的“层”，再从每层内独立进行随机抽样。确保样本能代表所有重要子群体，提高估计精度。</a:t>
            </a:r>
          </a:p>
          <a:p>
            <a:pPr marL="285750" indent="-285750" algn="l" defTabSz="1219200" fontAlgn="auto">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系统采样：将总体单位按序排列，随机确定一个起始点，然后按固定的间隔（如每第</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k</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个）抽取样本。操作简便，样本分布均匀。</a:t>
            </a:r>
          </a:p>
          <a:p>
            <a:pPr marL="285750" indent="-285750" algn="l" defTabSz="1219200" fontAlgn="auto">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整群采样：随机选择自然群体（如学校、社区），调查群内所有个体，降低成本。。</a:t>
            </a:r>
          </a:p>
        </p:txBody>
      </p:sp>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数据采集与处理</a:t>
            </a:r>
          </a:p>
        </p:txBody>
      </p:sp>
      <p:sp>
        <p:nvSpPr>
          <p:cNvPr id="5" name="文本框 4"/>
          <p:cNvSpPr txBox="1"/>
          <p:nvPr/>
        </p:nvSpPr>
        <p:spPr>
          <a:xfrm>
            <a:off x="365912"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数据采样：策略与目的</a:t>
            </a:r>
          </a:p>
        </p:txBody>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976805" y="1488446"/>
            <a:ext cx="7800630" cy="5163074"/>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核心挑战：</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分类任务中类别样本数量严重不均，导致模型偏向多数类。</a:t>
            </a:r>
          </a:p>
          <a:p>
            <a:pPr algn="l" defTabSz="1219200" fontAlgn="auto">
              <a:lnSpc>
                <a:spcPct val="150000"/>
              </a:lnSpc>
              <a:spcBef>
                <a:spcPts val="600"/>
              </a:spcBef>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基本策略：</a:t>
            </a:r>
          </a:p>
          <a:p>
            <a:pPr marL="285750" indent="-285750" defTabSz="1219200">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随机上采样：随机复制少数类样本以增加其数量（可能导致过拟合）。</a:t>
            </a:r>
          </a:p>
          <a:p>
            <a:pPr marL="285750" indent="-285750" defTabSz="1219200">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随机下采样：随机删除多数类样本以平衡数量（可能丢失重要信息）。</a:t>
            </a:r>
          </a:p>
          <a:p>
            <a:pPr marL="285750" indent="-285750" algn="l" defTabSz="1219200" fontAlgn="auto">
              <a:lnSpc>
                <a:spcPct val="150000"/>
              </a:lnSpc>
              <a:spcBef>
                <a:spcPts val="600"/>
              </a:spcBef>
              <a:buFont typeface="Wingdings" panose="05000000000000000000" pitchFamily="2" charset="2"/>
              <a:buChar char="l"/>
              <a:defRPr/>
            </a:pP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SMOTE</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：合成少数类过采样技术。</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742950" lvl="1" indent="-285750" defTabSz="1219200">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原理：对每个少数类样本，在其特征空间的最近邻之间线性插值，合成新样本。</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fontAlgn="auto">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最近邻样本对采样：除互为最近邻的异类样本对，清理决策边界。</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742950" lvl="1" indent="-285750" defTabSz="1219200">
              <a:lnSpc>
                <a:spcPct val="150000"/>
              </a:lnSpc>
              <a:spcBef>
                <a:spcPts val="600"/>
              </a:spcBef>
              <a:buFont typeface="Wingdings" panose="05000000000000000000" pitchFamily="2" charset="2"/>
              <a:buChar char="l"/>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依赖技术：例如</a:t>
            </a:r>
            <a:r>
              <a:rPr lang="en-US" altLang="zh-CN" sz="1600" dirty="0" err="1">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kNN</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算法（如图</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2.6</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所示）用于寻找最近邻。</a:t>
            </a:r>
          </a:p>
        </p:txBody>
      </p:sp>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数据采集与处理</a:t>
            </a:r>
          </a:p>
        </p:txBody>
      </p:sp>
      <p:sp>
        <p:nvSpPr>
          <p:cNvPr id="5" name="文本框 4"/>
          <p:cNvSpPr txBox="1"/>
          <p:nvPr/>
        </p:nvSpPr>
        <p:spPr>
          <a:xfrm>
            <a:off x="365912" y="982345"/>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数据采样：机器学习中的采样技术</a:t>
            </a:r>
          </a:p>
        </p:txBody>
      </p:sp>
      <p:pic>
        <p:nvPicPr>
          <p:cNvPr id="3" name="图片 2" descr="图表, 散点图&#10;&#10;AI 生成的内容可能不正确。"/>
          <p:cNvPicPr>
            <a:picLocks noChangeAspect="1"/>
          </p:cNvPicPr>
          <p:nvPr/>
        </p:nvPicPr>
        <p:blipFill>
          <a:blip r:embed="rId4"/>
          <a:stretch>
            <a:fillRect/>
          </a:stretch>
        </p:blipFill>
        <p:spPr>
          <a:xfrm>
            <a:off x="8020134" y="739366"/>
            <a:ext cx="4004703" cy="2893508"/>
          </a:xfrm>
          <a:prstGeom prst="rect">
            <a:avLst/>
          </a:prstGeom>
        </p:spPr>
      </p:pic>
      <p:pic>
        <p:nvPicPr>
          <p:cNvPr id="6" name="图片 5"/>
          <p:cNvPicPr>
            <a:picLocks noChangeAspect="1"/>
          </p:cNvPicPr>
          <p:nvPr/>
        </p:nvPicPr>
        <p:blipFill>
          <a:blip r:embed="rId5"/>
          <a:stretch>
            <a:fillRect/>
          </a:stretch>
        </p:blipFill>
        <p:spPr>
          <a:xfrm>
            <a:off x="9066627" y="3758817"/>
            <a:ext cx="2082907" cy="311166"/>
          </a:xfrm>
          <a:prstGeom prst="rect">
            <a:avLst/>
          </a:prstGeom>
        </p:spPr>
      </p:pic>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4">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4">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1107996"/>
          </a:xfrm>
          <a:prstGeom prst="rect">
            <a:avLst/>
          </a:prstGeom>
        </p:spPr>
        <p:txBody>
          <a:bodyPr wrap="square">
            <a:spAutoFit/>
          </a:bodyPr>
          <a:lstStyle/>
          <a:p>
            <a:pPr algn="ctr">
              <a:buClrTx/>
              <a:buSzTx/>
              <a:buFontTx/>
            </a:pP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数据可视化</a:t>
            </a: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03</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6946156" cy="395621"/>
          </a:xfrm>
          <a:prstGeom prst="rect">
            <a:avLst/>
          </a:prstGeom>
        </p:spPr>
        <p:txBody>
          <a:bodyPr wrap="square">
            <a:spAutoFit/>
          </a:bodyPr>
          <a:lstStyle/>
          <a:p>
            <a:pPr lvl="0" algn="ctr">
              <a:lnSpc>
                <a:spcPct val="130000"/>
              </a:lnSpc>
              <a:defRPr/>
            </a:pPr>
            <a:r>
              <a:rPr kumimoji="0" lang="en-US" altLang="zh-CN" sz="180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Data Visualization</a:t>
            </a:r>
          </a:p>
        </p:txBody>
      </p:sp>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756447" y="866311"/>
            <a:ext cx="9743440" cy="424306"/>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数据可视化把复杂数据转成直观图形，帮助我们更快识别分布特征与异常值。</a:t>
            </a:r>
          </a:p>
        </p:txBody>
      </p:sp>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数据可视化</a:t>
            </a:r>
          </a:p>
        </p:txBody>
      </p:sp>
      <p:sp>
        <p:nvSpPr>
          <p:cNvPr id="5" name="文本框 4"/>
          <p:cNvSpPr txBox="1"/>
          <p:nvPr/>
        </p:nvSpPr>
        <p:spPr>
          <a:xfrm>
            <a:off x="689506" y="1268149"/>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单变量数据可视化</a:t>
            </a:r>
          </a:p>
        </p:txBody>
      </p:sp>
      <p:sp>
        <p:nvSpPr>
          <p:cNvPr id="2" name="TextBox 8"/>
          <p:cNvSpPr txBox="1"/>
          <p:nvPr/>
        </p:nvSpPr>
        <p:spPr>
          <a:xfrm>
            <a:off x="756447" y="1839094"/>
            <a:ext cx="7098769" cy="506101"/>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单变量数据可视化的主要目的是展示一个数据集的分布情况、集中趋势以及离散程度。常用的单变量图表包括直方图、箱线图和密度图。</a:t>
            </a:r>
          </a:p>
        </p:txBody>
      </p:sp>
      <p:sp>
        <p:nvSpPr>
          <p:cNvPr id="6" name="文本框 5"/>
          <p:cNvSpPr txBox="1"/>
          <p:nvPr/>
        </p:nvSpPr>
        <p:spPr>
          <a:xfrm>
            <a:off x="688344" y="2534880"/>
            <a:ext cx="6097162" cy="4116640"/>
          </a:xfrm>
          <a:prstGeom prst="rect">
            <a:avLst/>
          </a:prstGeom>
          <a:noFill/>
        </p:spPr>
        <p:txBody>
          <a:bodyPr wrap="square">
            <a:spAutoFit/>
          </a:bodyPr>
          <a:lstStyle/>
          <a:p>
            <a:pPr>
              <a:lnSpc>
                <a:spcPct val="150000"/>
              </a:lnSpc>
              <a:buNone/>
            </a:pP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rPr>
              <a:t>1. </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rPr>
              <a:t>直方图（</a:t>
            </a: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rPr>
              <a:t>Histogram</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rPr>
              <a:t>）</a:t>
            </a: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将数据按区间（</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bins</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）分箱，展示频率分布</a:t>
            </a: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观察：对称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偏态</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多峰、分布宽窄、极端条形（潜在离群点）</a:t>
            </a:r>
          </a:p>
          <a:p>
            <a:pPr>
              <a:lnSpc>
                <a:spcPct val="150000"/>
              </a:lnSpc>
              <a:buNone/>
            </a:pP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rPr>
              <a:t>2. </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rPr>
              <a:t>箱线图（</a:t>
            </a: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rPr>
              <a:t>Box Plot</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rPr>
              <a:t>）</a:t>
            </a: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用四分位数展示数据分布，突出集中趋势与异常值</a:t>
            </a: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关键：中位数、</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Q1/Q3</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IQR</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1.5×IQR</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外的离群点</a:t>
            </a: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适合：对比不同组</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类别的分布差异</a:t>
            </a:r>
          </a:p>
          <a:p>
            <a:pPr>
              <a:lnSpc>
                <a:spcPct val="150000"/>
              </a:lnSpc>
              <a:buNone/>
            </a:pP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rPr>
              <a:t>3. </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rPr>
              <a:t>密度图（</a:t>
            </a: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rPr>
              <a:t>Density Plot</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rPr>
              <a:t>）</a:t>
            </a: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对直方图做平滑化，估计概率密度（</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PDF</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a:t>
            </a: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优点：趋势更平滑、不受分箱影响</a:t>
            </a: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观察：峰值位置、分布范围、尾部（长尾</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极端值）</a:t>
            </a:r>
          </a:p>
        </p:txBody>
      </p:sp>
      <p:pic>
        <p:nvPicPr>
          <p:cNvPr id="8" name="图片 7" descr="图表, 直方图&#10;&#10;AI 生成的内容可能不正确。"/>
          <p:cNvPicPr>
            <a:picLocks noChangeAspect="1"/>
          </p:cNvPicPr>
          <p:nvPr/>
        </p:nvPicPr>
        <p:blipFill>
          <a:blip r:embed="rId4"/>
          <a:stretch>
            <a:fillRect/>
          </a:stretch>
        </p:blipFill>
        <p:spPr>
          <a:xfrm>
            <a:off x="7886169" y="278784"/>
            <a:ext cx="2805216" cy="2259307"/>
          </a:xfrm>
          <a:prstGeom prst="rect">
            <a:avLst/>
          </a:prstGeom>
        </p:spPr>
      </p:pic>
      <p:pic>
        <p:nvPicPr>
          <p:cNvPr id="11" name="图片 10" descr="图表, 箱线图&#10;&#10;AI 生成的内容可能不正确。"/>
          <p:cNvPicPr>
            <a:picLocks noChangeAspect="1"/>
          </p:cNvPicPr>
          <p:nvPr/>
        </p:nvPicPr>
        <p:blipFill>
          <a:blip r:embed="rId5"/>
          <a:stretch>
            <a:fillRect/>
          </a:stretch>
        </p:blipFill>
        <p:spPr>
          <a:xfrm>
            <a:off x="8014854" y="2508187"/>
            <a:ext cx="3076121" cy="2331722"/>
          </a:xfrm>
          <a:prstGeom prst="rect">
            <a:avLst/>
          </a:prstGeom>
        </p:spPr>
      </p:pic>
      <p:pic>
        <p:nvPicPr>
          <p:cNvPr id="16" name="图片 15" descr="图表, 直方图&#10;&#10;AI 生成的内容可能不正确。"/>
          <p:cNvPicPr>
            <a:picLocks noChangeAspect="1"/>
          </p:cNvPicPr>
          <p:nvPr/>
        </p:nvPicPr>
        <p:blipFill>
          <a:blip r:embed="rId6"/>
          <a:stretch>
            <a:fillRect/>
          </a:stretch>
        </p:blipFill>
        <p:spPr>
          <a:xfrm>
            <a:off x="8066688" y="4839909"/>
            <a:ext cx="2624697" cy="2036403"/>
          </a:xfrm>
          <a:prstGeom prst="rect">
            <a:avLst/>
          </a:prstGeom>
        </p:spPr>
      </p:pic>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数据可视化</a:t>
            </a:r>
          </a:p>
        </p:txBody>
      </p:sp>
      <p:sp>
        <p:nvSpPr>
          <p:cNvPr id="5" name="文本框 4"/>
          <p:cNvSpPr txBox="1"/>
          <p:nvPr/>
        </p:nvSpPr>
        <p:spPr>
          <a:xfrm>
            <a:off x="559915" y="902336"/>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二变量数据可视化</a:t>
            </a:r>
          </a:p>
        </p:txBody>
      </p:sp>
      <p:sp>
        <p:nvSpPr>
          <p:cNvPr id="2" name="TextBox 8"/>
          <p:cNvSpPr txBox="1"/>
          <p:nvPr/>
        </p:nvSpPr>
        <p:spPr>
          <a:xfrm>
            <a:off x="654778" y="1434852"/>
            <a:ext cx="7142053" cy="1001221"/>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二变量数据可视化的目标是展示两个变量之间的关系。常用的图表包括散点图、气泡图和折线图。</a:t>
            </a:r>
          </a:p>
        </p:txBody>
      </p:sp>
      <p:sp>
        <p:nvSpPr>
          <p:cNvPr id="6" name="文本框 5"/>
          <p:cNvSpPr txBox="1"/>
          <p:nvPr/>
        </p:nvSpPr>
        <p:spPr>
          <a:xfrm>
            <a:off x="654778" y="2312742"/>
            <a:ext cx="6097162" cy="4116640"/>
          </a:xfrm>
          <a:prstGeom prst="rect">
            <a:avLst/>
          </a:prstGeom>
          <a:noFill/>
        </p:spPr>
        <p:txBody>
          <a:bodyPr wrap="square">
            <a:spAutoFit/>
          </a:bodyPr>
          <a:lstStyle/>
          <a:p>
            <a:pPr>
              <a:lnSpc>
                <a:spcPct val="150000"/>
              </a:lnSpc>
            </a:pP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rPr>
              <a:t>1.</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rPr>
              <a:t>散点图（</a:t>
            </a: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rPr>
              <a:t>Scatter Plot</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rPr>
              <a:t>）</a:t>
            </a:r>
            <a:endPar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每个点代表一条观测，直观看变量关系</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观察：线性</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非线性趋势、相关强弱、离群点</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endParaRPr>
          </a:p>
          <a:p>
            <a:pPr>
              <a:lnSpc>
                <a:spcPct val="150000"/>
              </a:lnSpc>
            </a:pP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rPr>
              <a:t>2. </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rPr>
              <a:t>气泡图（</a:t>
            </a: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rPr>
              <a:t>Bubble Chart</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rPr>
              <a:t>）</a:t>
            </a:r>
            <a:endPar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散点图扩展：用气泡大小</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颜色编码第三变量</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适合：比较多维信息（如城市：人口</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–GDP–</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失业率）</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endParaRPr>
          </a:p>
          <a:p>
            <a:pPr>
              <a:lnSpc>
                <a:spcPct val="150000"/>
              </a:lnSpc>
            </a:pP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rPr>
              <a:t>3. </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rPr>
              <a:t>折线图（</a:t>
            </a: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rPr>
              <a:t>Line Chart</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rPr>
              <a:t>）</a:t>
            </a:r>
            <a:endPar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展示时间序列随时间的变化趋势</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适合：识别增长</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下降、周期波动、长期趋势</a:t>
            </a:r>
          </a:p>
        </p:txBody>
      </p:sp>
      <p:pic>
        <p:nvPicPr>
          <p:cNvPr id="7" name="图片 6" descr="图表, 散点图&#10;&#10;AI 生成的内容可能不正确。"/>
          <p:cNvPicPr>
            <a:picLocks noChangeAspect="1"/>
          </p:cNvPicPr>
          <p:nvPr/>
        </p:nvPicPr>
        <p:blipFill>
          <a:blip r:embed="rId4"/>
          <a:stretch>
            <a:fillRect/>
          </a:stretch>
        </p:blipFill>
        <p:spPr>
          <a:xfrm>
            <a:off x="8066688" y="188556"/>
            <a:ext cx="2571065" cy="2000849"/>
          </a:xfrm>
          <a:prstGeom prst="rect">
            <a:avLst/>
          </a:prstGeom>
        </p:spPr>
      </p:pic>
      <p:pic>
        <p:nvPicPr>
          <p:cNvPr id="12" name="图片 11" descr="图表, 散点图&#10;&#10;AI 生成的内容可能不正确。"/>
          <p:cNvPicPr>
            <a:picLocks noChangeAspect="1"/>
          </p:cNvPicPr>
          <p:nvPr/>
        </p:nvPicPr>
        <p:blipFill>
          <a:blip r:embed="rId5"/>
          <a:stretch>
            <a:fillRect/>
          </a:stretch>
        </p:blipFill>
        <p:spPr>
          <a:xfrm>
            <a:off x="8161966" y="2276653"/>
            <a:ext cx="2832473" cy="2448909"/>
          </a:xfrm>
          <a:prstGeom prst="rect">
            <a:avLst/>
          </a:prstGeom>
        </p:spPr>
      </p:pic>
      <p:pic>
        <p:nvPicPr>
          <p:cNvPr id="15" name="图片 14" descr="图表, 折线图&#10;&#10;AI 生成的内容可能不正确。"/>
          <p:cNvPicPr>
            <a:picLocks noChangeAspect="1"/>
          </p:cNvPicPr>
          <p:nvPr/>
        </p:nvPicPr>
        <p:blipFill>
          <a:blip r:embed="rId6"/>
          <a:stretch>
            <a:fillRect/>
          </a:stretch>
        </p:blipFill>
        <p:spPr>
          <a:xfrm>
            <a:off x="7948724" y="4781377"/>
            <a:ext cx="3045715" cy="2076623"/>
          </a:xfrm>
          <a:prstGeom prst="rect">
            <a:avLst/>
          </a:prstGeom>
        </p:spPr>
      </p:pic>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数据可视化</a:t>
            </a:r>
          </a:p>
        </p:txBody>
      </p:sp>
      <p:sp>
        <p:nvSpPr>
          <p:cNvPr id="5" name="文本框 4"/>
          <p:cNvSpPr txBox="1"/>
          <p:nvPr/>
        </p:nvSpPr>
        <p:spPr>
          <a:xfrm>
            <a:off x="497095" y="902336"/>
            <a:ext cx="6096000" cy="506101"/>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动态与交互式数据可视化</a:t>
            </a:r>
          </a:p>
        </p:txBody>
      </p:sp>
      <p:sp>
        <p:nvSpPr>
          <p:cNvPr id="2" name="TextBox 8"/>
          <p:cNvSpPr txBox="1"/>
          <p:nvPr/>
        </p:nvSpPr>
        <p:spPr>
          <a:xfrm>
            <a:off x="583772" y="1383101"/>
            <a:ext cx="9743440" cy="506101"/>
          </a:xfrm>
          <a:prstGeom prst="rect">
            <a:avLst/>
          </a:prstGeom>
          <a:noFill/>
        </p:spPr>
        <p:txBody>
          <a:bodyPr wrap="square" lIns="0" tIns="0" rIns="0" bIns="0" rtlCol="0" anchor="t">
            <a:noAutofit/>
          </a:bodyPr>
          <a:lstStyle/>
          <a:p>
            <a:pPr algn="l" defTabSz="1219200" fontAlgn="auto">
              <a:lnSpc>
                <a:spcPct val="150000"/>
              </a:lnSpc>
              <a:spcBef>
                <a:spcPts val="600"/>
              </a:spcBef>
              <a:defRPr/>
            </a:pP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除了静态图表</a:t>
            </a: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动态与交互式数据可视化为分析者提供了更大的灵活性和交互性。</a:t>
            </a:r>
          </a:p>
        </p:txBody>
      </p:sp>
      <p:sp>
        <p:nvSpPr>
          <p:cNvPr id="6" name="文本框 5"/>
          <p:cNvSpPr txBox="1"/>
          <p:nvPr/>
        </p:nvSpPr>
        <p:spPr>
          <a:xfrm>
            <a:off x="583772" y="4524574"/>
            <a:ext cx="9878654" cy="1900649"/>
          </a:xfrm>
          <a:prstGeom prst="rect">
            <a:avLst/>
          </a:prstGeom>
          <a:noFill/>
        </p:spPr>
        <p:txBody>
          <a:bodyPr wrap="square">
            <a:spAutoFit/>
          </a:bodyPr>
          <a:lstStyle/>
          <a:p>
            <a:pPr>
              <a:lnSpc>
                <a:spcPct val="150000"/>
              </a:lnSpc>
            </a:pP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rPr>
              <a:t>3. </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rPr>
              <a:t>交互与动态结合</a:t>
            </a:r>
            <a:endPar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endParaRPr>
          </a:p>
          <a:p>
            <a:pPr>
              <a:lnSpc>
                <a:spcPct val="150000"/>
              </a:lnSpc>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交互决定“看哪里”，动态负责“看变化过程”，两者结合能显著提高探索与解释效率。</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结论优先：动画与交互要服务问题，不要为了炫技而增加操作负担</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控制复杂度：交互层级清晰（总览→细分→钻取），避免按钮过多</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性能与体验：数据量大时注意加载</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抽样</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缓存，否则交互会卡顿影响理解</a:t>
            </a:r>
          </a:p>
        </p:txBody>
      </p:sp>
      <p:sp>
        <p:nvSpPr>
          <p:cNvPr id="10" name="文本框 9"/>
          <p:cNvSpPr txBox="1"/>
          <p:nvPr/>
        </p:nvSpPr>
        <p:spPr>
          <a:xfrm>
            <a:off x="497095" y="1889202"/>
            <a:ext cx="4487432" cy="2723702"/>
          </a:xfrm>
          <a:prstGeom prst="rect">
            <a:avLst/>
          </a:prstGeom>
          <a:noFill/>
        </p:spPr>
        <p:txBody>
          <a:bodyPr wrap="square">
            <a:spAutoFit/>
          </a:bodyPr>
          <a:lstStyle/>
          <a:p>
            <a:pPr>
              <a:lnSpc>
                <a:spcPct val="150000"/>
              </a:lnSpc>
            </a:pP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rPr>
              <a:t>1. </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rPr>
              <a:t>交互式可视化（</a:t>
            </a:r>
            <a:r>
              <a:rPr lang="en-US" altLang="zh-CN" sz="1600" b="1" dirty="0">
                <a:solidFill>
                  <a:schemeClr val="tx1">
                    <a:lumMod val="75000"/>
                    <a:lumOff val="25000"/>
                  </a:schemeClr>
                </a:solidFill>
                <a:latin typeface="思源黑体 CN Regular" panose="020B0500000000000000" charset="-122"/>
                <a:ea typeface="思源黑体 CN Regular" panose="020B0500000000000000" charset="-122"/>
              </a:rPr>
              <a:t>Interactive Visualization</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rPr>
              <a:t>）</a:t>
            </a: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支持：筛选、缩放、悬停提示、维度切换、联动更新</a:t>
            </a: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核心应用：交互式仪表盘（</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Dashboard</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a:t>
            </a: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场景：商业智能（</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BI</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）实时监控、钻取分析（时间</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地区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产品）</a:t>
            </a:r>
          </a:p>
          <a:p>
            <a:pPr>
              <a:lnSpc>
                <a:spcPct val="150000"/>
              </a:lnSpc>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endParaRPr>
          </a:p>
        </p:txBody>
      </p:sp>
      <p:sp>
        <p:nvSpPr>
          <p:cNvPr id="12" name="文本框 11"/>
          <p:cNvSpPr txBox="1"/>
          <p:nvPr/>
        </p:nvSpPr>
        <p:spPr>
          <a:xfrm>
            <a:off x="5544919" y="1960484"/>
            <a:ext cx="5756201" cy="1900649"/>
          </a:xfrm>
          <a:prstGeom prst="rect">
            <a:avLst/>
          </a:prstGeom>
          <a:noFill/>
        </p:spPr>
        <p:txBody>
          <a:bodyPr wrap="square">
            <a:spAutoFit/>
          </a:bodyPr>
          <a:lstStyle/>
          <a:p>
            <a:pPr>
              <a:lnSpc>
                <a:spcPct val="150000"/>
              </a:lnSpc>
            </a:pPr>
            <a:r>
              <a:rPr lang="en-US" altLang="zh-CN" sz="1600" b="1" dirty="0"/>
              <a:t>2. </a:t>
            </a:r>
            <a:r>
              <a:rPr lang="zh-CN" altLang="en-US" sz="1600" b="1" dirty="0"/>
              <a:t>动态可视化（</a:t>
            </a:r>
            <a:r>
              <a:rPr lang="en-US" altLang="zh-CN" sz="1600" b="1" dirty="0"/>
              <a:t>Dynamic Visualization</a:t>
            </a:r>
            <a:r>
              <a:rPr lang="zh-CN" altLang="en-US" sz="1600" b="1" dirty="0"/>
              <a:t>）</a:t>
            </a:r>
            <a:endParaRPr lang="en-US" altLang="zh-CN" sz="1600" b="1" dirty="0"/>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用动画</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时间滑块展示数据随时间或维度变化的演化 </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场景：疫情传播、股价走势、市场波动等 </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endParaRPr>
          </a:p>
          <a:p>
            <a:pPr marL="285750" indent="-285750">
              <a:lnSpc>
                <a:spcPct val="150000"/>
              </a:lnSpc>
              <a:buFont typeface="Arial" panose="020B0604020202020204" pitchFamily="34" charset="0"/>
              <a:buChar cha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典型图：桑基图（</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Sankey</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）展示能量</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资金</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资源流向（宽度</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rPr>
              <a:t>流量）</a:t>
            </a:r>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4">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4">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1107996"/>
          </a:xfrm>
          <a:prstGeom prst="rect">
            <a:avLst/>
          </a:prstGeom>
        </p:spPr>
        <p:txBody>
          <a:bodyPr wrap="square">
            <a:spAutoFit/>
          </a:bodyPr>
          <a:lstStyle/>
          <a:p>
            <a:pPr algn="ctr">
              <a:buClrTx/>
              <a:buSzTx/>
              <a:buFontTx/>
            </a:pP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小结与讨论</a:t>
            </a: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04</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6946156" cy="395621"/>
          </a:xfrm>
          <a:prstGeom prst="rect">
            <a:avLst/>
          </a:prstGeom>
        </p:spPr>
        <p:txBody>
          <a:bodyPr wrap="square">
            <a:spAutoFit/>
          </a:bodyPr>
          <a:lstStyle/>
          <a:p>
            <a:pPr lvl="0" algn="ctr">
              <a:lnSpc>
                <a:spcPct val="130000"/>
              </a:lnSpc>
              <a:defRPr/>
            </a:pPr>
            <a:r>
              <a:rPr kumimoji="0" lang="en-US" altLang="zh-CN" sz="180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Summary and Discussion</a:t>
            </a:r>
          </a:p>
        </p:txBody>
      </p:sp>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小结与讨论</a:t>
            </a:r>
          </a:p>
        </p:txBody>
      </p:sp>
      <p:sp>
        <p:nvSpPr>
          <p:cNvPr id="6" name="文本框 5"/>
          <p:cNvSpPr txBox="1"/>
          <p:nvPr/>
        </p:nvSpPr>
        <p:spPr>
          <a:xfrm>
            <a:off x="653585" y="790045"/>
            <a:ext cx="9984678" cy="2591287"/>
          </a:xfrm>
          <a:prstGeom prst="rect">
            <a:avLst/>
          </a:prstGeom>
          <a:noFill/>
        </p:spPr>
        <p:txBody>
          <a:bodyPr wrap="square">
            <a:spAutoFit/>
          </a:bodyPr>
          <a:lstStyle/>
          <a:p>
            <a:pPr>
              <a:lnSpc>
                <a:spcPct val="200000"/>
              </a:lnSpc>
              <a:buNone/>
            </a:pPr>
            <a:r>
              <a:rPr lang="zh-CN" altLang="en-US" sz="2400" b="1" dirty="0">
                <a:solidFill>
                  <a:schemeClr val="accent1"/>
                </a:solidFill>
                <a:latin typeface="思源黑体 CN Regular" panose="020B0500000000000000" charset="-122"/>
                <a:ea typeface="思源黑体 CN Regular" panose="020B0500000000000000" charset="-122"/>
              </a:rPr>
              <a:t>小结</a:t>
            </a:r>
          </a:p>
          <a:p>
            <a:pPr marL="342900" indent="-342900">
              <a:lnSpc>
                <a:spcPct val="200000"/>
              </a:lnSpc>
              <a:buFont typeface="Arial" panose="020B0604020202020204" pitchFamily="34" charset="0"/>
              <a:buChar char="•"/>
            </a:pPr>
            <a:r>
              <a:rPr lang="zh-CN" altLang="en-US" sz="2000" dirty="0"/>
              <a:t>数据基本概念：数据怎么“描述”，类型 </a:t>
            </a:r>
            <a:r>
              <a:rPr lang="en-US" altLang="zh-CN" sz="2000" dirty="0"/>
              <a:t>+ </a:t>
            </a:r>
            <a:r>
              <a:rPr lang="zh-CN" altLang="en-US" sz="2000" dirty="0"/>
              <a:t>基本统计（中心</a:t>
            </a:r>
            <a:r>
              <a:rPr lang="en-US" altLang="zh-CN" sz="2000" dirty="0"/>
              <a:t>/</a:t>
            </a:r>
            <a:r>
              <a:rPr lang="zh-CN" altLang="en-US" sz="2000" dirty="0"/>
              <a:t>离散</a:t>
            </a:r>
            <a:r>
              <a:rPr lang="en-US" altLang="zh-CN" sz="2000" dirty="0"/>
              <a:t>/</a:t>
            </a:r>
            <a:r>
              <a:rPr lang="zh-CN" altLang="en-US" sz="2000" dirty="0"/>
              <a:t>相关）</a:t>
            </a:r>
          </a:p>
          <a:p>
            <a:pPr marL="342900" indent="-342900">
              <a:lnSpc>
                <a:spcPct val="200000"/>
              </a:lnSpc>
              <a:buFont typeface="Arial" panose="020B0604020202020204" pitchFamily="34" charset="0"/>
              <a:buChar char="•"/>
            </a:pPr>
            <a:r>
              <a:rPr lang="zh-CN" altLang="en-US" sz="2000" dirty="0"/>
              <a:t>数据采集和处理：数据怎么“变干净”，缺失 </a:t>
            </a:r>
            <a:r>
              <a:rPr lang="en-US" altLang="zh-CN" sz="2000" dirty="0"/>
              <a:t>/ </a:t>
            </a:r>
            <a:r>
              <a:rPr lang="zh-CN" altLang="en-US" sz="2000" dirty="0"/>
              <a:t>异常 </a:t>
            </a:r>
            <a:r>
              <a:rPr lang="en-US" altLang="zh-CN" sz="2000" dirty="0"/>
              <a:t>/ </a:t>
            </a:r>
            <a:r>
              <a:rPr lang="zh-CN" altLang="en-US" sz="2000" dirty="0"/>
              <a:t>不一致 </a:t>
            </a:r>
            <a:r>
              <a:rPr lang="en-US" altLang="zh-CN" sz="2000" dirty="0"/>
              <a:t>/ </a:t>
            </a:r>
            <a:r>
              <a:rPr lang="zh-CN" altLang="en-US" sz="2000" dirty="0"/>
              <a:t>重复 → 清洗与融合</a:t>
            </a:r>
          </a:p>
          <a:p>
            <a:pPr marL="342900" indent="-342900">
              <a:lnSpc>
                <a:spcPct val="200000"/>
              </a:lnSpc>
              <a:buFont typeface="Arial" panose="020B0604020202020204" pitchFamily="34" charset="0"/>
              <a:buChar char="•"/>
            </a:pPr>
            <a:r>
              <a:rPr lang="zh-CN" altLang="en-US" sz="2000" dirty="0"/>
              <a:t>数据可视化：数据怎么“讲清楚”，按任务选图（分布</a:t>
            </a:r>
            <a:r>
              <a:rPr lang="en-US" altLang="zh-CN" sz="2000" dirty="0"/>
              <a:t>/</a:t>
            </a:r>
            <a:r>
              <a:rPr lang="zh-CN" altLang="en-US" sz="2000" dirty="0"/>
              <a:t>关系</a:t>
            </a:r>
            <a:r>
              <a:rPr lang="en-US" altLang="zh-CN" sz="2000" dirty="0"/>
              <a:t>/</a:t>
            </a:r>
            <a:r>
              <a:rPr lang="zh-CN" altLang="en-US" sz="2000" dirty="0"/>
              <a:t>趋势）</a:t>
            </a:r>
            <a:r>
              <a:rPr lang="en-US" altLang="zh-CN" sz="2000" dirty="0"/>
              <a:t>+ </a:t>
            </a:r>
            <a:r>
              <a:rPr lang="zh-CN" altLang="en-US" sz="2000" dirty="0"/>
              <a:t>交互增强理解</a:t>
            </a:r>
          </a:p>
        </p:txBody>
      </p:sp>
      <p:sp>
        <p:nvSpPr>
          <p:cNvPr id="9" name="文本框 8"/>
          <p:cNvSpPr txBox="1"/>
          <p:nvPr/>
        </p:nvSpPr>
        <p:spPr>
          <a:xfrm>
            <a:off x="653585" y="3231342"/>
            <a:ext cx="11404600" cy="3329951"/>
          </a:xfrm>
          <a:prstGeom prst="rect">
            <a:avLst/>
          </a:prstGeom>
          <a:noFill/>
        </p:spPr>
        <p:txBody>
          <a:bodyPr wrap="square">
            <a:spAutoFit/>
          </a:bodyPr>
          <a:lstStyle/>
          <a:p>
            <a:pPr>
              <a:lnSpc>
                <a:spcPct val="200000"/>
              </a:lnSpc>
              <a:buNone/>
            </a:pPr>
            <a:r>
              <a:rPr lang="zh-CN" altLang="en-US" sz="2800" b="1" dirty="0">
                <a:solidFill>
                  <a:schemeClr val="accent1"/>
                </a:solidFill>
                <a:latin typeface="思源黑体 CN Regular" panose="020B0500000000000000" charset="-122"/>
                <a:ea typeface="思源黑体 CN Regular" panose="020B0500000000000000" charset="-122"/>
              </a:rPr>
              <a:t>讨论</a:t>
            </a:r>
            <a:endParaRPr lang="en-US" altLang="zh-CN" sz="2800" b="1" dirty="0">
              <a:solidFill>
                <a:schemeClr val="accent1"/>
              </a:solidFill>
              <a:latin typeface="思源黑体 CN Regular" panose="020B0500000000000000" charset="-122"/>
              <a:ea typeface="思源黑体 CN Regular" panose="020B0500000000000000" charset="-122"/>
            </a:endParaRPr>
          </a:p>
          <a:p>
            <a:pPr marL="342900" indent="-342900">
              <a:lnSpc>
                <a:spcPct val="200000"/>
              </a:lnSpc>
              <a:buFont typeface="Arial" panose="020B0604020202020204" pitchFamily="34" charset="0"/>
              <a:buChar char="•"/>
            </a:pPr>
            <a:r>
              <a:rPr lang="zh-CN" altLang="en-US" sz="2000" dirty="0"/>
              <a:t> 根据属性可能的取值</a:t>
            </a:r>
            <a:r>
              <a:rPr lang="en-US" altLang="zh-CN" sz="2000" dirty="0"/>
              <a:t>, </a:t>
            </a:r>
            <a:r>
              <a:rPr lang="zh-CN" altLang="en-US" sz="2000" dirty="0"/>
              <a:t>可以将属性分为哪几种类型</a:t>
            </a:r>
            <a:r>
              <a:rPr lang="en-US" altLang="zh-CN" sz="2000" dirty="0"/>
              <a:t>?</a:t>
            </a:r>
          </a:p>
          <a:p>
            <a:pPr marL="342900" indent="-342900">
              <a:lnSpc>
                <a:spcPct val="200000"/>
              </a:lnSpc>
              <a:buFont typeface="Arial" panose="020B0604020202020204" pitchFamily="34" charset="0"/>
              <a:buChar char="•"/>
            </a:pPr>
            <a:r>
              <a:rPr lang="zh-CN" altLang="en-US" sz="2000" dirty="0"/>
              <a:t>请分析何谓通用数据采集</a:t>
            </a:r>
            <a:r>
              <a:rPr lang="en-US" altLang="zh-CN" sz="2000" dirty="0"/>
              <a:t>, </a:t>
            </a:r>
            <a:r>
              <a:rPr lang="zh-CN" altLang="en-US" sz="2000" dirty="0"/>
              <a:t>何谓定向数据采集</a:t>
            </a:r>
            <a:r>
              <a:rPr lang="en-US" altLang="zh-CN" sz="2000" dirty="0"/>
              <a:t>; </a:t>
            </a:r>
            <a:r>
              <a:rPr lang="zh-CN" altLang="en-US" sz="2000" dirty="0"/>
              <a:t>请描述定向数据采集算法的典型步骤。</a:t>
            </a:r>
          </a:p>
          <a:p>
            <a:pPr marL="342900" indent="-342900">
              <a:lnSpc>
                <a:spcPct val="200000"/>
              </a:lnSpc>
              <a:buFont typeface="Arial" panose="020B0604020202020204" pitchFamily="34" charset="0"/>
              <a:buChar char="•"/>
            </a:pPr>
            <a:r>
              <a:rPr lang="zh-CN" altLang="en-US" sz="2000" dirty="0"/>
              <a:t>在大数据时代</a:t>
            </a:r>
            <a:r>
              <a:rPr lang="en-US" altLang="zh-CN" sz="2000" dirty="0"/>
              <a:t>, </a:t>
            </a:r>
            <a:r>
              <a:rPr lang="zh-CN" altLang="en-US" sz="2000" dirty="0"/>
              <a:t>数据采集的工具多种多样。网络爬虫是一种按照一定的规则自动地抓取 </a:t>
            </a:r>
            <a:r>
              <a:rPr lang="en-US" altLang="zh-CN" sz="2000" dirty="0"/>
              <a:t>Web </a:t>
            </a:r>
            <a:r>
              <a:rPr lang="zh-CN" altLang="en-US" sz="2000" dirty="0"/>
              <a:t>数据的程序或者脚本。请描述网络爬虫的工作流程。</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be449126-64c9-4d19-a63f-f572ce796e9d"/>
  <p:tag name="COMMONDATA" val="eyJoZGlkIjoiNTQ0MDc3NzBkNTM1ZjYzYmNhY2VjZGI2NTUwOWI0NjkifQ=="/>
</p:tagLst>
</file>

<file path=ppt/tags/tag2.xml><?xml version="1.0" encoding="utf-8"?>
<p:tagLst xmlns:a="http://schemas.openxmlformats.org/drawingml/2006/main" xmlns:r="http://schemas.openxmlformats.org/officeDocument/2006/relationships" xmlns:p="http://schemas.openxmlformats.org/presentationml/2006/main">
  <p:tag name="ISLIDE.ICON" val="#407207;"/>
</p:tagLst>
</file>

<file path=ppt/tags/tag3.xml><?xml version="1.0" encoding="utf-8"?>
<p:tagLst xmlns:a="http://schemas.openxmlformats.org/drawingml/2006/main" xmlns:r="http://schemas.openxmlformats.org/officeDocument/2006/relationships" xmlns:p="http://schemas.openxmlformats.org/presentationml/2006/main">
  <p:tag name="ISLIDE.ICON" val="#407207;"/>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17.7314960629921,&quot;left&quot;:417.32039370078735,&quot;top&quot;:94.5,&quot;width&quot;:359.184173228346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17.7314960629921,&quot;left&quot;:417.32039370078735,&quot;top&quot;:94.5,&quot;width&quot;:359.184173228346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17.7314960629921,&quot;left&quot;:417.32039370078735,&quot;top&quot;:94.5,&quot;width&quot;:359.1841732283465}"/>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17.7314960629921,&quot;left&quot;:417.32039370078735,&quot;top&quot;:94.5,&quot;width&quot;:359.1841732283465}"/>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17.7314960629921,&quot;left&quot;:417.32039370078735,&quot;top&quot;:94.5,&quot;width&quot;:359.1841732283465}"/>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17.7314960629921,&quot;left&quot;:417.32039370078735,&quot;top&quot;:94.5,&quot;width&quot;:359.1841732283465}"/>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17.7314960629921,&quot;left&quot;:417.32039370078735,&quot;top&quot;:94.5,&quot;width&quot;:359.1841732283465}"/>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17.7314960629921,&quot;left&quot;:417.32039370078735,&quot;top&quot;:94.5,&quot;width&quot;:359.1841732283465}"/>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17.7314960629921,&quot;left&quot;:417.32039370078735,&quot;top&quot;:94.5,&quot;width&quot;:359.184173228346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17.7314960629921,&quot;left&quot;:417.32039370078735,&quot;top&quot;:94.5,&quot;width&quot;:359.1841732283465}"/>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17.7314960629921,&quot;left&quot;:417.32039370078735,&quot;top&quot;:94.5,&quot;width&quot;:359.1841732283465}"/>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17.7314960629921,&quot;left&quot;:417.32039370078735,&quot;top&quot;:94.5,&quot;width&quot;:359.1841732283465}"/>
</p:tagLst>
</file>

<file path=ppt/tags/tag16.xml><?xml version="1.0" encoding="utf-8"?>
<p:tagLst xmlns:a="http://schemas.openxmlformats.org/drawingml/2006/main" xmlns:r="http://schemas.openxmlformats.org/officeDocument/2006/relationships" xmlns:p="http://schemas.openxmlformats.org/presentationml/2006/main">
  <p:tag name="ISLIDE.ICON" val="#407207;"/>
</p:tagLst>
</file>

<file path=ppt/tags/tag17.xml><?xml version="1.0" encoding="utf-8"?>
<p:tagLst xmlns:a="http://schemas.openxmlformats.org/drawingml/2006/main" xmlns:r="http://schemas.openxmlformats.org/officeDocument/2006/relationships" xmlns:p="http://schemas.openxmlformats.org/presentationml/2006/main">
  <p:tag name="ISLIDE.ICON" val="#407207;"/>
</p:tagLst>
</file>

<file path=ppt/tags/tag18.xml><?xml version="1.0" encoding="utf-8"?>
<p:tagLst xmlns:a="http://schemas.openxmlformats.org/drawingml/2006/main" xmlns:r="http://schemas.openxmlformats.org/officeDocument/2006/relationships" xmlns:p="http://schemas.openxmlformats.org/presentationml/2006/main">
  <p:tag name="ISLIDE.ICON" val="#407207;"/>
</p:tagLst>
</file>

<file path=ppt/tags/tag19.xml><?xml version="1.0" encoding="utf-8"?>
<p:tagLst xmlns:a="http://schemas.openxmlformats.org/drawingml/2006/main" xmlns:r="http://schemas.openxmlformats.org/officeDocument/2006/relationships" xmlns:p="http://schemas.openxmlformats.org/presentationml/2006/main">
  <p:tag name="ISLIDE.ICON" val="#407207;"/>
</p:tagLst>
</file>

<file path=ppt/tags/tag20.xml><?xml version="1.0" encoding="utf-8"?>
<p:tagLst xmlns:a="http://schemas.openxmlformats.org/drawingml/2006/main" xmlns:r="http://schemas.openxmlformats.org/officeDocument/2006/relationships" xmlns:p="http://schemas.openxmlformats.org/presentationml/2006/main">
  <p:tag name="ISLIDE.ICON" val="#407207;"/>
</p:tagLst>
</file>

<file path=ppt/tags/tag21.xml><?xml version="1.0" encoding="utf-8"?>
<p:tagLst xmlns:a="http://schemas.openxmlformats.org/drawingml/2006/main" xmlns:r="http://schemas.openxmlformats.org/officeDocument/2006/relationships" xmlns:p="http://schemas.openxmlformats.org/presentationml/2006/main">
  <p:tag name="ISLIDE.ICON" val="#407207;"/>
</p:tagLst>
</file>

<file path=ppt/tags/tag22.xml><?xml version="1.0" encoding="utf-8"?>
<p:tagLst xmlns:a="http://schemas.openxmlformats.org/drawingml/2006/main" xmlns:r="http://schemas.openxmlformats.org/officeDocument/2006/relationships" xmlns:p="http://schemas.openxmlformats.org/presentationml/2006/main">
  <p:tag name="ISLIDE.ICON" val="#407207;"/>
</p:tagLst>
</file>

<file path=ppt/tags/tag23.xml><?xml version="1.0" encoding="utf-8"?>
<p:tagLst xmlns:a="http://schemas.openxmlformats.org/drawingml/2006/main" xmlns:r="http://schemas.openxmlformats.org/officeDocument/2006/relationships" xmlns:p="http://schemas.openxmlformats.org/presentationml/2006/main">
  <p:tag name="ISLIDE.ICON" val="#407207;"/>
</p:tagLst>
</file>

<file path=ppt/tags/tag24.xml><?xml version="1.0" encoding="utf-8"?>
<p:tagLst xmlns:a="http://schemas.openxmlformats.org/drawingml/2006/main" xmlns:r="http://schemas.openxmlformats.org/officeDocument/2006/relationships" xmlns:p="http://schemas.openxmlformats.org/presentationml/2006/main">
  <p:tag name="ISLIDE.ICON" val="#407207;"/>
</p:tagLst>
</file>

<file path=ppt/tags/tag25.xml><?xml version="1.0" encoding="utf-8"?>
<p:tagLst xmlns:a="http://schemas.openxmlformats.org/drawingml/2006/main" xmlns:r="http://schemas.openxmlformats.org/officeDocument/2006/relationships" xmlns:p="http://schemas.openxmlformats.org/presentationml/2006/main">
  <p:tag name="ISLIDE.ICON" val="#407207;"/>
</p:tagLst>
</file>

<file path=ppt/tags/tag26.xml><?xml version="1.0" encoding="utf-8"?>
<p:tagLst xmlns:a="http://schemas.openxmlformats.org/drawingml/2006/main" xmlns:r="http://schemas.openxmlformats.org/officeDocument/2006/relationships" xmlns:p="http://schemas.openxmlformats.org/presentationml/2006/main">
  <p:tag name="ISLIDE.ICON" val="#407207;"/>
</p:tagLst>
</file>

<file path=ppt/tags/tag27.xml><?xml version="1.0" encoding="utf-8"?>
<p:tagLst xmlns:a="http://schemas.openxmlformats.org/drawingml/2006/main" xmlns:r="http://schemas.openxmlformats.org/officeDocument/2006/relationships" xmlns:p="http://schemas.openxmlformats.org/presentationml/2006/main">
  <p:tag name="ISLIDE.ICON" val="#407207;"/>
</p:tagLst>
</file>

<file path=ppt/tags/tag28.xml><?xml version="1.0" encoding="utf-8"?>
<p:tagLst xmlns:a="http://schemas.openxmlformats.org/drawingml/2006/main" xmlns:r="http://schemas.openxmlformats.org/officeDocument/2006/relationships" xmlns:p="http://schemas.openxmlformats.org/presentationml/2006/main">
  <p:tag name="ISLIDE.ICON" val="#407207;"/>
</p:tagLst>
</file>

<file path=ppt/tags/tag29.xml><?xml version="1.0" encoding="utf-8"?>
<p:tagLst xmlns:a="http://schemas.openxmlformats.org/drawingml/2006/main" xmlns:r="http://schemas.openxmlformats.org/officeDocument/2006/relationships" xmlns:p="http://schemas.openxmlformats.org/presentationml/2006/main">
  <p:tag name="ISLIDE.ICON" val="#407207;"/>
</p:tagLst>
</file>

<file path=ppt/tags/tag30.xml><?xml version="1.0" encoding="utf-8"?>
<p:tagLst xmlns:a="http://schemas.openxmlformats.org/drawingml/2006/main" xmlns:r="http://schemas.openxmlformats.org/officeDocument/2006/relationships" xmlns:p="http://schemas.openxmlformats.org/presentationml/2006/main">
  <p:tag name="ISLIDE.ICON" val="#407207;"/>
</p:tagLst>
</file>

<file path=ppt/tags/tag31.xml><?xml version="1.0" encoding="utf-8"?>
<p:tagLst xmlns:a="http://schemas.openxmlformats.org/drawingml/2006/main" xmlns:r="http://schemas.openxmlformats.org/officeDocument/2006/relationships" xmlns:p="http://schemas.openxmlformats.org/presentationml/2006/main">
  <p:tag name="ISLIDE.ICON" val="#407207;"/>
</p:tagLst>
</file>

<file path=ppt/tags/tag32.xml><?xml version="1.0" encoding="utf-8"?>
<p:tagLst xmlns:a="http://schemas.openxmlformats.org/drawingml/2006/main" xmlns:r="http://schemas.openxmlformats.org/officeDocument/2006/relationships" xmlns:p="http://schemas.openxmlformats.org/presentationml/2006/main">
  <p:tag name="ISLIDE.ICON" val="#407207;"/>
</p:tagLst>
</file>

<file path=ppt/tags/tag33.xml><?xml version="1.0" encoding="utf-8"?>
<p:tagLst xmlns:a="http://schemas.openxmlformats.org/drawingml/2006/main" xmlns:r="http://schemas.openxmlformats.org/officeDocument/2006/relationships" xmlns:p="http://schemas.openxmlformats.org/presentationml/2006/main">
  <p:tag name="ISLIDE.ICON" val="#407207;"/>
</p:tagLst>
</file>

<file path=ppt/tags/tag34.xml><?xml version="1.0" encoding="utf-8"?>
<p:tagLst xmlns:a="http://schemas.openxmlformats.org/drawingml/2006/main" xmlns:r="http://schemas.openxmlformats.org/officeDocument/2006/relationships" xmlns:p="http://schemas.openxmlformats.org/presentationml/2006/main">
  <p:tag name="ISLIDE.ICON" val="#407207;"/>
</p:tagLst>
</file>

<file path=ppt/tags/tag35.xml><?xml version="1.0" encoding="utf-8"?>
<p:tagLst xmlns:a="http://schemas.openxmlformats.org/drawingml/2006/main" xmlns:r="http://schemas.openxmlformats.org/officeDocument/2006/relationships" xmlns:p="http://schemas.openxmlformats.org/presentationml/2006/main">
  <p:tag name="ISLIDE.ICON" val="#407207;"/>
</p:tagLst>
</file>

<file path=ppt/tags/tag36.xml><?xml version="1.0" encoding="utf-8"?>
<p:tagLst xmlns:a="http://schemas.openxmlformats.org/drawingml/2006/main" xmlns:r="http://schemas.openxmlformats.org/officeDocument/2006/relationships" xmlns:p="http://schemas.openxmlformats.org/presentationml/2006/main">
  <p:tag name="ISLIDE.ICON" val="#407207;"/>
</p:tagLst>
</file>

<file path=ppt/tags/tag37.xml><?xml version="1.0" encoding="utf-8"?>
<p:tagLst xmlns:a="http://schemas.openxmlformats.org/drawingml/2006/main" xmlns:r="http://schemas.openxmlformats.org/officeDocument/2006/relationships" xmlns:p="http://schemas.openxmlformats.org/presentationml/2006/main">
  <p:tag name="ISLIDE.ICON" val="#407207;"/>
</p:tagLst>
</file>

<file path=ppt/tags/tag38.xml><?xml version="1.0" encoding="utf-8"?>
<p:tagLst xmlns:a="http://schemas.openxmlformats.org/drawingml/2006/main" xmlns:r="http://schemas.openxmlformats.org/officeDocument/2006/relationships" xmlns:p="http://schemas.openxmlformats.org/presentationml/2006/main">
  <p:tag name="ISLIDE.ICON" val="#407207;"/>
</p:tagLst>
</file>

<file path=ppt/tags/tag39.xml><?xml version="1.0" encoding="utf-8"?>
<p:tagLst xmlns:a="http://schemas.openxmlformats.org/drawingml/2006/main" xmlns:r="http://schemas.openxmlformats.org/officeDocument/2006/relationships" xmlns:p="http://schemas.openxmlformats.org/presentationml/2006/main">
  <p:tag name="ISLIDE.ICON" val="#407207;"/>
</p:tagLst>
</file>

<file path=ppt/tags/tag40.xml><?xml version="1.0" encoding="utf-8"?>
<p:tagLst xmlns:a="http://schemas.openxmlformats.org/drawingml/2006/main" xmlns:r="http://schemas.openxmlformats.org/officeDocument/2006/relationships" xmlns:p="http://schemas.openxmlformats.org/presentationml/2006/main">
  <p:tag name="ISLIDE.ICON" val="#407207;"/>
</p:tagLst>
</file>

<file path=ppt/tags/tag41.xml><?xml version="1.0" encoding="utf-8"?>
<p:tagLst xmlns:a="http://schemas.openxmlformats.org/drawingml/2006/main" xmlns:r="http://schemas.openxmlformats.org/officeDocument/2006/relationships" xmlns:p="http://schemas.openxmlformats.org/presentationml/2006/main">
  <p:tag name="ISLIDE.ICON" val="#407207;"/>
</p:tagLst>
</file>

<file path=ppt/tags/tag42.xml><?xml version="1.0" encoding="utf-8"?>
<p:tagLst xmlns:a="http://schemas.openxmlformats.org/drawingml/2006/main" xmlns:r="http://schemas.openxmlformats.org/officeDocument/2006/relationships" xmlns:p="http://schemas.openxmlformats.org/presentationml/2006/main">
  <p:tag name="ISLIDE.ICON" val="#407207;"/>
</p:tagLst>
</file>

<file path=ppt/tags/tag43.xml><?xml version="1.0" encoding="utf-8"?>
<p:tagLst xmlns:a="http://schemas.openxmlformats.org/drawingml/2006/main" xmlns:r="http://schemas.openxmlformats.org/officeDocument/2006/relationships" xmlns:p="http://schemas.openxmlformats.org/presentationml/2006/main">
  <p:tag name="ISLIDE.ICON" val="#407207;"/>
</p:tagLst>
</file>

<file path=ppt/tags/tag44.xml><?xml version="1.0" encoding="utf-8"?>
<p:tagLst xmlns:a="http://schemas.openxmlformats.org/drawingml/2006/main" xmlns:r="http://schemas.openxmlformats.org/officeDocument/2006/relationships" xmlns:p="http://schemas.openxmlformats.org/presentationml/2006/main">
  <p:tag name="ISLIDE.ICON" val="#407207;"/>
</p:tagLst>
</file>

<file path=ppt/tags/tag45.xml><?xml version="1.0" encoding="utf-8"?>
<p:tagLst xmlns:a="http://schemas.openxmlformats.org/drawingml/2006/main" xmlns:r="http://schemas.openxmlformats.org/officeDocument/2006/relationships" xmlns:p="http://schemas.openxmlformats.org/presentationml/2006/main">
  <p:tag name="ISLIDE.ICON" val="#407207;"/>
</p:tagLst>
</file>

<file path=ppt/tags/tag46.xml><?xml version="1.0" encoding="utf-8"?>
<p:tagLst xmlns:a="http://schemas.openxmlformats.org/drawingml/2006/main" xmlns:r="http://schemas.openxmlformats.org/officeDocument/2006/relationships" xmlns:p="http://schemas.openxmlformats.org/presentationml/2006/main">
  <p:tag name="ISLIDE.ICON" val="#407207;"/>
</p:tagLst>
</file>

<file path=ppt/tags/tag47.xml><?xml version="1.0" encoding="utf-8"?>
<p:tagLst xmlns:a="http://schemas.openxmlformats.org/drawingml/2006/main" xmlns:r="http://schemas.openxmlformats.org/officeDocument/2006/relationships" xmlns:p="http://schemas.openxmlformats.org/presentationml/2006/main">
  <p:tag name="ISLIDE.ICON" val="#407207;"/>
</p:tagLst>
</file>

<file path=ppt/tags/tag48.xml><?xml version="1.0" encoding="utf-8"?>
<p:tagLst xmlns:a="http://schemas.openxmlformats.org/drawingml/2006/main" xmlns:r="http://schemas.openxmlformats.org/officeDocument/2006/relationships" xmlns:p="http://schemas.openxmlformats.org/presentationml/2006/main">
  <p:tag name="ISLIDE.ICON" val="#407207;"/>
</p:tagLst>
</file>

<file path=ppt/tags/tag49.xml><?xml version="1.0" encoding="utf-8"?>
<p:tagLst xmlns:a="http://schemas.openxmlformats.org/drawingml/2006/main" xmlns:r="http://schemas.openxmlformats.org/officeDocument/2006/relationships" xmlns:p="http://schemas.openxmlformats.org/presentationml/2006/main">
  <p:tag name="ISLIDE.ICON" val="#407207;"/>
</p:tagLst>
</file>

<file path=ppt/tags/tag50.xml><?xml version="1.0" encoding="utf-8"?>
<p:tagLst xmlns:a="http://schemas.openxmlformats.org/drawingml/2006/main" xmlns:r="http://schemas.openxmlformats.org/officeDocument/2006/relationships" xmlns:p="http://schemas.openxmlformats.org/presentationml/2006/main">
  <p:tag name="ISLIDE.ICON" val="#407207;"/>
</p:tagLst>
</file>

<file path=ppt/tags/tag51.xml><?xml version="1.0" encoding="utf-8"?>
<p:tagLst xmlns:a="http://schemas.openxmlformats.org/drawingml/2006/main" xmlns:r="http://schemas.openxmlformats.org/officeDocument/2006/relationships" xmlns:p="http://schemas.openxmlformats.org/presentationml/2006/main">
  <p:tag name="ISLIDE.ICON" val="#407207;"/>
</p:tagLst>
</file>

<file path=ppt/theme/theme1.xml><?xml version="1.0" encoding="utf-8"?>
<a:theme xmlns:a="http://schemas.openxmlformats.org/drawingml/2006/main" name="Office 主题​​">
  <a:themeElements>
    <a:clrScheme name="自定义 351">
      <a:dk1>
        <a:sysClr val="windowText" lastClr="000000"/>
      </a:dk1>
      <a:lt1>
        <a:sysClr val="window" lastClr="FFFFFF"/>
      </a:lt1>
      <a:dk2>
        <a:srgbClr val="44546A"/>
      </a:dk2>
      <a:lt2>
        <a:srgbClr val="E7E6E6"/>
      </a:lt2>
      <a:accent1>
        <a:srgbClr val="00568A"/>
      </a:accent1>
      <a:accent2>
        <a:srgbClr val="006FAE"/>
      </a:accent2>
      <a:accent3>
        <a:srgbClr val="3F3F3F"/>
      </a:accent3>
      <a:accent4>
        <a:srgbClr val="00568A"/>
      </a:accent4>
      <a:accent5>
        <a:srgbClr val="006FAE"/>
      </a:accent5>
      <a:accent6>
        <a:srgbClr val="3F3F3F"/>
      </a:accent6>
      <a:hlink>
        <a:srgbClr val="0563C1"/>
      </a:hlink>
      <a:folHlink>
        <a:srgbClr val="954F72"/>
      </a:folHlink>
    </a:clrScheme>
    <a:fontScheme name="4rqz4uym">
      <a:majorFont>
        <a:latin typeface="思源黑体 CN Regular"/>
        <a:ea typeface="思源黑体 CN Regular"/>
        <a:cs typeface=""/>
      </a:majorFont>
      <a:minorFont>
        <a:latin typeface="思源黑体 CN Regular"/>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CN Regular"/>
        <a:ea typeface=""/>
        <a:cs typeface=""/>
        <a:font script="Jpan" typeface="游ゴシック"/>
        <a:font script="Hang" typeface="맑은 고딕"/>
        <a:font script="Hans" typeface="思源黑体 CN Regular"/>
        <a:font script="Hant" typeface="新細明體"/>
        <a:font script="Arab" typeface="思源黑体 CN Regular"/>
        <a:font script="Hebr" typeface="思源黑体 CN Regular"/>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Regular"/>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黑体 CN Regular"/>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CN Regular"/>
        <a:ea typeface=""/>
        <a:cs typeface=""/>
        <a:font script="Jpan" typeface="ＭＳ Ｐゴシック"/>
        <a:font script="Hang" typeface="맑은 고딕"/>
        <a:font script="Hans" typeface="思源黑体 CN Regular"/>
        <a:font script="Hant" typeface="新細明體"/>
        <a:font script="Arab" typeface="思源黑体 CN Regular"/>
        <a:font script="Hebr" typeface="思源黑体 CN Regular"/>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Regular"/>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7241</Words>
  <Application>Microsoft Macintosh PowerPoint</Application>
  <PresentationFormat>宽屏</PresentationFormat>
  <Paragraphs>512</Paragraphs>
  <Slides>38</Slides>
  <Notes>38</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38</vt:i4>
      </vt:variant>
    </vt:vector>
  </HeadingPairs>
  <TitlesOfParts>
    <vt:vector size="44" baseType="lpstr">
      <vt:lpstr>Times New Roman</vt:lpstr>
      <vt:lpstr>思源黑体 CN Regular</vt:lpstr>
      <vt:lpstr>Wingdings</vt:lpstr>
      <vt:lpstr>Arial</vt:lpstr>
      <vt:lpstr>Cambria Math</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吴本康（实习）</cp:lastModifiedBy>
  <cp:revision>168</cp:revision>
  <dcterms:created xsi:type="dcterms:W3CDTF">2025-12-27T06:12:00Z</dcterms:created>
  <dcterms:modified xsi:type="dcterms:W3CDTF">2026-05-10T12:07:29Z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FA0D7DC21BEC4B2A15764F69A6625F4E_43</vt:lpwstr>
  </property>
  <property fmtid="{D5CDD505-2E9C-101B-9397-08002B2CF9AE}" pid="4" name="KSOTemplateUUID">
    <vt:lpwstr>v1.0_mb_8FD/Rqav6PdV2YvimblSqQ==</vt:lpwstr>
  </property>
</Properties>
</file>