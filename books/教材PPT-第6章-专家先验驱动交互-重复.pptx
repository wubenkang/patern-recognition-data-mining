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notesSlides/notesSlide5.xml" ContentType="application/vnd.openxmlformats-officedocument.presentationml.notesSlide+xml"/>
  <Override PartName="/ppt/tags/tag22.xml" ContentType="application/vnd.openxmlformats-officedocument.presentationml.tags+xml"/>
  <Override PartName="/ppt/notesSlides/notesSlide6.xml" ContentType="application/vnd.openxmlformats-officedocument.presentationml.notesSlide+xml"/>
  <Override PartName="/ppt/tags/tag23.xml" ContentType="application/vnd.openxmlformats-officedocument.presentationml.tags+xml"/>
  <Override PartName="/ppt/notesSlides/notesSlide7.xml" ContentType="application/vnd.openxmlformats-officedocument.presentationml.notesSlide+xml"/>
  <Override PartName="/ppt/tags/tag24.xml" ContentType="application/vnd.openxmlformats-officedocument.presentationml.tags+xml"/>
  <Override PartName="/ppt/notesSlides/notesSlide8.xml" ContentType="application/vnd.openxmlformats-officedocument.presentationml.notesSlide+xml"/>
  <Override PartName="/ppt/tags/tag25.xml" ContentType="application/vnd.openxmlformats-officedocument.presentationml.tags+xml"/>
  <Override PartName="/ppt/notesSlides/notesSlide9.xml" ContentType="application/vnd.openxmlformats-officedocument.presentationml.notesSlide+xml"/>
  <Override PartName="/ppt/tags/tag26.xml" ContentType="application/vnd.openxmlformats-officedocument.presentationml.tags+xml"/>
  <Override PartName="/ppt/notesSlides/notesSlide10.xml" ContentType="application/vnd.openxmlformats-officedocument.presentationml.notesSlide+xml"/>
  <Override PartName="/ppt/tags/tag27.xml" ContentType="application/vnd.openxmlformats-officedocument.presentationml.tags+xml"/>
  <Override PartName="/ppt/notesSlides/notesSlide11.xml" ContentType="application/vnd.openxmlformats-officedocument.presentationml.notesSlide+xml"/>
  <Override PartName="/ppt/tags/tag28.xml" ContentType="application/vnd.openxmlformats-officedocument.presentationml.tags+xml"/>
  <Override PartName="/ppt/notesSlides/notesSlide12.xml" ContentType="application/vnd.openxmlformats-officedocument.presentationml.notesSlide+xml"/>
  <Override PartName="/ppt/tags/tag29.xml" ContentType="application/vnd.openxmlformats-officedocument.presentationml.tags+xml"/>
  <Override PartName="/ppt/notesSlides/notesSlide13.xml" ContentType="application/vnd.openxmlformats-officedocument.presentationml.notesSlide+xml"/>
  <Override PartName="/ppt/tags/tag30.xml" ContentType="application/vnd.openxmlformats-officedocument.presentationml.tags+xml"/>
  <Override PartName="/ppt/notesSlides/notesSlide14.xml" ContentType="application/vnd.openxmlformats-officedocument.presentationml.notesSlide+xml"/>
  <Override PartName="/ppt/tags/tag31.xml" ContentType="application/vnd.openxmlformats-officedocument.presentationml.tags+xml"/>
  <Override PartName="/ppt/notesSlides/notesSlide15.xml" ContentType="application/vnd.openxmlformats-officedocument.presentationml.notesSlide+xml"/>
  <Override PartName="/ppt/tags/tag32.xml" ContentType="application/vnd.openxmlformats-officedocument.presentationml.tags+xml"/>
  <Override PartName="/ppt/notesSlides/notesSlide16.xml" ContentType="application/vnd.openxmlformats-officedocument.presentationml.notesSlide+xml"/>
  <Override PartName="/ppt/tags/tag33.xml" ContentType="application/vnd.openxmlformats-officedocument.presentationml.tags+xml"/>
  <Override PartName="/ppt/notesSlides/notesSlide17.xml" ContentType="application/vnd.openxmlformats-officedocument.presentationml.notesSlide+xml"/>
  <Override PartName="/ppt/tags/tag34.xml" ContentType="application/vnd.openxmlformats-officedocument.presentationml.tags+xml"/>
  <Override PartName="/ppt/notesSlides/notesSlide18.xml" ContentType="application/vnd.openxmlformats-officedocument.presentationml.notesSlide+xml"/>
  <Override PartName="/ppt/tags/tag35.xml" ContentType="application/vnd.openxmlformats-officedocument.presentationml.tags+xml"/>
  <Override PartName="/ppt/notesSlides/notesSlide19.xml" ContentType="application/vnd.openxmlformats-officedocument.presentationml.notesSlide+xml"/>
  <Override PartName="/ppt/tags/tag36.xml" ContentType="application/vnd.openxmlformats-officedocument.presentationml.tags+xml"/>
  <Override PartName="/ppt/notesSlides/notesSlide20.xml" ContentType="application/vnd.openxmlformats-officedocument.presentationml.notesSlide+xml"/>
  <Override PartName="/ppt/tags/tag37.xml" ContentType="application/vnd.openxmlformats-officedocument.presentationml.tags+xml"/>
  <Override PartName="/ppt/notesSlides/notesSlide21.xml" ContentType="application/vnd.openxmlformats-officedocument.presentationml.notesSlide+xml"/>
  <Override PartName="/ppt/tags/tag38.xml" ContentType="application/vnd.openxmlformats-officedocument.presentationml.tags+xml"/>
  <Override PartName="/ppt/notesSlides/notesSlide22.xml" ContentType="application/vnd.openxmlformats-officedocument.presentationml.notesSlide+xml"/>
  <Override PartName="/ppt/tags/tag39.xml" ContentType="application/vnd.openxmlformats-officedocument.presentationml.tags+xml"/>
  <Override PartName="/ppt/notesSlides/notesSlide23.xml" ContentType="application/vnd.openxmlformats-officedocument.presentationml.notesSlide+xml"/>
  <Override PartName="/ppt/tags/tag40.xml" ContentType="application/vnd.openxmlformats-officedocument.presentationml.tags+xml"/>
  <Override PartName="/ppt/notesSlides/notesSlide24.xml" ContentType="application/vnd.openxmlformats-officedocument.presentationml.notesSlide+xml"/>
  <Override PartName="/ppt/tags/tag41.xml" ContentType="application/vnd.openxmlformats-officedocument.presentationml.tags+xml"/>
  <Override PartName="/ppt/notesSlides/notesSlide25.xml" ContentType="application/vnd.openxmlformats-officedocument.presentationml.notesSlide+xml"/>
  <Override PartName="/ppt/tags/tag42.xml" ContentType="application/vnd.openxmlformats-officedocument.presentationml.tags+xml"/>
  <Override PartName="/ppt/notesSlides/notesSlide26.xml" ContentType="application/vnd.openxmlformats-officedocument.presentationml.notesSlide+xml"/>
  <Override PartName="/ppt/tags/tag43.xml" ContentType="application/vnd.openxmlformats-officedocument.presentationml.tags+xml"/>
  <Override PartName="/ppt/notesSlides/notesSlide27.xml" ContentType="application/vnd.openxmlformats-officedocument.presentationml.notesSlide+xml"/>
  <Override PartName="/ppt/tags/tag44.xml" ContentType="application/vnd.openxmlformats-officedocument.presentationml.tags+xml"/>
  <Override PartName="/ppt/notesSlides/notesSlide28.xml" ContentType="application/vnd.openxmlformats-officedocument.presentationml.notesSlide+xml"/>
  <Override PartName="/ppt/tags/tag45.xml" ContentType="application/vnd.openxmlformats-officedocument.presentationml.tags+xml"/>
  <Override PartName="/ppt/notesSlides/notesSlide29.xml" ContentType="application/vnd.openxmlformats-officedocument.presentationml.notesSlide+xml"/>
  <Override PartName="/ppt/tags/tag46.xml" ContentType="application/vnd.openxmlformats-officedocument.presentationml.tags+xml"/>
  <Override PartName="/ppt/notesSlides/notesSlide30.xml" ContentType="application/vnd.openxmlformats-officedocument.presentationml.notesSlide+xml"/>
  <Override PartName="/ppt/tags/tag47.xml" ContentType="application/vnd.openxmlformats-officedocument.presentationml.tags+xml"/>
  <Override PartName="/ppt/notesSlides/notesSlide31.xml" ContentType="application/vnd.openxmlformats-officedocument.presentationml.notesSlide+xml"/>
  <Override PartName="/ppt/tags/tag48.xml" ContentType="application/vnd.openxmlformats-officedocument.presentationml.tags+xml"/>
  <Override PartName="/ppt/notesSlides/notesSlide32.xml" ContentType="application/vnd.openxmlformats-officedocument.presentationml.notesSlide+xml"/>
  <Override PartName="/ppt/tags/tag49.xml" ContentType="application/vnd.openxmlformats-officedocument.presentationml.tags+xml"/>
  <Override PartName="/ppt/notesSlides/notesSlide33.xml" ContentType="application/vnd.openxmlformats-officedocument.presentationml.notesSlide+xml"/>
  <Override PartName="/ppt/tags/tag50.xml" ContentType="application/vnd.openxmlformats-officedocument.presentationml.tags+xml"/>
  <Override PartName="/ppt/notesSlides/notesSlide34.xml" ContentType="application/vnd.openxmlformats-officedocument.presentationml.notesSlide+xml"/>
  <Override PartName="/ppt/tags/tag51.xml" ContentType="application/vnd.openxmlformats-officedocument.presentationml.tags+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2"/>
  </p:sldMasterIdLst>
  <p:notesMasterIdLst>
    <p:notesMasterId r:id="rId38"/>
  </p:notesMasterIdLst>
  <p:handoutMasterIdLst>
    <p:handoutMasterId r:id="rId39"/>
  </p:handoutMasterIdLst>
  <p:sldIdLst>
    <p:sldId id="256" r:id="rId3"/>
    <p:sldId id="257" r:id="rId4"/>
    <p:sldId id="325" r:id="rId5"/>
    <p:sldId id="326" r:id="rId6"/>
    <p:sldId id="327" r:id="rId7"/>
    <p:sldId id="328" r:id="rId8"/>
    <p:sldId id="329" r:id="rId9"/>
    <p:sldId id="330" r:id="rId10"/>
    <p:sldId id="332" r:id="rId11"/>
    <p:sldId id="331" r:id="rId12"/>
    <p:sldId id="334" r:id="rId13"/>
    <p:sldId id="335" r:id="rId14"/>
    <p:sldId id="336" r:id="rId15"/>
    <p:sldId id="337" r:id="rId16"/>
    <p:sldId id="338" r:id="rId17"/>
    <p:sldId id="339" r:id="rId18"/>
    <p:sldId id="340" r:id="rId19"/>
    <p:sldId id="341" r:id="rId20"/>
    <p:sldId id="287" r:id="rId21"/>
    <p:sldId id="302" r:id="rId22"/>
    <p:sldId id="303" r:id="rId23"/>
    <p:sldId id="304" r:id="rId24"/>
    <p:sldId id="306" r:id="rId25"/>
    <p:sldId id="305" r:id="rId26"/>
    <p:sldId id="307" r:id="rId27"/>
    <p:sldId id="308" r:id="rId28"/>
    <p:sldId id="301" r:id="rId29"/>
    <p:sldId id="310" r:id="rId30"/>
    <p:sldId id="311" r:id="rId31"/>
    <p:sldId id="312" r:id="rId32"/>
    <p:sldId id="320" r:id="rId33"/>
    <p:sldId id="321" r:id="rId34"/>
    <p:sldId id="322" r:id="rId35"/>
    <p:sldId id="323" r:id="rId36"/>
    <p:sldId id="324" r:id="rId37"/>
  </p:sldIdLst>
  <p:sldSz cx="12192000" cy="6858000"/>
  <p:notesSz cx="6858000" cy="9144000"/>
  <p:embeddedFontLst>
    <p:embeddedFont>
      <p:font typeface="思源黑体 CN Regular" panose="02010600030101010101" charset="-122"/>
      <p:regular r:id="rId40"/>
    </p:embeddedFont>
    <p:embeddedFont>
      <p:font typeface="Cambria Math" panose="02040503050406030204" pitchFamily="18" charset="0"/>
      <p:regular r:id="rId41"/>
    </p:embeddedFont>
  </p:embeddedFontLst>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E3FF"/>
    <a:srgbClr val="00568A"/>
    <a:srgbClr val="05B0F0"/>
    <a:srgbClr val="006F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12" autoAdjust="0"/>
    <p:restoredTop sz="94660"/>
  </p:normalViewPr>
  <p:slideViewPr>
    <p:cSldViewPr snapToGrid="0">
      <p:cViewPr varScale="1">
        <p:scale>
          <a:sx n="87" d="100"/>
          <a:sy n="87" d="100"/>
        </p:scale>
        <p:origin x="3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Regular" charset="-122"/>
              <a:ea typeface="思源黑体 CN Regular" charset="-122"/>
              <a:cs typeface="思源黑体 CN Regular"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Regular" charset="-122"/>
              </a:rPr>
              <a:t>2026/2/13</a:t>
            </a:fld>
            <a:endParaRPr lang="zh-CN" altLang="en-US">
              <a:cs typeface="思源黑体 CN Regular"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Regular" charset="-122"/>
              <a:ea typeface="思源黑体 CN Regular" charset="-122"/>
              <a:cs typeface="思源黑体 CN Regular"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Regular" charset="-122"/>
              </a:rPr>
              <a:t>‹#›</a:t>
            </a:fld>
            <a:endParaRPr lang="zh-CN" altLang="en-US">
              <a:cs typeface="思源黑体 CN Regular"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Regular" charset="-122"/>
                <a:ea typeface="思源黑体 CN Regular" charset="-122"/>
                <a:cs typeface="思源黑体 CN Regular"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Regular" charset="-122"/>
                <a:ea typeface="思源黑体 CN Regular" charset="-122"/>
                <a:cs typeface="思源黑体 CN Regular" charset="-122"/>
              </a:defRPr>
            </a:lvl1pPr>
          </a:lstStyle>
          <a:p>
            <a:fld id="{AC6BB1A7-0D1B-4F2D-B557-917D931FD804}" type="datetimeFigureOut">
              <a:rPr lang="zh-CN" altLang="en-US" smtClean="0"/>
              <a:t>2026/2/13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Regular" charset="-122"/>
                <a:ea typeface="思源黑体 CN Regular" charset="-122"/>
                <a:cs typeface="思源黑体 CN Regular"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Regular" charset="-122"/>
                <a:ea typeface="思源黑体 CN Regular" charset="-122"/>
                <a:cs typeface="思源黑体 CN Regular" charset="-122"/>
              </a:defRPr>
            </a:lvl1pPr>
          </a:lstStyle>
          <a:p>
            <a:fld id="{24E404EE-387A-4429-A950-C98FCE955E0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charset="-122"/>
        <a:ea typeface="思源黑体 CN Regular" charset="-122"/>
        <a:cs typeface="思源黑体 CN Regular" charset="-122"/>
      </a:defRPr>
    </a:lvl1pPr>
    <a:lvl2pPr marL="457200" algn="l" defTabSz="914400" rtl="0" eaLnBrk="1" latinLnBrk="0" hangingPunct="1">
      <a:defRPr sz="1200" kern="1200">
        <a:solidFill>
          <a:schemeClr val="tx1"/>
        </a:solidFill>
        <a:latin typeface="思源黑体 CN Regular" charset="-122"/>
        <a:ea typeface="思源黑体 CN Regular" charset="-122"/>
        <a:cs typeface="思源黑体 CN Regular" charset="-122"/>
      </a:defRPr>
    </a:lvl2pPr>
    <a:lvl3pPr marL="914400" algn="l" defTabSz="914400" rtl="0" eaLnBrk="1" latinLnBrk="0" hangingPunct="1">
      <a:defRPr sz="1200" kern="1200">
        <a:solidFill>
          <a:schemeClr val="tx1"/>
        </a:solidFill>
        <a:latin typeface="思源黑体 CN Regular" charset="-122"/>
        <a:ea typeface="思源黑体 CN Regular" charset="-122"/>
        <a:cs typeface="思源黑体 CN Regular" charset="-122"/>
      </a:defRPr>
    </a:lvl3pPr>
    <a:lvl4pPr marL="1371600" algn="l" defTabSz="914400" rtl="0" eaLnBrk="1" latinLnBrk="0" hangingPunct="1">
      <a:defRPr sz="1200" kern="1200">
        <a:solidFill>
          <a:schemeClr val="tx1"/>
        </a:solidFill>
        <a:latin typeface="思源黑体 CN Regular" charset="-122"/>
        <a:ea typeface="思源黑体 CN Regular" charset="-122"/>
        <a:cs typeface="思源黑体 CN Regular" charset="-122"/>
      </a:defRPr>
    </a:lvl4pPr>
    <a:lvl5pPr marL="1828800" algn="l" defTabSz="914400" rtl="0" eaLnBrk="1" latinLnBrk="0" hangingPunct="1">
      <a:defRPr sz="1200" kern="1200">
        <a:solidFill>
          <a:schemeClr val="tx1"/>
        </a:solidFill>
        <a:latin typeface="思源黑体 CN Regular" charset="-122"/>
        <a:ea typeface="思源黑体 CN Regular" charset="-122"/>
        <a:cs typeface="思源黑体 CN Regular"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38985-F45F-0D94-DAAA-4D74C0196F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A4F355-B0E7-FED4-12BD-249950DEF8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1ED537-D184-53A9-DF12-1C22A9A81F7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D5BB0DD-6B72-ECD5-5732-AE8402D1C328}"/>
              </a:ext>
            </a:extLst>
          </p:cNvPr>
          <p:cNvSpPr>
            <a:spLocks noGrp="1"/>
          </p:cNvSpPr>
          <p:nvPr>
            <p:ph type="sldNum" sz="quarter" idx="5"/>
          </p:nvPr>
        </p:nvSpPr>
        <p:spPr/>
        <p:txBody>
          <a:bodyPr/>
          <a:lstStyle/>
          <a:p>
            <a:fld id="{24E404EE-387A-4429-A950-C98FCE955E02}" type="slidenum">
              <a:rPr lang="zh-CN" altLang="en-US" smtClean="0"/>
              <a:t>3</a:t>
            </a:fld>
            <a:endParaRPr lang="zh-CN" altLang="en-US"/>
          </a:p>
        </p:txBody>
      </p:sp>
    </p:spTree>
    <p:extLst>
      <p:ext uri="{BB962C8B-B14F-4D97-AF65-F5344CB8AC3E}">
        <p14:creationId xmlns:p14="http://schemas.microsoft.com/office/powerpoint/2010/main" val="2613356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D07D9-7D8B-3B22-7EEF-72C960CAA5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141189-6349-081B-FD7A-92E28C84CC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53ED98-5590-DC6F-8481-E472FFAC988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51E85B0-0472-5711-A09D-549EB523E4B1}"/>
              </a:ext>
            </a:extLst>
          </p:cNvPr>
          <p:cNvSpPr>
            <a:spLocks noGrp="1"/>
          </p:cNvSpPr>
          <p:nvPr>
            <p:ph type="sldNum" sz="quarter" idx="5"/>
          </p:nvPr>
        </p:nvSpPr>
        <p:spPr/>
        <p:txBody>
          <a:bodyPr/>
          <a:lstStyle/>
          <a:p>
            <a:fld id="{24E404EE-387A-4429-A950-C98FCE955E02}" type="slidenum">
              <a:rPr lang="zh-CN" altLang="en-US" smtClean="0"/>
              <a:t>4</a:t>
            </a:fld>
            <a:endParaRPr lang="zh-CN" altLang="en-US"/>
          </a:p>
        </p:txBody>
      </p:sp>
    </p:spTree>
    <p:extLst>
      <p:ext uri="{BB962C8B-B14F-4D97-AF65-F5344CB8AC3E}">
        <p14:creationId xmlns:p14="http://schemas.microsoft.com/office/powerpoint/2010/main" val="160028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F8F5-F2BC-0460-0479-AD27CB3072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9602A9-7730-ED91-E826-3406B9920B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77B979-A914-EAC1-2E18-1C29E427EDE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83554EC-A652-907B-4049-BDCD7893F647}"/>
              </a:ext>
            </a:extLst>
          </p:cNvPr>
          <p:cNvSpPr>
            <a:spLocks noGrp="1"/>
          </p:cNvSpPr>
          <p:nvPr>
            <p:ph type="sldNum" sz="quarter" idx="5"/>
          </p:nvPr>
        </p:nvSpPr>
        <p:spPr/>
        <p:txBody>
          <a:bodyPr/>
          <a:lstStyle/>
          <a:p>
            <a:fld id="{24E404EE-387A-4429-A950-C98FCE955E02}" type="slidenum">
              <a:rPr lang="zh-CN" altLang="en-US" smtClean="0"/>
              <a:t>5</a:t>
            </a:fld>
            <a:endParaRPr lang="zh-CN" altLang="en-US"/>
          </a:p>
        </p:txBody>
      </p:sp>
    </p:spTree>
    <p:extLst>
      <p:ext uri="{BB962C8B-B14F-4D97-AF65-F5344CB8AC3E}">
        <p14:creationId xmlns:p14="http://schemas.microsoft.com/office/powerpoint/2010/main" val="3401173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C183-4581-F9B9-8285-A078751C65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D57F61-A9E2-108C-1BB8-624348E674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020DC3-1A64-D4E3-5759-D0F27A60C11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6F48DFF-1A0A-053D-CCFC-B4A929E0F944}"/>
              </a:ext>
            </a:extLst>
          </p:cNvPr>
          <p:cNvSpPr>
            <a:spLocks noGrp="1"/>
          </p:cNvSpPr>
          <p:nvPr>
            <p:ph type="sldNum" sz="quarter" idx="5"/>
          </p:nvPr>
        </p:nvSpPr>
        <p:spPr/>
        <p:txBody>
          <a:bodyPr/>
          <a:lstStyle/>
          <a:p>
            <a:fld id="{24E404EE-387A-4429-A950-C98FCE955E02}" type="slidenum">
              <a:rPr lang="zh-CN" altLang="en-US" smtClean="0"/>
              <a:t>6</a:t>
            </a:fld>
            <a:endParaRPr lang="zh-CN" altLang="en-US"/>
          </a:p>
        </p:txBody>
      </p:sp>
    </p:spTree>
    <p:extLst>
      <p:ext uri="{BB962C8B-B14F-4D97-AF65-F5344CB8AC3E}">
        <p14:creationId xmlns:p14="http://schemas.microsoft.com/office/powerpoint/2010/main" val="3665602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06910-909D-8E86-C357-C8D0716BC4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D701E3-66E0-15D2-E2C1-1C9E63E25F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7DE3B7-0C59-40C0-AF33-7F251F72340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1F1AA87-45A3-E29A-2070-EA7BAB202E14}"/>
              </a:ext>
            </a:extLst>
          </p:cNvPr>
          <p:cNvSpPr>
            <a:spLocks noGrp="1"/>
          </p:cNvSpPr>
          <p:nvPr>
            <p:ph type="sldNum" sz="quarter" idx="5"/>
          </p:nvPr>
        </p:nvSpPr>
        <p:spPr/>
        <p:txBody>
          <a:bodyPr/>
          <a:lstStyle/>
          <a:p>
            <a:fld id="{24E404EE-387A-4429-A950-C98FCE955E02}" type="slidenum">
              <a:rPr lang="zh-CN" altLang="en-US" smtClean="0"/>
              <a:t>7</a:t>
            </a:fld>
            <a:endParaRPr lang="zh-CN" altLang="en-US"/>
          </a:p>
        </p:txBody>
      </p:sp>
    </p:spTree>
    <p:extLst>
      <p:ext uri="{BB962C8B-B14F-4D97-AF65-F5344CB8AC3E}">
        <p14:creationId xmlns:p14="http://schemas.microsoft.com/office/powerpoint/2010/main" val="3085559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367DE-0522-3EDE-B1C5-B343124619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B7DF9F-3D68-3034-7B39-F0365ED2FA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6BB334-3AD2-B109-2EB5-624ADCE20A1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A579D5E-144A-30EA-8271-7AF47B639399}"/>
              </a:ext>
            </a:extLst>
          </p:cNvPr>
          <p:cNvSpPr>
            <a:spLocks noGrp="1"/>
          </p:cNvSpPr>
          <p:nvPr>
            <p:ph type="sldNum" sz="quarter" idx="5"/>
          </p:nvPr>
        </p:nvSpPr>
        <p:spPr/>
        <p:txBody>
          <a:bodyPr/>
          <a:lstStyle/>
          <a:p>
            <a:fld id="{24E404EE-387A-4429-A950-C98FCE955E02}" type="slidenum">
              <a:rPr lang="zh-CN" altLang="en-US" smtClean="0"/>
              <a:t>8</a:t>
            </a:fld>
            <a:endParaRPr lang="zh-CN" altLang="en-US"/>
          </a:p>
        </p:txBody>
      </p:sp>
    </p:spTree>
    <p:extLst>
      <p:ext uri="{BB962C8B-B14F-4D97-AF65-F5344CB8AC3E}">
        <p14:creationId xmlns:p14="http://schemas.microsoft.com/office/powerpoint/2010/main" val="4124658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1D6FB-7534-4DF3-10BF-1566AB476E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A656C0-7284-E00F-EA18-525F4B75FC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4AF9A4D-52FE-11D2-3B65-66734022A3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A4F5782-712F-C252-F8A8-24E992A66C40}"/>
              </a:ext>
            </a:extLst>
          </p:cNvPr>
          <p:cNvSpPr>
            <a:spLocks noGrp="1"/>
          </p:cNvSpPr>
          <p:nvPr>
            <p:ph type="sldNum" sz="quarter" idx="5"/>
          </p:nvPr>
        </p:nvSpPr>
        <p:spPr/>
        <p:txBody>
          <a:bodyPr/>
          <a:lstStyle/>
          <a:p>
            <a:fld id="{24E404EE-387A-4429-A950-C98FCE955E02}" type="slidenum">
              <a:rPr lang="zh-CN" altLang="en-US" smtClean="0"/>
              <a:t>9</a:t>
            </a:fld>
            <a:endParaRPr lang="zh-CN" altLang="en-US"/>
          </a:p>
        </p:txBody>
      </p:sp>
    </p:spTree>
    <p:extLst>
      <p:ext uri="{BB962C8B-B14F-4D97-AF65-F5344CB8AC3E}">
        <p14:creationId xmlns:p14="http://schemas.microsoft.com/office/powerpoint/2010/main" val="1690912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AB0ED-4D9B-30F8-552F-89C01ABAA1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DF7EC2-94CE-897B-8F92-D9E5A28E6D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C90B6F-E6E1-5214-4AEB-9551F4DCE9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2039269-6C94-62F5-6FCF-E75FF04288F7}"/>
              </a:ext>
            </a:extLst>
          </p:cNvPr>
          <p:cNvSpPr>
            <a:spLocks noGrp="1"/>
          </p:cNvSpPr>
          <p:nvPr>
            <p:ph type="sldNum" sz="quarter" idx="5"/>
          </p:nvPr>
        </p:nvSpPr>
        <p:spPr/>
        <p:txBody>
          <a:bodyPr/>
          <a:lstStyle/>
          <a:p>
            <a:fld id="{24E404EE-387A-4429-A950-C98FCE955E02}" type="slidenum">
              <a:rPr lang="zh-CN" altLang="en-US" smtClean="0"/>
              <a:t>10</a:t>
            </a:fld>
            <a:endParaRPr lang="zh-CN" altLang="en-US"/>
          </a:p>
        </p:txBody>
      </p:sp>
    </p:spTree>
    <p:extLst>
      <p:ext uri="{BB962C8B-B14F-4D97-AF65-F5344CB8AC3E}">
        <p14:creationId xmlns:p14="http://schemas.microsoft.com/office/powerpoint/2010/main" val="3208400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0D262-CBAE-2082-A2B0-F2D5B7FBDC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87C91A-F654-91BD-462C-122AED8B93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D2B5A30-84EE-5438-AC5E-312C402B3B3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A5C8553-FB7A-51BA-BA1C-DF50B7212EF0}"/>
              </a:ext>
            </a:extLst>
          </p:cNvPr>
          <p:cNvSpPr>
            <a:spLocks noGrp="1"/>
          </p:cNvSpPr>
          <p:nvPr>
            <p:ph type="sldNum" sz="quarter" idx="5"/>
          </p:nvPr>
        </p:nvSpPr>
        <p:spPr/>
        <p:txBody>
          <a:bodyPr/>
          <a:lstStyle/>
          <a:p>
            <a:fld id="{24E404EE-387A-4429-A950-C98FCE955E02}" type="slidenum">
              <a:rPr lang="zh-CN" altLang="en-US" smtClean="0"/>
              <a:t>11</a:t>
            </a:fld>
            <a:endParaRPr lang="zh-CN" altLang="en-US"/>
          </a:p>
        </p:txBody>
      </p:sp>
    </p:spTree>
    <p:extLst>
      <p:ext uri="{BB962C8B-B14F-4D97-AF65-F5344CB8AC3E}">
        <p14:creationId xmlns:p14="http://schemas.microsoft.com/office/powerpoint/2010/main" val="981668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E404EE-387A-4429-A950-C98FCE955E02}"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8FFF6-438D-2D61-DB75-0755DBEC84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039525-FB47-514D-F87A-6A7420D36E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6AA1BF-D3BD-1741-73F9-8A9FBECB4F1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0FDC603-75D5-1A7F-632E-602692AE0C15}"/>
              </a:ext>
            </a:extLst>
          </p:cNvPr>
          <p:cNvSpPr>
            <a:spLocks noGrp="1"/>
          </p:cNvSpPr>
          <p:nvPr>
            <p:ph type="sldNum" sz="quarter" idx="5"/>
          </p:nvPr>
        </p:nvSpPr>
        <p:spPr/>
        <p:txBody>
          <a:bodyPr/>
          <a:lstStyle/>
          <a:p>
            <a:fld id="{24E404EE-387A-4429-A950-C98FCE955E02}" type="slidenum">
              <a:rPr lang="zh-CN" altLang="en-US" smtClean="0"/>
              <a:t>13</a:t>
            </a:fld>
            <a:endParaRPr lang="zh-CN" altLang="en-US"/>
          </a:p>
        </p:txBody>
      </p:sp>
    </p:spTree>
    <p:extLst>
      <p:ext uri="{BB962C8B-B14F-4D97-AF65-F5344CB8AC3E}">
        <p14:creationId xmlns:p14="http://schemas.microsoft.com/office/powerpoint/2010/main" val="159346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ABD1D-1D79-B847-3CC4-D76945D469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C57530-2DB9-5F4B-2841-A1EC3BE2F9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601B9D-0011-C077-50D8-C45715C6E4F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FCB7472-4AB8-A0B7-D6EA-252825C244E8}"/>
              </a:ext>
            </a:extLst>
          </p:cNvPr>
          <p:cNvSpPr>
            <a:spLocks noGrp="1"/>
          </p:cNvSpPr>
          <p:nvPr>
            <p:ph type="sldNum" sz="quarter" idx="5"/>
          </p:nvPr>
        </p:nvSpPr>
        <p:spPr/>
        <p:txBody>
          <a:bodyPr/>
          <a:lstStyle/>
          <a:p>
            <a:fld id="{24E404EE-387A-4429-A950-C98FCE955E02}" type="slidenum">
              <a:rPr lang="zh-CN" altLang="en-US" smtClean="0"/>
              <a:t>14</a:t>
            </a:fld>
            <a:endParaRPr lang="zh-CN" altLang="en-US"/>
          </a:p>
        </p:txBody>
      </p:sp>
    </p:spTree>
    <p:extLst>
      <p:ext uri="{BB962C8B-B14F-4D97-AF65-F5344CB8AC3E}">
        <p14:creationId xmlns:p14="http://schemas.microsoft.com/office/powerpoint/2010/main" val="7156637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6CCC-DBCE-DCB2-0ECB-BC102DDC15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EF8C48-F48B-1DC0-E0F4-98F9FD628C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659C1B-501F-9189-E1D8-0FDBD04C186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9557858-BE00-91F3-0296-2525B9721967}"/>
              </a:ext>
            </a:extLst>
          </p:cNvPr>
          <p:cNvSpPr>
            <a:spLocks noGrp="1"/>
          </p:cNvSpPr>
          <p:nvPr>
            <p:ph type="sldNum" sz="quarter" idx="5"/>
          </p:nvPr>
        </p:nvSpPr>
        <p:spPr/>
        <p:txBody>
          <a:bodyPr/>
          <a:lstStyle/>
          <a:p>
            <a:fld id="{24E404EE-387A-4429-A950-C98FCE955E02}" type="slidenum">
              <a:rPr lang="zh-CN" altLang="en-US" smtClean="0"/>
              <a:t>15</a:t>
            </a:fld>
            <a:endParaRPr lang="zh-CN" altLang="en-US"/>
          </a:p>
        </p:txBody>
      </p:sp>
    </p:spTree>
    <p:extLst>
      <p:ext uri="{BB962C8B-B14F-4D97-AF65-F5344CB8AC3E}">
        <p14:creationId xmlns:p14="http://schemas.microsoft.com/office/powerpoint/2010/main" val="2104991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745B3-EB01-F9A7-9DDE-60F374D395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C77DA0-2011-8782-9D8B-7C9D02537B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28DF28-D257-DD3A-79ED-37245375C88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7AC723-664D-4EBA-7718-48F388653CC0}"/>
              </a:ext>
            </a:extLst>
          </p:cNvPr>
          <p:cNvSpPr>
            <a:spLocks noGrp="1"/>
          </p:cNvSpPr>
          <p:nvPr>
            <p:ph type="sldNum" sz="quarter" idx="5"/>
          </p:nvPr>
        </p:nvSpPr>
        <p:spPr/>
        <p:txBody>
          <a:bodyPr/>
          <a:lstStyle/>
          <a:p>
            <a:fld id="{24E404EE-387A-4429-A950-C98FCE955E02}" type="slidenum">
              <a:rPr lang="zh-CN" altLang="en-US" smtClean="0"/>
              <a:t>16</a:t>
            </a:fld>
            <a:endParaRPr lang="zh-CN" altLang="en-US"/>
          </a:p>
        </p:txBody>
      </p:sp>
    </p:spTree>
    <p:extLst>
      <p:ext uri="{BB962C8B-B14F-4D97-AF65-F5344CB8AC3E}">
        <p14:creationId xmlns:p14="http://schemas.microsoft.com/office/powerpoint/2010/main" val="3783694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5612D-FA22-ACD2-850C-B03D9CFB8C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B05BC1-213D-1455-F0F0-30B1C0F99A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189BC3-17FD-F70F-9E26-6A8FBC0DDA3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57160D4-0992-F2C2-ECF6-E14EC5180C92}"/>
              </a:ext>
            </a:extLst>
          </p:cNvPr>
          <p:cNvSpPr>
            <a:spLocks noGrp="1"/>
          </p:cNvSpPr>
          <p:nvPr>
            <p:ph type="sldNum" sz="quarter" idx="5"/>
          </p:nvPr>
        </p:nvSpPr>
        <p:spPr/>
        <p:txBody>
          <a:bodyPr/>
          <a:lstStyle/>
          <a:p>
            <a:fld id="{24E404EE-387A-4429-A950-C98FCE955E02}" type="slidenum">
              <a:rPr lang="zh-CN" altLang="en-US" smtClean="0"/>
              <a:t>17</a:t>
            </a:fld>
            <a:endParaRPr lang="zh-CN" altLang="en-US"/>
          </a:p>
        </p:txBody>
      </p:sp>
    </p:spTree>
    <p:extLst>
      <p:ext uri="{BB962C8B-B14F-4D97-AF65-F5344CB8AC3E}">
        <p14:creationId xmlns:p14="http://schemas.microsoft.com/office/powerpoint/2010/main" val="2927470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93E5D-4D09-E07D-0E57-A7451D086C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E63FA5-9294-D5ED-45AB-80623502F0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16103E-97B1-91A8-8DB7-6AFE5976C3E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79557D0-7439-9F4D-FC18-BAF2941F8DFA}"/>
              </a:ext>
            </a:extLst>
          </p:cNvPr>
          <p:cNvSpPr>
            <a:spLocks noGrp="1"/>
          </p:cNvSpPr>
          <p:nvPr>
            <p:ph type="sldNum" sz="quarter" idx="5"/>
          </p:nvPr>
        </p:nvSpPr>
        <p:spPr/>
        <p:txBody>
          <a:bodyPr/>
          <a:lstStyle/>
          <a:p>
            <a:fld id="{24E404EE-387A-4429-A950-C98FCE955E02}" type="slidenum">
              <a:rPr lang="zh-CN" altLang="en-US" smtClean="0"/>
              <a:t>18</a:t>
            </a:fld>
            <a:endParaRPr lang="zh-CN" altLang="en-US"/>
          </a:p>
        </p:txBody>
      </p:sp>
    </p:spTree>
    <p:extLst>
      <p:ext uri="{BB962C8B-B14F-4D97-AF65-F5344CB8AC3E}">
        <p14:creationId xmlns:p14="http://schemas.microsoft.com/office/powerpoint/2010/main" val="887903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8FA2E-4F05-CF4B-5291-FF9819C05D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F99CFD-A31A-A5E4-AA97-E6E0F664CE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36198F-152F-BAE0-0FB2-13DD7FE9406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FBF7CB9-CBAE-BF58-0D99-239D3C443C17}"/>
              </a:ext>
            </a:extLst>
          </p:cNvPr>
          <p:cNvSpPr>
            <a:spLocks noGrp="1"/>
          </p:cNvSpPr>
          <p:nvPr>
            <p:ph type="sldNum" sz="quarter" idx="5"/>
          </p:nvPr>
        </p:nvSpPr>
        <p:spPr/>
        <p:txBody>
          <a:bodyPr/>
          <a:lstStyle/>
          <a:p>
            <a:fld id="{24E404EE-387A-4429-A950-C98FCE955E02}" type="slidenum">
              <a:rPr lang="zh-CN" altLang="en-US" smtClean="0"/>
              <a:t>20</a:t>
            </a:fld>
            <a:endParaRPr lang="zh-CN" altLang="en-US"/>
          </a:p>
        </p:txBody>
      </p:sp>
    </p:spTree>
    <p:extLst>
      <p:ext uri="{BB962C8B-B14F-4D97-AF65-F5344CB8AC3E}">
        <p14:creationId xmlns:p14="http://schemas.microsoft.com/office/powerpoint/2010/main" val="35560155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4CADC-1E8B-3750-28D2-A25A85B7D2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7D4441-FFB7-3750-E4A4-AB900387BB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55BEC8-742D-00C6-E2C6-9E7334B03EA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C573DD5-D043-706C-0294-B3D556048183}"/>
              </a:ext>
            </a:extLst>
          </p:cNvPr>
          <p:cNvSpPr>
            <a:spLocks noGrp="1"/>
          </p:cNvSpPr>
          <p:nvPr>
            <p:ph type="sldNum" sz="quarter" idx="5"/>
          </p:nvPr>
        </p:nvSpPr>
        <p:spPr/>
        <p:txBody>
          <a:bodyPr/>
          <a:lstStyle/>
          <a:p>
            <a:fld id="{24E404EE-387A-4429-A950-C98FCE955E02}" type="slidenum">
              <a:rPr lang="zh-CN" altLang="en-US" smtClean="0"/>
              <a:t>21</a:t>
            </a:fld>
            <a:endParaRPr lang="zh-CN" altLang="en-US"/>
          </a:p>
        </p:txBody>
      </p:sp>
    </p:spTree>
    <p:extLst>
      <p:ext uri="{BB962C8B-B14F-4D97-AF65-F5344CB8AC3E}">
        <p14:creationId xmlns:p14="http://schemas.microsoft.com/office/powerpoint/2010/main" val="5956988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930AC-9E1E-EDDF-5775-B34529628B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94FF9B-F36F-18A7-F98E-D15E05FCFB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00D97C-1273-1576-E9D8-28064BA6712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F92ECB9-28F5-DCAC-116D-BF6A90A9B8AA}"/>
              </a:ext>
            </a:extLst>
          </p:cNvPr>
          <p:cNvSpPr>
            <a:spLocks noGrp="1"/>
          </p:cNvSpPr>
          <p:nvPr>
            <p:ph type="sldNum" sz="quarter" idx="5"/>
          </p:nvPr>
        </p:nvSpPr>
        <p:spPr/>
        <p:txBody>
          <a:bodyPr/>
          <a:lstStyle/>
          <a:p>
            <a:fld id="{24E404EE-387A-4429-A950-C98FCE955E02}" type="slidenum">
              <a:rPr lang="zh-CN" altLang="en-US" smtClean="0"/>
              <a:t>22</a:t>
            </a:fld>
            <a:endParaRPr lang="zh-CN" altLang="en-US"/>
          </a:p>
        </p:txBody>
      </p:sp>
    </p:spTree>
    <p:extLst>
      <p:ext uri="{BB962C8B-B14F-4D97-AF65-F5344CB8AC3E}">
        <p14:creationId xmlns:p14="http://schemas.microsoft.com/office/powerpoint/2010/main" val="785463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1A9D6-C2CF-469F-61DB-19FC8ABB2C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0A0345-A6A9-0A40-B4E4-1D86146117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242AB2-AA02-7426-F91C-8AFAEC418AA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3865E39-CAB3-55B9-F48D-7B195593DD24}"/>
              </a:ext>
            </a:extLst>
          </p:cNvPr>
          <p:cNvSpPr>
            <a:spLocks noGrp="1"/>
          </p:cNvSpPr>
          <p:nvPr>
            <p:ph type="sldNum" sz="quarter" idx="5"/>
          </p:nvPr>
        </p:nvSpPr>
        <p:spPr/>
        <p:txBody>
          <a:bodyPr/>
          <a:lstStyle/>
          <a:p>
            <a:fld id="{24E404EE-387A-4429-A950-C98FCE955E02}" type="slidenum">
              <a:rPr lang="zh-CN" altLang="en-US" smtClean="0"/>
              <a:t>23</a:t>
            </a:fld>
            <a:endParaRPr lang="zh-CN" altLang="en-US"/>
          </a:p>
        </p:txBody>
      </p:sp>
    </p:spTree>
    <p:extLst>
      <p:ext uri="{BB962C8B-B14F-4D97-AF65-F5344CB8AC3E}">
        <p14:creationId xmlns:p14="http://schemas.microsoft.com/office/powerpoint/2010/main" val="454617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88AD1-B1CF-F1BB-50C3-C77B6D4CED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2AD6AA-5BFD-C569-54D3-E1B9ECE5E0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03552B-0F36-2E10-9CE5-2C4B9A654A3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28CE1A5-C001-81E6-62D3-0976165A30CE}"/>
              </a:ext>
            </a:extLst>
          </p:cNvPr>
          <p:cNvSpPr>
            <a:spLocks noGrp="1"/>
          </p:cNvSpPr>
          <p:nvPr>
            <p:ph type="sldNum" sz="quarter" idx="5"/>
          </p:nvPr>
        </p:nvSpPr>
        <p:spPr/>
        <p:txBody>
          <a:bodyPr/>
          <a:lstStyle/>
          <a:p>
            <a:fld id="{24E404EE-387A-4429-A950-C98FCE955E02}" type="slidenum">
              <a:rPr lang="zh-CN" altLang="en-US" smtClean="0"/>
              <a:t>24</a:t>
            </a:fld>
            <a:endParaRPr lang="zh-CN" altLang="en-US"/>
          </a:p>
        </p:txBody>
      </p:sp>
    </p:spTree>
    <p:extLst>
      <p:ext uri="{BB962C8B-B14F-4D97-AF65-F5344CB8AC3E}">
        <p14:creationId xmlns:p14="http://schemas.microsoft.com/office/powerpoint/2010/main" val="2227359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F9145-AF61-34F4-7FE2-0B8EFD4A24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896978-A60B-F31C-62E9-D815750CCD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47E535-C4B8-7367-E681-ED900EA4510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7BD7A26-A306-896D-5FBA-175542C94732}"/>
              </a:ext>
            </a:extLst>
          </p:cNvPr>
          <p:cNvSpPr>
            <a:spLocks noGrp="1"/>
          </p:cNvSpPr>
          <p:nvPr>
            <p:ph type="sldNum" sz="quarter" idx="5"/>
          </p:nvPr>
        </p:nvSpPr>
        <p:spPr/>
        <p:txBody>
          <a:bodyPr/>
          <a:lstStyle/>
          <a:p>
            <a:fld id="{24E404EE-387A-4429-A950-C98FCE955E02}" type="slidenum">
              <a:rPr lang="zh-CN" altLang="en-US" smtClean="0"/>
              <a:t>25</a:t>
            </a:fld>
            <a:endParaRPr lang="zh-CN" altLang="en-US"/>
          </a:p>
        </p:txBody>
      </p:sp>
    </p:spTree>
    <p:extLst>
      <p:ext uri="{BB962C8B-B14F-4D97-AF65-F5344CB8AC3E}">
        <p14:creationId xmlns:p14="http://schemas.microsoft.com/office/powerpoint/2010/main" val="4139796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C0F07-A5D6-A50D-7E53-6D6E47B5A4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1B47CC-30F3-120B-BCE2-48FB48B899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35A33D-10FA-5F90-11C9-A03052E5B43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98A8579-BC08-21D2-88B9-5AB08AFDEA6B}"/>
              </a:ext>
            </a:extLst>
          </p:cNvPr>
          <p:cNvSpPr>
            <a:spLocks noGrp="1"/>
          </p:cNvSpPr>
          <p:nvPr>
            <p:ph type="sldNum" sz="quarter" idx="5"/>
          </p:nvPr>
        </p:nvSpPr>
        <p:spPr/>
        <p:txBody>
          <a:bodyPr/>
          <a:lstStyle/>
          <a:p>
            <a:fld id="{24E404EE-387A-4429-A950-C98FCE955E02}" type="slidenum">
              <a:rPr lang="zh-CN" altLang="en-US" smtClean="0"/>
              <a:t>26</a:t>
            </a:fld>
            <a:endParaRPr lang="zh-CN" altLang="en-US"/>
          </a:p>
        </p:txBody>
      </p:sp>
    </p:spTree>
    <p:extLst>
      <p:ext uri="{BB962C8B-B14F-4D97-AF65-F5344CB8AC3E}">
        <p14:creationId xmlns:p14="http://schemas.microsoft.com/office/powerpoint/2010/main" val="21733425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6CE9C-71F7-7D58-5B64-3B70F517A5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0C7DA7-B3B4-7333-AC7E-0ABBC55C8E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F47D61-5B66-58C2-62F9-C1DBCAA1424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5D8F8E4-9A8E-B94B-3D58-525357A8BA1F}"/>
              </a:ext>
            </a:extLst>
          </p:cNvPr>
          <p:cNvSpPr>
            <a:spLocks noGrp="1"/>
          </p:cNvSpPr>
          <p:nvPr>
            <p:ph type="sldNum" sz="quarter" idx="5"/>
          </p:nvPr>
        </p:nvSpPr>
        <p:spPr/>
        <p:txBody>
          <a:bodyPr/>
          <a:lstStyle/>
          <a:p>
            <a:fld id="{24E404EE-387A-4429-A950-C98FCE955E02}" type="slidenum">
              <a:rPr lang="zh-CN" altLang="en-US" smtClean="0"/>
              <a:t>27</a:t>
            </a:fld>
            <a:endParaRPr lang="zh-CN" altLang="en-US"/>
          </a:p>
        </p:txBody>
      </p:sp>
    </p:spTree>
    <p:extLst>
      <p:ext uri="{BB962C8B-B14F-4D97-AF65-F5344CB8AC3E}">
        <p14:creationId xmlns:p14="http://schemas.microsoft.com/office/powerpoint/2010/main" val="39798414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F49DE-58FF-1B5B-8563-052E886EC2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B09B66-31A6-32D7-5E04-0D30CF8722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7EE8DE-21E1-E961-2FD2-9AE91F2E35B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EA9490A-67E8-8A64-A284-770F9182F178}"/>
              </a:ext>
            </a:extLst>
          </p:cNvPr>
          <p:cNvSpPr>
            <a:spLocks noGrp="1"/>
          </p:cNvSpPr>
          <p:nvPr>
            <p:ph type="sldNum" sz="quarter" idx="5"/>
          </p:nvPr>
        </p:nvSpPr>
        <p:spPr/>
        <p:txBody>
          <a:bodyPr/>
          <a:lstStyle/>
          <a:p>
            <a:fld id="{24E404EE-387A-4429-A950-C98FCE955E02}" type="slidenum">
              <a:rPr lang="zh-CN" altLang="en-US" smtClean="0"/>
              <a:t>28</a:t>
            </a:fld>
            <a:endParaRPr lang="zh-CN" altLang="en-US"/>
          </a:p>
        </p:txBody>
      </p:sp>
    </p:spTree>
    <p:extLst>
      <p:ext uri="{BB962C8B-B14F-4D97-AF65-F5344CB8AC3E}">
        <p14:creationId xmlns:p14="http://schemas.microsoft.com/office/powerpoint/2010/main" val="37778859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9912F-E11B-2A16-734B-8391C810B8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003E9F-B1B4-168B-5D25-4F9ECCB979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CB4F32-BECC-95D8-B104-92338FD62A7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65BC96D-DFAE-FB43-E814-9E1597708CE7}"/>
              </a:ext>
            </a:extLst>
          </p:cNvPr>
          <p:cNvSpPr>
            <a:spLocks noGrp="1"/>
          </p:cNvSpPr>
          <p:nvPr>
            <p:ph type="sldNum" sz="quarter" idx="5"/>
          </p:nvPr>
        </p:nvSpPr>
        <p:spPr/>
        <p:txBody>
          <a:bodyPr/>
          <a:lstStyle/>
          <a:p>
            <a:fld id="{24E404EE-387A-4429-A950-C98FCE955E02}" type="slidenum">
              <a:rPr lang="zh-CN" altLang="en-US" smtClean="0"/>
              <a:t>29</a:t>
            </a:fld>
            <a:endParaRPr lang="zh-CN" altLang="en-US"/>
          </a:p>
        </p:txBody>
      </p:sp>
    </p:spTree>
    <p:extLst>
      <p:ext uri="{BB962C8B-B14F-4D97-AF65-F5344CB8AC3E}">
        <p14:creationId xmlns:p14="http://schemas.microsoft.com/office/powerpoint/2010/main" val="10939976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E4218-0D50-D08A-83C1-53F42A90ED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00CF72-AB20-894F-EF2B-BAE256CBB4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14E48F-F107-F819-9B61-53F0A2D260F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CC82EDA-B5F8-EB97-0947-6E5F501EAEDA}"/>
              </a:ext>
            </a:extLst>
          </p:cNvPr>
          <p:cNvSpPr>
            <a:spLocks noGrp="1"/>
          </p:cNvSpPr>
          <p:nvPr>
            <p:ph type="sldNum" sz="quarter" idx="5"/>
          </p:nvPr>
        </p:nvSpPr>
        <p:spPr/>
        <p:txBody>
          <a:bodyPr/>
          <a:lstStyle/>
          <a:p>
            <a:fld id="{24E404EE-387A-4429-A950-C98FCE955E02}" type="slidenum">
              <a:rPr lang="zh-CN" altLang="en-US" smtClean="0"/>
              <a:t>30</a:t>
            </a:fld>
            <a:endParaRPr lang="zh-CN" altLang="en-US"/>
          </a:p>
        </p:txBody>
      </p:sp>
    </p:spTree>
    <p:extLst>
      <p:ext uri="{BB962C8B-B14F-4D97-AF65-F5344CB8AC3E}">
        <p14:creationId xmlns:p14="http://schemas.microsoft.com/office/powerpoint/2010/main" val="27131213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36040-A38B-165F-A2E4-2CDB2BF273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A5124A-F4E9-004E-2010-0B3EAFA343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A74DF5-AC74-FEB1-E8DC-805FE2C286D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D177367-97DF-BB4A-A140-6E206FEBA1DF}"/>
              </a:ext>
            </a:extLst>
          </p:cNvPr>
          <p:cNvSpPr>
            <a:spLocks noGrp="1"/>
          </p:cNvSpPr>
          <p:nvPr>
            <p:ph type="sldNum" sz="quarter" idx="5"/>
          </p:nvPr>
        </p:nvSpPr>
        <p:spPr/>
        <p:txBody>
          <a:bodyPr/>
          <a:lstStyle/>
          <a:p>
            <a:fld id="{24E404EE-387A-4429-A950-C98FCE955E02}" type="slidenum">
              <a:rPr lang="zh-CN" altLang="en-US" smtClean="0"/>
              <a:t>31</a:t>
            </a:fld>
            <a:endParaRPr lang="zh-CN" altLang="en-US"/>
          </a:p>
        </p:txBody>
      </p:sp>
    </p:spTree>
    <p:extLst>
      <p:ext uri="{BB962C8B-B14F-4D97-AF65-F5344CB8AC3E}">
        <p14:creationId xmlns:p14="http://schemas.microsoft.com/office/powerpoint/2010/main" val="30778823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913AD-E278-3AD7-A8D9-2E1E53E752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C2FECF-BEAE-4FCC-CF21-848E06602E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A8C124-8259-682F-70E6-E6D08772731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85272E4-8024-FEED-1E86-87D2EC0B037E}"/>
              </a:ext>
            </a:extLst>
          </p:cNvPr>
          <p:cNvSpPr>
            <a:spLocks noGrp="1"/>
          </p:cNvSpPr>
          <p:nvPr>
            <p:ph type="sldNum" sz="quarter" idx="5"/>
          </p:nvPr>
        </p:nvSpPr>
        <p:spPr/>
        <p:txBody>
          <a:bodyPr/>
          <a:lstStyle/>
          <a:p>
            <a:fld id="{24E404EE-387A-4429-A950-C98FCE955E02}" type="slidenum">
              <a:rPr lang="zh-CN" altLang="en-US" smtClean="0"/>
              <a:t>32</a:t>
            </a:fld>
            <a:endParaRPr lang="zh-CN" altLang="en-US"/>
          </a:p>
        </p:txBody>
      </p:sp>
    </p:spTree>
    <p:extLst>
      <p:ext uri="{BB962C8B-B14F-4D97-AF65-F5344CB8AC3E}">
        <p14:creationId xmlns:p14="http://schemas.microsoft.com/office/powerpoint/2010/main" val="4606520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91EF-2402-8362-9606-76B2091FE4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F55525-6511-A426-125C-428E83293C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1ADF20-AEEB-D21F-EA5A-57A227FAC92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D4102BE-8EDC-F40E-EB21-E06BDE20B5AE}"/>
              </a:ext>
            </a:extLst>
          </p:cNvPr>
          <p:cNvSpPr>
            <a:spLocks noGrp="1"/>
          </p:cNvSpPr>
          <p:nvPr>
            <p:ph type="sldNum" sz="quarter" idx="5"/>
          </p:nvPr>
        </p:nvSpPr>
        <p:spPr/>
        <p:txBody>
          <a:bodyPr/>
          <a:lstStyle/>
          <a:p>
            <a:fld id="{24E404EE-387A-4429-A950-C98FCE955E02}" type="slidenum">
              <a:rPr lang="zh-CN" altLang="en-US" smtClean="0"/>
              <a:t>33</a:t>
            </a:fld>
            <a:endParaRPr lang="zh-CN" altLang="en-US"/>
          </a:p>
        </p:txBody>
      </p:sp>
    </p:spTree>
    <p:extLst>
      <p:ext uri="{BB962C8B-B14F-4D97-AF65-F5344CB8AC3E}">
        <p14:creationId xmlns:p14="http://schemas.microsoft.com/office/powerpoint/2010/main" val="7278110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62168-C256-6934-86E7-4BD2373D74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D69B38-2B93-0392-2CDA-B3FA1EC914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A7EB0E-F2FC-89D5-9B9E-5F464D86D05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5BA0E30-C02F-CD01-494E-92BCD53EFABB}"/>
              </a:ext>
            </a:extLst>
          </p:cNvPr>
          <p:cNvSpPr>
            <a:spLocks noGrp="1"/>
          </p:cNvSpPr>
          <p:nvPr>
            <p:ph type="sldNum" sz="quarter" idx="5"/>
          </p:nvPr>
        </p:nvSpPr>
        <p:spPr/>
        <p:txBody>
          <a:bodyPr/>
          <a:lstStyle/>
          <a:p>
            <a:fld id="{24E404EE-387A-4429-A950-C98FCE955E02}" type="slidenum">
              <a:rPr lang="zh-CN" altLang="en-US" smtClean="0"/>
              <a:t>34</a:t>
            </a:fld>
            <a:endParaRPr lang="zh-CN" altLang="en-US"/>
          </a:p>
        </p:txBody>
      </p:sp>
    </p:spTree>
    <p:extLst>
      <p:ext uri="{BB962C8B-B14F-4D97-AF65-F5344CB8AC3E}">
        <p14:creationId xmlns:p14="http://schemas.microsoft.com/office/powerpoint/2010/main" val="22634062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E1D94-B3D2-CC36-2183-910E36DAE7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AB9711-DBBC-DFFE-CD1A-A78D1FF6A9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2D9F00-6B8F-6F24-EBFE-D0CA988151E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7C5D8EE-B4D4-D1A8-6019-BC7AF3390733}"/>
              </a:ext>
            </a:extLst>
          </p:cNvPr>
          <p:cNvSpPr>
            <a:spLocks noGrp="1"/>
          </p:cNvSpPr>
          <p:nvPr>
            <p:ph type="sldNum" sz="quarter" idx="5"/>
          </p:nvPr>
        </p:nvSpPr>
        <p:spPr/>
        <p:txBody>
          <a:bodyPr/>
          <a:lstStyle/>
          <a:p>
            <a:fld id="{24E404EE-387A-4429-A950-C98FCE955E02}" type="slidenum">
              <a:rPr lang="zh-CN" altLang="en-US" smtClean="0"/>
              <a:t>35</a:t>
            </a:fld>
            <a:endParaRPr lang="zh-CN" altLang="en-US"/>
          </a:p>
        </p:txBody>
      </p:sp>
    </p:spTree>
    <p:extLst>
      <p:ext uri="{BB962C8B-B14F-4D97-AF65-F5344CB8AC3E}">
        <p14:creationId xmlns:p14="http://schemas.microsoft.com/office/powerpoint/2010/main" val="1111540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E8E436A-E919-4421-9BC7-04029FF8AF7D}" type="datetimeFigureOut">
              <a:rPr lang="zh-CN" altLang="en-US" smtClean="0"/>
              <a:t>2026/2/13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Regular" charset="-122"/>
                <a:ea typeface="思源黑体 CN Regular" charset="-122"/>
                <a:cs typeface="思源黑体 CN Regular" charset="-122"/>
              </a:defRPr>
            </a:lvl1pPr>
          </a:lstStyle>
          <a:p>
            <a:fld id="{2E8E436A-E919-4421-9BC7-04029FF8AF7D}" type="datetimeFigureOut">
              <a:rPr lang="zh-CN" altLang="en-US" smtClean="0"/>
              <a:t>2026/2/13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Regular" charset="-122"/>
                <a:ea typeface="思源黑体 CN Regular" charset="-122"/>
                <a:cs typeface="思源黑体 CN Regular"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Regular" charset="-122"/>
                <a:ea typeface="思源黑体 CN Regular" charset="-122"/>
                <a:cs typeface="思源黑体 CN Regular" charset="-122"/>
              </a:defRPr>
            </a:lvl1pPr>
          </a:lstStyle>
          <a:p>
            <a:fld id="{B29329AE-01FF-4B06-A12C-DAE64B6F6607}" type="slidenum">
              <a:rPr lang="zh-CN" altLang="en-US" smtClean="0"/>
              <a:t>‹#›</a:t>
            </a:fld>
            <a:endParaRPr lang="zh-CN" altLang="en-US"/>
          </a:p>
        </p:txBody>
      </p:sp>
      <p:grpSp>
        <p:nvGrpSpPr>
          <p:cNvPr id="7" name="组合 6"/>
          <p:cNvGrpSpPr/>
          <p:nvPr userDrawn="1"/>
        </p:nvGrpSpPr>
        <p:grpSpPr>
          <a:xfrm>
            <a:off x="0" y="0"/>
            <a:ext cx="12192000" cy="6858000"/>
            <a:chOff x="0" y="0"/>
            <a:chExt cx="12192000" cy="6858000"/>
          </a:xfrm>
        </p:grpSpPr>
        <p:grpSp>
          <p:nvGrpSpPr>
            <p:cNvPr id="8" name="组合 7"/>
            <p:cNvGrpSpPr/>
            <p:nvPr/>
          </p:nvGrpSpPr>
          <p:grpSpPr>
            <a:xfrm rot="16200000">
              <a:off x="2667000" y="-2667000"/>
              <a:ext cx="6858000" cy="12192000"/>
              <a:chOff x="0" y="0"/>
              <a:chExt cx="12192000" cy="6858000"/>
            </a:xfrm>
          </p:grpSpPr>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9" name="矩形 8"/>
            <p:cNvSpPr/>
            <p:nvPr/>
          </p:nvSpPr>
          <p:spPr>
            <a:xfrm>
              <a:off x="50800" y="29138"/>
              <a:ext cx="12090400" cy="6800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Regular" charset="-122"/>
                <a:ea typeface="思源黑体 CN Regular" charset="-122"/>
                <a:cs typeface="思源黑体 CN Regular" charset="-122"/>
              </a:endParaRPr>
            </a:p>
          </p:txBody>
        </p:sp>
      </p:grpSp>
      <p:grpSp>
        <p:nvGrpSpPr>
          <p:cNvPr id="12" name="组合 11"/>
          <p:cNvGrpSpPr/>
          <p:nvPr userDrawn="1"/>
        </p:nvGrpSpPr>
        <p:grpSpPr>
          <a:xfrm>
            <a:off x="215427" y="228549"/>
            <a:ext cx="526193" cy="526193"/>
            <a:chOff x="5643770" y="2158950"/>
            <a:chExt cx="904461" cy="904461"/>
          </a:xfrm>
        </p:grpSpPr>
        <p:sp>
          <p:nvSpPr>
            <p:cNvPr id="13" name="椭圆 12"/>
            <p:cNvSpPr/>
            <p:nvPr/>
          </p:nvSpPr>
          <p:spPr>
            <a:xfrm>
              <a:off x="5643770" y="2158950"/>
              <a:ext cx="904461" cy="904461"/>
            </a:xfrm>
            <a:prstGeom prst="ellipse">
              <a:avLst/>
            </a:prstGeom>
            <a:solidFill>
              <a:srgbClr val="006F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charset="-122"/>
                <a:ea typeface="思源黑体 CN Regular" charset="-122"/>
                <a:cs typeface="思源黑体 CN Regular" charset="-122"/>
              </a:endParaRPr>
            </a:p>
          </p:txBody>
        </p:sp>
        <p:sp>
          <p:nvSpPr>
            <p:cNvPr id="14" name="Oval 14"/>
            <p:cNvSpPr/>
            <p:nvPr/>
          </p:nvSpPr>
          <p:spPr>
            <a:xfrm>
              <a:off x="5825435" y="2359230"/>
              <a:ext cx="541130" cy="503901"/>
            </a:xfrm>
            <a:custGeom>
              <a:avLst/>
              <a:gdLst>
                <a:gd name="T0" fmla="*/ 8052 w 11204"/>
                <a:gd name="T1" fmla="*/ 701 h 10433"/>
                <a:gd name="T2" fmla="*/ 7702 w 11204"/>
                <a:gd name="T3" fmla="*/ 6 h 10433"/>
                <a:gd name="T4" fmla="*/ 7352 w 11204"/>
                <a:gd name="T5" fmla="*/ 701 h 10433"/>
                <a:gd name="T6" fmla="*/ 3854 w 11204"/>
                <a:gd name="T7" fmla="*/ 353 h 10433"/>
                <a:gd name="T8" fmla="*/ 3504 w 11204"/>
                <a:gd name="T9" fmla="*/ 6 h 10433"/>
                <a:gd name="T10" fmla="*/ 3154 w 11204"/>
                <a:gd name="T11" fmla="*/ 353 h 10433"/>
                <a:gd name="T12" fmla="*/ 1755 w 11204"/>
                <a:gd name="T13" fmla="*/ 701 h 10433"/>
                <a:gd name="T14" fmla="*/ 5 w 11204"/>
                <a:gd name="T15" fmla="*/ 2438 h 10433"/>
                <a:gd name="T16" fmla="*/ 513 w 11204"/>
                <a:gd name="T17" fmla="*/ 9925 h 10433"/>
                <a:gd name="T18" fmla="*/ 9450 w 11204"/>
                <a:gd name="T19" fmla="*/ 10428 h 10433"/>
                <a:gd name="T20" fmla="*/ 11200 w 11204"/>
                <a:gd name="T21" fmla="*/ 8691 h 10433"/>
                <a:gd name="T22" fmla="*/ 10693 w 11204"/>
                <a:gd name="T23" fmla="*/ 1205 h 10433"/>
                <a:gd name="T24" fmla="*/ 707 w 11204"/>
                <a:gd name="T25" fmla="*/ 2438 h 10433"/>
                <a:gd name="T26" fmla="*/ 3155 w 11204"/>
                <a:gd name="T27" fmla="*/ 1396 h 10433"/>
                <a:gd name="T28" fmla="*/ 3252 w 11204"/>
                <a:gd name="T29" fmla="*/ 1996 h 10433"/>
                <a:gd name="T30" fmla="*/ 3759 w 11204"/>
                <a:gd name="T31" fmla="*/ 1996 h 10433"/>
                <a:gd name="T32" fmla="*/ 3855 w 11204"/>
                <a:gd name="T33" fmla="*/ 1396 h 10433"/>
                <a:gd name="T34" fmla="*/ 7353 w 11204"/>
                <a:gd name="T35" fmla="*/ 1743 h 10433"/>
                <a:gd name="T36" fmla="*/ 7950 w 11204"/>
                <a:gd name="T37" fmla="*/ 1990 h 10433"/>
                <a:gd name="T38" fmla="*/ 8053 w 11204"/>
                <a:gd name="T39" fmla="*/ 1396 h 10433"/>
                <a:gd name="T40" fmla="*/ 10500 w 11204"/>
                <a:gd name="T41" fmla="*/ 2438 h 10433"/>
                <a:gd name="T42" fmla="*/ 707 w 11204"/>
                <a:gd name="T43" fmla="*/ 3480 h 10433"/>
                <a:gd name="T44" fmla="*/ 10499 w 11204"/>
                <a:gd name="T45" fmla="*/ 8691 h 10433"/>
                <a:gd name="T46" fmla="*/ 1757 w 11204"/>
                <a:gd name="T47" fmla="*/ 9733 h 10433"/>
                <a:gd name="T48" fmla="*/ 707 w 11204"/>
                <a:gd name="T49" fmla="*/ 4175 h 10433"/>
                <a:gd name="T50" fmla="*/ 10499 w 11204"/>
                <a:gd name="T51" fmla="*/ 8691 h 10433"/>
                <a:gd name="T52" fmla="*/ 2504 w 11204"/>
                <a:gd name="T53" fmla="*/ 8691 h 10433"/>
                <a:gd name="T54" fmla="*/ 3202 w 11204"/>
                <a:gd name="T55" fmla="*/ 7996 h 10433"/>
                <a:gd name="T56" fmla="*/ 2502 w 11204"/>
                <a:gd name="T57" fmla="*/ 7301 h 10433"/>
                <a:gd name="T58" fmla="*/ 1802 w 11204"/>
                <a:gd name="T59" fmla="*/ 7996 h 10433"/>
                <a:gd name="T60" fmla="*/ 2504 w 11204"/>
                <a:gd name="T61" fmla="*/ 8691 h 10433"/>
                <a:gd name="T62" fmla="*/ 2991 w 11204"/>
                <a:gd name="T63" fmla="*/ 6398 h 10433"/>
                <a:gd name="T64" fmla="*/ 2991 w 11204"/>
                <a:gd name="T65" fmla="*/ 5426 h 10433"/>
                <a:gd name="T66" fmla="*/ 2012 w 11204"/>
                <a:gd name="T67" fmla="*/ 5426 h 10433"/>
                <a:gd name="T68" fmla="*/ 2012 w 11204"/>
                <a:gd name="T69" fmla="*/ 6398 h 10433"/>
                <a:gd name="T70" fmla="*/ 5646 w 11204"/>
                <a:gd name="T71" fmla="*/ 8691 h 10433"/>
                <a:gd name="T72" fmla="*/ 6136 w 11204"/>
                <a:gd name="T73" fmla="*/ 7510 h 10433"/>
                <a:gd name="T74" fmla="*/ 5156 w 11204"/>
                <a:gd name="T75" fmla="*/ 7510 h 10433"/>
                <a:gd name="T76" fmla="*/ 5156 w 11204"/>
                <a:gd name="T77" fmla="*/ 8482 h 10433"/>
                <a:gd name="T78" fmla="*/ 5646 w 11204"/>
                <a:gd name="T79" fmla="*/ 6606 h 10433"/>
                <a:gd name="T80" fmla="*/ 6139 w 11204"/>
                <a:gd name="T81" fmla="*/ 5426 h 10433"/>
                <a:gd name="T82" fmla="*/ 5159 w 11204"/>
                <a:gd name="T83" fmla="*/ 5426 h 10433"/>
                <a:gd name="T84" fmla="*/ 5154 w 11204"/>
                <a:gd name="T85" fmla="*/ 6398 h 10433"/>
                <a:gd name="T86" fmla="*/ 8630 w 11204"/>
                <a:gd name="T87" fmla="*/ 8691 h 10433"/>
                <a:gd name="T88" fmla="*/ 9330 w 11204"/>
                <a:gd name="T89" fmla="*/ 7996 h 10433"/>
                <a:gd name="T90" fmla="*/ 8630 w 11204"/>
                <a:gd name="T91" fmla="*/ 7301 h 10433"/>
                <a:gd name="T92" fmla="*/ 7930 w 11204"/>
                <a:gd name="T93" fmla="*/ 7996 h 10433"/>
                <a:gd name="T94" fmla="*/ 8630 w 11204"/>
                <a:gd name="T95" fmla="*/ 8691 h 10433"/>
                <a:gd name="T96" fmla="*/ 9329 w 11204"/>
                <a:gd name="T97" fmla="*/ 5912 h 10433"/>
                <a:gd name="T98" fmla="*/ 8629 w 11204"/>
                <a:gd name="T99" fmla="*/ 5217 h 10433"/>
                <a:gd name="T100" fmla="*/ 7929 w 11204"/>
                <a:gd name="T101" fmla="*/ 5912 h 10433"/>
                <a:gd name="T102" fmla="*/ 8630 w 11204"/>
                <a:gd name="T103" fmla="*/ 6606 h 10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4" h="10433">
                  <a:moveTo>
                    <a:pt x="9450" y="701"/>
                  </a:moveTo>
                  <a:lnTo>
                    <a:pt x="8052" y="701"/>
                  </a:lnTo>
                  <a:lnTo>
                    <a:pt x="8052" y="353"/>
                  </a:lnTo>
                  <a:cubicBezTo>
                    <a:pt x="8052" y="161"/>
                    <a:pt x="7895" y="6"/>
                    <a:pt x="7702" y="6"/>
                  </a:cubicBezTo>
                  <a:cubicBezTo>
                    <a:pt x="7509" y="6"/>
                    <a:pt x="7353" y="161"/>
                    <a:pt x="7352" y="353"/>
                  </a:cubicBezTo>
                  <a:lnTo>
                    <a:pt x="7352" y="701"/>
                  </a:lnTo>
                  <a:lnTo>
                    <a:pt x="3854" y="701"/>
                  </a:lnTo>
                  <a:lnTo>
                    <a:pt x="3854" y="353"/>
                  </a:lnTo>
                  <a:cubicBezTo>
                    <a:pt x="3860" y="260"/>
                    <a:pt x="3825" y="167"/>
                    <a:pt x="3758" y="101"/>
                  </a:cubicBezTo>
                  <a:cubicBezTo>
                    <a:pt x="3690" y="35"/>
                    <a:pt x="3598" y="0"/>
                    <a:pt x="3504" y="6"/>
                  </a:cubicBezTo>
                  <a:cubicBezTo>
                    <a:pt x="3410" y="0"/>
                    <a:pt x="3318" y="35"/>
                    <a:pt x="3250" y="101"/>
                  </a:cubicBezTo>
                  <a:cubicBezTo>
                    <a:pt x="3184" y="167"/>
                    <a:pt x="3149" y="260"/>
                    <a:pt x="3154" y="353"/>
                  </a:cubicBezTo>
                  <a:lnTo>
                    <a:pt x="3154" y="701"/>
                  </a:lnTo>
                  <a:lnTo>
                    <a:pt x="1755" y="701"/>
                  </a:lnTo>
                  <a:cubicBezTo>
                    <a:pt x="1290" y="696"/>
                    <a:pt x="843" y="877"/>
                    <a:pt x="513" y="1205"/>
                  </a:cubicBezTo>
                  <a:cubicBezTo>
                    <a:pt x="184" y="1531"/>
                    <a:pt x="2" y="1975"/>
                    <a:pt x="5" y="2438"/>
                  </a:cubicBezTo>
                  <a:lnTo>
                    <a:pt x="5" y="8691"/>
                  </a:lnTo>
                  <a:cubicBezTo>
                    <a:pt x="0" y="9153"/>
                    <a:pt x="184" y="9598"/>
                    <a:pt x="513" y="9925"/>
                  </a:cubicBezTo>
                  <a:cubicBezTo>
                    <a:pt x="843" y="10252"/>
                    <a:pt x="1290" y="10433"/>
                    <a:pt x="1755" y="10428"/>
                  </a:cubicBezTo>
                  <a:lnTo>
                    <a:pt x="9450" y="10428"/>
                  </a:lnTo>
                  <a:cubicBezTo>
                    <a:pt x="9915" y="10433"/>
                    <a:pt x="10363" y="10252"/>
                    <a:pt x="10693" y="9925"/>
                  </a:cubicBezTo>
                  <a:cubicBezTo>
                    <a:pt x="11022" y="9598"/>
                    <a:pt x="11204" y="9155"/>
                    <a:pt x="11200" y="8691"/>
                  </a:cubicBezTo>
                  <a:lnTo>
                    <a:pt x="11200" y="2438"/>
                  </a:lnTo>
                  <a:cubicBezTo>
                    <a:pt x="11204" y="1976"/>
                    <a:pt x="11022" y="1531"/>
                    <a:pt x="10693" y="1205"/>
                  </a:cubicBezTo>
                  <a:cubicBezTo>
                    <a:pt x="10362" y="878"/>
                    <a:pt x="9915" y="697"/>
                    <a:pt x="9450" y="701"/>
                  </a:cubicBezTo>
                  <a:close/>
                  <a:moveTo>
                    <a:pt x="707" y="2438"/>
                  </a:moveTo>
                  <a:cubicBezTo>
                    <a:pt x="720" y="1868"/>
                    <a:pt x="1183" y="1410"/>
                    <a:pt x="1757" y="1396"/>
                  </a:cubicBezTo>
                  <a:lnTo>
                    <a:pt x="3155" y="1396"/>
                  </a:lnTo>
                  <a:lnTo>
                    <a:pt x="3155" y="1743"/>
                  </a:lnTo>
                  <a:cubicBezTo>
                    <a:pt x="3149" y="1837"/>
                    <a:pt x="3184" y="1930"/>
                    <a:pt x="3252" y="1996"/>
                  </a:cubicBezTo>
                  <a:cubicBezTo>
                    <a:pt x="3319" y="2062"/>
                    <a:pt x="3410" y="2097"/>
                    <a:pt x="3505" y="2091"/>
                  </a:cubicBezTo>
                  <a:cubicBezTo>
                    <a:pt x="3599" y="2097"/>
                    <a:pt x="3692" y="2062"/>
                    <a:pt x="3759" y="1996"/>
                  </a:cubicBezTo>
                  <a:cubicBezTo>
                    <a:pt x="3827" y="1930"/>
                    <a:pt x="3862" y="1837"/>
                    <a:pt x="3855" y="1743"/>
                  </a:cubicBezTo>
                  <a:lnTo>
                    <a:pt x="3855" y="1396"/>
                  </a:lnTo>
                  <a:lnTo>
                    <a:pt x="7353" y="1396"/>
                  </a:lnTo>
                  <a:lnTo>
                    <a:pt x="7353" y="1743"/>
                  </a:lnTo>
                  <a:cubicBezTo>
                    <a:pt x="7353" y="1936"/>
                    <a:pt x="7509" y="2091"/>
                    <a:pt x="7703" y="2091"/>
                  </a:cubicBezTo>
                  <a:cubicBezTo>
                    <a:pt x="7795" y="2091"/>
                    <a:pt x="7884" y="2055"/>
                    <a:pt x="7950" y="1990"/>
                  </a:cubicBezTo>
                  <a:cubicBezTo>
                    <a:pt x="8015" y="1925"/>
                    <a:pt x="8053" y="1836"/>
                    <a:pt x="8053" y="1743"/>
                  </a:cubicBezTo>
                  <a:lnTo>
                    <a:pt x="8053" y="1396"/>
                  </a:lnTo>
                  <a:lnTo>
                    <a:pt x="9452" y="1396"/>
                  </a:lnTo>
                  <a:cubicBezTo>
                    <a:pt x="10025" y="1410"/>
                    <a:pt x="10486" y="1868"/>
                    <a:pt x="10500" y="2438"/>
                  </a:cubicBezTo>
                  <a:lnTo>
                    <a:pt x="10500" y="3480"/>
                  </a:lnTo>
                  <a:lnTo>
                    <a:pt x="707" y="3480"/>
                  </a:lnTo>
                  <a:lnTo>
                    <a:pt x="707" y="2438"/>
                  </a:lnTo>
                  <a:close/>
                  <a:moveTo>
                    <a:pt x="10499" y="8691"/>
                  </a:moveTo>
                  <a:cubicBezTo>
                    <a:pt x="10485" y="9261"/>
                    <a:pt x="10023" y="9718"/>
                    <a:pt x="9450" y="9733"/>
                  </a:cubicBezTo>
                  <a:lnTo>
                    <a:pt x="1757" y="9733"/>
                  </a:lnTo>
                  <a:cubicBezTo>
                    <a:pt x="1183" y="9720"/>
                    <a:pt x="720" y="9261"/>
                    <a:pt x="707" y="8691"/>
                  </a:cubicBezTo>
                  <a:lnTo>
                    <a:pt x="707" y="4175"/>
                  </a:lnTo>
                  <a:lnTo>
                    <a:pt x="10500" y="4175"/>
                  </a:lnTo>
                  <a:lnTo>
                    <a:pt x="10499" y="8691"/>
                  </a:lnTo>
                  <a:close/>
                  <a:moveTo>
                    <a:pt x="10499" y="8691"/>
                  </a:moveTo>
                  <a:close/>
                  <a:moveTo>
                    <a:pt x="2504" y="8691"/>
                  </a:moveTo>
                  <a:cubicBezTo>
                    <a:pt x="2689" y="8696"/>
                    <a:pt x="2868" y="8620"/>
                    <a:pt x="2991" y="8482"/>
                  </a:cubicBezTo>
                  <a:cubicBezTo>
                    <a:pt x="3125" y="8356"/>
                    <a:pt x="3202" y="8179"/>
                    <a:pt x="3202" y="7996"/>
                  </a:cubicBezTo>
                  <a:cubicBezTo>
                    <a:pt x="3202" y="7812"/>
                    <a:pt x="3125" y="7636"/>
                    <a:pt x="2991" y="7510"/>
                  </a:cubicBezTo>
                  <a:cubicBezTo>
                    <a:pt x="2864" y="7376"/>
                    <a:pt x="2687" y="7301"/>
                    <a:pt x="2502" y="7301"/>
                  </a:cubicBezTo>
                  <a:cubicBezTo>
                    <a:pt x="2316" y="7301"/>
                    <a:pt x="2140" y="7376"/>
                    <a:pt x="2012" y="7510"/>
                  </a:cubicBezTo>
                  <a:cubicBezTo>
                    <a:pt x="1878" y="7636"/>
                    <a:pt x="1802" y="7812"/>
                    <a:pt x="1802" y="7996"/>
                  </a:cubicBezTo>
                  <a:cubicBezTo>
                    <a:pt x="1802" y="8179"/>
                    <a:pt x="1878" y="8356"/>
                    <a:pt x="2012" y="8482"/>
                  </a:cubicBezTo>
                  <a:cubicBezTo>
                    <a:pt x="2137" y="8621"/>
                    <a:pt x="2317" y="8697"/>
                    <a:pt x="2504" y="8691"/>
                  </a:cubicBezTo>
                  <a:close/>
                  <a:moveTo>
                    <a:pt x="2504" y="6606"/>
                  </a:moveTo>
                  <a:cubicBezTo>
                    <a:pt x="2689" y="6611"/>
                    <a:pt x="2868" y="6535"/>
                    <a:pt x="2991" y="6398"/>
                  </a:cubicBezTo>
                  <a:cubicBezTo>
                    <a:pt x="3118" y="6267"/>
                    <a:pt x="3193" y="6095"/>
                    <a:pt x="3202" y="5912"/>
                  </a:cubicBezTo>
                  <a:cubicBezTo>
                    <a:pt x="3194" y="5730"/>
                    <a:pt x="3119" y="5557"/>
                    <a:pt x="2991" y="5426"/>
                  </a:cubicBezTo>
                  <a:cubicBezTo>
                    <a:pt x="2864" y="5292"/>
                    <a:pt x="2687" y="5217"/>
                    <a:pt x="2502" y="5217"/>
                  </a:cubicBezTo>
                  <a:cubicBezTo>
                    <a:pt x="2316" y="5217"/>
                    <a:pt x="2139" y="5292"/>
                    <a:pt x="2012" y="5426"/>
                  </a:cubicBezTo>
                  <a:cubicBezTo>
                    <a:pt x="1885" y="5557"/>
                    <a:pt x="1810" y="5730"/>
                    <a:pt x="1802" y="5912"/>
                  </a:cubicBezTo>
                  <a:cubicBezTo>
                    <a:pt x="1810" y="6095"/>
                    <a:pt x="1884" y="6267"/>
                    <a:pt x="2012" y="6398"/>
                  </a:cubicBezTo>
                  <a:cubicBezTo>
                    <a:pt x="2137" y="6536"/>
                    <a:pt x="2317" y="6612"/>
                    <a:pt x="2504" y="6606"/>
                  </a:cubicBezTo>
                  <a:close/>
                  <a:moveTo>
                    <a:pt x="5646" y="8691"/>
                  </a:moveTo>
                  <a:cubicBezTo>
                    <a:pt x="5929" y="8695"/>
                    <a:pt x="6185" y="8526"/>
                    <a:pt x="6294" y="8265"/>
                  </a:cubicBezTo>
                  <a:cubicBezTo>
                    <a:pt x="6401" y="8005"/>
                    <a:pt x="6339" y="7705"/>
                    <a:pt x="6136" y="7510"/>
                  </a:cubicBezTo>
                  <a:cubicBezTo>
                    <a:pt x="6009" y="7376"/>
                    <a:pt x="5831" y="7301"/>
                    <a:pt x="5646" y="7301"/>
                  </a:cubicBezTo>
                  <a:cubicBezTo>
                    <a:pt x="5461" y="7301"/>
                    <a:pt x="5284" y="7376"/>
                    <a:pt x="5156" y="7510"/>
                  </a:cubicBezTo>
                  <a:cubicBezTo>
                    <a:pt x="5023" y="7636"/>
                    <a:pt x="4946" y="7812"/>
                    <a:pt x="4946" y="7996"/>
                  </a:cubicBezTo>
                  <a:cubicBezTo>
                    <a:pt x="4946" y="8179"/>
                    <a:pt x="5023" y="8356"/>
                    <a:pt x="5156" y="8482"/>
                  </a:cubicBezTo>
                  <a:cubicBezTo>
                    <a:pt x="5281" y="8621"/>
                    <a:pt x="5461" y="8696"/>
                    <a:pt x="5646" y="8691"/>
                  </a:cubicBezTo>
                  <a:close/>
                  <a:moveTo>
                    <a:pt x="5646" y="6606"/>
                  </a:moveTo>
                  <a:cubicBezTo>
                    <a:pt x="6030" y="6598"/>
                    <a:pt x="6339" y="6292"/>
                    <a:pt x="6349" y="5912"/>
                  </a:cubicBezTo>
                  <a:cubicBezTo>
                    <a:pt x="6340" y="5730"/>
                    <a:pt x="6267" y="5557"/>
                    <a:pt x="6139" y="5426"/>
                  </a:cubicBezTo>
                  <a:cubicBezTo>
                    <a:pt x="6012" y="5292"/>
                    <a:pt x="5834" y="5217"/>
                    <a:pt x="5649" y="5217"/>
                  </a:cubicBezTo>
                  <a:cubicBezTo>
                    <a:pt x="5464" y="5217"/>
                    <a:pt x="5288" y="5292"/>
                    <a:pt x="5159" y="5426"/>
                  </a:cubicBezTo>
                  <a:cubicBezTo>
                    <a:pt x="5032" y="5557"/>
                    <a:pt x="4958" y="5730"/>
                    <a:pt x="4949" y="5912"/>
                  </a:cubicBezTo>
                  <a:cubicBezTo>
                    <a:pt x="4957" y="6093"/>
                    <a:pt x="5029" y="6266"/>
                    <a:pt x="5154" y="6398"/>
                  </a:cubicBezTo>
                  <a:cubicBezTo>
                    <a:pt x="5280" y="6536"/>
                    <a:pt x="5460" y="6612"/>
                    <a:pt x="5646" y="6606"/>
                  </a:cubicBezTo>
                  <a:close/>
                  <a:moveTo>
                    <a:pt x="8630" y="8691"/>
                  </a:moveTo>
                  <a:cubicBezTo>
                    <a:pt x="8817" y="8696"/>
                    <a:pt x="8995" y="8620"/>
                    <a:pt x="9120" y="8482"/>
                  </a:cubicBezTo>
                  <a:cubicBezTo>
                    <a:pt x="9254" y="8356"/>
                    <a:pt x="9330" y="8179"/>
                    <a:pt x="9330" y="7996"/>
                  </a:cubicBezTo>
                  <a:cubicBezTo>
                    <a:pt x="9330" y="7812"/>
                    <a:pt x="9254" y="7636"/>
                    <a:pt x="9120" y="7510"/>
                  </a:cubicBezTo>
                  <a:cubicBezTo>
                    <a:pt x="8993" y="7376"/>
                    <a:pt x="8815" y="7301"/>
                    <a:pt x="8630" y="7301"/>
                  </a:cubicBezTo>
                  <a:cubicBezTo>
                    <a:pt x="8445" y="7301"/>
                    <a:pt x="8268" y="7376"/>
                    <a:pt x="8140" y="7510"/>
                  </a:cubicBezTo>
                  <a:cubicBezTo>
                    <a:pt x="8003" y="7633"/>
                    <a:pt x="7925" y="7811"/>
                    <a:pt x="7930" y="7996"/>
                  </a:cubicBezTo>
                  <a:cubicBezTo>
                    <a:pt x="7939" y="8178"/>
                    <a:pt x="8013" y="8351"/>
                    <a:pt x="8140" y="8482"/>
                  </a:cubicBezTo>
                  <a:cubicBezTo>
                    <a:pt x="8265" y="8620"/>
                    <a:pt x="8444" y="8696"/>
                    <a:pt x="8630" y="8691"/>
                  </a:cubicBezTo>
                  <a:close/>
                  <a:moveTo>
                    <a:pt x="8630" y="6606"/>
                  </a:moveTo>
                  <a:cubicBezTo>
                    <a:pt x="9013" y="6597"/>
                    <a:pt x="9320" y="6291"/>
                    <a:pt x="9329" y="5912"/>
                  </a:cubicBezTo>
                  <a:cubicBezTo>
                    <a:pt x="9320" y="5730"/>
                    <a:pt x="9247" y="5557"/>
                    <a:pt x="9119" y="5426"/>
                  </a:cubicBezTo>
                  <a:cubicBezTo>
                    <a:pt x="8992" y="5292"/>
                    <a:pt x="8814" y="5217"/>
                    <a:pt x="8629" y="5217"/>
                  </a:cubicBezTo>
                  <a:cubicBezTo>
                    <a:pt x="8444" y="5217"/>
                    <a:pt x="8267" y="5292"/>
                    <a:pt x="8139" y="5426"/>
                  </a:cubicBezTo>
                  <a:cubicBezTo>
                    <a:pt x="8013" y="5557"/>
                    <a:pt x="7938" y="5730"/>
                    <a:pt x="7929" y="5912"/>
                  </a:cubicBezTo>
                  <a:cubicBezTo>
                    <a:pt x="7938" y="6095"/>
                    <a:pt x="8012" y="6267"/>
                    <a:pt x="8139" y="6398"/>
                  </a:cubicBezTo>
                  <a:cubicBezTo>
                    <a:pt x="8265" y="6536"/>
                    <a:pt x="8444" y="6612"/>
                    <a:pt x="8630" y="6606"/>
                  </a:cubicBezTo>
                  <a:close/>
                  <a:moveTo>
                    <a:pt x="8630" y="660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Regular" charset="-122"/>
                <a:ea typeface="思源黑体 CN Regular" charset="-122"/>
                <a:cs typeface="思源黑体 CN Regular" charset="-122"/>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Regular" charset="-122"/>
          <a:ea typeface="思源黑体 CN Regular" charset="-122"/>
          <a:cs typeface="思源黑体 CN Regular" charset="-122"/>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思源黑体 CN Regular" charset="-122"/>
          <a:ea typeface="思源黑体 CN Regular" charset="-122"/>
          <a:cs typeface="思源黑体 CN Regular" charset="-122"/>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思源黑体 CN Regular" charset="-122"/>
          <a:ea typeface="思源黑体 CN Regular" charset="-122"/>
          <a:cs typeface="思源黑体 CN Regular" charset="-122"/>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思源黑体 CN Regular" charset="-122"/>
          <a:ea typeface="思源黑体 CN Regular" charset="-122"/>
          <a:cs typeface="思源黑体 CN Regular" charset="-122"/>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思源黑体 CN Regular" charset="-122"/>
          <a:ea typeface="思源黑体 CN Regular" charset="-122"/>
          <a:cs typeface="思源黑体 CN Regular" charset="-122"/>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思源黑体 CN Regular" charset="-122"/>
          <a:ea typeface="思源黑体 CN Regular" charset="-122"/>
          <a:cs typeface="思源黑体 CN Regular"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notesSlide" Target="../notesSlides/notesSlide2.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Layout" Target="../slideLayouts/slideLayout1.xml"/><Relationship Id="rId2" Type="http://schemas.openxmlformats.org/officeDocument/2006/relationships/tags" Target="../tags/tag4.xml"/><Relationship Id="rId16" Type="http://schemas.openxmlformats.org/officeDocument/2006/relationships/tags" Target="../tags/tag1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19" Type="http://schemas.openxmlformats.org/officeDocument/2006/relationships/image" Target="../media/image1.png"/><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9.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0.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2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25.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28.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3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33.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34.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35.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3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3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38.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39.xml"/><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40.xml"/><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4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4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27.xml"/><Relationship Id="rId7"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44.xml"/><Relationship Id="rId5" Type="http://schemas.openxmlformats.org/officeDocument/2006/relationships/image" Target="../media/image1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45.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4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47.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4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notesSlide" Target="../notesSlides/notesSlide33.xml"/><Relationship Id="rId7" Type="http://schemas.openxmlformats.org/officeDocument/2006/relationships/image" Target="../media/image20.png"/><Relationship Id="rId2" Type="http://schemas.openxmlformats.org/officeDocument/2006/relationships/slideLayout" Target="../slideLayouts/slideLayout1.xml"/><Relationship Id="rId1" Type="http://schemas.openxmlformats.org/officeDocument/2006/relationships/tags" Target="../tags/tag49.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120.png"/><Relationship Id="rId4" Type="http://schemas.openxmlformats.org/officeDocument/2006/relationships/image" Target="../media/image61.png"/><Relationship Id="rId9" Type="http://schemas.openxmlformats.org/officeDocument/2006/relationships/image" Target="../media/image11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ags" Target="../tags/tag50.xml"/><Relationship Id="rId5" Type="http://schemas.openxmlformats.org/officeDocument/2006/relationships/image" Target="../media/image140.png"/><Relationship Id="rId4" Type="http://schemas.openxmlformats.org/officeDocument/2006/relationships/image" Target="../media/image13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24.png"/><Relationship Id="rId2" Type="http://schemas.openxmlformats.org/officeDocument/2006/relationships/slideLayout" Target="../slideLayouts/slideLayout1.xml"/><Relationship Id="rId1" Type="http://schemas.openxmlformats.org/officeDocument/2006/relationships/tags" Target="../tags/tag5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矩形 16"/>
          <p:cNvSpPr/>
          <p:nvPr/>
        </p:nvSpPr>
        <p:spPr>
          <a:xfrm>
            <a:off x="1621753" y="3328538"/>
            <a:ext cx="8948494" cy="671594"/>
          </a:xfrm>
          <a:prstGeom prst="rect">
            <a:avLst/>
          </a:prstGeom>
        </p:spPr>
        <p:txBody>
          <a:bodyPr wrap="square">
            <a:spAutoFit/>
          </a:bodyPr>
          <a:lstStyle/>
          <a:p>
            <a:pPr algn="ctr">
              <a:lnSpc>
                <a:spcPct val="150000"/>
              </a:lnSpc>
              <a:defRPr/>
            </a:pPr>
            <a:r>
              <a:rPr lang="zh-CN" altLang="en-US" sz="2800" b="1" dirty="0">
                <a:solidFill>
                  <a:schemeClr val="tx1">
                    <a:lumMod val="85000"/>
                    <a:lumOff val="15000"/>
                  </a:schemeClr>
                </a:solidFill>
                <a:latin typeface="思源黑体 CN Regular" charset="-122"/>
                <a:ea typeface="思源黑体 CN Regular" charset="-122"/>
                <a:cs typeface="+mn-ea"/>
                <a:sym typeface="Arial" panose="020B0604020202090204" pitchFamily="34" charset="0"/>
              </a:rPr>
              <a:t>第十章</a:t>
            </a:r>
            <a:r>
              <a:rPr lang="en-US" altLang="zh-CN" sz="2800" b="1" dirty="0">
                <a:solidFill>
                  <a:schemeClr val="tx1">
                    <a:lumMod val="85000"/>
                    <a:lumOff val="15000"/>
                  </a:schemeClr>
                </a:solidFill>
                <a:latin typeface="思源黑体 CN Regular" charset="-122"/>
                <a:ea typeface="思源黑体 CN Regular" charset="-122"/>
                <a:cs typeface="+mn-ea"/>
                <a:sym typeface="Arial" panose="020B0604020202090204" pitchFamily="34" charset="0"/>
              </a:rPr>
              <a:t>    </a:t>
            </a:r>
            <a:r>
              <a:rPr lang="zh-CN" altLang="en-US" sz="2800" b="1" dirty="0">
                <a:solidFill>
                  <a:schemeClr val="tx1">
                    <a:lumMod val="85000"/>
                    <a:lumOff val="15000"/>
                  </a:schemeClr>
                </a:solidFill>
                <a:latin typeface="思源黑体 CN Regular" charset="-122"/>
                <a:ea typeface="思源黑体 CN Regular" charset="-122"/>
                <a:cs typeface="+mn-ea"/>
                <a:sym typeface="Arial" panose="020B0604020202090204" pitchFamily="34" charset="0"/>
              </a:rPr>
              <a:t>专家先验驱动交互</a:t>
            </a:r>
          </a:p>
        </p:txBody>
      </p:sp>
      <p:sp>
        <p:nvSpPr>
          <p:cNvPr id="18" name="矩形: 圆角 17"/>
          <p:cNvSpPr/>
          <p:nvPr/>
        </p:nvSpPr>
        <p:spPr>
          <a:xfrm>
            <a:off x="5300967" y="4544842"/>
            <a:ext cx="1590066" cy="412455"/>
          </a:xfrm>
          <a:prstGeom prst="roundRect">
            <a:avLst>
              <a:gd name="adj" fmla="val 50000"/>
            </a:avLst>
          </a:prstGeom>
          <a:solidFill>
            <a:srgbClr val="006FAE"/>
          </a:solidFill>
          <a:ln w="28575"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51435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思源黑体 CN Regular" charset="-122"/>
                <a:ea typeface="思源黑体 CN Regular" charset="-122"/>
                <a:cs typeface="+mn-ea"/>
                <a:sym typeface="Arial" panose="020B0604020202090204" pitchFamily="34" charset="0"/>
              </a:rPr>
              <a:t>主讲人：</a:t>
            </a:r>
            <a:r>
              <a:rPr lang="zh-CN" altLang="en-US" sz="1400" dirty="0">
                <a:solidFill>
                  <a:schemeClr val="bg1"/>
                </a:solidFill>
                <a:latin typeface="思源黑体 CN Regular" charset="-122"/>
                <a:ea typeface="思源黑体 CN Regular" charset="-122"/>
                <a:cs typeface="+mn-ea"/>
                <a:sym typeface="Arial" panose="020B0604020202090204" pitchFamily="34" charset="0"/>
              </a:rPr>
              <a:t>陈宇飞</a:t>
            </a:r>
            <a:endParaRPr kumimoji="0" lang="zh-CN" altLang="en-US" sz="1400" b="0" i="0" u="none" strike="noStrike" kern="1200" cap="none" spc="0" normalizeH="0" baseline="0" noProof="0" dirty="0">
              <a:ln>
                <a:noFill/>
              </a:ln>
              <a:solidFill>
                <a:schemeClr val="bg1"/>
              </a:solidFill>
              <a:effectLst/>
              <a:uLnTx/>
              <a:uFillTx/>
              <a:latin typeface="思源黑体 CN Regular" charset="-122"/>
              <a:ea typeface="思源黑体 CN Regular" charset="-122"/>
              <a:cs typeface="+mn-ea"/>
              <a:sym typeface="Arial" panose="020B0604020202090204" pitchFamily="34" charset="0"/>
            </a:endParaRPr>
          </a:p>
        </p:txBody>
      </p:sp>
      <p:sp>
        <p:nvSpPr>
          <p:cNvPr id="19" name="矩形 18"/>
          <p:cNvSpPr/>
          <p:nvPr/>
        </p:nvSpPr>
        <p:spPr>
          <a:xfrm>
            <a:off x="2912110" y="2776220"/>
            <a:ext cx="6367780" cy="368300"/>
          </a:xfrm>
          <a:prstGeom prst="rect">
            <a:avLst/>
          </a:prstGeom>
        </p:spPr>
        <p:txBody>
          <a:bodyPr wrap="square">
            <a:spAutoFit/>
          </a:bodyPr>
          <a:lstStyle/>
          <a:p>
            <a:pPr algn="dist"/>
            <a:r>
              <a:rPr lang="en-US" altLang="zh-CN" dirty="0">
                <a:latin typeface="思源黑体 CN Regular" charset="-122"/>
                <a:ea typeface="思源黑体 CN Regular" charset="-122"/>
                <a:cs typeface="思源黑体 CN Regular" charset="-122"/>
                <a:sym typeface="Arial" panose="020B0604020202090204" pitchFamily="34" charset="0"/>
              </a:rPr>
              <a:t>Pattern Recognition and Data Mining</a:t>
            </a:r>
          </a:p>
        </p:txBody>
      </p:sp>
      <p:sp>
        <p:nvSpPr>
          <p:cNvPr id="28" name="矩形 27"/>
          <p:cNvSpPr/>
          <p:nvPr/>
        </p:nvSpPr>
        <p:spPr>
          <a:xfrm>
            <a:off x="1520327" y="1743492"/>
            <a:ext cx="9151347" cy="1106805"/>
          </a:xfrm>
          <a:prstGeom prst="rect">
            <a:avLst/>
          </a:prstGeom>
        </p:spPr>
        <p:txBody>
          <a:bodyPr wrap="square">
            <a:spAutoFit/>
          </a:bodyPr>
          <a:lstStyle/>
          <a:p>
            <a:pPr algn="ctr"/>
            <a:r>
              <a:rPr lang="zh-CN" altLang="en-US" sz="6600" dirty="0">
                <a:solidFill>
                  <a:srgbClr val="00568A"/>
                </a:solidFill>
                <a:latin typeface="思源黑体 CN Regular" charset="-122"/>
                <a:ea typeface="思源黑体 CN Regular" charset="-122"/>
                <a:cs typeface="+mn-ea"/>
                <a:sym typeface="+mn-lt"/>
              </a:rPr>
              <a:t>模式识别与数据挖掘</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12192000" cy="6858000"/>
            <a:chOff x="0" y="0"/>
            <a:chExt cx="12192000" cy="6858000"/>
          </a:xfrm>
        </p:grpSpPr>
        <p:pic>
          <p:nvPicPr>
            <p:cNvPr id="4" name="图片 3"/>
            <p:cNvPicPr>
              <a:picLocks noChangeAspect="1"/>
            </p:cNvPicPr>
            <p:nvPr/>
          </p:nvPicPr>
          <p:blipFill rotWithShape="1">
            <a:blip r:embed="rId19">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9">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grpSp>
        <p:nvGrpSpPr>
          <p:cNvPr id="29" name="组合 28"/>
          <p:cNvGrpSpPr/>
          <p:nvPr/>
        </p:nvGrpSpPr>
        <p:grpSpPr>
          <a:xfrm>
            <a:off x="1001337" y="2483266"/>
            <a:ext cx="2462530" cy="1322704"/>
            <a:chOff x="1873898" y="1323128"/>
            <a:chExt cx="1670063" cy="897045"/>
          </a:xfrm>
        </p:grpSpPr>
        <p:sp>
          <p:nvSpPr>
            <p:cNvPr id="30" name="椭圆 29"/>
            <p:cNvSpPr/>
            <p:nvPr/>
          </p:nvSpPr>
          <p:spPr>
            <a:xfrm>
              <a:off x="2123668"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charset="-122"/>
                  <a:ea typeface="思源黑体 CN Regular" charset="-122"/>
                  <a:cs typeface="+mn-ea"/>
                  <a:sym typeface="Arial" panose="020B0604020202090204" pitchFamily="34" charset="0"/>
                </a:rPr>
                <a:t>目</a:t>
              </a:r>
            </a:p>
          </p:txBody>
        </p:sp>
        <p:sp>
          <p:nvSpPr>
            <p:cNvPr id="31" name="椭圆 30"/>
            <p:cNvSpPr/>
            <p:nvPr/>
          </p:nvSpPr>
          <p:spPr>
            <a:xfrm>
              <a:off x="2636020"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charset="-122"/>
                  <a:ea typeface="思源黑体 CN Regular" charset="-122"/>
                  <a:cs typeface="+mn-ea"/>
                  <a:sym typeface="Arial" panose="020B0604020202090204" pitchFamily="34" charset="0"/>
                </a:rPr>
                <a:t>录</a:t>
              </a:r>
            </a:p>
          </p:txBody>
        </p:sp>
        <p:sp>
          <p:nvSpPr>
            <p:cNvPr id="32" name="矩形 31"/>
            <p:cNvSpPr/>
            <p:nvPr/>
          </p:nvSpPr>
          <p:spPr>
            <a:xfrm>
              <a:off x="1873898" y="1740859"/>
              <a:ext cx="1670063" cy="479314"/>
            </a:xfrm>
            <a:prstGeom prst="rect">
              <a:avLst/>
            </a:prstGeom>
          </p:spPr>
          <p:txBody>
            <a:bodyPr vert="horz" wrap="square">
              <a:spAutoFit/>
            </a:bodyPr>
            <a:lstStyle/>
            <a:p>
              <a:r>
                <a:rPr lang="zh-CN" altLang="en-US" sz="4000" dirty="0">
                  <a:solidFill>
                    <a:schemeClr val="tx1">
                      <a:lumMod val="85000"/>
                      <a:lumOff val="15000"/>
                    </a:schemeClr>
                  </a:solidFill>
                  <a:latin typeface="思源黑体 CN Regular" charset="-122"/>
                  <a:ea typeface="思源黑体 CN Regular" charset="-122"/>
                  <a:cs typeface="+mn-ea"/>
                  <a:sym typeface="Arial" panose="020B0604020202090204" pitchFamily="34" charset="0"/>
                </a:rPr>
                <a:t>Contents</a:t>
              </a:r>
            </a:p>
          </p:txBody>
        </p:sp>
      </p:grpSp>
      <p:sp>
        <p:nvSpPr>
          <p:cNvPr id="33" name="文本框"/>
          <p:cNvSpPr/>
          <p:nvPr>
            <p:custDataLst>
              <p:tags r:id="rId2"/>
            </p:custDataLst>
          </p:nvPr>
        </p:nvSpPr>
        <p:spPr>
          <a:xfrm>
            <a:off x="4446905" y="820420"/>
            <a:ext cx="3765608" cy="521970"/>
          </a:xfrm>
          <a:prstGeom prst="rect">
            <a:avLst/>
          </a:prstGeom>
        </p:spPr>
        <p:txBody>
          <a:bodyPr wrap="square">
            <a:spAutoFit/>
          </a:bodyPr>
          <a:lstStyle/>
          <a:p>
            <a:pPr lvl="0" algn="l">
              <a:buClrTx/>
              <a:buSzTx/>
              <a:buFontTx/>
            </a:pPr>
            <a:r>
              <a:rPr lang="zh-CN" altLang="en-US" sz="2800" b="1" dirty="0">
                <a:solidFill>
                  <a:schemeClr val="tx1">
                    <a:lumMod val="85000"/>
                    <a:lumOff val="15000"/>
                  </a:schemeClr>
                </a:solidFill>
                <a:latin typeface="思源黑体 CN Regular" charset="-122"/>
                <a:ea typeface="思源黑体 CN Regular" charset="-122"/>
                <a:cs typeface="+mn-ea"/>
                <a:sym typeface="Arial" panose="020B0604020202090204" pitchFamily="34" charset="0"/>
              </a:rPr>
              <a:t>模型可解释性</a:t>
            </a:r>
          </a:p>
        </p:txBody>
      </p:sp>
      <p:sp>
        <p:nvSpPr>
          <p:cNvPr id="34" name="矩形 33"/>
          <p:cNvSpPr/>
          <p:nvPr>
            <p:custDataLst>
              <p:tags r:id="rId3"/>
            </p:custDataLst>
          </p:nvPr>
        </p:nvSpPr>
        <p:spPr>
          <a:xfrm flipH="1">
            <a:off x="4446905" y="1251288"/>
            <a:ext cx="3550472" cy="28527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charset="-122"/>
                <a:ea typeface="思源黑体 CN Regular" charset="-122"/>
                <a:cs typeface="+mn-ea"/>
                <a:sym typeface="Arial" panose="020B0604020202090204" pitchFamily="34" charset="0"/>
              </a:rPr>
              <a:t>Model Interpretability</a:t>
            </a:r>
          </a:p>
        </p:txBody>
      </p:sp>
      <p:sp>
        <p:nvSpPr>
          <p:cNvPr id="35" name="文本框"/>
          <p:cNvSpPr/>
          <p:nvPr>
            <p:custDataLst>
              <p:tags r:id="rId4"/>
            </p:custDataLst>
          </p:nvPr>
        </p:nvSpPr>
        <p:spPr>
          <a:xfrm>
            <a:off x="4446905" y="1921531"/>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charset="-122"/>
                <a:ea typeface="思源黑体 CN Regular" charset="-122"/>
                <a:cs typeface="+mn-ea"/>
                <a:sym typeface="Arial" panose="020B0604020202090204" pitchFamily="34" charset="0"/>
              </a:rPr>
              <a:t>先验知识表示方法</a:t>
            </a:r>
          </a:p>
        </p:txBody>
      </p:sp>
      <p:sp>
        <p:nvSpPr>
          <p:cNvPr id="36" name="矩形 35"/>
          <p:cNvSpPr/>
          <p:nvPr>
            <p:custDataLst>
              <p:tags r:id="rId5"/>
            </p:custDataLst>
          </p:nvPr>
        </p:nvSpPr>
        <p:spPr>
          <a:xfrm flipH="1">
            <a:off x="4446905" y="2352399"/>
            <a:ext cx="3550472" cy="28527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charset="-122"/>
                <a:ea typeface="思源黑体 CN Regular" charset="-122"/>
                <a:cs typeface="+mn-ea"/>
                <a:sym typeface="Arial" panose="020B0604020202090204" pitchFamily="34" charset="0"/>
              </a:rPr>
              <a:t>Prior Knowledge Representation</a:t>
            </a:r>
          </a:p>
        </p:txBody>
      </p:sp>
      <p:sp>
        <p:nvSpPr>
          <p:cNvPr id="37" name="文本框"/>
          <p:cNvSpPr/>
          <p:nvPr>
            <p:custDataLst>
              <p:tags r:id="rId6"/>
            </p:custDataLst>
          </p:nvPr>
        </p:nvSpPr>
        <p:spPr>
          <a:xfrm>
            <a:off x="4446905" y="302264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charset="-122"/>
                <a:ea typeface="思源黑体 CN Regular" charset="-122"/>
                <a:cs typeface="+mn-ea"/>
                <a:sym typeface="Arial" panose="020B0604020202090204" pitchFamily="34" charset="0"/>
              </a:rPr>
              <a:t>先验知识融入策略</a:t>
            </a:r>
          </a:p>
        </p:txBody>
      </p:sp>
      <p:sp>
        <p:nvSpPr>
          <p:cNvPr id="38" name="矩形 37"/>
          <p:cNvSpPr/>
          <p:nvPr>
            <p:custDataLst>
              <p:tags r:id="rId7"/>
            </p:custDataLst>
          </p:nvPr>
        </p:nvSpPr>
        <p:spPr>
          <a:xfrm flipH="1">
            <a:off x="4446905" y="3453510"/>
            <a:ext cx="3550472" cy="28527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charset="-122"/>
                <a:ea typeface="思源黑体 CN Regular" charset="-122"/>
                <a:cs typeface="+mn-ea"/>
                <a:sym typeface="Arial" panose="020B0604020202090204" pitchFamily="34" charset="0"/>
              </a:rPr>
              <a:t>Prior Knowledge Integration</a:t>
            </a:r>
          </a:p>
        </p:txBody>
      </p:sp>
      <p:sp>
        <p:nvSpPr>
          <p:cNvPr id="39" name="文本框"/>
          <p:cNvSpPr/>
          <p:nvPr>
            <p:custDataLst>
              <p:tags r:id="rId8"/>
            </p:custDataLst>
          </p:nvPr>
        </p:nvSpPr>
        <p:spPr>
          <a:xfrm>
            <a:off x="4446905" y="412375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charset="-122"/>
                <a:ea typeface="思源黑体 CN Regular" charset="-122"/>
                <a:cs typeface="+mn-ea"/>
                <a:sym typeface="Arial" panose="020B0604020202090204" pitchFamily="34" charset="0"/>
              </a:rPr>
              <a:t>模型评估指标</a:t>
            </a:r>
          </a:p>
        </p:txBody>
      </p:sp>
      <p:sp>
        <p:nvSpPr>
          <p:cNvPr id="40" name="矩形 39"/>
          <p:cNvSpPr/>
          <p:nvPr>
            <p:custDataLst>
              <p:tags r:id="rId9"/>
            </p:custDataLst>
          </p:nvPr>
        </p:nvSpPr>
        <p:spPr>
          <a:xfrm flipH="1">
            <a:off x="4446905" y="4554620"/>
            <a:ext cx="3550472" cy="28527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charset="-122"/>
                <a:ea typeface="思源黑体 CN Regular" charset="-122"/>
                <a:cs typeface="+mn-ea"/>
                <a:sym typeface="Arial" panose="020B0604020202090204" pitchFamily="34" charset="0"/>
              </a:rPr>
              <a:t>Model Evaluation Metrics</a:t>
            </a:r>
          </a:p>
        </p:txBody>
      </p:sp>
      <p:sp>
        <p:nvSpPr>
          <p:cNvPr id="41" name="椭圆 40"/>
          <p:cNvSpPr/>
          <p:nvPr>
            <p:custDataLst>
              <p:tags r:id="rId10"/>
            </p:custDataLst>
          </p:nvPr>
        </p:nvSpPr>
        <p:spPr>
          <a:xfrm>
            <a:off x="3650874" y="82042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charset="-122"/>
                <a:ea typeface="思源黑体 CN Regular" charset="-122"/>
                <a:cs typeface="思源黑体 CN Regular" charset="-122"/>
                <a:sym typeface="Arial" panose="020B0604020202090204" pitchFamily="34" charset="0"/>
              </a:rPr>
              <a:t>01</a:t>
            </a:r>
            <a:endParaRPr lang="zh-CN" altLang="en-US"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
        <p:nvSpPr>
          <p:cNvPr id="42" name="椭圆 41"/>
          <p:cNvSpPr/>
          <p:nvPr>
            <p:custDataLst>
              <p:tags r:id="rId11"/>
            </p:custDataLst>
          </p:nvPr>
        </p:nvSpPr>
        <p:spPr>
          <a:xfrm>
            <a:off x="3650874" y="192153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charset="-122"/>
                <a:ea typeface="思源黑体 CN Regular" charset="-122"/>
                <a:cs typeface="思源黑体 CN Regular" charset="-122"/>
                <a:sym typeface="Arial" panose="020B0604020202090204" pitchFamily="34" charset="0"/>
              </a:rPr>
              <a:t>02</a:t>
            </a:r>
            <a:endParaRPr lang="zh-CN" altLang="en-US"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
        <p:nvSpPr>
          <p:cNvPr id="43" name="椭圆 42"/>
          <p:cNvSpPr/>
          <p:nvPr>
            <p:custDataLst>
              <p:tags r:id="rId12"/>
            </p:custDataLst>
          </p:nvPr>
        </p:nvSpPr>
        <p:spPr>
          <a:xfrm>
            <a:off x="3650874" y="302264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charset="-122"/>
                <a:ea typeface="思源黑体 CN Regular" charset="-122"/>
                <a:cs typeface="思源黑体 CN Regular" charset="-122"/>
                <a:sym typeface="Arial" panose="020B0604020202090204" pitchFamily="34" charset="0"/>
              </a:rPr>
              <a:t>03</a:t>
            </a:r>
            <a:endParaRPr lang="zh-CN" altLang="en-US"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
        <p:nvSpPr>
          <p:cNvPr id="44" name="椭圆 43"/>
          <p:cNvSpPr/>
          <p:nvPr>
            <p:custDataLst>
              <p:tags r:id="rId13"/>
            </p:custDataLst>
          </p:nvPr>
        </p:nvSpPr>
        <p:spPr>
          <a:xfrm>
            <a:off x="3650874" y="412375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charset="-122"/>
                <a:ea typeface="思源黑体 CN Regular" charset="-122"/>
                <a:cs typeface="思源黑体 CN Regular" charset="-122"/>
                <a:sym typeface="Arial" panose="020B0604020202090204" pitchFamily="34" charset="0"/>
              </a:rPr>
              <a:t>04</a:t>
            </a:r>
            <a:endParaRPr lang="zh-CN" altLang="en-US"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
        <p:nvSpPr>
          <p:cNvPr id="16" name="文本框"/>
          <p:cNvSpPr/>
          <p:nvPr>
            <p:custDataLst>
              <p:tags r:id="rId14"/>
            </p:custDataLst>
          </p:nvPr>
        </p:nvSpPr>
        <p:spPr>
          <a:xfrm>
            <a:off x="4446904" y="5199780"/>
            <a:ext cx="7678039" cy="523220"/>
          </a:xfrm>
          <a:prstGeom prst="rect">
            <a:avLst/>
          </a:prstGeom>
        </p:spPr>
        <p:txBody>
          <a:bodyPr wrap="square">
            <a:spAutoFit/>
          </a:bodyPr>
          <a:lstStyle/>
          <a:p>
            <a:pPr lvl="0" algn="l">
              <a:buClrTx/>
              <a:buSzTx/>
              <a:buFontTx/>
            </a:pPr>
            <a:r>
              <a:rPr lang="zh-CN" altLang="en-US" sz="2800" b="1" dirty="0">
                <a:solidFill>
                  <a:schemeClr val="tx1">
                    <a:lumMod val="85000"/>
                    <a:lumOff val="15000"/>
                  </a:schemeClr>
                </a:solidFill>
                <a:latin typeface="思源黑体 CN Regular" charset="-122"/>
                <a:ea typeface="思源黑体 CN Regular" charset="-122"/>
                <a:cs typeface="+mn-ea"/>
                <a:sym typeface="Arial" panose="020B0604020202090204" pitchFamily="34" charset="0"/>
              </a:rPr>
              <a:t>应用案例：医学管状分割模型的先验知识融入</a:t>
            </a:r>
          </a:p>
        </p:txBody>
      </p:sp>
      <p:sp>
        <p:nvSpPr>
          <p:cNvPr id="17" name="矩形 16"/>
          <p:cNvSpPr/>
          <p:nvPr>
            <p:custDataLst>
              <p:tags r:id="rId15"/>
            </p:custDataLst>
          </p:nvPr>
        </p:nvSpPr>
        <p:spPr>
          <a:xfrm flipH="1">
            <a:off x="4446905" y="5630648"/>
            <a:ext cx="3550472" cy="285271"/>
          </a:xfrm>
          <a:prstGeom prst="rect">
            <a:avLst/>
          </a:prstGeom>
        </p:spPr>
        <p:txBody>
          <a:bodyPr wrap="square">
            <a:spAutoFit/>
          </a:bodyPr>
          <a:lstStyle/>
          <a:p>
            <a:pPr lvl="0">
              <a:lnSpc>
                <a:spcPct val="130000"/>
              </a:lnSpc>
              <a:defRPr/>
            </a:pPr>
            <a:r>
              <a:rPr lang="en-US" altLang="zh-CN" sz="1050" noProof="0" dirty="0">
                <a:ln>
                  <a:noFill/>
                </a:ln>
                <a:solidFill>
                  <a:schemeClr val="tx1">
                    <a:lumMod val="85000"/>
                    <a:lumOff val="15000"/>
                  </a:schemeClr>
                </a:solidFill>
                <a:effectLst/>
                <a:uLnTx/>
                <a:uFillTx/>
                <a:latin typeface="思源黑体 CN Regular" charset="-122"/>
                <a:ea typeface="思源黑体 CN Regular" charset="-122"/>
                <a:cs typeface="+mn-ea"/>
                <a:sym typeface="Arial" panose="020B0604020202090204" pitchFamily="34" charset="0"/>
              </a:rPr>
              <a:t>Application Case</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charset="-122"/>
              <a:ea typeface="思源黑体 CN Regular" charset="-122"/>
              <a:cs typeface="+mn-ea"/>
              <a:sym typeface="Arial" panose="020B0604020202090204" pitchFamily="34" charset="0"/>
            </a:endParaRPr>
          </a:p>
        </p:txBody>
      </p:sp>
      <p:sp>
        <p:nvSpPr>
          <p:cNvPr id="18" name="椭圆 17"/>
          <p:cNvSpPr/>
          <p:nvPr>
            <p:custDataLst>
              <p:tags r:id="rId16"/>
            </p:custDataLst>
          </p:nvPr>
        </p:nvSpPr>
        <p:spPr>
          <a:xfrm>
            <a:off x="3650874" y="519978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charset="-122"/>
                <a:ea typeface="思源黑体 CN Regular" charset="-122"/>
                <a:cs typeface="思源黑体 CN Regular" charset="-122"/>
                <a:sym typeface="Arial" panose="020B0604020202090204" pitchFamily="34" charset="0"/>
              </a:rPr>
              <a:t>05</a:t>
            </a:r>
            <a:endParaRPr lang="zh-CN" altLang="en-US"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B913-85AF-79FF-0CA8-4FF87BB38309}"/>
            </a:ext>
          </a:extLst>
        </p:cNvPr>
        <p:cNvGrpSpPr/>
        <p:nvPr/>
      </p:nvGrpSpPr>
      <p:grpSpPr>
        <a:xfrm>
          <a:off x="0" y="0"/>
          <a:ext cx="0" cy="0"/>
          <a:chOff x="0" y="0"/>
          <a:chExt cx="0" cy="0"/>
        </a:xfrm>
      </p:grpSpPr>
      <p:grpSp>
        <p:nvGrpSpPr>
          <p:cNvPr id="5" name="组合 4">
            <a:extLst>
              <a:ext uri="{FF2B5EF4-FFF2-40B4-BE49-F238E27FC236}">
                <a16:creationId xmlns:a16="http://schemas.microsoft.com/office/drawing/2014/main" id="{6DF5F941-C288-F062-EE6A-52CE8AEA2D34}"/>
              </a:ext>
            </a:extLst>
          </p:cNvPr>
          <p:cNvGrpSpPr/>
          <p:nvPr/>
        </p:nvGrpSpPr>
        <p:grpSpPr>
          <a:xfrm rot="16200000">
            <a:off x="2667000" y="-2667000"/>
            <a:ext cx="6858000" cy="12192000"/>
            <a:chOff x="0" y="0"/>
            <a:chExt cx="12192000" cy="6858000"/>
          </a:xfrm>
        </p:grpSpPr>
        <p:pic>
          <p:nvPicPr>
            <p:cNvPr id="4" name="图片 3">
              <a:extLst>
                <a:ext uri="{FF2B5EF4-FFF2-40B4-BE49-F238E27FC236}">
                  <a16:creationId xmlns:a16="http://schemas.microsoft.com/office/drawing/2014/main" id="{4ABE3269-EFBA-035B-6249-37C4EF1DC40B}"/>
                </a:ext>
              </a:extLst>
            </p:cNvPr>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a:extLst>
                <a:ext uri="{FF2B5EF4-FFF2-40B4-BE49-F238E27FC236}">
                  <a16:creationId xmlns:a16="http://schemas.microsoft.com/office/drawing/2014/main" id="{50C8D52F-832B-8ED8-77F2-94FD700E9CD0}"/>
                </a:ext>
              </a:extLst>
            </p:cNvPr>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a:extLst>
              <a:ext uri="{FF2B5EF4-FFF2-40B4-BE49-F238E27FC236}">
                <a16:creationId xmlns:a16="http://schemas.microsoft.com/office/drawing/2014/main" id="{2F1377FB-02CE-A46A-6A04-0D1AEEC198B7}"/>
              </a:ext>
            </a:extLst>
          </p:cNvPr>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charset="-122"/>
                <a:ea typeface="思源黑体 CN Regular" charset="-122"/>
                <a:cs typeface="+mn-ea"/>
                <a:sym typeface="Arial" panose="020B0604020202090204" pitchFamily="34" charset="0"/>
              </a:rPr>
              <a:t>模型可解释性</a:t>
            </a:r>
          </a:p>
        </p:txBody>
      </p:sp>
      <p:sp>
        <p:nvSpPr>
          <p:cNvPr id="23" name="椭圆 22">
            <a:extLst>
              <a:ext uri="{FF2B5EF4-FFF2-40B4-BE49-F238E27FC236}">
                <a16:creationId xmlns:a16="http://schemas.microsoft.com/office/drawing/2014/main" id="{7DF94BC6-2D5E-E36E-7843-A7E2D343197F}"/>
              </a:ext>
            </a:extLst>
          </p:cNvPr>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charset="-122"/>
                <a:ea typeface="思源黑体 CN Regular" charset="-122"/>
                <a:cs typeface="思源黑体 CN Regular" charset="-122"/>
                <a:sym typeface="Arial" panose="020B0604020202090204" pitchFamily="34" charset="0"/>
              </a:rPr>
              <a:t>01</a:t>
            </a:r>
            <a:endParaRPr lang="zh-CN" altLang="en-US" sz="3200"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
        <p:nvSpPr>
          <p:cNvPr id="2" name="矩形 1">
            <a:extLst>
              <a:ext uri="{FF2B5EF4-FFF2-40B4-BE49-F238E27FC236}">
                <a16:creationId xmlns:a16="http://schemas.microsoft.com/office/drawing/2014/main" id="{947F42C8-88A5-9E22-9E46-D5DCDD4DFB82}"/>
              </a:ext>
            </a:extLst>
          </p:cNvPr>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charset="-122"/>
                <a:ea typeface="思源黑体 CN Regular" charset="-122"/>
                <a:cs typeface="+mn-ea"/>
                <a:sym typeface="Arial" panose="020B0604020202090204" pitchFamily="34" charset="0"/>
              </a:rPr>
              <a:t>Model Interpretability</a:t>
            </a:r>
          </a:p>
        </p:txBody>
      </p:sp>
    </p:spTree>
    <p:custDataLst>
      <p:tags r:id="rId1"/>
    </p:custDataLst>
    <p:extLst>
      <p:ext uri="{BB962C8B-B14F-4D97-AF65-F5344CB8AC3E}">
        <p14:creationId xmlns:p14="http://schemas.microsoft.com/office/powerpoint/2010/main" val="2307446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7B9C8-0EB6-67FF-32D4-BC1FA75D54F8}"/>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20F5F9BF-26E4-5C81-F523-5C09239322B9}"/>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模型可解释性</a:t>
            </a:r>
          </a:p>
        </p:txBody>
      </p:sp>
      <p:sp>
        <p:nvSpPr>
          <p:cNvPr id="6" name="文本框 5">
            <a:extLst>
              <a:ext uri="{FF2B5EF4-FFF2-40B4-BE49-F238E27FC236}">
                <a16:creationId xmlns:a16="http://schemas.microsoft.com/office/drawing/2014/main" id="{BE7024C4-D9B6-1202-C703-737A0420B12A}"/>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深度学习的成功与可解释性的挑战</a:t>
            </a:r>
          </a:p>
        </p:txBody>
      </p:sp>
      <p:pic>
        <p:nvPicPr>
          <p:cNvPr id="4" name="图片 3" descr="手机屏幕截图&#10;&#10;AI 生成的内容可能不正确。">
            <a:extLst>
              <a:ext uri="{FF2B5EF4-FFF2-40B4-BE49-F238E27FC236}">
                <a16:creationId xmlns:a16="http://schemas.microsoft.com/office/drawing/2014/main" id="{17188C0A-653C-12F6-3603-7BB724A24328}"/>
              </a:ext>
            </a:extLst>
          </p:cNvPr>
          <p:cNvPicPr>
            <a:picLocks/>
          </p:cNvPicPr>
          <p:nvPr/>
        </p:nvPicPr>
        <p:blipFill>
          <a:blip r:embed="rId4"/>
          <a:srcRect l="24990" r="24296" b="17737"/>
          <a:stretch>
            <a:fillRect/>
          </a:stretch>
        </p:blipFill>
        <p:spPr>
          <a:xfrm>
            <a:off x="927741" y="1523757"/>
            <a:ext cx="5851042" cy="4544208"/>
          </a:xfrm>
          <a:prstGeom prst="rect">
            <a:avLst/>
          </a:prstGeom>
        </p:spPr>
      </p:pic>
      <p:sp>
        <p:nvSpPr>
          <p:cNvPr id="5" name="TextBox 8">
            <a:extLst>
              <a:ext uri="{FF2B5EF4-FFF2-40B4-BE49-F238E27FC236}">
                <a16:creationId xmlns:a16="http://schemas.microsoft.com/office/drawing/2014/main" id="{E1DA314F-623E-6465-F604-54BC20991C29}"/>
              </a:ext>
            </a:extLst>
          </p:cNvPr>
          <p:cNvSpPr txBox="1"/>
          <p:nvPr/>
        </p:nvSpPr>
        <p:spPr>
          <a:xfrm>
            <a:off x="7448311" y="2514181"/>
            <a:ext cx="3815948" cy="1117529"/>
          </a:xfrm>
          <a:prstGeom prst="rect">
            <a:avLst/>
          </a:prstGeom>
          <a:noFill/>
        </p:spPr>
        <p:txBody>
          <a:bodyPr wrap="square" lIns="0" tIns="0" rIns="0" bIns="0" rtlCol="0" anchor="t">
            <a:noAutofit/>
          </a:bodyPr>
          <a:lstStyle/>
          <a:p>
            <a:pPr algn="l" defTabSz="1219200">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神经网络的错误预测示例。左列是从</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ImageNet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数据集中随机抽取的三张图片，右列是使用了“最小失真”</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[1]</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算法得到的图像，中列是左右两列图像的差别。使用</a:t>
            </a:r>
            <a:r>
              <a:rPr lang="en-US" altLang="zh-CN" sz="1600" dirty="0" err="1">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AlexNet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预测，左列均能得到正确的结果，而右列均被预测为“咖啡壶”。</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8" name="TextBox 8">
            <a:extLst>
              <a:ext uri="{FF2B5EF4-FFF2-40B4-BE49-F238E27FC236}">
                <a16:creationId xmlns:a16="http://schemas.microsoft.com/office/drawing/2014/main" id="{7DDE7CA5-1B89-6B19-EBBF-4456ED0F2460}"/>
              </a:ext>
            </a:extLst>
          </p:cNvPr>
          <p:cNvSpPr txBox="1"/>
          <p:nvPr/>
        </p:nvSpPr>
        <p:spPr>
          <a:xfrm>
            <a:off x="336550" y="6382549"/>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en-US" altLang="zh-CN" sz="1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[1] C Szegedy. “Intriguing properties of neural networks”. In: </a:t>
            </a:r>
            <a:r>
              <a:rPr lang="en-US" altLang="zh-CN" sz="1000" dirty="0" err="1">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arXiv</a:t>
            </a:r>
            <a:r>
              <a:rPr lang="en-US" altLang="zh-CN" sz="1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preprint arXiv:1312.6199(2013).</a:t>
            </a:r>
          </a:p>
          <a:p>
            <a:pPr algn="l" defTabSz="1219200" fontAlgn="auto">
              <a:lnSpc>
                <a:spcPct val="150000"/>
              </a:lnSpc>
              <a:spcBef>
                <a:spcPts val="300"/>
              </a:spcBef>
              <a:defRPr/>
            </a:pPr>
            <a:endParaRPr lang="zh-CN" altLang="en-US" sz="1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extLst>
      <p:ext uri="{BB962C8B-B14F-4D97-AF65-F5344CB8AC3E}">
        <p14:creationId xmlns:p14="http://schemas.microsoft.com/office/powerpoint/2010/main" val="671089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E65AB-F326-20DB-6CB3-A2E61686E77F}"/>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5499CD8C-5A7A-9CBE-8949-E10239F89C04}"/>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模型可解释性</a:t>
            </a:r>
          </a:p>
        </p:txBody>
      </p:sp>
      <p:sp>
        <p:nvSpPr>
          <p:cNvPr id="6" name="文本框 5">
            <a:extLst>
              <a:ext uri="{FF2B5EF4-FFF2-40B4-BE49-F238E27FC236}">
                <a16:creationId xmlns:a16="http://schemas.microsoft.com/office/drawing/2014/main" id="{22073BB9-6F9D-AF31-FA6F-B5D27F2D6814}"/>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可解释性的重要性</a:t>
            </a:r>
          </a:p>
        </p:txBody>
      </p:sp>
      <p:sp>
        <p:nvSpPr>
          <p:cNvPr id="2" name="TextBox 8">
            <a:extLst>
              <a:ext uri="{FF2B5EF4-FFF2-40B4-BE49-F238E27FC236}">
                <a16:creationId xmlns:a16="http://schemas.microsoft.com/office/drawing/2014/main" id="{48ED441F-1D1B-9F07-9533-4D9C9BF821A3}"/>
              </a:ext>
            </a:extLst>
          </p:cNvPr>
          <p:cNvSpPr txBox="1"/>
          <p:nvPr/>
        </p:nvSpPr>
        <p:spPr>
          <a:xfrm>
            <a:off x="336550" y="1580706"/>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随着深度学习等复杂模型在关键领域的广泛应用，其内部决策过程的“黑箱”特性已引发日益增长的关注。模型可解释性不仅是学术研究的焦点，更是连接技术能力与实际需求的核心桥梁。它在提升系统可靠性、满足伦理与法律要求、以及支持科学发现等方面，均具有不可替代的价值。</a:t>
            </a:r>
          </a:p>
        </p:txBody>
      </p:sp>
      <p:sp>
        <p:nvSpPr>
          <p:cNvPr id="3" name="矩形: 折角 2">
            <a:extLst>
              <a:ext uri="{FF2B5EF4-FFF2-40B4-BE49-F238E27FC236}">
                <a16:creationId xmlns:a16="http://schemas.microsoft.com/office/drawing/2014/main" id="{E9206B11-82AD-9788-CE7A-94B89D4C85B5}"/>
              </a:ext>
            </a:extLst>
          </p:cNvPr>
          <p:cNvSpPr/>
          <p:nvPr/>
        </p:nvSpPr>
        <p:spPr>
          <a:xfrm>
            <a:off x="455639" y="3031222"/>
            <a:ext cx="3407371"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DC4A822C-A32F-9BD4-C530-920D8E23FF61}"/>
              </a:ext>
            </a:extLst>
          </p:cNvPr>
          <p:cNvSpPr txBox="1"/>
          <p:nvPr/>
        </p:nvSpPr>
        <p:spPr>
          <a:xfrm>
            <a:off x="512390" y="3123482"/>
            <a:ext cx="3293870" cy="2346925"/>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1.</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提升系统可靠性</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在自动驾驶、医疗等高可靠场景中，模型故障可能造成严重后果。可解释性帮助工程师理解模型决策逻辑，从而识别风险、定位问题，构建更安全的智能系统。</a:t>
            </a:r>
          </a:p>
        </p:txBody>
      </p:sp>
      <p:sp>
        <p:nvSpPr>
          <p:cNvPr id="5" name="矩形: 折角 4">
            <a:extLst>
              <a:ext uri="{FF2B5EF4-FFF2-40B4-BE49-F238E27FC236}">
                <a16:creationId xmlns:a16="http://schemas.microsoft.com/office/drawing/2014/main" id="{249FE784-9BFD-B55F-E40D-CC712FDBBF42}"/>
              </a:ext>
            </a:extLst>
          </p:cNvPr>
          <p:cNvSpPr/>
          <p:nvPr/>
        </p:nvSpPr>
        <p:spPr>
          <a:xfrm>
            <a:off x="4094189" y="3031222"/>
            <a:ext cx="3407371"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06687933-7D56-D179-FF35-9880D6FCE1D5}"/>
              </a:ext>
            </a:extLst>
          </p:cNvPr>
          <p:cNvSpPr txBox="1"/>
          <p:nvPr/>
        </p:nvSpPr>
        <p:spPr>
          <a:xfrm>
            <a:off x="4150940" y="3123482"/>
            <a:ext cx="32744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2.</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满足伦理与法律要求</a:t>
            </a: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算法公平性已成为社会关注焦点。模型可能继承数据偏见，在信贷、招聘等领域导致歧视结果。</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GDPR</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等法规要求自动化决策具备透明度，可解释性技术有助于检测偏差、满足合规要求。</a:t>
            </a:r>
          </a:p>
        </p:txBody>
      </p:sp>
      <p:sp>
        <p:nvSpPr>
          <p:cNvPr id="8" name="矩形: 折角 7">
            <a:extLst>
              <a:ext uri="{FF2B5EF4-FFF2-40B4-BE49-F238E27FC236}">
                <a16:creationId xmlns:a16="http://schemas.microsoft.com/office/drawing/2014/main" id="{C4024C86-CB3F-2EBB-1038-876625AB5CAC}"/>
              </a:ext>
            </a:extLst>
          </p:cNvPr>
          <p:cNvSpPr/>
          <p:nvPr/>
        </p:nvSpPr>
        <p:spPr>
          <a:xfrm>
            <a:off x="7732739" y="3031222"/>
            <a:ext cx="3407372"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44F3A710-351D-5CE3-129C-08C7A7F975CB}"/>
              </a:ext>
            </a:extLst>
          </p:cNvPr>
          <p:cNvSpPr txBox="1"/>
          <p:nvPr/>
        </p:nvSpPr>
        <p:spPr>
          <a:xfrm>
            <a:off x="7789490" y="3123482"/>
            <a:ext cx="3299819" cy="2346925"/>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3.</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支持科学发现</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在生物、天文等科研领域，深度学习能揭示复杂数据模式。可解释性方法可将模型决策转化为可理解的机制描述，促进科学假设的形成与验证。</a:t>
            </a:r>
          </a:p>
        </p:txBody>
      </p:sp>
    </p:spTree>
    <p:custDataLst>
      <p:tags r:id="rId1"/>
    </p:custDataLst>
    <p:extLst>
      <p:ext uri="{BB962C8B-B14F-4D97-AF65-F5344CB8AC3E}">
        <p14:creationId xmlns:p14="http://schemas.microsoft.com/office/powerpoint/2010/main" val="3968546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7BAE2-CDD4-A6AB-A95F-C17B09E613DF}"/>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47665CF3-6C28-0917-98CB-97517DE348DB}"/>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模型可解释性</a:t>
            </a:r>
          </a:p>
        </p:txBody>
      </p:sp>
      <p:sp>
        <p:nvSpPr>
          <p:cNvPr id="6" name="文本框 5">
            <a:extLst>
              <a:ext uri="{FF2B5EF4-FFF2-40B4-BE49-F238E27FC236}">
                <a16:creationId xmlns:a16="http://schemas.microsoft.com/office/drawing/2014/main" id="{1F8D7B90-A625-3182-4E01-088F4877DD05}"/>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可解释性的分类</a:t>
            </a:r>
          </a:p>
        </p:txBody>
      </p:sp>
      <p:sp>
        <p:nvSpPr>
          <p:cNvPr id="2" name="TextBox 8">
            <a:extLst>
              <a:ext uri="{FF2B5EF4-FFF2-40B4-BE49-F238E27FC236}">
                <a16:creationId xmlns:a16="http://schemas.microsoft.com/office/drawing/2014/main" id="{530E9734-B283-3073-62BE-A0B33C0E085D}"/>
              </a:ext>
            </a:extLst>
          </p:cNvPr>
          <p:cNvSpPr txBox="1"/>
          <p:nvPr/>
        </p:nvSpPr>
        <p:spPr>
          <a:xfrm>
            <a:off x="421640" y="1737776"/>
            <a:ext cx="10951210" cy="3304441"/>
          </a:xfrm>
          <a:prstGeom prst="rect">
            <a:avLst/>
          </a:prstGeom>
          <a:noFill/>
        </p:spPr>
        <p:txBody>
          <a:bodyPr wrap="square" lIns="0" tIns="0" rIns="0" bIns="0" rtlCol="0" anchor="t">
            <a:noAutofit/>
          </a:bodyPr>
          <a:lstStyle/>
          <a:p>
            <a:pPr marL="285750" indent="-285750"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模型可解释性可从多个视角系统分类，以全面理解其方法与应用，包括模型属性、解释范围、解释形式与网络结构：</a:t>
            </a:r>
          </a:p>
          <a:p>
            <a:pPr marL="285750" indent="-285750"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模型属性</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：区分</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内在可解释性</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与</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事后解释</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，关注模型是否自带透明度；</a:t>
            </a:r>
          </a:p>
          <a:p>
            <a:pPr marL="285750" indent="-285750"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解释范围</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：区隔</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局部</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与</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全局解释</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，明确解释针对单次预测还是整体行为；</a:t>
            </a:r>
          </a:p>
          <a:p>
            <a:pPr marL="285750" indent="-285750"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解释形式</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：涵盖</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显式</a:t>
            </a:r>
            <a:r>
              <a:rPr lang="en-US" altLang="zh-CN"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隐式</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及</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不同类型输出</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（如规则、归因、示例）；</a:t>
            </a:r>
          </a:p>
          <a:p>
            <a:pPr marL="285750" indent="-285750"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网络结构</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：聚焦深度网络的</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表示特性</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与</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层次作用</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，剖析内部机制。</a:t>
            </a:r>
          </a:p>
        </p:txBody>
      </p:sp>
      <p:pic>
        <p:nvPicPr>
          <p:cNvPr id="15" name="图片 14" descr="图形用户界面, 文本, 应用程序&#10;&#10;AI 生成的内容可能不正确。">
            <a:extLst>
              <a:ext uri="{FF2B5EF4-FFF2-40B4-BE49-F238E27FC236}">
                <a16:creationId xmlns:a16="http://schemas.microsoft.com/office/drawing/2014/main" id="{340E225D-54C5-322D-AE8B-ECA824245D68}"/>
              </a:ext>
            </a:extLst>
          </p:cNvPr>
          <p:cNvPicPr>
            <a:picLocks noChangeAspect="1"/>
          </p:cNvPicPr>
          <p:nvPr/>
        </p:nvPicPr>
        <p:blipFill>
          <a:blip r:embed="rId4"/>
          <a:stretch>
            <a:fillRect/>
          </a:stretch>
        </p:blipFill>
        <p:spPr>
          <a:xfrm>
            <a:off x="819150" y="4353153"/>
            <a:ext cx="10325100" cy="1666875"/>
          </a:xfrm>
          <a:prstGeom prst="rect">
            <a:avLst/>
          </a:prstGeom>
        </p:spPr>
      </p:pic>
    </p:spTree>
    <p:custDataLst>
      <p:tags r:id="rId1"/>
    </p:custDataLst>
    <p:extLst>
      <p:ext uri="{BB962C8B-B14F-4D97-AF65-F5344CB8AC3E}">
        <p14:creationId xmlns:p14="http://schemas.microsoft.com/office/powerpoint/2010/main" val="1236245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CDD1-4A6F-09A9-0CD7-BAF87E215ABE}"/>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F34FDFD3-C612-54C6-0549-E265142D96F0}"/>
              </a:ext>
            </a:extLst>
          </p:cNvPr>
          <p:cNvSpPr/>
          <p:nvPr/>
        </p:nvSpPr>
        <p:spPr>
          <a:xfrm>
            <a:off x="5480050" y="2360362"/>
            <a:ext cx="6095415" cy="4374546"/>
          </a:xfrm>
          <a:prstGeom prst="roundRect">
            <a:avLst>
              <a:gd name="adj" fmla="val 8828"/>
            </a:avLst>
          </a:prstGeom>
          <a:solidFill>
            <a:srgbClr val="B5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B65937A9-4A3B-08FA-09B4-89FB251454F7}"/>
              </a:ext>
            </a:extLst>
          </p:cNvPr>
          <p:cNvSpPr/>
          <p:nvPr/>
        </p:nvSpPr>
        <p:spPr>
          <a:xfrm>
            <a:off x="421639" y="2360362"/>
            <a:ext cx="4941669" cy="4374546"/>
          </a:xfrm>
          <a:prstGeom prst="roundRect">
            <a:avLst>
              <a:gd name="adj" fmla="val 8828"/>
            </a:avLst>
          </a:prstGeom>
          <a:solidFill>
            <a:srgbClr val="B5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a:extLst>
              <a:ext uri="{FF2B5EF4-FFF2-40B4-BE49-F238E27FC236}">
                <a16:creationId xmlns:a16="http://schemas.microsoft.com/office/drawing/2014/main" id="{4D4FF14D-CDB6-9A0D-9195-BDBD53B10D23}"/>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模型可解释性</a:t>
            </a:r>
          </a:p>
        </p:txBody>
      </p:sp>
      <p:sp>
        <p:nvSpPr>
          <p:cNvPr id="6" name="文本框 5">
            <a:extLst>
              <a:ext uri="{FF2B5EF4-FFF2-40B4-BE49-F238E27FC236}">
                <a16:creationId xmlns:a16="http://schemas.microsoft.com/office/drawing/2014/main" id="{7D6FCA0D-99CF-11BB-4647-5D9D3B032A8E}"/>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模型属性视角</a:t>
            </a:r>
          </a:p>
        </p:txBody>
      </p:sp>
      <p:sp>
        <p:nvSpPr>
          <p:cNvPr id="2" name="TextBox 8">
            <a:extLst>
              <a:ext uri="{FF2B5EF4-FFF2-40B4-BE49-F238E27FC236}">
                <a16:creationId xmlns:a16="http://schemas.microsoft.com/office/drawing/2014/main" id="{6979D5E9-B943-AFEB-217F-07F10FBFFE80}"/>
              </a:ext>
            </a:extLst>
          </p:cNvPr>
          <p:cNvSpPr txBox="1"/>
          <p:nvPr/>
        </p:nvSpPr>
        <p:spPr>
          <a:xfrm>
            <a:off x="421640" y="1488446"/>
            <a:ext cx="10951210"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从模型属性角度，机器学习模型的可解释性可分为</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内在可解释性</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和</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事后可解释性</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两类，其区别在于模型自身是否易于理解，以及是否需要借助外部解释工具进行分析。</a:t>
            </a:r>
          </a:p>
        </p:txBody>
      </p:sp>
      <p:sp>
        <p:nvSpPr>
          <p:cNvPr id="5" name="TextBox 8">
            <a:extLst>
              <a:ext uri="{FF2B5EF4-FFF2-40B4-BE49-F238E27FC236}">
                <a16:creationId xmlns:a16="http://schemas.microsoft.com/office/drawing/2014/main" id="{7D56680C-2A38-0A48-B304-5BEF6594D719}"/>
              </a:ext>
            </a:extLst>
          </p:cNvPr>
          <p:cNvSpPr txBox="1"/>
          <p:nvPr/>
        </p:nvSpPr>
        <p:spPr>
          <a:xfrm>
            <a:off x="624254" y="3005678"/>
            <a:ext cx="4603729"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内在可解释性指模型结构本身具有透明性，例如线性回归、逻辑回归、决策树等，可直接理解其决策依据。</a:t>
            </a: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线性模型：</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通过特征权重直观反映各特征对预测的影响大小和方向。</a:t>
            </a: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决策树：</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结构直观展示从根节点到叶节点的决策路径，便于理解特征如何参与分类或回归。</a:t>
            </a:r>
          </a:p>
          <a:p>
            <a:pPr algn="l" defTabSz="1219200">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这类模型无需额外解释工具，其自身结构已具备较强的可读性。</a:t>
            </a:r>
          </a:p>
        </p:txBody>
      </p:sp>
      <p:sp>
        <p:nvSpPr>
          <p:cNvPr id="7" name="文本框 6">
            <a:extLst>
              <a:ext uri="{FF2B5EF4-FFF2-40B4-BE49-F238E27FC236}">
                <a16:creationId xmlns:a16="http://schemas.microsoft.com/office/drawing/2014/main" id="{44CFE3C5-0816-91B5-3C32-4C331B46EA1E}"/>
              </a:ext>
            </a:extLst>
          </p:cNvPr>
          <p:cNvSpPr txBox="1"/>
          <p:nvPr/>
        </p:nvSpPr>
        <p:spPr>
          <a:xfrm>
            <a:off x="547565" y="2523266"/>
            <a:ext cx="1876563" cy="42332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内在可解释性</a:t>
            </a:r>
          </a:p>
        </p:txBody>
      </p:sp>
      <p:sp>
        <p:nvSpPr>
          <p:cNvPr id="8" name="文本框 7">
            <a:extLst>
              <a:ext uri="{FF2B5EF4-FFF2-40B4-BE49-F238E27FC236}">
                <a16:creationId xmlns:a16="http://schemas.microsoft.com/office/drawing/2014/main" id="{C32513EB-9F37-AA91-311A-C2319104E3AE}"/>
              </a:ext>
            </a:extLst>
          </p:cNvPr>
          <p:cNvSpPr txBox="1"/>
          <p:nvPr/>
        </p:nvSpPr>
        <p:spPr>
          <a:xfrm>
            <a:off x="5705061" y="2523265"/>
            <a:ext cx="1876563" cy="42332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事后可解释性</a:t>
            </a:r>
          </a:p>
        </p:txBody>
      </p:sp>
      <p:sp>
        <p:nvSpPr>
          <p:cNvPr id="9" name="TextBox 8">
            <a:extLst>
              <a:ext uri="{FF2B5EF4-FFF2-40B4-BE49-F238E27FC236}">
                <a16:creationId xmlns:a16="http://schemas.microsoft.com/office/drawing/2014/main" id="{C398A2A5-1A8A-8F25-24FA-3485D752DE04}"/>
              </a:ext>
            </a:extLst>
          </p:cNvPr>
          <p:cNvSpPr txBox="1"/>
          <p:nvPr/>
        </p:nvSpPr>
        <p:spPr>
          <a:xfrm>
            <a:off x="5705061" y="3005678"/>
            <a:ext cx="5733732"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针对无法直观理解的“黑箱”模型（如深度神经网络、集成方法等），可通过与模型无关的方法进行解释；</a:t>
            </a: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线性代理模型（</a:t>
            </a:r>
            <a:r>
              <a:rPr lang="en-US" altLang="zh-CN"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LIME</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：通过局部扰动拟合线性模型，解释单一样本的预测依据。</a:t>
            </a: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决策树转换：</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将复杂模型转化为决策树结构（如</a:t>
            </a:r>
            <a:r>
              <a:rPr lang="en-US" altLang="zh-CN" sz="1600" dirty="0" err="1">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DeepRED</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），提供可视化决策路径。</a:t>
            </a: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规则提取：</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从模型中提取简洁的逻辑规则，解释其决策过程。</a:t>
            </a:r>
          </a:p>
          <a:p>
            <a:pPr algn="l" defTabSz="1219200">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这些方法可在不改变原模型的前提下，帮助我们理解其内部行为与决策逻辑。</a:t>
            </a:r>
          </a:p>
        </p:txBody>
      </p:sp>
    </p:spTree>
    <p:custDataLst>
      <p:tags r:id="rId1"/>
    </p:custDataLst>
    <p:extLst>
      <p:ext uri="{BB962C8B-B14F-4D97-AF65-F5344CB8AC3E}">
        <p14:creationId xmlns:p14="http://schemas.microsoft.com/office/powerpoint/2010/main" val="2653951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E71D0-94E9-13DC-229F-64C40F76376C}"/>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867BD6AB-9C62-BDD2-5B65-809E53E7F474}"/>
              </a:ext>
            </a:extLst>
          </p:cNvPr>
          <p:cNvSpPr/>
          <p:nvPr/>
        </p:nvSpPr>
        <p:spPr>
          <a:xfrm>
            <a:off x="5480050" y="2360362"/>
            <a:ext cx="6087696" cy="3952515"/>
          </a:xfrm>
          <a:prstGeom prst="roundRect">
            <a:avLst>
              <a:gd name="adj" fmla="val 8828"/>
            </a:avLst>
          </a:prstGeom>
          <a:solidFill>
            <a:srgbClr val="B5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0B0359DC-4A25-8BCE-CEB5-6812ED2FB04E}"/>
              </a:ext>
            </a:extLst>
          </p:cNvPr>
          <p:cNvSpPr/>
          <p:nvPr/>
        </p:nvSpPr>
        <p:spPr>
          <a:xfrm>
            <a:off x="421639" y="2360362"/>
            <a:ext cx="4941669" cy="3952515"/>
          </a:xfrm>
          <a:prstGeom prst="roundRect">
            <a:avLst>
              <a:gd name="adj" fmla="val 8828"/>
            </a:avLst>
          </a:prstGeom>
          <a:solidFill>
            <a:srgbClr val="B5E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a:extLst>
              <a:ext uri="{FF2B5EF4-FFF2-40B4-BE49-F238E27FC236}">
                <a16:creationId xmlns:a16="http://schemas.microsoft.com/office/drawing/2014/main" id="{76F791E8-D30D-E48E-266D-2554350ED7CA}"/>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模型可解释性</a:t>
            </a:r>
          </a:p>
        </p:txBody>
      </p:sp>
      <p:sp>
        <p:nvSpPr>
          <p:cNvPr id="6" name="文本框 5">
            <a:extLst>
              <a:ext uri="{FF2B5EF4-FFF2-40B4-BE49-F238E27FC236}">
                <a16:creationId xmlns:a16="http://schemas.microsoft.com/office/drawing/2014/main" id="{AC8BAD70-6A24-0972-BBD5-676A626F540E}"/>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解释范围视角</a:t>
            </a:r>
          </a:p>
        </p:txBody>
      </p:sp>
      <p:sp>
        <p:nvSpPr>
          <p:cNvPr id="2" name="TextBox 8">
            <a:extLst>
              <a:ext uri="{FF2B5EF4-FFF2-40B4-BE49-F238E27FC236}">
                <a16:creationId xmlns:a16="http://schemas.microsoft.com/office/drawing/2014/main" id="{1F26A1AD-3A3B-1D76-A4DA-8EFA97B40A86}"/>
              </a:ext>
            </a:extLst>
          </p:cNvPr>
          <p:cNvSpPr txBox="1"/>
          <p:nvPr/>
        </p:nvSpPr>
        <p:spPr>
          <a:xfrm>
            <a:off x="421640" y="1488446"/>
            <a:ext cx="10951210" cy="774942"/>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另一种常见的可解释性分类方式基于解释的覆盖范围，分为</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局部可解释性</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和</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全局可解释性</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。它们分别从微观和宏观的角度帮助我们理解模型的决策过程。</a:t>
            </a:r>
          </a:p>
        </p:txBody>
      </p:sp>
      <p:sp>
        <p:nvSpPr>
          <p:cNvPr id="3" name="文本框 2">
            <a:extLst>
              <a:ext uri="{FF2B5EF4-FFF2-40B4-BE49-F238E27FC236}">
                <a16:creationId xmlns:a16="http://schemas.microsoft.com/office/drawing/2014/main" id="{C45F68D9-D35F-4AC8-4AC2-A7F45886BB6A}"/>
              </a:ext>
            </a:extLst>
          </p:cNvPr>
          <p:cNvSpPr txBox="1"/>
          <p:nvPr/>
        </p:nvSpPr>
        <p:spPr>
          <a:xfrm>
            <a:off x="556357" y="2535345"/>
            <a:ext cx="1876563" cy="42332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局部可解释性</a:t>
            </a:r>
          </a:p>
        </p:txBody>
      </p:sp>
      <p:sp>
        <p:nvSpPr>
          <p:cNvPr id="4" name="TextBox 8">
            <a:extLst>
              <a:ext uri="{FF2B5EF4-FFF2-40B4-BE49-F238E27FC236}">
                <a16:creationId xmlns:a16="http://schemas.microsoft.com/office/drawing/2014/main" id="{686FB949-D377-1DB4-8DB0-84554BB439BC}"/>
              </a:ext>
            </a:extLst>
          </p:cNvPr>
          <p:cNvSpPr txBox="1"/>
          <p:nvPr/>
        </p:nvSpPr>
        <p:spPr>
          <a:xfrm>
            <a:off x="624254" y="3038322"/>
            <a:ext cx="4603730"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局部可解释性关注单一样本的预测结果，旨在解释模型对特定输入为何做出某一预测。它不分析模型整体结构，而是将模型视为“黑箱”，分析特定数据点的特征对当前预测的影响。</a:t>
            </a:r>
          </a:p>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例如，</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LIME</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方法通过局部扰动构建简单模型，解释该样本附近哪些特征最为关键。这类方法特别适用于复杂模型和实际应用场景，如在医疗诊断中分析某位病患被预测为某种疾病的原因。</a:t>
            </a:r>
          </a:p>
        </p:txBody>
      </p:sp>
      <p:sp>
        <p:nvSpPr>
          <p:cNvPr id="7" name="TextBox 8">
            <a:extLst>
              <a:ext uri="{FF2B5EF4-FFF2-40B4-BE49-F238E27FC236}">
                <a16:creationId xmlns:a16="http://schemas.microsoft.com/office/drawing/2014/main" id="{8513F4C8-B589-38E0-1171-CEDC445765D2}"/>
              </a:ext>
            </a:extLst>
          </p:cNvPr>
          <p:cNvSpPr txBox="1"/>
          <p:nvPr/>
        </p:nvSpPr>
        <p:spPr>
          <a:xfrm>
            <a:off x="5685183" y="3038322"/>
            <a:ext cx="5753610" cy="1104815"/>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全局可解释性旨在理解模型在整个数据集上的行为模式，包括特征的整体重要性、交互作用及决策逻辑。它通常需要借助模型结构或全局分析方法，如特征重要性分析、部分依赖图等。</a:t>
            </a:r>
          </a:p>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全局可解释性有助于评估模型的整体性能、公平性与一致性，如在金融风控中分析模型如何综合不同风险因素做出决策。</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局部与全局可解释性分别从具体和整体视角解释模型，并无严格界限。</a:t>
            </a:r>
          </a:p>
        </p:txBody>
      </p:sp>
      <p:sp>
        <p:nvSpPr>
          <p:cNvPr id="8" name="文本框 7">
            <a:extLst>
              <a:ext uri="{FF2B5EF4-FFF2-40B4-BE49-F238E27FC236}">
                <a16:creationId xmlns:a16="http://schemas.microsoft.com/office/drawing/2014/main" id="{FEE5A586-AFD4-310D-EFDA-F6E17FB85912}"/>
              </a:ext>
            </a:extLst>
          </p:cNvPr>
          <p:cNvSpPr txBox="1"/>
          <p:nvPr/>
        </p:nvSpPr>
        <p:spPr>
          <a:xfrm>
            <a:off x="5626596" y="2535346"/>
            <a:ext cx="1876563" cy="42332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全局可解释性</a:t>
            </a:r>
          </a:p>
        </p:txBody>
      </p:sp>
    </p:spTree>
    <p:custDataLst>
      <p:tags r:id="rId1"/>
    </p:custDataLst>
    <p:extLst>
      <p:ext uri="{BB962C8B-B14F-4D97-AF65-F5344CB8AC3E}">
        <p14:creationId xmlns:p14="http://schemas.microsoft.com/office/powerpoint/2010/main" val="3215119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38022-8EE2-4DB7-84E5-9C5D0E9E110A}"/>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2840AE17-97EC-72DA-4085-AE596CC675C9}"/>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模型可解释性</a:t>
            </a:r>
          </a:p>
        </p:txBody>
      </p:sp>
      <p:sp>
        <p:nvSpPr>
          <p:cNvPr id="6" name="文本框 5">
            <a:extLst>
              <a:ext uri="{FF2B5EF4-FFF2-40B4-BE49-F238E27FC236}">
                <a16:creationId xmlns:a16="http://schemas.microsoft.com/office/drawing/2014/main" id="{42322B03-969D-63F8-CE06-9281979B9465}"/>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解释形式视角</a:t>
            </a:r>
          </a:p>
        </p:txBody>
      </p:sp>
      <p:sp>
        <p:nvSpPr>
          <p:cNvPr id="2" name="TextBox 8">
            <a:extLst>
              <a:ext uri="{FF2B5EF4-FFF2-40B4-BE49-F238E27FC236}">
                <a16:creationId xmlns:a16="http://schemas.microsoft.com/office/drawing/2014/main" id="{B19E4DEF-C43A-2B6D-A3CD-6EBEC700A8E1}"/>
              </a:ext>
            </a:extLst>
          </p:cNvPr>
          <p:cNvSpPr txBox="1"/>
          <p:nvPr/>
        </p:nvSpPr>
        <p:spPr>
          <a:xfrm>
            <a:off x="421640" y="1737776"/>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解释方法可根据其解释能力与复杂度的递进关系进行分类，从最直观的示例到最严密的逻辑规则，层层深入。这一递进框架有助于我们从不同层面理解模型的决策过程。</a:t>
            </a:r>
          </a:p>
        </p:txBody>
      </p:sp>
      <p:pic>
        <p:nvPicPr>
          <p:cNvPr id="14" name="图片 13" descr="文本&#10;&#10;AI 生成的内容可能不正确。">
            <a:extLst>
              <a:ext uri="{FF2B5EF4-FFF2-40B4-BE49-F238E27FC236}">
                <a16:creationId xmlns:a16="http://schemas.microsoft.com/office/drawing/2014/main" id="{5E066A57-C6A5-78BD-34E1-D55AAB4D9B60}"/>
              </a:ext>
            </a:extLst>
          </p:cNvPr>
          <p:cNvPicPr>
            <a:picLocks noChangeAspect="1"/>
          </p:cNvPicPr>
          <p:nvPr/>
        </p:nvPicPr>
        <p:blipFill>
          <a:blip r:embed="rId4"/>
          <a:stretch>
            <a:fillRect/>
          </a:stretch>
        </p:blipFill>
        <p:spPr>
          <a:xfrm>
            <a:off x="1298880" y="2918874"/>
            <a:ext cx="9594239" cy="3181887"/>
          </a:xfrm>
          <a:prstGeom prst="rect">
            <a:avLst/>
          </a:prstGeom>
        </p:spPr>
      </p:pic>
    </p:spTree>
    <p:custDataLst>
      <p:tags r:id="rId1"/>
    </p:custDataLst>
    <p:extLst>
      <p:ext uri="{BB962C8B-B14F-4D97-AF65-F5344CB8AC3E}">
        <p14:creationId xmlns:p14="http://schemas.microsoft.com/office/powerpoint/2010/main" val="4048944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A48FB-E32B-99CA-4415-3A0D35318C5E}"/>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C57C44D7-2B18-E1FF-3EFB-31AC07A938E9}"/>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模型可解释性</a:t>
            </a:r>
          </a:p>
        </p:txBody>
      </p:sp>
      <p:sp>
        <p:nvSpPr>
          <p:cNvPr id="6" name="文本框 5">
            <a:extLst>
              <a:ext uri="{FF2B5EF4-FFF2-40B4-BE49-F238E27FC236}">
                <a16:creationId xmlns:a16="http://schemas.microsoft.com/office/drawing/2014/main" id="{01E484EB-8FE3-246A-7046-6508B11FB09E}"/>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网络结构视角</a:t>
            </a:r>
          </a:p>
        </p:txBody>
      </p:sp>
      <p:sp>
        <p:nvSpPr>
          <p:cNvPr id="2" name="TextBox 8">
            <a:extLst>
              <a:ext uri="{FF2B5EF4-FFF2-40B4-BE49-F238E27FC236}">
                <a16:creationId xmlns:a16="http://schemas.microsoft.com/office/drawing/2014/main" id="{E7B25A79-4890-8364-A574-FCE5FD5C958F}"/>
              </a:ext>
            </a:extLst>
          </p:cNvPr>
          <p:cNvSpPr txBox="1"/>
          <p:nvPr/>
        </p:nvSpPr>
        <p:spPr>
          <a:xfrm>
            <a:off x="421640" y="1737776"/>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深度神经网络通常具有层级化的组织结构，这为理解其内部表示与决策机制提供了结构化的分析视角。</a:t>
            </a:r>
          </a:p>
        </p:txBody>
      </p:sp>
      <p:sp>
        <p:nvSpPr>
          <p:cNvPr id="3" name="矩形: 折角 2">
            <a:extLst>
              <a:ext uri="{FF2B5EF4-FFF2-40B4-BE49-F238E27FC236}">
                <a16:creationId xmlns:a16="http://schemas.microsoft.com/office/drawing/2014/main" id="{A8DC924F-D2C2-B96D-1A55-321C9341A078}"/>
              </a:ext>
            </a:extLst>
          </p:cNvPr>
          <p:cNvSpPr/>
          <p:nvPr/>
        </p:nvSpPr>
        <p:spPr>
          <a:xfrm>
            <a:off x="402630" y="2607153"/>
            <a:ext cx="3407371"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C72ECA-9264-B611-C5F1-A50AFFDAB778}"/>
              </a:ext>
            </a:extLst>
          </p:cNvPr>
          <p:cNvSpPr txBox="1"/>
          <p:nvPr/>
        </p:nvSpPr>
        <p:spPr>
          <a:xfrm>
            <a:off x="459381" y="2699413"/>
            <a:ext cx="3293870" cy="3085588"/>
          </a:xfrm>
          <a:prstGeom prst="rect">
            <a:avLst/>
          </a:prstGeom>
          <a:solidFill>
            <a:srgbClr val="B5E3FF"/>
          </a:solid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层的作用</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深度网络的不同层往往学习不同层级的特征，例如从边缘、纹理到语义概念。部分中间层学到的特征表示具有可迁移性，可应用于其他任务，体现了其学习到的知识的通用性，也为理解网络层级功能提供了依据。</a:t>
            </a:r>
          </a:p>
        </p:txBody>
      </p:sp>
      <p:sp>
        <p:nvSpPr>
          <p:cNvPr id="5" name="矩形: 折角 4">
            <a:extLst>
              <a:ext uri="{FF2B5EF4-FFF2-40B4-BE49-F238E27FC236}">
                <a16:creationId xmlns:a16="http://schemas.microsoft.com/office/drawing/2014/main" id="{C12F781A-5BDC-1401-7FF2-022CDB98EC79}"/>
              </a:ext>
            </a:extLst>
          </p:cNvPr>
          <p:cNvSpPr/>
          <p:nvPr/>
        </p:nvSpPr>
        <p:spPr>
          <a:xfrm>
            <a:off x="4041180" y="2607153"/>
            <a:ext cx="3407371"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E142CC2-3EBB-5C69-E3D1-55A3523F3F43}"/>
              </a:ext>
            </a:extLst>
          </p:cNvPr>
          <p:cNvSpPr txBox="1"/>
          <p:nvPr/>
        </p:nvSpPr>
        <p:spPr>
          <a:xfrm>
            <a:off x="4097931" y="2699413"/>
            <a:ext cx="3274419" cy="2716256"/>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个体单元的作用</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单个神经元或卷积滤波器常对应于特定的视觉特征或模式。通过可视化其最大激活输入，可直观理解该单元所响应的特征，如边缘、纹理或物体部件，从而解释其在识别过程中的作用。</a:t>
            </a:r>
          </a:p>
        </p:txBody>
      </p:sp>
      <p:sp>
        <p:nvSpPr>
          <p:cNvPr id="8" name="矩形: 折角 7">
            <a:extLst>
              <a:ext uri="{FF2B5EF4-FFF2-40B4-BE49-F238E27FC236}">
                <a16:creationId xmlns:a16="http://schemas.microsoft.com/office/drawing/2014/main" id="{0349E870-A5E0-FAD8-00B8-45D004EC7AEF}"/>
              </a:ext>
            </a:extLst>
          </p:cNvPr>
          <p:cNvSpPr/>
          <p:nvPr/>
        </p:nvSpPr>
        <p:spPr>
          <a:xfrm>
            <a:off x="7679730" y="2607153"/>
            <a:ext cx="3407372"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CFFE9E9C-7010-A683-8469-CC9B6FE020C0}"/>
              </a:ext>
            </a:extLst>
          </p:cNvPr>
          <p:cNvSpPr txBox="1"/>
          <p:nvPr/>
        </p:nvSpPr>
        <p:spPr>
          <a:xfrm>
            <a:off x="7736481" y="2699413"/>
            <a:ext cx="3299819" cy="2716256"/>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表示向量的作用</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网络中高维表示向量可对应到人类可理解的概念。例如，概念激活向量（</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CAVs</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）等方法能够将向量方向与语义概念关联，揭示网络如何基于概念进行决策，从而增强对表示空间的理解。</a:t>
            </a:r>
          </a:p>
        </p:txBody>
      </p:sp>
    </p:spTree>
    <p:custDataLst>
      <p:tags r:id="rId1"/>
    </p:custDataLst>
    <p:extLst>
      <p:ext uri="{BB962C8B-B14F-4D97-AF65-F5344CB8AC3E}">
        <p14:creationId xmlns:p14="http://schemas.microsoft.com/office/powerpoint/2010/main" val="993441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89679-FA35-70B8-3467-88A8535438E8}"/>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7BE1D925-93DD-E994-9634-06057D5775AF}"/>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模型可解释性</a:t>
            </a:r>
          </a:p>
        </p:txBody>
      </p:sp>
      <p:sp>
        <p:nvSpPr>
          <p:cNvPr id="6" name="文本框 5">
            <a:extLst>
              <a:ext uri="{FF2B5EF4-FFF2-40B4-BE49-F238E27FC236}">
                <a16:creationId xmlns:a16="http://schemas.microsoft.com/office/drawing/2014/main" id="{3A8E103F-D1D4-BF7E-0CCD-6F4DECC2115D}"/>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交互式知识发现与意义</a:t>
            </a:r>
          </a:p>
        </p:txBody>
      </p:sp>
      <p:sp>
        <p:nvSpPr>
          <p:cNvPr id="2" name="TextBox 8">
            <a:extLst>
              <a:ext uri="{FF2B5EF4-FFF2-40B4-BE49-F238E27FC236}">
                <a16:creationId xmlns:a16="http://schemas.microsoft.com/office/drawing/2014/main" id="{A5B4D139-692B-1999-2F7B-F20E53877DBE}"/>
              </a:ext>
            </a:extLst>
          </p:cNvPr>
          <p:cNvSpPr txBox="1"/>
          <p:nvPr/>
        </p:nvSpPr>
        <p:spPr>
          <a:xfrm>
            <a:off x="421640" y="1776779"/>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随着可解释性研究的深入，我们不再满足于被动理解模型，更希望通过人机交互，将用户认知与模型逻辑相结合，共同推进复杂问题的规律探索与知识拓展。</a:t>
            </a:r>
          </a:p>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交互式知识发现由此兴起。其核心在于，通过动态交互将模型生成的解释与用户领域知识融合，实现更高效的知识发现。相比传统被动分析，这一过程强调人类与系统的协同参与：用户可实时调整输入、探索中间特征或修改参数，观察结果变化，从而深入理解模型行为、发现潜在规律，并为模型优化提供直接反馈。</a:t>
            </a:r>
          </a:p>
          <a:p>
            <a:pPr marL="285750" indent="-285750" algn="l" defTabSz="1219200">
              <a:lnSpc>
                <a:spcPct val="150000"/>
              </a:lnSpc>
              <a:spcBef>
                <a:spcPts val="600"/>
              </a:spcBef>
              <a:buFont typeface="Arial" panose="020B0604020202090204" pitchFamily="34" charset="0"/>
              <a:buChar char="•"/>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因此，交互式知识发现既是消解“黑箱”的关键手段，也是推动人工智能与科学研究深度融合的重要工具。其主要意义体现在以下几个方面：</a:t>
            </a:r>
          </a:p>
        </p:txBody>
      </p:sp>
      <p:sp>
        <p:nvSpPr>
          <p:cNvPr id="3" name="矩形: 折角 2">
            <a:extLst>
              <a:ext uri="{FF2B5EF4-FFF2-40B4-BE49-F238E27FC236}">
                <a16:creationId xmlns:a16="http://schemas.microsoft.com/office/drawing/2014/main" id="{FAD220E0-4848-0BD0-2BCA-0EA3E4E906A5}"/>
              </a:ext>
            </a:extLst>
          </p:cNvPr>
          <p:cNvSpPr/>
          <p:nvPr/>
        </p:nvSpPr>
        <p:spPr>
          <a:xfrm>
            <a:off x="455615" y="4957927"/>
            <a:ext cx="2734270" cy="674869"/>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036BAB47-CBF2-778A-852B-BB8E40096C28}"/>
              </a:ext>
            </a:extLst>
          </p:cNvPr>
          <p:cNvSpPr txBox="1"/>
          <p:nvPr/>
        </p:nvSpPr>
        <p:spPr>
          <a:xfrm>
            <a:off x="512366" y="5050187"/>
            <a:ext cx="2589487" cy="423321"/>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提高模型透明度</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p:sp>
        <p:nvSpPr>
          <p:cNvPr id="5" name="矩形: 折角 4">
            <a:extLst>
              <a:ext uri="{FF2B5EF4-FFF2-40B4-BE49-F238E27FC236}">
                <a16:creationId xmlns:a16="http://schemas.microsoft.com/office/drawing/2014/main" id="{87AAF65D-C2C3-3762-CF65-46495DCAA3F0}"/>
              </a:ext>
            </a:extLst>
          </p:cNvPr>
          <p:cNvSpPr/>
          <p:nvPr/>
        </p:nvSpPr>
        <p:spPr>
          <a:xfrm>
            <a:off x="3247432" y="4957927"/>
            <a:ext cx="2734270" cy="674869"/>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EE7B9186-62D4-3AEC-1B29-9B15651C8536}"/>
              </a:ext>
            </a:extLst>
          </p:cNvPr>
          <p:cNvSpPr txBox="1"/>
          <p:nvPr/>
        </p:nvSpPr>
        <p:spPr>
          <a:xfrm>
            <a:off x="3380466" y="5047869"/>
            <a:ext cx="2677519" cy="423321"/>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发现潜在偏差与错误</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p:sp>
        <p:nvSpPr>
          <p:cNvPr id="8" name="矩形: 折角 7">
            <a:extLst>
              <a:ext uri="{FF2B5EF4-FFF2-40B4-BE49-F238E27FC236}">
                <a16:creationId xmlns:a16="http://schemas.microsoft.com/office/drawing/2014/main" id="{9EEE48EF-8E5F-5045-02AB-FA79C9D8756E}"/>
              </a:ext>
            </a:extLst>
          </p:cNvPr>
          <p:cNvSpPr/>
          <p:nvPr/>
        </p:nvSpPr>
        <p:spPr>
          <a:xfrm>
            <a:off x="6096000" y="4957927"/>
            <a:ext cx="2734270" cy="674869"/>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006DE4CF-01D8-E0A4-075A-E7B1EA043B3C}"/>
              </a:ext>
            </a:extLst>
          </p:cNvPr>
          <p:cNvSpPr txBox="1"/>
          <p:nvPr/>
        </p:nvSpPr>
        <p:spPr>
          <a:xfrm>
            <a:off x="6267049" y="5047869"/>
            <a:ext cx="2677519" cy="423321"/>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优化模型性能</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p:sp>
        <p:nvSpPr>
          <p:cNvPr id="10" name="矩形: 折角 9">
            <a:extLst>
              <a:ext uri="{FF2B5EF4-FFF2-40B4-BE49-F238E27FC236}">
                <a16:creationId xmlns:a16="http://schemas.microsoft.com/office/drawing/2014/main" id="{A6500693-17B3-F469-ACE7-EA1C9683A5E1}"/>
              </a:ext>
            </a:extLst>
          </p:cNvPr>
          <p:cNvSpPr/>
          <p:nvPr/>
        </p:nvSpPr>
        <p:spPr>
          <a:xfrm>
            <a:off x="8944568" y="4957924"/>
            <a:ext cx="2734270" cy="674869"/>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0F98EB85-B84D-5E3F-086A-CAA489A42CFB}"/>
              </a:ext>
            </a:extLst>
          </p:cNvPr>
          <p:cNvSpPr txBox="1"/>
          <p:nvPr/>
        </p:nvSpPr>
        <p:spPr>
          <a:xfrm>
            <a:off x="9058866" y="5047869"/>
            <a:ext cx="2677519" cy="423321"/>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适应复杂任务需求</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extLst>
      <p:ext uri="{BB962C8B-B14F-4D97-AF65-F5344CB8AC3E}">
        <p14:creationId xmlns:p14="http://schemas.microsoft.com/office/powerpoint/2010/main" val="1795803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3658"/>
          </a:xfrm>
          <a:prstGeom prst="rect">
            <a:avLst/>
          </a:prstGeom>
        </p:spPr>
        <p:txBody>
          <a:bodyPr wrap="square">
            <a:spAutoFit/>
          </a:bodyPr>
          <a:lstStyle/>
          <a:p>
            <a:pPr algn="ctr">
              <a:buClrTx/>
              <a:buSzTx/>
              <a:buFontTx/>
            </a:pPr>
            <a:r>
              <a:rPr lang="zh-CN" altLang="en-US" sz="6600" dirty="0">
                <a:solidFill>
                  <a:srgbClr val="006FAE"/>
                </a:solidFill>
                <a:latin typeface="思源黑体 CN Regular" charset="-122"/>
                <a:ea typeface="思源黑体 CN Regular" charset="-122"/>
                <a:cs typeface="+mn-ea"/>
                <a:sym typeface="Arial" panose="020B0604020202090204" pitchFamily="34" charset="0"/>
              </a:rPr>
              <a:t>先验知识表示方法</a:t>
            </a:r>
          </a:p>
          <a:p>
            <a:pPr algn="ctr">
              <a:buClrTx/>
              <a:buSzTx/>
              <a:buFontTx/>
            </a:pPr>
            <a:endParaRPr lang="zh-CN" altLang="en-US" sz="6600" dirty="0">
              <a:solidFill>
                <a:srgbClr val="006FAE"/>
              </a:solidFill>
              <a:latin typeface="思源黑体 CN Regular" charset="-122"/>
              <a:ea typeface="思源黑体 CN Regular" charset="-122"/>
              <a:cs typeface="+mn-ea"/>
              <a:sym typeface="Arial" panose="020B060402020209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charset="-122"/>
                <a:ea typeface="思源黑体 CN Regular" charset="-122"/>
                <a:cs typeface="思源黑体 CN Regular" charset="-122"/>
                <a:sym typeface="Arial" panose="020B0604020202090204" pitchFamily="34" charset="0"/>
              </a:rPr>
              <a:t>02</a:t>
            </a:r>
            <a:endParaRPr lang="zh-CN" altLang="en-US" sz="3200"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charset="-122"/>
                <a:ea typeface="思源黑体 CN Regular" charset="-122"/>
                <a:cs typeface="+mn-ea"/>
                <a:sym typeface="Arial" panose="020B0604020202090204" pitchFamily="34" charset="0"/>
              </a:rPr>
              <a:t>Prior Knowledge Representation</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B0D8D-130B-7B6C-3244-228A16FBE707}"/>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0D93C3F0-30DF-D01B-66BA-04C91397A925}"/>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先验知识表示方法</a:t>
            </a:r>
          </a:p>
        </p:txBody>
      </p:sp>
      <p:sp>
        <p:nvSpPr>
          <p:cNvPr id="6" name="文本框 5">
            <a:extLst>
              <a:ext uri="{FF2B5EF4-FFF2-40B4-BE49-F238E27FC236}">
                <a16:creationId xmlns:a16="http://schemas.microsoft.com/office/drawing/2014/main" id="{02838947-90D9-75DB-68AC-DE41F76B6CA3}"/>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知识与先验知识</a:t>
            </a:r>
          </a:p>
        </p:txBody>
      </p:sp>
      <p:sp>
        <p:nvSpPr>
          <p:cNvPr id="2" name="TextBox 8">
            <a:extLst>
              <a:ext uri="{FF2B5EF4-FFF2-40B4-BE49-F238E27FC236}">
                <a16:creationId xmlns:a16="http://schemas.microsoft.com/office/drawing/2014/main" id="{3A305183-2F68-87E1-AB10-EB99A33FD88F}"/>
              </a:ext>
            </a:extLst>
          </p:cNvPr>
          <p:cNvSpPr txBox="1"/>
          <p:nvPr/>
        </p:nvSpPr>
        <p:spPr>
          <a:xfrm>
            <a:off x="444500" y="1680746"/>
            <a:ext cx="10951210" cy="3304441"/>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知识：</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一般来说</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知识的含义很难定义。在知识的产生过程中</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它首先作为有用的信息出现，随后得到验证。人们使用大脑的统计处理能力或通过咨询受信任的权威机构来验证有关世界的信息，实证研究或科学实验给出了明确的验证形式。、</a:t>
            </a: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知识的形式化</a:t>
            </a:r>
            <a:r>
              <a:rPr lang="en-US" altLang="zh-CN"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关于知识在机器学习中的使用，其一个重要方面是它的形式化。形式化的程度取决于知识是否已被表示为书面形式，写作的结构如何，以及所使用的语言的正式程度和严格程度。</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如果知识是预先存在并且独立于学习算法的，那么它可以称为先验知识。此外，这种先验知识可以通过形式表示来提供，这些表示以外部的方式存在，与学习问题和通常的训练数据分开。</a:t>
            </a:r>
          </a:p>
          <a:p>
            <a:pPr marL="285750" indent="-285750" algn="l" defTabSz="1219200">
              <a:lnSpc>
                <a:spcPct val="150000"/>
              </a:lnSpc>
              <a:spcBef>
                <a:spcPct val="20000"/>
              </a:spcBef>
              <a:buFont typeface="Arial" panose="020B0604020202090204" pitchFamily="34" charset="0"/>
              <a:buChar char="•"/>
              <a:defRPr/>
            </a:pPr>
            <a:endPar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285750" indent="-285750" algn="l" defTabSz="1219200">
              <a:lnSpc>
                <a:spcPct val="150000"/>
              </a:lnSpc>
              <a:spcBef>
                <a:spcPct val="20000"/>
              </a:spcBef>
              <a:buFont typeface="Arial" panose="020B0604020202090204" pitchFamily="34" charset="0"/>
              <a:buChar char="•"/>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extLst>
      <p:ext uri="{BB962C8B-B14F-4D97-AF65-F5344CB8AC3E}">
        <p14:creationId xmlns:p14="http://schemas.microsoft.com/office/powerpoint/2010/main" val="764110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0101C-B896-373D-2045-5C6615227EFF}"/>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D4726685-D284-1A54-AAE0-D2E8C607D7E5}"/>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先验知识表示方法</a:t>
            </a:r>
          </a:p>
        </p:txBody>
      </p:sp>
      <p:sp>
        <p:nvSpPr>
          <p:cNvPr id="6" name="文本框 5">
            <a:extLst>
              <a:ext uri="{FF2B5EF4-FFF2-40B4-BE49-F238E27FC236}">
                <a16:creationId xmlns:a16="http://schemas.microsoft.com/office/drawing/2014/main" id="{947CF894-2576-9349-0A63-FBBF1566E3C1}"/>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先验知识来源</a:t>
            </a:r>
          </a:p>
        </p:txBody>
      </p:sp>
      <p:sp>
        <p:nvSpPr>
          <p:cNvPr id="3" name="圆角矩形 7">
            <a:extLst>
              <a:ext uri="{FF2B5EF4-FFF2-40B4-BE49-F238E27FC236}">
                <a16:creationId xmlns:a16="http://schemas.microsoft.com/office/drawing/2014/main" id="{57860C68-E1BD-1E23-DF92-5213E372BDC2}"/>
              </a:ext>
            </a:extLst>
          </p:cNvPr>
          <p:cNvSpPr/>
          <p:nvPr/>
        </p:nvSpPr>
        <p:spPr>
          <a:xfrm>
            <a:off x="593725" y="1771650"/>
            <a:ext cx="3473450" cy="342900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TextBox 8">
            <a:extLst>
              <a:ext uri="{FF2B5EF4-FFF2-40B4-BE49-F238E27FC236}">
                <a16:creationId xmlns:a16="http://schemas.microsoft.com/office/drawing/2014/main" id="{474CAA89-2E81-35F9-0296-F18875D03284}"/>
              </a:ext>
            </a:extLst>
          </p:cNvPr>
          <p:cNvSpPr txBox="1"/>
          <p:nvPr/>
        </p:nvSpPr>
        <p:spPr>
          <a:xfrm>
            <a:off x="862983" y="2026380"/>
            <a:ext cx="3039092" cy="2717070"/>
          </a:xfrm>
          <a:prstGeom prst="rect">
            <a:avLst/>
          </a:prstGeom>
          <a:noFill/>
        </p:spPr>
        <p:txBody>
          <a:bodyPr wrap="square" lIns="0" tIns="0" rIns="0" bIns="0" rtlCol="0" anchor="t">
            <a:noAutofit/>
          </a:bodyPr>
          <a:lstStyle/>
          <a:p>
            <a:pPr algn="ctr" defTabSz="1219200">
              <a:spcBef>
                <a:spcPct val="20000"/>
              </a:spcBef>
              <a:spcAft>
                <a:spcPts val="600"/>
              </a:spcAft>
              <a:defRPr/>
            </a:pPr>
            <a:r>
              <a:rPr lang="zh-CN" altLang="en-US" dirty="0">
                <a:solidFill>
                  <a:srgbClr val="05B0F0"/>
                </a:solidFill>
                <a:latin typeface="思源黑体 CN Regular" charset="-122"/>
                <a:ea typeface="思源黑体 CN Regular" charset="-122"/>
                <a:cs typeface="思源黑体 CN Regular" charset="-122"/>
                <a:sym typeface="Arial" panose="020B0604020202090204" pitchFamily="34" charset="0"/>
              </a:rPr>
              <a:t>科学知识</a:t>
            </a:r>
            <a:endParaRPr lang="en-US" altLang="zh-CN" dirty="0">
              <a:solidFill>
                <a:srgbClr val="05B0F0"/>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spcBef>
                <a:spcPct val="20000"/>
              </a:spcBef>
              <a:defRPr/>
            </a:pP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我们将科学、技术、工程和数学学科归入科学知识。这些知识通常可通过科学实验明确地形式化和验证。</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buClrTx/>
              <a:buSzTx/>
              <a:buFont typeface="Arial" panose="020B0604020202090204" pitchFamily="34" charset="0"/>
              <a:defRPr/>
            </a:pP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例如：</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buClrTx/>
              <a:buSzTx/>
              <a:buFont typeface="Arial" panose="020B0604020202090204" pitchFamily="34" charset="0"/>
              <a:defRPr/>
            </a:pPr>
            <a:r>
              <a:rPr lang="en-US" altLang="zh-CN" sz="1400" b="1"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物理学的普遍定律</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buClrTx/>
              <a:buSzTx/>
              <a:buFont typeface="Arial" panose="020B0604020202090204" pitchFamily="34" charset="0"/>
              <a:defRPr/>
            </a:pPr>
            <a:r>
              <a:rPr lang="en-US" altLang="zh-CN" sz="1400" b="1"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基因序列的生物分子描述</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buClrTx/>
              <a:buSzTx/>
              <a:buFont typeface="Arial" panose="020B0604020202090204" pitchFamily="34" charset="0"/>
              <a:defRPr/>
            </a:pPr>
            <a:r>
              <a:rPr lang="en-US" altLang="zh-CN" sz="1400" b="1"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材料形成的生产过程</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2" name="圆角矩形 7">
            <a:extLst>
              <a:ext uri="{FF2B5EF4-FFF2-40B4-BE49-F238E27FC236}">
                <a16:creationId xmlns:a16="http://schemas.microsoft.com/office/drawing/2014/main" id="{15F0832F-579C-04E4-2CDE-337B54096072}"/>
              </a:ext>
            </a:extLst>
          </p:cNvPr>
          <p:cNvSpPr/>
          <p:nvPr/>
        </p:nvSpPr>
        <p:spPr>
          <a:xfrm>
            <a:off x="4244975" y="1771650"/>
            <a:ext cx="3473450" cy="342900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TextBox 8">
            <a:extLst>
              <a:ext uri="{FF2B5EF4-FFF2-40B4-BE49-F238E27FC236}">
                <a16:creationId xmlns:a16="http://schemas.microsoft.com/office/drawing/2014/main" id="{B88C4D78-E3B9-00E7-0F9A-11BCF0285F09}"/>
              </a:ext>
            </a:extLst>
          </p:cNvPr>
          <p:cNvSpPr txBox="1"/>
          <p:nvPr/>
        </p:nvSpPr>
        <p:spPr>
          <a:xfrm>
            <a:off x="4438033" y="2026380"/>
            <a:ext cx="3039092" cy="2717070"/>
          </a:xfrm>
          <a:prstGeom prst="rect">
            <a:avLst/>
          </a:prstGeom>
          <a:noFill/>
        </p:spPr>
        <p:txBody>
          <a:bodyPr wrap="square" lIns="0" tIns="0" rIns="0" bIns="0" rtlCol="0" anchor="t">
            <a:noAutofit/>
          </a:bodyPr>
          <a:lstStyle/>
          <a:p>
            <a:pPr algn="ctr" defTabSz="1219200">
              <a:spcBef>
                <a:spcPct val="20000"/>
              </a:spcBef>
              <a:spcAft>
                <a:spcPts val="600"/>
              </a:spcAft>
              <a:defRPr/>
            </a:pPr>
            <a:r>
              <a:rPr lang="zh-CN" altLang="en-US" dirty="0">
                <a:solidFill>
                  <a:srgbClr val="05B0F0"/>
                </a:solidFill>
                <a:latin typeface="思源黑体 CN Regular" charset="-122"/>
                <a:ea typeface="思源黑体 CN Regular" charset="-122"/>
                <a:cs typeface="思源黑体 CN Regular" charset="-122"/>
                <a:sym typeface="Arial" panose="020B0604020202090204" pitchFamily="34" charset="0"/>
              </a:rPr>
              <a:t>世界知识</a:t>
            </a:r>
            <a:endParaRPr lang="en-US" altLang="zh-CN" dirty="0">
              <a:solidFill>
                <a:srgbClr val="05B0F0"/>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spcBef>
                <a:spcPct val="20000"/>
              </a:spcBef>
              <a:defRPr/>
            </a:pP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世界知识是指日常生活中几乎每个人都知道的事实，因此也可以称为一般知识。世界知识可以是直观的，并通过人类在周围世界中的推理来隐含地验证。</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a:p>
            <a:pPr algn="l" defTabSz="1219200">
              <a:lnSpc>
                <a:spcPct val="150000"/>
              </a:lnSpc>
              <a:spcBef>
                <a:spcPct val="20000"/>
              </a:spcBef>
              <a:defRPr/>
            </a:pP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例如：</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buClrTx/>
              <a:buSzTx/>
              <a:buFont typeface="Arial" panose="020B0604020202090204" pitchFamily="34" charset="0"/>
              <a:defRPr/>
            </a:pPr>
            <a:r>
              <a:rPr lang="en-US" altLang="zh-CN" sz="1400" b="1"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鸟有羽毛会飞的事实</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buClrTx/>
              <a:buSzTx/>
              <a:buFont typeface="Arial" panose="020B0604020202090204" pitchFamily="34" charset="0"/>
              <a:defRPr/>
            </a:pPr>
            <a:r>
              <a:rPr lang="en-US" altLang="zh-CN" sz="1400" b="1"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语言的语法和语义</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7" name="圆角矩形 7">
            <a:extLst>
              <a:ext uri="{FF2B5EF4-FFF2-40B4-BE49-F238E27FC236}">
                <a16:creationId xmlns:a16="http://schemas.microsoft.com/office/drawing/2014/main" id="{A2A4204D-75F0-02A3-9C9B-C36C7A820990}"/>
              </a:ext>
            </a:extLst>
          </p:cNvPr>
          <p:cNvSpPr/>
          <p:nvPr/>
        </p:nvSpPr>
        <p:spPr>
          <a:xfrm>
            <a:off x="7985125" y="1771650"/>
            <a:ext cx="3473450" cy="342900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TextBox 8">
            <a:extLst>
              <a:ext uri="{FF2B5EF4-FFF2-40B4-BE49-F238E27FC236}">
                <a16:creationId xmlns:a16="http://schemas.microsoft.com/office/drawing/2014/main" id="{A658B1F7-5EE3-129E-A57D-30024FD29B3B}"/>
              </a:ext>
            </a:extLst>
          </p:cNvPr>
          <p:cNvSpPr txBox="1"/>
          <p:nvPr/>
        </p:nvSpPr>
        <p:spPr>
          <a:xfrm>
            <a:off x="8159133" y="2026380"/>
            <a:ext cx="3039092" cy="2717070"/>
          </a:xfrm>
          <a:prstGeom prst="rect">
            <a:avLst/>
          </a:prstGeom>
          <a:noFill/>
        </p:spPr>
        <p:txBody>
          <a:bodyPr wrap="square" lIns="0" tIns="0" rIns="0" bIns="0" rtlCol="0" anchor="t">
            <a:noAutofit/>
          </a:bodyPr>
          <a:lstStyle/>
          <a:p>
            <a:pPr algn="ctr" defTabSz="1219200">
              <a:spcBef>
                <a:spcPct val="20000"/>
              </a:spcBef>
              <a:spcAft>
                <a:spcPts val="600"/>
              </a:spcAft>
              <a:defRPr/>
            </a:pPr>
            <a:r>
              <a:rPr lang="zh-CN" altLang="en-US" dirty="0">
                <a:solidFill>
                  <a:srgbClr val="05B0F0"/>
                </a:solidFill>
                <a:latin typeface="思源黑体 CN Regular" charset="-122"/>
                <a:ea typeface="思源黑体 CN Regular" charset="-122"/>
                <a:cs typeface="思源黑体 CN Regular" charset="-122"/>
                <a:sym typeface="Arial" panose="020B0604020202090204" pitchFamily="34" charset="0"/>
              </a:rPr>
              <a:t>专家知识</a:t>
            </a:r>
            <a:endParaRPr lang="en-US" altLang="zh-CN" dirty="0">
              <a:solidFill>
                <a:srgbClr val="05B0F0"/>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spcBef>
                <a:spcPct val="20000"/>
              </a:spcBef>
              <a:defRPr/>
            </a:pP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专家知识是由特定专家组持有的知识。在专家社区中，它也可以称为常识。专家知识需要通过一组经验丰富的专家进行隐式验证，从而验证其内容的正确性。例如：</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buClrTx/>
              <a:buSzTx/>
              <a:buFont typeface="Arial" panose="020B0604020202090204" pitchFamily="34" charset="0"/>
              <a:defRPr/>
            </a:pPr>
            <a:r>
              <a:rPr lang="en-US" altLang="zh-CN" sz="1400" b="1"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工程师的经验</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buClrTx/>
              <a:buSzTx/>
              <a:buFont typeface="Arial" panose="020B0604020202090204" pitchFamily="34" charset="0"/>
              <a:defRPr/>
            </a:pPr>
            <a:r>
              <a:rPr lang="en-US" altLang="zh-CN" sz="1400" b="1"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rPr>
              <a:t>医生的领域知识</a:t>
            </a:r>
            <a:endParaRPr lang="en-US" altLang="zh-CN" sz="1400" dirty="0">
              <a:solidFill>
                <a:schemeClr val="bg2">
                  <a:lumMod val="25000"/>
                </a:schemeClr>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extLst>
      <p:ext uri="{BB962C8B-B14F-4D97-AF65-F5344CB8AC3E}">
        <p14:creationId xmlns:p14="http://schemas.microsoft.com/office/powerpoint/2010/main" val="3033368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CCA78-DFBD-5A2C-8EE6-0E388098CE11}"/>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59025EA6-A755-A1D5-5285-B4A1EE9D8460}"/>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先验知识表示方法</a:t>
            </a:r>
          </a:p>
        </p:txBody>
      </p:sp>
      <p:sp>
        <p:nvSpPr>
          <p:cNvPr id="6" name="文本框 5">
            <a:extLst>
              <a:ext uri="{FF2B5EF4-FFF2-40B4-BE49-F238E27FC236}">
                <a16:creationId xmlns:a16="http://schemas.microsoft.com/office/drawing/2014/main" id="{B4109AA6-45F8-1839-4F30-70A580B96BD7}"/>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先验知识表示方法</a:t>
            </a:r>
          </a:p>
        </p:txBody>
      </p:sp>
      <p:sp>
        <p:nvSpPr>
          <p:cNvPr id="24" name="TextBox 8">
            <a:extLst>
              <a:ext uri="{FF2B5EF4-FFF2-40B4-BE49-F238E27FC236}">
                <a16:creationId xmlns:a16="http://schemas.microsoft.com/office/drawing/2014/main" id="{7A3317B2-7F9C-C9DC-DC01-A7C450122D42}"/>
              </a:ext>
            </a:extLst>
          </p:cNvPr>
          <p:cNvSpPr txBox="1"/>
          <p:nvPr/>
        </p:nvSpPr>
        <p:spPr>
          <a:xfrm>
            <a:off x="402630" y="1771120"/>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先验知识的表示方法主要包括以下七种</a:t>
            </a:r>
            <a:r>
              <a:rPr lang="en-US" altLang="zh-CN" sz="1600" baseline="30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[2]</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p>
        </p:txBody>
      </p:sp>
      <p:sp>
        <p:nvSpPr>
          <p:cNvPr id="2" name="矩形: 折角 1">
            <a:extLst>
              <a:ext uri="{FF2B5EF4-FFF2-40B4-BE49-F238E27FC236}">
                <a16:creationId xmlns:a16="http://schemas.microsoft.com/office/drawing/2014/main" id="{5A4E1C8D-0EA6-DBDC-579D-7A98369FCD4B}"/>
              </a:ext>
            </a:extLst>
          </p:cNvPr>
          <p:cNvSpPr/>
          <p:nvPr/>
        </p:nvSpPr>
        <p:spPr>
          <a:xfrm>
            <a:off x="402630" y="2607153"/>
            <a:ext cx="3407371"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C3DF55F-B909-46E5-A4E7-0F3E7EEE4321}"/>
              </a:ext>
            </a:extLst>
          </p:cNvPr>
          <p:cNvSpPr txBox="1"/>
          <p:nvPr/>
        </p:nvSpPr>
        <p:spPr>
          <a:xfrm>
            <a:off x="459381" y="2699413"/>
            <a:ext cx="3293870" cy="2346925"/>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1.</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 代数方程</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代数方程将知识表示为由变量或常量组成的数学表达式的相等或不相等关系。方程可用于描述一般函数或将变量约束为可行集，因此有时也称之为代数约束。</a:t>
            </a:r>
          </a:p>
        </p:txBody>
      </p:sp>
      <p:sp>
        <p:nvSpPr>
          <p:cNvPr id="8" name="矩形: 折角 7">
            <a:extLst>
              <a:ext uri="{FF2B5EF4-FFF2-40B4-BE49-F238E27FC236}">
                <a16:creationId xmlns:a16="http://schemas.microsoft.com/office/drawing/2014/main" id="{9C930CE3-9AD6-40EC-C2AB-BAB461B69714}"/>
              </a:ext>
            </a:extLst>
          </p:cNvPr>
          <p:cNvSpPr/>
          <p:nvPr/>
        </p:nvSpPr>
        <p:spPr>
          <a:xfrm>
            <a:off x="4041180" y="2607153"/>
            <a:ext cx="3407371"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6D17CEDF-BB5A-0AF8-A6F6-29D1BB47F73B}"/>
              </a:ext>
            </a:extLst>
          </p:cNvPr>
          <p:cNvSpPr txBox="1"/>
          <p:nvPr/>
        </p:nvSpPr>
        <p:spPr>
          <a:xfrm>
            <a:off x="4097931" y="2699413"/>
            <a:ext cx="32744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2. </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仿真结果</a:t>
            </a: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仿真结果描述了计算机仿真的数值结果，它是对真实过程行为的近似模拟。仿真引擎通常使用数值方法来求解数学模型，并为特定情况的参数生成结果，该结果即为最终的知识表示。</a:t>
            </a:r>
          </a:p>
        </p:txBody>
      </p:sp>
      <p:sp>
        <p:nvSpPr>
          <p:cNvPr id="15" name="矩形: 折角 14">
            <a:extLst>
              <a:ext uri="{FF2B5EF4-FFF2-40B4-BE49-F238E27FC236}">
                <a16:creationId xmlns:a16="http://schemas.microsoft.com/office/drawing/2014/main" id="{F7308F24-49D9-9B1F-2798-CB0BEC666E1F}"/>
              </a:ext>
            </a:extLst>
          </p:cNvPr>
          <p:cNvSpPr/>
          <p:nvPr/>
        </p:nvSpPr>
        <p:spPr>
          <a:xfrm>
            <a:off x="7679730" y="2607153"/>
            <a:ext cx="3407372" cy="30189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F0835F56-63E2-C1D5-420F-1AA65F0F038B}"/>
              </a:ext>
            </a:extLst>
          </p:cNvPr>
          <p:cNvSpPr txBox="1"/>
          <p:nvPr/>
        </p:nvSpPr>
        <p:spPr>
          <a:xfrm>
            <a:off x="7736481" y="2699413"/>
            <a:ext cx="32998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3. </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空间不变性</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空间不变性描述了在几何变换下不会改变的属性。如果几何对象在此类转换下保持不变，则它具有对称性。如果函数的参数对称变换具有相同的结果，则可以将其称为不变性。</a:t>
            </a:r>
          </a:p>
        </p:txBody>
      </p:sp>
      <p:sp>
        <p:nvSpPr>
          <p:cNvPr id="3" name="TextBox 8">
            <a:extLst>
              <a:ext uri="{FF2B5EF4-FFF2-40B4-BE49-F238E27FC236}">
                <a16:creationId xmlns:a16="http://schemas.microsoft.com/office/drawing/2014/main" id="{FDF3FEBE-F8AB-65C7-5274-A8BD35E157A6}"/>
              </a:ext>
            </a:extLst>
          </p:cNvPr>
          <p:cNvSpPr txBox="1"/>
          <p:nvPr/>
        </p:nvSpPr>
        <p:spPr>
          <a:xfrm>
            <a:off x="336550" y="6230149"/>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en-US" altLang="zh-CN" sz="1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[2] Von Rueden L, Mayer S, </a:t>
            </a:r>
            <a:r>
              <a:rPr lang="en-US" altLang="zh-CN" sz="1000" dirty="0" err="1">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Beckh</a:t>
            </a:r>
            <a:r>
              <a:rPr lang="en-US" altLang="zh-CN" sz="1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K, et al. Informed machine learning–a taxonomy and survey of integrating prior knowledge into learning systems[J]. IEEE Transactions on Knowledge and Data Engineering, 2021, 35(1): 614-633.</a:t>
            </a:r>
            <a:endParaRPr lang="zh-CN" altLang="en-US" sz="1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extLst>
      <p:ext uri="{BB962C8B-B14F-4D97-AF65-F5344CB8AC3E}">
        <p14:creationId xmlns:p14="http://schemas.microsoft.com/office/powerpoint/2010/main" val="2497515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C35F-F948-2F29-4D7B-441DC4B2B771}"/>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E3FB130F-538A-FFB7-2EE5-7612976DD70E}"/>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先验知识表示方法</a:t>
            </a:r>
          </a:p>
        </p:txBody>
      </p:sp>
      <p:sp>
        <p:nvSpPr>
          <p:cNvPr id="6" name="文本框 5">
            <a:extLst>
              <a:ext uri="{FF2B5EF4-FFF2-40B4-BE49-F238E27FC236}">
                <a16:creationId xmlns:a16="http://schemas.microsoft.com/office/drawing/2014/main" id="{2C44FCD0-5EBC-083D-15D4-17351CEE9C17}"/>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先验知识表示方法</a:t>
            </a:r>
          </a:p>
        </p:txBody>
      </p:sp>
      <p:sp>
        <p:nvSpPr>
          <p:cNvPr id="2" name="矩形: 折角 1">
            <a:extLst>
              <a:ext uri="{FF2B5EF4-FFF2-40B4-BE49-F238E27FC236}">
                <a16:creationId xmlns:a16="http://schemas.microsoft.com/office/drawing/2014/main" id="{34FD50C7-70B5-6809-92FF-311280D27413}"/>
              </a:ext>
            </a:extLst>
          </p:cNvPr>
          <p:cNvSpPr/>
          <p:nvPr/>
        </p:nvSpPr>
        <p:spPr>
          <a:xfrm>
            <a:off x="402630" y="2607153"/>
            <a:ext cx="2734270" cy="3323747"/>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8F156AD3-B7E7-8166-20A9-DFD20A8B5D86}"/>
              </a:ext>
            </a:extLst>
          </p:cNvPr>
          <p:cNvSpPr txBox="1"/>
          <p:nvPr/>
        </p:nvSpPr>
        <p:spPr>
          <a:xfrm>
            <a:off x="459381" y="2699413"/>
            <a:ext cx="26775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4.</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逻辑规则</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逻辑提供了一种将有关事实和依赖关系的知识形式化的方法，并允许将普通语言语句转换为形式化逻辑规则。逻辑规则也称为逻辑约束或逻辑语句。</a:t>
            </a:r>
          </a:p>
        </p:txBody>
      </p:sp>
      <p:sp>
        <p:nvSpPr>
          <p:cNvPr id="23" name="矩形: 折角 22">
            <a:extLst>
              <a:ext uri="{FF2B5EF4-FFF2-40B4-BE49-F238E27FC236}">
                <a16:creationId xmlns:a16="http://schemas.microsoft.com/office/drawing/2014/main" id="{C30365F3-DCC5-F6EB-7D8D-5CBF553FF388}"/>
              </a:ext>
            </a:extLst>
          </p:cNvPr>
          <p:cNvSpPr/>
          <p:nvPr/>
        </p:nvSpPr>
        <p:spPr>
          <a:xfrm>
            <a:off x="3247430" y="2607153"/>
            <a:ext cx="2734270"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32D281D9-96B1-8756-E335-326E726CCDF1}"/>
              </a:ext>
            </a:extLst>
          </p:cNvPr>
          <p:cNvSpPr txBox="1"/>
          <p:nvPr/>
        </p:nvSpPr>
        <p:spPr>
          <a:xfrm>
            <a:off x="3304181" y="2699413"/>
            <a:ext cx="2677519" cy="3085588"/>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5. </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知识图谱</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在图论中，图的形式为</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(V,E)</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。其中</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V</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是顶点集，而</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E</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表示边集。在知识图谱中，一般规定顶点用于描述概念，而边描述它们之间的（抽象）关系。在普通加权图中，边的值量化了节点之间的关系。</a:t>
            </a:r>
          </a:p>
        </p:txBody>
      </p:sp>
      <p:sp>
        <p:nvSpPr>
          <p:cNvPr id="26" name="矩形: 折角 25">
            <a:extLst>
              <a:ext uri="{FF2B5EF4-FFF2-40B4-BE49-F238E27FC236}">
                <a16:creationId xmlns:a16="http://schemas.microsoft.com/office/drawing/2014/main" id="{77C7A085-D5FD-1BC9-3383-41071CA5E06E}"/>
              </a:ext>
            </a:extLst>
          </p:cNvPr>
          <p:cNvSpPr/>
          <p:nvPr/>
        </p:nvSpPr>
        <p:spPr>
          <a:xfrm>
            <a:off x="6095998" y="2607153"/>
            <a:ext cx="2734270"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A2737C30-87C6-25B7-7C16-E8BFE8BE411D}"/>
              </a:ext>
            </a:extLst>
          </p:cNvPr>
          <p:cNvSpPr txBox="1"/>
          <p:nvPr/>
        </p:nvSpPr>
        <p:spPr>
          <a:xfrm>
            <a:off x="6152749" y="2699413"/>
            <a:ext cx="2677519" cy="3085588"/>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6. </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概率关系</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概率关系的核心概念是随机变量</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X</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来自可以根据基础概率分布</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P(X)</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进行抽取的样本</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x</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。先验知识可以是对随机变量的条件独立性或相关结构的假设，甚至是对联合概率分布的完整描述。</a:t>
            </a:r>
          </a:p>
        </p:txBody>
      </p:sp>
      <p:sp>
        <p:nvSpPr>
          <p:cNvPr id="28" name="矩形: 折角 27">
            <a:extLst>
              <a:ext uri="{FF2B5EF4-FFF2-40B4-BE49-F238E27FC236}">
                <a16:creationId xmlns:a16="http://schemas.microsoft.com/office/drawing/2014/main" id="{39A788F7-E47D-A6C6-F171-D10373282153}"/>
              </a:ext>
            </a:extLst>
          </p:cNvPr>
          <p:cNvSpPr/>
          <p:nvPr/>
        </p:nvSpPr>
        <p:spPr>
          <a:xfrm>
            <a:off x="8944566" y="2607152"/>
            <a:ext cx="2734270" cy="3268502"/>
          </a:xfrm>
          <a:prstGeom prst="foldedCorner">
            <a:avLst>
              <a:gd name="adj" fmla="val 10208"/>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F0A6E551-8218-B16B-8D69-45341DF5F3FB}"/>
              </a:ext>
            </a:extLst>
          </p:cNvPr>
          <p:cNvSpPr txBox="1"/>
          <p:nvPr/>
        </p:nvSpPr>
        <p:spPr>
          <a:xfrm>
            <a:off x="9001317" y="2699412"/>
            <a:ext cx="2677519" cy="2716256"/>
          </a:xfrm>
          <a:prstGeom prst="rect">
            <a:avLst/>
          </a:prstGeom>
          <a:noFill/>
        </p:spPr>
        <p:txBody>
          <a:bodyPr wrap="square">
            <a:spAutoFit/>
          </a:bodyPr>
          <a:lstStyle/>
          <a:p>
            <a:pPr algn="just" defTabSz="1219200" fontAlgn="auto">
              <a:lnSpc>
                <a:spcPct val="150000"/>
              </a:lnSpc>
              <a:spcBef>
                <a:spcPts val="600"/>
              </a:spcBef>
              <a:defRPr/>
            </a:pPr>
            <a:r>
              <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7. </a:t>
            </a: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人工反馈</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人类反馈是指通过用户和机器之间的直接接口转换知识的技术。典型的模式包括键盘、鼠标和触摸屏，其次是语音和计算机视觉，例如用于运动捕捉的跟踪设备。</a:t>
            </a:r>
          </a:p>
        </p:txBody>
      </p:sp>
      <p:sp>
        <p:nvSpPr>
          <p:cNvPr id="3" name="TextBox 8">
            <a:extLst>
              <a:ext uri="{FF2B5EF4-FFF2-40B4-BE49-F238E27FC236}">
                <a16:creationId xmlns:a16="http://schemas.microsoft.com/office/drawing/2014/main" id="{2674E603-5460-B1F8-63C7-859C0541DEBA}"/>
              </a:ext>
            </a:extLst>
          </p:cNvPr>
          <p:cNvSpPr txBox="1"/>
          <p:nvPr/>
        </p:nvSpPr>
        <p:spPr>
          <a:xfrm>
            <a:off x="402630" y="1771120"/>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先验知识的表示方法主要包括以下七种：</a:t>
            </a:r>
          </a:p>
        </p:txBody>
      </p:sp>
    </p:spTree>
    <p:custDataLst>
      <p:tags r:id="rId1"/>
    </p:custDataLst>
    <p:extLst>
      <p:ext uri="{BB962C8B-B14F-4D97-AF65-F5344CB8AC3E}">
        <p14:creationId xmlns:p14="http://schemas.microsoft.com/office/powerpoint/2010/main" val="2696450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7F84-A7FA-0147-2B38-25A4593E251F}"/>
            </a:ext>
          </a:extLst>
        </p:cNvPr>
        <p:cNvGrpSpPr/>
        <p:nvPr/>
      </p:nvGrpSpPr>
      <p:grpSpPr>
        <a:xfrm>
          <a:off x="0" y="0"/>
          <a:ext cx="0" cy="0"/>
          <a:chOff x="0" y="0"/>
          <a:chExt cx="0" cy="0"/>
        </a:xfrm>
      </p:grpSpPr>
      <p:grpSp>
        <p:nvGrpSpPr>
          <p:cNvPr id="5" name="组合 4">
            <a:extLst>
              <a:ext uri="{FF2B5EF4-FFF2-40B4-BE49-F238E27FC236}">
                <a16:creationId xmlns:a16="http://schemas.microsoft.com/office/drawing/2014/main" id="{A1BC4978-A6DF-E1AB-24E3-95DA7B81CDA1}"/>
              </a:ext>
            </a:extLst>
          </p:cNvPr>
          <p:cNvGrpSpPr/>
          <p:nvPr/>
        </p:nvGrpSpPr>
        <p:grpSpPr>
          <a:xfrm rot="16200000">
            <a:off x="2667000" y="-2667000"/>
            <a:ext cx="6858000" cy="12192000"/>
            <a:chOff x="0" y="0"/>
            <a:chExt cx="12192000" cy="6858000"/>
          </a:xfrm>
        </p:grpSpPr>
        <p:pic>
          <p:nvPicPr>
            <p:cNvPr id="4" name="图片 3">
              <a:extLst>
                <a:ext uri="{FF2B5EF4-FFF2-40B4-BE49-F238E27FC236}">
                  <a16:creationId xmlns:a16="http://schemas.microsoft.com/office/drawing/2014/main" id="{C52C840F-E3F1-52E3-4B33-58F52D4C4758}"/>
                </a:ext>
              </a:extLst>
            </p:cNvPr>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a:extLst>
                <a:ext uri="{FF2B5EF4-FFF2-40B4-BE49-F238E27FC236}">
                  <a16:creationId xmlns:a16="http://schemas.microsoft.com/office/drawing/2014/main" id="{3551EB9A-EEF7-0B65-667F-903AEA7D9E39}"/>
                </a:ext>
              </a:extLst>
            </p:cNvPr>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a:extLst>
              <a:ext uri="{FF2B5EF4-FFF2-40B4-BE49-F238E27FC236}">
                <a16:creationId xmlns:a16="http://schemas.microsoft.com/office/drawing/2014/main" id="{6C46ABFA-9BB2-2257-7448-30E5554D6B9D}"/>
              </a:ext>
            </a:extLst>
          </p:cNvPr>
          <p:cNvSpPr/>
          <p:nvPr/>
        </p:nvSpPr>
        <p:spPr>
          <a:xfrm>
            <a:off x="1605816" y="3010683"/>
            <a:ext cx="8980369" cy="2123658"/>
          </a:xfrm>
          <a:prstGeom prst="rect">
            <a:avLst/>
          </a:prstGeom>
        </p:spPr>
        <p:txBody>
          <a:bodyPr wrap="square">
            <a:spAutoFit/>
          </a:bodyPr>
          <a:lstStyle/>
          <a:p>
            <a:pPr algn="ctr">
              <a:buClrTx/>
              <a:buSzTx/>
              <a:buFontTx/>
            </a:pPr>
            <a:r>
              <a:rPr lang="zh-CN" altLang="en-US" sz="6600" dirty="0">
                <a:solidFill>
                  <a:srgbClr val="006FAE"/>
                </a:solidFill>
                <a:latin typeface="思源黑体 CN Regular" charset="-122"/>
                <a:ea typeface="思源黑体 CN Regular" charset="-122"/>
                <a:cs typeface="+mn-ea"/>
                <a:sym typeface="Arial" panose="020B0604020202090204" pitchFamily="34" charset="0"/>
              </a:rPr>
              <a:t>先验知识融入策略</a:t>
            </a:r>
          </a:p>
          <a:p>
            <a:pPr algn="ctr">
              <a:buClrTx/>
              <a:buSzTx/>
              <a:buFontTx/>
            </a:pPr>
            <a:endParaRPr lang="zh-CN" altLang="en-US" sz="6600" dirty="0">
              <a:solidFill>
                <a:srgbClr val="006FAE"/>
              </a:solidFill>
              <a:latin typeface="思源黑体 CN Regular" charset="-122"/>
              <a:ea typeface="思源黑体 CN Regular" charset="-122"/>
              <a:cs typeface="+mn-ea"/>
              <a:sym typeface="Arial" panose="020B0604020202090204" pitchFamily="34" charset="0"/>
            </a:endParaRPr>
          </a:p>
        </p:txBody>
      </p:sp>
      <p:sp>
        <p:nvSpPr>
          <p:cNvPr id="23" name="椭圆 22">
            <a:extLst>
              <a:ext uri="{FF2B5EF4-FFF2-40B4-BE49-F238E27FC236}">
                <a16:creationId xmlns:a16="http://schemas.microsoft.com/office/drawing/2014/main" id="{561E3DBA-860E-CB4C-F658-74670474519C}"/>
              </a:ext>
            </a:extLst>
          </p:cNvPr>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charset="-122"/>
                <a:ea typeface="思源黑体 CN Regular" charset="-122"/>
                <a:cs typeface="思源黑体 CN Regular" charset="-122"/>
                <a:sym typeface="Arial" panose="020B0604020202090204" pitchFamily="34" charset="0"/>
              </a:rPr>
              <a:t>03</a:t>
            </a:r>
            <a:endParaRPr lang="zh-CN" altLang="en-US" sz="3200"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
        <p:nvSpPr>
          <p:cNvPr id="2" name="矩形 1">
            <a:extLst>
              <a:ext uri="{FF2B5EF4-FFF2-40B4-BE49-F238E27FC236}">
                <a16:creationId xmlns:a16="http://schemas.microsoft.com/office/drawing/2014/main" id="{B6319558-B534-87BC-9553-6CAF5BBFEB0F}"/>
              </a:ext>
            </a:extLst>
          </p:cNvPr>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charset="-122"/>
                <a:ea typeface="思源黑体 CN Regular" charset="-122"/>
                <a:cs typeface="+mn-ea"/>
                <a:sym typeface="Arial" panose="020B0604020202090204" pitchFamily="34" charset="0"/>
              </a:rPr>
              <a:t>Prior Knowledge Integration</a:t>
            </a:r>
          </a:p>
        </p:txBody>
      </p:sp>
    </p:spTree>
    <p:custDataLst>
      <p:tags r:id="rId1"/>
    </p:custDataLst>
    <p:extLst>
      <p:ext uri="{BB962C8B-B14F-4D97-AF65-F5344CB8AC3E}">
        <p14:creationId xmlns:p14="http://schemas.microsoft.com/office/powerpoint/2010/main" val="1050344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29B52-AC59-6434-01AD-B0BBFDBCF864}"/>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692892E9-C663-BD96-79CC-53FAA0C58F55}"/>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先验知识融入策略</a:t>
            </a:r>
          </a:p>
        </p:txBody>
      </p:sp>
      <p:sp>
        <p:nvSpPr>
          <p:cNvPr id="6" name="文本框 5">
            <a:extLst>
              <a:ext uri="{FF2B5EF4-FFF2-40B4-BE49-F238E27FC236}">
                <a16:creationId xmlns:a16="http://schemas.microsoft.com/office/drawing/2014/main" id="{72CF4429-9CC9-208F-6E83-D1265812D0BA}"/>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a:solidFill>
                  <a:schemeClr val="accent1"/>
                </a:solidFill>
                <a:latin typeface="思源黑体 CN Regular" charset="-122"/>
                <a:ea typeface="思源黑体 CN Regular" charset="-122"/>
                <a:cs typeface="思源黑体 CN Regular" charset="-122"/>
                <a:sym typeface="Arial" panose="020B0604020202090204" pitchFamily="34" charset="0"/>
              </a:rPr>
              <a:t>先验知识可</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融入的阶段</a:t>
            </a:r>
          </a:p>
        </p:txBody>
      </p:sp>
      <p:pic>
        <p:nvPicPr>
          <p:cNvPr id="3" name="图片 2">
            <a:extLst>
              <a:ext uri="{FF2B5EF4-FFF2-40B4-BE49-F238E27FC236}">
                <a16:creationId xmlns:a16="http://schemas.microsoft.com/office/drawing/2014/main" id="{8955497C-E897-C662-C77A-DD3DCD2113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7507" y="982345"/>
            <a:ext cx="6723050" cy="4441092"/>
          </a:xfrm>
          <a:prstGeom prst="rect">
            <a:avLst/>
          </a:prstGeom>
        </p:spPr>
      </p:pic>
      <p:sp>
        <p:nvSpPr>
          <p:cNvPr id="2" name="TextBox 8">
            <a:extLst>
              <a:ext uri="{FF2B5EF4-FFF2-40B4-BE49-F238E27FC236}">
                <a16:creationId xmlns:a16="http://schemas.microsoft.com/office/drawing/2014/main" id="{018608BB-CAF2-A9F3-547D-DBC6B08F93A6}"/>
              </a:ext>
            </a:extLst>
          </p:cNvPr>
          <p:cNvSpPr txBox="1"/>
          <p:nvPr/>
        </p:nvSpPr>
        <p:spPr>
          <a:xfrm>
            <a:off x="539750" y="2022894"/>
            <a:ext cx="3251200" cy="1926492"/>
          </a:xfrm>
          <a:prstGeom prst="rect">
            <a:avLst/>
          </a:prstGeom>
          <a:noFill/>
        </p:spPr>
        <p:txBody>
          <a:bodyPr wrap="square" lIns="0" tIns="0" rIns="0" bIns="0" rtlCol="0" anchor="t">
            <a:noAutofit/>
          </a:bodyPr>
          <a:lstStyle/>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训练数据阶段</a:t>
            </a:r>
            <a:endParaRPr lang="en-US" altLang="zh-CN"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假设集阶段</a:t>
            </a:r>
            <a:endParaRPr lang="en-US" altLang="zh-CN"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学习算法阶段</a:t>
            </a:r>
            <a:endParaRPr lang="en-US" altLang="zh-CN"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285750" indent="-285750" algn="l" defTabSz="1219200">
              <a:lnSpc>
                <a:spcPct val="150000"/>
              </a:lnSpc>
              <a:spcBef>
                <a:spcPts val="600"/>
              </a:spcBef>
              <a:buFont typeface="Arial" panose="020B0604020202090204" pitchFamily="34" charset="0"/>
              <a:buChar char="•"/>
              <a:defRPr/>
            </a:pP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最终假设阶段</a:t>
            </a:r>
            <a:endParaRPr lang="en-US" altLang="zh-CN"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285750" indent="-285750" algn="l" defTabSz="1219200">
              <a:lnSpc>
                <a:spcPct val="150000"/>
              </a:lnSpc>
              <a:spcBef>
                <a:spcPct val="20000"/>
              </a:spcBef>
              <a:buFont typeface="Arial" panose="020B0604020202090204" pitchFamily="34" charset="0"/>
              <a:buChar char="•"/>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4" name="TextBox 8">
            <a:extLst>
              <a:ext uri="{FF2B5EF4-FFF2-40B4-BE49-F238E27FC236}">
                <a16:creationId xmlns:a16="http://schemas.microsoft.com/office/drawing/2014/main" id="{54E7DE2B-26B9-B618-1CE2-F3BF81CC5C39}"/>
              </a:ext>
            </a:extLst>
          </p:cNvPr>
          <p:cNvSpPr txBox="1"/>
          <p:nvPr/>
        </p:nvSpPr>
        <p:spPr>
          <a:xfrm>
            <a:off x="4227508" y="5554589"/>
            <a:ext cx="6723049"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先验知识融入的阶段</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extLst>
      <p:ext uri="{BB962C8B-B14F-4D97-AF65-F5344CB8AC3E}">
        <p14:creationId xmlns:p14="http://schemas.microsoft.com/office/powerpoint/2010/main" val="2441984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先验知识融入策略</a:t>
            </a:r>
          </a:p>
        </p:txBody>
      </p:sp>
      <p:sp>
        <p:nvSpPr>
          <p:cNvPr id="6" name="文本框 5"/>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1</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）代数方程的融入</a:t>
            </a:r>
          </a:p>
        </p:txBody>
      </p:sp>
      <p:sp>
        <p:nvSpPr>
          <p:cNvPr id="24" name="TextBox 8">
            <a:extLst>
              <a:ext uri="{FF2B5EF4-FFF2-40B4-BE49-F238E27FC236}">
                <a16:creationId xmlns:a16="http://schemas.microsoft.com/office/drawing/2014/main" id="{8BDC98C0-1898-023A-A177-97CCB3B8BF64}"/>
              </a:ext>
            </a:extLst>
          </p:cNvPr>
          <p:cNvSpPr txBox="1"/>
          <p:nvPr/>
        </p:nvSpPr>
        <p:spPr>
          <a:xfrm>
            <a:off x="504032" y="1738789"/>
            <a:ext cx="9652635" cy="1418272"/>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先验知识来源</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科学知识：物理学、生物学、工程学中的定律</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如运动学方程、密度关系等</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专家知识：变量有效范围、单调性约束等直觉知识</a:t>
            </a:r>
          </a:p>
        </p:txBody>
      </p:sp>
      <p:sp>
        <p:nvSpPr>
          <p:cNvPr id="25" name="TextBox 8">
            <a:extLst>
              <a:ext uri="{FF2B5EF4-FFF2-40B4-BE49-F238E27FC236}">
                <a16:creationId xmlns:a16="http://schemas.microsoft.com/office/drawing/2014/main" id="{8380217E-A970-8BD3-EA2A-4E074FB0C9D0}"/>
              </a:ext>
            </a:extLst>
          </p:cNvPr>
          <p:cNvSpPr txBox="1"/>
          <p:nvPr/>
        </p:nvSpPr>
        <p:spPr>
          <a:xfrm>
            <a:off x="504032" y="3195160"/>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数据阶段：数据生成、清理与验证</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模型阶段：假设集定义、特征构造</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训练阶段：损失函数设计、正则化约束</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推理阶段：结果验证与后处理校正</a:t>
            </a:r>
          </a:p>
        </p:txBody>
      </p:sp>
      <p:sp>
        <p:nvSpPr>
          <p:cNvPr id="27" name="矩形: 折角 26">
            <a:extLst>
              <a:ext uri="{FF2B5EF4-FFF2-40B4-BE49-F238E27FC236}">
                <a16:creationId xmlns:a16="http://schemas.microsoft.com/office/drawing/2014/main" id="{1884F3B2-9F34-D91D-578F-B743C557A581}"/>
              </a:ext>
            </a:extLst>
          </p:cNvPr>
          <p:cNvSpPr/>
          <p:nvPr/>
        </p:nvSpPr>
        <p:spPr>
          <a:xfrm>
            <a:off x="7762080" y="1738789"/>
            <a:ext cx="4137819" cy="3637597"/>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a:extLst>
              <a:ext uri="{FF2B5EF4-FFF2-40B4-BE49-F238E27FC236}">
                <a16:creationId xmlns:a16="http://schemas.microsoft.com/office/drawing/2014/main" id="{543CDB2C-6124-E37B-5A3D-17ACDD1A80C7}"/>
              </a:ext>
            </a:extLst>
          </p:cNvPr>
          <p:cNvSpPr txBox="1"/>
          <p:nvPr/>
        </p:nvSpPr>
        <p:spPr>
          <a:xfrm>
            <a:off x="8006555" y="1880157"/>
            <a:ext cx="2713040"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charset="-122"/>
                <a:ea typeface="思源黑体 CN Regular" charset="-122"/>
                <a:cs typeface="思源黑体 CN Regular" charset="-122"/>
                <a:sym typeface="Arial" panose="020B0604020202090204" pitchFamily="34" charset="0"/>
              </a:rPr>
              <a:t>应用案例：肿瘤体积预测</a:t>
            </a:r>
            <a:endParaRPr lang="en-US" altLang="zh-CN"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9711E5DD-1AEC-530F-1286-DBB04B0BDECF}"/>
                  </a:ext>
                </a:extLst>
              </p:cNvPr>
              <p:cNvSpPr txBox="1"/>
              <p:nvPr/>
            </p:nvSpPr>
            <p:spPr>
              <a:xfrm>
                <a:off x="7952182" y="2320000"/>
                <a:ext cx="3681413" cy="2870145"/>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先验知识</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体积公式</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𝑉</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=(4/3)</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𝜋</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𝑑</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/2)³</m:t>
                    </m:r>
                  </m:oMath>
                </a14:m>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通过代数方程扩展数据集、指导特征选择、设计损失函数</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残差项</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、校正预测结果</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提高医学影像分析的准确性和可解释性</a:t>
                </a:r>
              </a:p>
            </p:txBody>
          </p:sp>
        </mc:Choice>
        <mc:Fallback xmlns="">
          <p:sp>
            <p:nvSpPr>
              <p:cNvPr id="29" name="文本框 28">
                <a:extLst>
                  <a:ext uri="{FF2B5EF4-FFF2-40B4-BE49-F238E27FC236}">
                    <a16:creationId xmlns:a16="http://schemas.microsoft.com/office/drawing/2014/main" id="{9711E5DD-1AEC-530F-1286-DBB04B0BDECF}"/>
                  </a:ext>
                </a:extLst>
              </p:cNvPr>
              <p:cNvSpPr txBox="1">
                <a:spLocks noRot="1" noChangeAspect="1" noMove="1" noResize="1" noEditPoints="1" noAdjustHandles="1" noChangeArrowheads="1" noChangeShapeType="1" noTextEdit="1"/>
              </p:cNvSpPr>
              <p:nvPr/>
            </p:nvSpPr>
            <p:spPr>
              <a:xfrm>
                <a:off x="7952182" y="2320000"/>
                <a:ext cx="3681413" cy="2870145"/>
              </a:xfrm>
              <a:prstGeom prst="rect">
                <a:avLst/>
              </a:prstGeom>
              <a:blipFill>
                <a:blip r:embed="rId4"/>
                <a:stretch>
                  <a:fillRect l="-828" r="-993" b="-2128"/>
                </a:stretch>
              </a:blipFill>
            </p:spPr>
            <p:txBody>
              <a:bodyPr/>
              <a:lstStyle/>
              <a:p>
                <a:r>
                  <a:rPr lang="zh-CN" altLang="en-US">
                    <a:noFill/>
                  </a:rPr>
                  <a:t> </a:t>
                </a:r>
              </a:p>
            </p:txBody>
          </p:sp>
        </mc:Fallback>
      </mc:AlternateContent>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8E978-1201-C757-5B8E-EE746A69883B}"/>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2A5CD673-15E5-F881-AA35-5900F189E3B6}"/>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先验知识融入策略</a:t>
            </a:r>
          </a:p>
        </p:txBody>
      </p:sp>
      <p:sp>
        <p:nvSpPr>
          <p:cNvPr id="6" name="文本框 5">
            <a:extLst>
              <a:ext uri="{FF2B5EF4-FFF2-40B4-BE49-F238E27FC236}">
                <a16:creationId xmlns:a16="http://schemas.microsoft.com/office/drawing/2014/main" id="{9808A5BA-8F11-2C93-A6B9-6D3145AA9362}"/>
              </a:ext>
            </a:extLst>
          </p:cNvPr>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2</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）仿真结果的融入</a:t>
            </a:r>
          </a:p>
        </p:txBody>
      </p:sp>
      <p:sp>
        <p:nvSpPr>
          <p:cNvPr id="24" name="TextBox 8">
            <a:extLst>
              <a:ext uri="{FF2B5EF4-FFF2-40B4-BE49-F238E27FC236}">
                <a16:creationId xmlns:a16="http://schemas.microsoft.com/office/drawing/2014/main" id="{E195D589-05AE-72FC-813F-3C8A4D0B7D8A}"/>
              </a:ext>
            </a:extLst>
          </p:cNvPr>
          <p:cNvSpPr txBox="1"/>
          <p:nvPr/>
        </p:nvSpPr>
        <p:spPr>
          <a:xfrm>
            <a:off x="504032" y="1738789"/>
            <a:ext cx="9652635" cy="1418272"/>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先验知识来源</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自然科学：流体与热力学、材料科学、生命科学</a:t>
            </a: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工程应用：力学与机器人学、自动驾驶</a:t>
            </a:r>
          </a:p>
        </p:txBody>
      </p:sp>
      <p:sp>
        <p:nvSpPr>
          <p:cNvPr id="25" name="TextBox 8">
            <a:extLst>
              <a:ext uri="{FF2B5EF4-FFF2-40B4-BE49-F238E27FC236}">
                <a16:creationId xmlns:a16="http://schemas.microsoft.com/office/drawing/2014/main" id="{969F08C7-115E-E58D-DEC8-C169D0DE73E2}"/>
              </a:ext>
            </a:extLst>
          </p:cNvPr>
          <p:cNvSpPr txBox="1"/>
          <p:nvPr/>
        </p:nvSpPr>
        <p:spPr>
          <a:xfrm>
            <a:off x="504032" y="3195160"/>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数据阶段：扩展有限标注数据</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模型阶段：提供结构性指引、特征筛选</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训练阶段：软约束形式、混合损失函数设计</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推理阶段：输出验证与后处理校正</a:t>
            </a:r>
          </a:p>
        </p:txBody>
      </p:sp>
      <p:sp>
        <p:nvSpPr>
          <p:cNvPr id="27" name="矩形: 折角 26">
            <a:extLst>
              <a:ext uri="{FF2B5EF4-FFF2-40B4-BE49-F238E27FC236}">
                <a16:creationId xmlns:a16="http://schemas.microsoft.com/office/drawing/2014/main" id="{338472F1-FA47-C058-7967-A0AA61C8FF75}"/>
              </a:ext>
            </a:extLst>
          </p:cNvPr>
          <p:cNvSpPr/>
          <p:nvPr/>
        </p:nvSpPr>
        <p:spPr>
          <a:xfrm>
            <a:off x="7762080" y="1738789"/>
            <a:ext cx="4137819" cy="4098766"/>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a:extLst>
              <a:ext uri="{FF2B5EF4-FFF2-40B4-BE49-F238E27FC236}">
                <a16:creationId xmlns:a16="http://schemas.microsoft.com/office/drawing/2014/main" id="{DC8484AB-D4F3-7310-5A91-E04FF5B6B8DB}"/>
              </a:ext>
            </a:extLst>
          </p:cNvPr>
          <p:cNvSpPr txBox="1"/>
          <p:nvPr/>
        </p:nvSpPr>
        <p:spPr>
          <a:xfrm>
            <a:off x="8006554" y="18801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charset="-122"/>
                <a:ea typeface="思源黑体 CN Regular" charset="-122"/>
                <a:cs typeface="思源黑体 CN Regular" charset="-122"/>
                <a:sym typeface="Arial" panose="020B0604020202090204" pitchFamily="34" charset="0"/>
              </a:rPr>
              <a:t>应用案例：血流动力学预测</a:t>
            </a:r>
            <a:endParaRPr lang="en-US" altLang="zh-CN"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p:sp>
        <p:nvSpPr>
          <p:cNvPr id="29" name="文本框 28">
            <a:extLst>
              <a:ext uri="{FF2B5EF4-FFF2-40B4-BE49-F238E27FC236}">
                <a16:creationId xmlns:a16="http://schemas.microsoft.com/office/drawing/2014/main" id="{2EBCD764-6B9D-982C-687A-7BF1DE8C8314}"/>
              </a:ext>
            </a:extLst>
          </p:cNvPr>
          <p:cNvSpPr txBox="1"/>
          <p:nvPr/>
        </p:nvSpPr>
        <p:spPr>
          <a:xfrm>
            <a:off x="7952182" y="2320000"/>
            <a:ext cx="3681413" cy="3239477"/>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先验知识</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CFD</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模拟</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计算流体力学模拟不同狭窄程度下的血流</a:t>
            </a:r>
          </a:p>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利用流体仿真生成大量血流分布数据</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补充真实测量</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设计关注分叉区域的特征提取模块</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定义混合损失函数</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通过后处理优化提升预测合理性</a:t>
            </a:r>
          </a:p>
        </p:txBody>
      </p:sp>
    </p:spTree>
    <p:custDataLst>
      <p:tags r:id="rId1"/>
    </p:custDataLst>
    <p:extLst>
      <p:ext uri="{BB962C8B-B14F-4D97-AF65-F5344CB8AC3E}">
        <p14:creationId xmlns:p14="http://schemas.microsoft.com/office/powerpoint/2010/main" val="2419991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7A8FA-01CE-76C3-2062-8E8A9526998E}"/>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609B44B2-392F-F45D-D1DB-E105E78EA581}"/>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先验知识融入策略</a:t>
            </a:r>
          </a:p>
        </p:txBody>
      </p:sp>
      <p:sp>
        <p:nvSpPr>
          <p:cNvPr id="6" name="文本框 5">
            <a:extLst>
              <a:ext uri="{FF2B5EF4-FFF2-40B4-BE49-F238E27FC236}">
                <a16:creationId xmlns:a16="http://schemas.microsoft.com/office/drawing/2014/main" id="{1555F7F2-FE92-54F3-F0AC-4F657657828D}"/>
              </a:ext>
            </a:extLst>
          </p:cNvPr>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3</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）空间不变性的融入</a:t>
            </a:r>
          </a:p>
        </p:txBody>
      </p:sp>
      <p:sp>
        <p:nvSpPr>
          <p:cNvPr id="24" name="TextBox 8">
            <a:extLst>
              <a:ext uri="{FF2B5EF4-FFF2-40B4-BE49-F238E27FC236}">
                <a16:creationId xmlns:a16="http://schemas.microsoft.com/office/drawing/2014/main" id="{70D2D8F2-F9CB-7CC9-4744-96E95EAE85A7}"/>
              </a:ext>
            </a:extLst>
          </p:cNvPr>
          <p:cNvSpPr txBox="1"/>
          <p:nvPr/>
        </p:nvSpPr>
        <p:spPr>
          <a:xfrm>
            <a:off x="504032" y="1738789"/>
            <a:ext cx="9652635" cy="1418272"/>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先验知识来源</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世界知识：图像中局部或全局像素相关性</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物体识别中的旋转无关性</a:t>
            </a: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科学知识：物理学诺特定理</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对称性对应守恒量</a:t>
            </a:r>
          </a:p>
        </p:txBody>
      </p:sp>
      <p:sp>
        <p:nvSpPr>
          <p:cNvPr id="25" name="TextBox 8">
            <a:extLst>
              <a:ext uri="{FF2B5EF4-FFF2-40B4-BE49-F238E27FC236}">
                <a16:creationId xmlns:a16="http://schemas.microsoft.com/office/drawing/2014/main" id="{AE36BD62-774A-97A9-E664-0A5CC1EC62EA}"/>
              </a:ext>
            </a:extLst>
          </p:cNvPr>
          <p:cNvSpPr txBox="1"/>
          <p:nvPr/>
        </p:nvSpPr>
        <p:spPr>
          <a:xfrm>
            <a:off x="504032" y="3195160"/>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数据阶段：几何变换增强</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旋转、平移、缩放</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模型阶段：</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CNN</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、空间变换网络</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STN</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、多尺度特征提取</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训练阶段：几何一致性损失函数、空间注意力机制</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推理阶段：多视角验证、旋转</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翻转对比分析</a:t>
            </a:r>
          </a:p>
        </p:txBody>
      </p:sp>
      <p:sp>
        <p:nvSpPr>
          <p:cNvPr id="27" name="矩形: 折角 26">
            <a:extLst>
              <a:ext uri="{FF2B5EF4-FFF2-40B4-BE49-F238E27FC236}">
                <a16:creationId xmlns:a16="http://schemas.microsoft.com/office/drawing/2014/main" id="{052340CD-1B01-AFDA-FAED-6A53E386F583}"/>
              </a:ext>
            </a:extLst>
          </p:cNvPr>
          <p:cNvSpPr/>
          <p:nvPr/>
        </p:nvSpPr>
        <p:spPr>
          <a:xfrm>
            <a:off x="7762080" y="1738789"/>
            <a:ext cx="4137819" cy="3769994"/>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a:extLst>
              <a:ext uri="{FF2B5EF4-FFF2-40B4-BE49-F238E27FC236}">
                <a16:creationId xmlns:a16="http://schemas.microsoft.com/office/drawing/2014/main" id="{CC21CC5B-9BD2-7712-895E-32D7F55FCA06}"/>
              </a:ext>
            </a:extLst>
          </p:cNvPr>
          <p:cNvSpPr txBox="1"/>
          <p:nvPr/>
        </p:nvSpPr>
        <p:spPr>
          <a:xfrm>
            <a:off x="8006554" y="18801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charset="-122"/>
                <a:ea typeface="思源黑体 CN Regular" charset="-122"/>
                <a:cs typeface="思源黑体 CN Regular" charset="-122"/>
                <a:sym typeface="Arial" panose="020B0604020202090204" pitchFamily="34" charset="0"/>
              </a:rPr>
              <a:t>应用案例：脑肿瘤分割</a:t>
            </a:r>
            <a:endParaRPr lang="en-US" altLang="zh-CN"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p:sp>
        <p:nvSpPr>
          <p:cNvPr id="29" name="文本框 28">
            <a:extLst>
              <a:ext uri="{FF2B5EF4-FFF2-40B4-BE49-F238E27FC236}">
                <a16:creationId xmlns:a16="http://schemas.microsoft.com/office/drawing/2014/main" id="{A0AD9F49-EB40-DC5C-EA0D-747BB344727B}"/>
              </a:ext>
            </a:extLst>
          </p:cNvPr>
          <p:cNvSpPr txBox="1"/>
          <p:nvPr/>
        </p:nvSpPr>
        <p:spPr>
          <a:xfrm>
            <a:off x="7952182" y="2320000"/>
            <a:ext cx="3681413" cy="2870145"/>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数据增强：随机旋转、平移、缩放生成多样化样本</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STN</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对齐：将不同形态肿瘤归一化到特定空间表示</a:t>
            </a: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一致性损失：</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0°</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和</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90°</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影像预测结果在旋转恢复后保持一致</a:t>
            </a:r>
          </a:p>
        </p:txBody>
      </p:sp>
    </p:spTree>
    <p:custDataLst>
      <p:tags r:id="rId1"/>
    </p:custDataLst>
    <p:extLst>
      <p:ext uri="{BB962C8B-B14F-4D97-AF65-F5344CB8AC3E}">
        <p14:creationId xmlns:p14="http://schemas.microsoft.com/office/powerpoint/2010/main" val="2124520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15F23-DE7A-593D-3F94-505BBD4A7BDE}"/>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897C2AA4-276F-9B6D-13B2-14BD89A8086F}"/>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先验知识融入策略</a:t>
            </a:r>
          </a:p>
        </p:txBody>
      </p:sp>
      <p:sp>
        <p:nvSpPr>
          <p:cNvPr id="6" name="文本框 5">
            <a:extLst>
              <a:ext uri="{FF2B5EF4-FFF2-40B4-BE49-F238E27FC236}">
                <a16:creationId xmlns:a16="http://schemas.microsoft.com/office/drawing/2014/main" id="{74A7D07C-2612-70F7-473A-971EBAEA3606}"/>
              </a:ext>
            </a:extLst>
          </p:cNvPr>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4</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）逻辑规则的融入</a:t>
            </a:r>
          </a:p>
        </p:txBody>
      </p:sp>
      <p:sp>
        <p:nvSpPr>
          <p:cNvPr id="24" name="TextBox 8">
            <a:extLst>
              <a:ext uri="{FF2B5EF4-FFF2-40B4-BE49-F238E27FC236}">
                <a16:creationId xmlns:a16="http://schemas.microsoft.com/office/drawing/2014/main" id="{723E276E-8970-4BAE-2741-724F48789771}"/>
              </a:ext>
            </a:extLst>
          </p:cNvPr>
          <p:cNvSpPr txBox="1"/>
          <p:nvPr/>
        </p:nvSpPr>
        <p:spPr>
          <a:xfrm>
            <a:off x="504032" y="1738789"/>
            <a:ext cx="9652635" cy="185832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先验知识来源</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世界知识：用逻辑规则表示对象属性与关系</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语言学：情感分析规则、词序列标注规则</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25" name="TextBox 8">
            <a:extLst>
              <a:ext uri="{FF2B5EF4-FFF2-40B4-BE49-F238E27FC236}">
                <a16:creationId xmlns:a16="http://schemas.microsoft.com/office/drawing/2014/main" id="{5DA359AA-92F7-71AA-AA78-77FEE34F2EDA}"/>
              </a:ext>
            </a:extLst>
          </p:cNvPr>
          <p:cNvSpPr txBox="1"/>
          <p:nvPr/>
        </p:nvSpPr>
        <p:spPr>
          <a:xfrm>
            <a:off x="504032" y="3190715"/>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数据阶段：数据清理、异常检测、合成数据生成</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模型阶段：知识图谱嵌入、因果推断网络</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训练阶段：逻辑一致性损失、对抗样本生成指导</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推理阶段：预测结果一致性检查、后处理校正</a:t>
            </a:r>
          </a:p>
        </p:txBody>
      </p:sp>
      <p:sp>
        <p:nvSpPr>
          <p:cNvPr id="27" name="矩形: 折角 26">
            <a:extLst>
              <a:ext uri="{FF2B5EF4-FFF2-40B4-BE49-F238E27FC236}">
                <a16:creationId xmlns:a16="http://schemas.microsoft.com/office/drawing/2014/main" id="{211E4A52-7306-C234-1E5F-97D1E37A169C}"/>
              </a:ext>
            </a:extLst>
          </p:cNvPr>
          <p:cNvSpPr/>
          <p:nvPr/>
        </p:nvSpPr>
        <p:spPr>
          <a:xfrm>
            <a:off x="6631382" y="1738789"/>
            <a:ext cx="5268517" cy="3569811"/>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a:extLst>
              <a:ext uri="{FF2B5EF4-FFF2-40B4-BE49-F238E27FC236}">
                <a16:creationId xmlns:a16="http://schemas.microsoft.com/office/drawing/2014/main" id="{E1D43B16-59A9-CC5D-EBCB-974BEF39DD3B}"/>
              </a:ext>
            </a:extLst>
          </p:cNvPr>
          <p:cNvSpPr txBox="1"/>
          <p:nvPr/>
        </p:nvSpPr>
        <p:spPr>
          <a:xfrm>
            <a:off x="6812754" y="18801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charset="-122"/>
                <a:ea typeface="思源黑体 CN Regular" charset="-122"/>
                <a:cs typeface="思源黑体 CN Regular" charset="-122"/>
                <a:sym typeface="Arial" panose="020B0604020202090204" pitchFamily="34" charset="0"/>
              </a:rPr>
              <a:t>应用案例：多模态肺癌诊断</a:t>
            </a:r>
            <a:endParaRPr lang="en-US" altLang="zh-CN"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11212406-9D91-D6A7-061F-9B6942CC5ADC}"/>
                  </a:ext>
                </a:extLst>
              </p:cNvPr>
              <p:cNvSpPr txBox="1"/>
              <p:nvPr/>
            </p:nvSpPr>
            <p:spPr>
              <a:xfrm>
                <a:off x="6758382" y="2320000"/>
                <a:ext cx="5268518" cy="2689775"/>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先验知识</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规则：</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𝑆𝑈𝑉</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&gt;2.5∧</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𝐻𝑈</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&lt;−500∧</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𝐶𝐸𝐴</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&gt;5)⇒</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𝑇𝑢𝑚𝑜𝑟</m:t>
                    </m:r>
                  </m:oMath>
                </a14:m>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数据增强：基于规则生成合成样本</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检查标注一致性</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网络设计：双通道多模态网络</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融合层加入规则约束</a:t>
                </a: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损失设计：</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𝑙𝑜𝑔𝑖𝑐</m:t>
                        </m:r>
                      </m:sub>
                    </m:sSub>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𝑙𝑜𝑔</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𝑝𝐴</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𝑝𝐵</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𝑝𝐶</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𝑦</m:t>
                        </m:r>
                      </m:e>
                      <m:sub>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𝑡𝑟𝑢𝑒</m:t>
                        </m:r>
                      </m:sub>
                    </m:sSub>
                  </m:oMath>
                </a14:m>
                <a:endParaRPr lang="en-US" altLang="zh-CN" sz="1600" i="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mc:Choice>
        <mc:Fallback xmlns="">
          <p:sp>
            <p:nvSpPr>
              <p:cNvPr id="29" name="文本框 28">
                <a:extLst>
                  <a:ext uri="{FF2B5EF4-FFF2-40B4-BE49-F238E27FC236}">
                    <a16:creationId xmlns:a16="http://schemas.microsoft.com/office/drawing/2014/main" id="{11212406-9D91-D6A7-061F-9B6942CC5ADC}"/>
                  </a:ext>
                </a:extLst>
              </p:cNvPr>
              <p:cNvSpPr txBox="1">
                <a:spLocks noRot="1" noChangeAspect="1" noMove="1" noResize="1" noEditPoints="1" noAdjustHandles="1" noChangeArrowheads="1" noChangeShapeType="1" noTextEdit="1"/>
              </p:cNvSpPr>
              <p:nvPr/>
            </p:nvSpPr>
            <p:spPr>
              <a:xfrm>
                <a:off x="6758382" y="2320000"/>
                <a:ext cx="5268518" cy="2689775"/>
              </a:xfrm>
              <a:prstGeom prst="rect">
                <a:avLst/>
              </a:prstGeom>
              <a:blipFill>
                <a:blip r:embed="rId4"/>
                <a:stretch>
                  <a:fillRect l="-1042" b="-2268"/>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480994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2FBB5-A8FC-AECD-2200-75C0171C3975}"/>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FC642509-81C4-7F3F-0A43-C9637D687036}"/>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先验知识融入策略</a:t>
            </a:r>
          </a:p>
        </p:txBody>
      </p:sp>
      <p:sp>
        <p:nvSpPr>
          <p:cNvPr id="6" name="文本框 5">
            <a:extLst>
              <a:ext uri="{FF2B5EF4-FFF2-40B4-BE49-F238E27FC236}">
                <a16:creationId xmlns:a16="http://schemas.microsoft.com/office/drawing/2014/main" id="{08C40C3F-001E-BDD9-E365-59D6F90EA307}"/>
              </a:ext>
            </a:extLst>
          </p:cNvPr>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5</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）知识图谱的融入</a:t>
            </a:r>
          </a:p>
        </p:txBody>
      </p:sp>
      <p:sp>
        <p:nvSpPr>
          <p:cNvPr id="24" name="TextBox 8">
            <a:extLst>
              <a:ext uri="{FF2B5EF4-FFF2-40B4-BE49-F238E27FC236}">
                <a16:creationId xmlns:a16="http://schemas.microsoft.com/office/drawing/2014/main" id="{5ACF5FC4-1495-93B4-DB91-80D308AAB156}"/>
              </a:ext>
            </a:extLst>
          </p:cNvPr>
          <p:cNvSpPr txBox="1"/>
          <p:nvPr/>
        </p:nvSpPr>
        <p:spPr>
          <a:xfrm>
            <a:off x="504032" y="1738789"/>
            <a:ext cx="9652635" cy="138541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先验知识来源</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世界知识：视觉实体关系、词语语义关系</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词网</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科学知识：基因</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蛋白质相互作用、疾病分类系统</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(ICD)</a:t>
            </a:r>
          </a:p>
        </p:txBody>
      </p:sp>
      <p:sp>
        <p:nvSpPr>
          <p:cNvPr id="25" name="TextBox 8">
            <a:extLst>
              <a:ext uri="{FF2B5EF4-FFF2-40B4-BE49-F238E27FC236}">
                <a16:creationId xmlns:a16="http://schemas.microsoft.com/office/drawing/2014/main" id="{5D1D5DF8-D5BB-726E-1CF9-F564729BCDCC}"/>
              </a:ext>
            </a:extLst>
          </p:cNvPr>
          <p:cNvSpPr txBox="1"/>
          <p:nvPr/>
        </p:nvSpPr>
        <p:spPr>
          <a:xfrm>
            <a:off x="504031" y="3144389"/>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数据阶段：精确标注、语义一致合成数据</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模型阶段：图卷积网络</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GCN</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、图注意力网络</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GAT</a:t>
            </a:r>
            <a:endPar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训练阶段：图谱一致性损失、路径推理监督</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推理阶段：调整分类置信度、生成多模态报告</a:t>
            </a:r>
          </a:p>
        </p:txBody>
      </p:sp>
      <p:sp>
        <p:nvSpPr>
          <p:cNvPr id="27" name="矩形: 折角 26">
            <a:extLst>
              <a:ext uri="{FF2B5EF4-FFF2-40B4-BE49-F238E27FC236}">
                <a16:creationId xmlns:a16="http://schemas.microsoft.com/office/drawing/2014/main" id="{1B317CF6-A35E-F629-80C8-0F6BADEA25B6}"/>
              </a:ext>
            </a:extLst>
          </p:cNvPr>
          <p:cNvSpPr/>
          <p:nvPr/>
        </p:nvSpPr>
        <p:spPr>
          <a:xfrm>
            <a:off x="6631382" y="1738789"/>
            <a:ext cx="5268517" cy="3569811"/>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a:extLst>
              <a:ext uri="{FF2B5EF4-FFF2-40B4-BE49-F238E27FC236}">
                <a16:creationId xmlns:a16="http://schemas.microsoft.com/office/drawing/2014/main" id="{6A0A3707-7171-0D5C-ACED-69CA926BAB7F}"/>
              </a:ext>
            </a:extLst>
          </p:cNvPr>
          <p:cNvSpPr txBox="1"/>
          <p:nvPr/>
        </p:nvSpPr>
        <p:spPr>
          <a:xfrm>
            <a:off x="6812754" y="18801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charset="-122"/>
                <a:ea typeface="思源黑体 CN Regular" charset="-122"/>
                <a:cs typeface="思源黑体 CN Regular" charset="-122"/>
                <a:sym typeface="Arial" panose="020B0604020202090204" pitchFamily="34" charset="0"/>
              </a:rPr>
              <a:t>应用案例：肿瘤诊断系统</a:t>
            </a:r>
            <a:endParaRPr lang="en-US" altLang="zh-CN"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1863967D-9A42-B374-42BC-A50B15314D87}"/>
                  </a:ext>
                </a:extLst>
              </p:cNvPr>
              <p:cNvSpPr txBox="1"/>
              <p:nvPr/>
            </p:nvSpPr>
            <p:spPr>
              <a:xfrm>
                <a:off x="6758382" y="2320000"/>
                <a:ext cx="5268518" cy="2689519"/>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先验知识</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algn="just" defTabSz="1219200">
                  <a:lnSpc>
                    <a:spcPct val="150000"/>
                  </a:lnSpc>
                  <a:spcBef>
                    <a:spcPts val="600"/>
                  </a:spcBef>
                  <a:defRPr/>
                </a:pPr>
                <a:r>
                  <a:rPr lang="zh-CN" altLang="pt-BR"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嵌入</a:t>
                </a:r>
                <a:r>
                  <a:rPr lang="pt-BR"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14:m>
                  <m:oMath xmlns:m="http://schemas.openxmlformats.org/officeDocument/2006/math">
                    <m:r>
                      <a:rPr lang="pt-B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h</m:t>
                    </m:r>
                    <m:r>
                      <a:rPr lang="pt-B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pt-B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𝑟</m:t>
                    </m:r>
                    <m:r>
                      <a:rPr lang="pt-B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pt-B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𝑡</m:t>
                    </m:r>
                    <m:r>
                      <a:rPr lang="pt-B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 (</m:t>
                    </m:r>
                    <m:r>
                      <a:rPr lang="pt-B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𝑇𝑟𝑎𝑛𝑠𝐸</m:t>
                    </m:r>
                    <m:r>
                      <a:rPr lang="pt-B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oMath>
                </a14:m>
                <a:endParaRPr lang="pt-BR"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设计</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双模态诊断网络</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图谱嵌入与图像</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文本特征拼接</a:t>
                </a: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损失</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𝑡𝑜𝑡𝑎𝑙</m:t>
                        </m:r>
                      </m:sub>
                    </m:sSub>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𝑡𝑎𝑠𝑘</m:t>
                        </m:r>
                      </m:sub>
                    </m:sSub>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𝜆</m:t>
                    </m:r>
                    <m:sSub>
                      <m:sSubPr>
                        <m:ctrlP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𝑔𝑟𝑎𝑝h</m:t>
                        </m:r>
                        <m: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𝑐𝑜𝑛𝑠𝑖𝑠𝑡𝑒𝑛𝑐𝑦</m:t>
                        </m:r>
                      </m:sub>
                    </m:sSub>
                  </m:oMath>
                </a14:m>
                <a:endParaRPr lang="en-US" altLang="zh-CN" sz="1600" i="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推理</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结合症状</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疾病</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检查关系生成解释性报告</a:t>
                </a:r>
              </a:p>
            </p:txBody>
          </p:sp>
        </mc:Choice>
        <mc:Fallback xmlns="">
          <p:sp>
            <p:nvSpPr>
              <p:cNvPr id="29" name="文本框 28">
                <a:extLst>
                  <a:ext uri="{FF2B5EF4-FFF2-40B4-BE49-F238E27FC236}">
                    <a16:creationId xmlns:a16="http://schemas.microsoft.com/office/drawing/2014/main" id="{1863967D-9A42-B374-42BC-A50B15314D87}"/>
                  </a:ext>
                </a:extLst>
              </p:cNvPr>
              <p:cNvSpPr txBox="1">
                <a:spLocks noRot="1" noChangeAspect="1" noMove="1" noResize="1" noEditPoints="1" noAdjustHandles="1" noChangeArrowheads="1" noChangeShapeType="1" noTextEdit="1"/>
              </p:cNvSpPr>
              <p:nvPr/>
            </p:nvSpPr>
            <p:spPr>
              <a:xfrm>
                <a:off x="6758382" y="2320000"/>
                <a:ext cx="5268518" cy="2689519"/>
              </a:xfrm>
              <a:prstGeom prst="rect">
                <a:avLst/>
              </a:prstGeom>
              <a:blipFill>
                <a:blip r:embed="rId4"/>
                <a:stretch>
                  <a:fillRect l="-1042" b="-272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294462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EBC6B-2CF6-6EE5-FD04-C4C829DD2C17}"/>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0AC28994-948C-E6E4-C59A-55E7165CCC3D}"/>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先验知识融入策略</a:t>
            </a:r>
          </a:p>
        </p:txBody>
      </p:sp>
      <p:sp>
        <p:nvSpPr>
          <p:cNvPr id="6" name="文本框 5">
            <a:extLst>
              <a:ext uri="{FF2B5EF4-FFF2-40B4-BE49-F238E27FC236}">
                <a16:creationId xmlns:a16="http://schemas.microsoft.com/office/drawing/2014/main" id="{D7E8810D-2CE6-5D83-9033-90A7AC17B140}"/>
              </a:ext>
            </a:extLst>
          </p:cNvPr>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6</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）概率关系的融入</a:t>
            </a:r>
          </a:p>
        </p:txBody>
      </p:sp>
      <p:sp>
        <p:nvSpPr>
          <p:cNvPr id="24" name="TextBox 8">
            <a:extLst>
              <a:ext uri="{FF2B5EF4-FFF2-40B4-BE49-F238E27FC236}">
                <a16:creationId xmlns:a16="http://schemas.microsoft.com/office/drawing/2014/main" id="{820944AE-2D52-144B-C94E-6E8435142BF4}"/>
              </a:ext>
            </a:extLst>
          </p:cNvPr>
          <p:cNvSpPr txBox="1"/>
          <p:nvPr/>
        </p:nvSpPr>
        <p:spPr>
          <a:xfrm>
            <a:off x="504032" y="1738789"/>
            <a:ext cx="9652635" cy="138541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先验知识来源</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专家知识：实体关联性、独立性信念</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如驾驶员特征与风险</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科学知识：基因相互作用网络、基因本体相关性</a:t>
            </a:r>
          </a:p>
        </p:txBody>
      </p:sp>
      <p:sp>
        <p:nvSpPr>
          <p:cNvPr id="25" name="TextBox 8">
            <a:extLst>
              <a:ext uri="{FF2B5EF4-FFF2-40B4-BE49-F238E27FC236}">
                <a16:creationId xmlns:a16="http://schemas.microsoft.com/office/drawing/2014/main" id="{607C8450-08C8-0D3F-2425-EEC2E56D6261}"/>
              </a:ext>
            </a:extLst>
          </p:cNvPr>
          <p:cNvSpPr txBox="1"/>
          <p:nvPr/>
        </p:nvSpPr>
        <p:spPr>
          <a:xfrm>
            <a:off x="504031" y="3144389"/>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数据阶段：条件概率分布生成样本</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模型阶段：条件独立性假设、联合概率分布</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训练阶段：贝叶斯方法、变分推断、概率图模型</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推理阶段：概率推断提升可解释性</a:t>
            </a:r>
          </a:p>
        </p:txBody>
      </p:sp>
      <p:sp>
        <p:nvSpPr>
          <p:cNvPr id="27" name="矩形: 折角 26">
            <a:extLst>
              <a:ext uri="{FF2B5EF4-FFF2-40B4-BE49-F238E27FC236}">
                <a16:creationId xmlns:a16="http://schemas.microsoft.com/office/drawing/2014/main" id="{10E9226C-0950-8D65-2803-79DA830DDD4F}"/>
              </a:ext>
            </a:extLst>
          </p:cNvPr>
          <p:cNvSpPr/>
          <p:nvPr/>
        </p:nvSpPr>
        <p:spPr>
          <a:xfrm>
            <a:off x="7061200" y="1986994"/>
            <a:ext cx="4838699" cy="3118405"/>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a:extLst>
              <a:ext uri="{FF2B5EF4-FFF2-40B4-BE49-F238E27FC236}">
                <a16:creationId xmlns:a16="http://schemas.microsoft.com/office/drawing/2014/main" id="{78C41082-285A-E0F3-9BD4-31C1CD549779}"/>
              </a:ext>
            </a:extLst>
          </p:cNvPr>
          <p:cNvSpPr txBox="1"/>
          <p:nvPr/>
        </p:nvSpPr>
        <p:spPr>
          <a:xfrm>
            <a:off x="7473154" y="22230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charset="-122"/>
                <a:ea typeface="思源黑体 CN Regular" charset="-122"/>
                <a:cs typeface="思源黑体 CN Regular" charset="-122"/>
                <a:sym typeface="Arial" panose="020B0604020202090204" pitchFamily="34" charset="0"/>
              </a:rPr>
              <a:t>应用案例：</a:t>
            </a:r>
            <a:r>
              <a:rPr lang="en-US" altLang="zh-CN" b="1" dirty="0">
                <a:solidFill>
                  <a:schemeClr val="accent1"/>
                </a:solidFill>
                <a:latin typeface="思源黑体 CN Regular" charset="-122"/>
                <a:ea typeface="思源黑体 CN Regular" charset="-122"/>
                <a:cs typeface="思源黑体 CN Regular" charset="-122"/>
                <a:sym typeface="Arial" panose="020B0604020202090204" pitchFamily="34" charset="0"/>
              </a:rPr>
              <a:t>VAE</a:t>
            </a:r>
            <a:r>
              <a:rPr lang="zh-CN" altLang="en-US" b="1" dirty="0">
                <a:solidFill>
                  <a:schemeClr val="accent1"/>
                </a:solidFill>
                <a:latin typeface="思源黑体 CN Regular" charset="-122"/>
                <a:ea typeface="思源黑体 CN Regular" charset="-122"/>
                <a:cs typeface="思源黑体 CN Regular" charset="-122"/>
                <a:sym typeface="Arial" panose="020B0604020202090204" pitchFamily="34" charset="0"/>
              </a:rPr>
              <a:t>预测治疗反应</a:t>
            </a:r>
            <a:endParaRPr lang="en-US" altLang="zh-CN"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6106B42A-8570-9C5E-FF66-9B2D195DD01F}"/>
                  </a:ext>
                </a:extLst>
              </p:cNvPr>
              <p:cNvSpPr txBox="1"/>
              <p:nvPr/>
            </p:nvSpPr>
            <p:spPr>
              <a:xfrm>
                <a:off x="7418782" y="2662900"/>
                <a:ext cx="5467348" cy="2208425"/>
              </a:xfrm>
              <a:prstGeom prst="rect">
                <a:avLst/>
              </a:prstGeom>
              <a:noFill/>
            </p:spPr>
            <p:txBody>
              <a:bodyPr wrap="square">
                <a:spAutoFit/>
              </a:bodyPr>
              <a:lstStyle/>
              <a:p>
                <a:pPr algn="just" defTabSz="1219200" fontAlgn="auto">
                  <a:lnSpc>
                    <a:spcPct val="150000"/>
                  </a:lnSpc>
                  <a:spcBef>
                    <a:spcPts val="600"/>
                  </a:spcBef>
                  <a:defRPr/>
                </a:pPr>
                <a:r>
                  <a:rPr lang="zh-CN" altLang="en-US" sz="1600" b="1" dirty="0">
                    <a:solidFill>
                      <a:schemeClr val="accent1"/>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编码</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𝑞</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_</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𝜑</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𝑧</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𝑥</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 = </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𝑁</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𝜇</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_</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𝜑</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𝑥</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 </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𝜎</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²_</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𝜑</m:t>
                    </m:r>
                    <m:r>
                      <a:rPr lang="el-GR"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𝑥</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oMath>
                </a14:m>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解码</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𝑝</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_</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𝜃</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𝑥</m:t>
                    </m:r>
                    <m:r>
                      <a:rPr lang="en-US" altLang="zh-CN" sz="1600" i="1" dirty="0" err="1">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𝑧</m:t>
                    </m:r>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𝑁</m:t>
                    </m:r>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𝜇</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_</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𝜃</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𝑧</m:t>
                    </m:r>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 </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𝜎</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²_</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𝜃</m:t>
                    </m:r>
                    <m:r>
                      <a:rPr lang="el-GR"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𝑧</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oMath>
                </a14:m>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𝑝</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𝑧</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 = </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𝑁</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(0,</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𝐼</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oMath>
                </a14:m>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或定制</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𝑝</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𝑧</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₁,</m:t>
                    </m:r>
                    <m:r>
                      <a:rPr lang="en-US" altLang="zh-CN" sz="1600" i="1" dirty="0" err="1"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𝑧</m:t>
                    </m:r>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₂)</m:t>
                    </m:r>
                  </m:oMath>
                </a14:m>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优化</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最小化重建误差</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分布差异</a:t>
                </a:r>
              </a:p>
            </p:txBody>
          </p:sp>
        </mc:Choice>
        <mc:Fallback xmlns="">
          <p:sp>
            <p:nvSpPr>
              <p:cNvPr id="29" name="文本框 28">
                <a:extLst>
                  <a:ext uri="{FF2B5EF4-FFF2-40B4-BE49-F238E27FC236}">
                    <a16:creationId xmlns:a16="http://schemas.microsoft.com/office/drawing/2014/main" id="{6106B42A-8570-9C5E-FF66-9B2D195DD01F}"/>
                  </a:ext>
                </a:extLst>
              </p:cNvPr>
              <p:cNvSpPr txBox="1">
                <a:spLocks noRot="1" noChangeAspect="1" noMove="1" noResize="1" noEditPoints="1" noAdjustHandles="1" noChangeArrowheads="1" noChangeShapeType="1" noTextEdit="1"/>
              </p:cNvSpPr>
              <p:nvPr/>
            </p:nvSpPr>
            <p:spPr>
              <a:xfrm>
                <a:off x="7418782" y="2662900"/>
                <a:ext cx="5467348" cy="2208425"/>
              </a:xfrm>
              <a:prstGeom prst="rect">
                <a:avLst/>
              </a:prstGeom>
              <a:blipFill>
                <a:blip r:embed="rId4"/>
                <a:stretch>
                  <a:fillRect l="-1003" b="-3867"/>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04338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89A28-3D07-DD45-F868-CA2259BEBBF2}"/>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3997BF74-C035-954D-FD35-CF912E892AB5}"/>
              </a:ext>
            </a:extLst>
          </p:cNvPr>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先验知识融入策略</a:t>
            </a:r>
          </a:p>
        </p:txBody>
      </p:sp>
      <p:sp>
        <p:nvSpPr>
          <p:cNvPr id="6" name="文本框 5">
            <a:extLst>
              <a:ext uri="{FF2B5EF4-FFF2-40B4-BE49-F238E27FC236}">
                <a16:creationId xmlns:a16="http://schemas.microsoft.com/office/drawing/2014/main" id="{4B4AAACD-585F-D701-1B77-5BC8F6C167D1}"/>
              </a:ext>
            </a:extLst>
          </p:cNvPr>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7</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）人为反馈的融入</a:t>
            </a:r>
          </a:p>
        </p:txBody>
      </p:sp>
      <p:sp>
        <p:nvSpPr>
          <p:cNvPr id="24" name="TextBox 8">
            <a:extLst>
              <a:ext uri="{FF2B5EF4-FFF2-40B4-BE49-F238E27FC236}">
                <a16:creationId xmlns:a16="http://schemas.microsoft.com/office/drawing/2014/main" id="{363506BC-34B2-218A-840F-4342E3A8C043}"/>
              </a:ext>
            </a:extLst>
          </p:cNvPr>
          <p:cNvSpPr txBox="1"/>
          <p:nvPr/>
        </p:nvSpPr>
        <p:spPr>
          <a:xfrm>
            <a:off x="504032" y="1738789"/>
            <a:ext cx="9652635" cy="192630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先验知识来源</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文本文档知识：主题专家撰写的文档、指南和手册中的隐性知识</a:t>
            </a: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代理行为知识：专家在特定任务中的决策过程和策略选择</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lt"/>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数据模式知识：专家对数据层次结构和内在规律的理解</a:t>
            </a:r>
          </a:p>
        </p:txBody>
      </p:sp>
      <p:sp>
        <p:nvSpPr>
          <p:cNvPr id="25" name="TextBox 8">
            <a:extLst>
              <a:ext uri="{FF2B5EF4-FFF2-40B4-BE49-F238E27FC236}">
                <a16:creationId xmlns:a16="http://schemas.microsoft.com/office/drawing/2014/main" id="{40405643-11FA-6C45-20CB-04E8114476B9}"/>
              </a:ext>
            </a:extLst>
          </p:cNvPr>
          <p:cNvSpPr txBox="1"/>
          <p:nvPr/>
        </p:nvSpPr>
        <p:spPr>
          <a:xfrm>
            <a:off x="504031" y="3665089"/>
            <a:ext cx="9652635" cy="2313623"/>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融入策略</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数据阶段：数据增强、质量控制、标签修正</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模型阶段：假设约束、特征引导、避免过拟合</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训练阶段：加权损失，提高训练效率和准确度</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推理阶段：专家审核模型预测结果，提供不确定情况建议</a:t>
            </a:r>
          </a:p>
        </p:txBody>
      </p:sp>
      <p:sp>
        <p:nvSpPr>
          <p:cNvPr id="27" name="矩形: 折角 26">
            <a:extLst>
              <a:ext uri="{FF2B5EF4-FFF2-40B4-BE49-F238E27FC236}">
                <a16:creationId xmlns:a16="http://schemas.microsoft.com/office/drawing/2014/main" id="{BCBEA3B8-9131-08EF-589F-C9CC6D373C6B}"/>
              </a:ext>
            </a:extLst>
          </p:cNvPr>
          <p:cNvSpPr/>
          <p:nvPr/>
        </p:nvSpPr>
        <p:spPr>
          <a:xfrm>
            <a:off x="7061200" y="1986994"/>
            <a:ext cx="4838699" cy="3321606"/>
          </a:xfrm>
          <a:prstGeom prst="foldedCorner">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8">
            <a:extLst>
              <a:ext uri="{FF2B5EF4-FFF2-40B4-BE49-F238E27FC236}">
                <a16:creationId xmlns:a16="http://schemas.microsoft.com/office/drawing/2014/main" id="{FBB91E68-A597-E593-7BC7-2AADEE6E3A88}"/>
              </a:ext>
            </a:extLst>
          </p:cNvPr>
          <p:cNvSpPr txBox="1"/>
          <p:nvPr/>
        </p:nvSpPr>
        <p:spPr>
          <a:xfrm>
            <a:off x="7473154" y="2223057"/>
            <a:ext cx="3029745" cy="566260"/>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accent1"/>
                </a:solidFill>
                <a:latin typeface="思源黑体 CN Regular" charset="-122"/>
                <a:ea typeface="思源黑体 CN Regular" charset="-122"/>
                <a:cs typeface="思源黑体 CN Regular" charset="-122"/>
                <a:sym typeface="Arial" panose="020B0604020202090204" pitchFamily="34" charset="0"/>
              </a:rPr>
              <a:t>应用实例</a:t>
            </a:r>
            <a:endParaRPr lang="en-US" altLang="zh-CN" b="1"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p:sp>
        <p:nvSpPr>
          <p:cNvPr id="29" name="文本框 28">
            <a:extLst>
              <a:ext uri="{FF2B5EF4-FFF2-40B4-BE49-F238E27FC236}">
                <a16:creationId xmlns:a16="http://schemas.microsoft.com/office/drawing/2014/main" id="{402EB0B1-80DA-58FE-21D1-F53D19454068}"/>
              </a:ext>
            </a:extLst>
          </p:cNvPr>
          <p:cNvSpPr txBox="1"/>
          <p:nvPr/>
        </p:nvSpPr>
        <p:spPr>
          <a:xfrm>
            <a:off x="7473154" y="2701719"/>
            <a:ext cx="3742130" cy="2423869"/>
          </a:xfrm>
          <a:prstGeom prst="rect">
            <a:avLst/>
          </a:prstGeom>
          <a:noFill/>
        </p:spPr>
        <p:txBody>
          <a:bodyPr wrap="square">
            <a:spAutoFit/>
          </a:bodyPr>
          <a:lstStyle/>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物体识别</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用户通过笔画提供物体边界的纠正性反馈</a:t>
            </a: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游戏</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AI: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专家用户在</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Atari</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游戏中为代理提供口头指令</a:t>
            </a:r>
          </a:p>
          <a:p>
            <a:pPr marL="342900" indent="-342900" algn="just"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医学诊断</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医生标注关键区域、修正诊断结果</a:t>
            </a:r>
          </a:p>
        </p:txBody>
      </p:sp>
    </p:spTree>
    <p:custDataLst>
      <p:tags r:id="rId1"/>
    </p:custDataLst>
    <p:extLst>
      <p:ext uri="{BB962C8B-B14F-4D97-AF65-F5344CB8AC3E}">
        <p14:creationId xmlns:p14="http://schemas.microsoft.com/office/powerpoint/2010/main" val="2643465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F5054-CD45-1387-84D1-6149F05A55A1}"/>
            </a:ext>
          </a:extLst>
        </p:cNvPr>
        <p:cNvGrpSpPr/>
        <p:nvPr/>
      </p:nvGrpSpPr>
      <p:grpSpPr>
        <a:xfrm>
          <a:off x="0" y="0"/>
          <a:ext cx="0" cy="0"/>
          <a:chOff x="0" y="0"/>
          <a:chExt cx="0" cy="0"/>
        </a:xfrm>
      </p:grpSpPr>
      <p:grpSp>
        <p:nvGrpSpPr>
          <p:cNvPr id="5" name="组合 4">
            <a:extLst>
              <a:ext uri="{FF2B5EF4-FFF2-40B4-BE49-F238E27FC236}">
                <a16:creationId xmlns:a16="http://schemas.microsoft.com/office/drawing/2014/main" id="{BCF2D53C-DAFE-0C45-4434-F2B98DBA9372}"/>
              </a:ext>
            </a:extLst>
          </p:cNvPr>
          <p:cNvGrpSpPr/>
          <p:nvPr/>
        </p:nvGrpSpPr>
        <p:grpSpPr>
          <a:xfrm rot="16200000">
            <a:off x="2667000" y="-2667000"/>
            <a:ext cx="6858000" cy="12192000"/>
            <a:chOff x="0" y="0"/>
            <a:chExt cx="12192000" cy="6858000"/>
          </a:xfrm>
        </p:grpSpPr>
        <p:pic>
          <p:nvPicPr>
            <p:cNvPr id="4" name="图片 3">
              <a:extLst>
                <a:ext uri="{FF2B5EF4-FFF2-40B4-BE49-F238E27FC236}">
                  <a16:creationId xmlns:a16="http://schemas.microsoft.com/office/drawing/2014/main" id="{11B08B6B-995A-E66C-F709-7B3D66F57D1C}"/>
                </a:ext>
              </a:extLst>
            </p:cNvPr>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a:extLst>
                <a:ext uri="{FF2B5EF4-FFF2-40B4-BE49-F238E27FC236}">
                  <a16:creationId xmlns:a16="http://schemas.microsoft.com/office/drawing/2014/main" id="{43158F03-7E57-5C1C-9897-541E8F4A1E94}"/>
                </a:ext>
              </a:extLst>
            </p:cNvPr>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a:extLst>
              <a:ext uri="{FF2B5EF4-FFF2-40B4-BE49-F238E27FC236}">
                <a16:creationId xmlns:a16="http://schemas.microsoft.com/office/drawing/2014/main" id="{9B9EBBF7-ED1E-6DDB-5024-B83EE0889534}"/>
              </a:ext>
            </a:extLst>
          </p:cNvPr>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charset="-122"/>
                <a:ea typeface="思源黑体 CN Regular" charset="-122"/>
                <a:cs typeface="+mn-ea"/>
                <a:sym typeface="Arial" panose="020B0604020202090204" pitchFamily="34" charset="0"/>
              </a:rPr>
              <a:t>模型评估指标</a:t>
            </a:r>
          </a:p>
        </p:txBody>
      </p:sp>
      <p:sp>
        <p:nvSpPr>
          <p:cNvPr id="23" name="椭圆 22">
            <a:extLst>
              <a:ext uri="{FF2B5EF4-FFF2-40B4-BE49-F238E27FC236}">
                <a16:creationId xmlns:a16="http://schemas.microsoft.com/office/drawing/2014/main" id="{86D2FDE3-65BB-3741-FF2A-BB7D18DFDDB8}"/>
              </a:ext>
            </a:extLst>
          </p:cNvPr>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charset="-122"/>
                <a:ea typeface="思源黑体 CN Regular" charset="-122"/>
                <a:cs typeface="思源黑体 CN Regular" charset="-122"/>
                <a:sym typeface="Arial" panose="020B0604020202090204" pitchFamily="34" charset="0"/>
              </a:rPr>
              <a:t>04</a:t>
            </a:r>
            <a:endParaRPr lang="zh-CN" altLang="en-US" sz="3200"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
        <p:nvSpPr>
          <p:cNvPr id="2" name="矩形 1">
            <a:extLst>
              <a:ext uri="{FF2B5EF4-FFF2-40B4-BE49-F238E27FC236}">
                <a16:creationId xmlns:a16="http://schemas.microsoft.com/office/drawing/2014/main" id="{34959FBE-12AA-F4BB-5A80-46D254B84C7F}"/>
              </a:ext>
            </a:extLst>
          </p:cNvPr>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charset="-122"/>
                <a:ea typeface="思源黑体 CN Regular" charset="-122"/>
                <a:cs typeface="+mn-ea"/>
                <a:sym typeface="Arial" panose="020B0604020202090204" pitchFamily="34" charset="0"/>
              </a:rPr>
              <a:t>Model Evaluation Metrics</a:t>
            </a:r>
          </a:p>
        </p:txBody>
      </p:sp>
    </p:spTree>
    <p:custDataLst>
      <p:tags r:id="rId1"/>
    </p:custDataLst>
    <p:extLst>
      <p:ext uri="{BB962C8B-B14F-4D97-AF65-F5344CB8AC3E}">
        <p14:creationId xmlns:p14="http://schemas.microsoft.com/office/powerpoint/2010/main" val="244589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80614-65C8-6FC8-BE26-260EF3259972}"/>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17CF6992-F09A-68E8-2F3F-B7611A62B919}"/>
              </a:ext>
            </a:extLst>
          </p:cNvPr>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模型评估指标</a:t>
            </a:r>
          </a:p>
        </p:txBody>
      </p:sp>
      <p:sp>
        <p:nvSpPr>
          <p:cNvPr id="6" name="文本框 5">
            <a:extLst>
              <a:ext uri="{FF2B5EF4-FFF2-40B4-BE49-F238E27FC236}">
                <a16:creationId xmlns:a16="http://schemas.microsoft.com/office/drawing/2014/main" id="{CCE33ED6-3CA7-8E3D-CAB6-B45C7F517FD6}"/>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1</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）准确性评估指标</a:t>
            </a:r>
          </a:p>
        </p:txBody>
      </p:sp>
      <p:grpSp>
        <p:nvGrpSpPr>
          <p:cNvPr id="2" name="组合 1">
            <a:extLst>
              <a:ext uri="{FF2B5EF4-FFF2-40B4-BE49-F238E27FC236}">
                <a16:creationId xmlns:a16="http://schemas.microsoft.com/office/drawing/2014/main" id="{73323044-84C1-531A-4CEA-2B0451104F98}"/>
              </a:ext>
            </a:extLst>
          </p:cNvPr>
          <p:cNvGrpSpPr/>
          <p:nvPr/>
        </p:nvGrpSpPr>
        <p:grpSpPr>
          <a:xfrm>
            <a:off x="1101917" y="1680746"/>
            <a:ext cx="8220054" cy="5177254"/>
            <a:chOff x="1930400" y="1680746"/>
            <a:chExt cx="9652635" cy="5177254"/>
          </a:xfrm>
        </p:grpSpPr>
        <p:sp>
          <p:nvSpPr>
            <p:cNvPr id="9" name="TextBox 8">
              <a:extLst>
                <a:ext uri="{FF2B5EF4-FFF2-40B4-BE49-F238E27FC236}">
                  <a16:creationId xmlns:a16="http://schemas.microsoft.com/office/drawing/2014/main" id="{725C8C88-6E33-7EF6-0815-9F44279D523E}"/>
                </a:ext>
              </a:extLst>
            </p:cNvPr>
            <p:cNvSpPr txBox="1"/>
            <p:nvPr/>
          </p:nvSpPr>
          <p:spPr>
            <a:xfrm>
              <a:off x="1930400" y="1680746"/>
              <a:ext cx="9652635" cy="5177254"/>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基础准确性评估指标</a:t>
              </a:r>
              <a:endParaRPr lang="en-US" altLang="zh-CN"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精度 </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(Accuracy)</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：正确预测样本占总样本的比例</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适用于平衡数据集</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召回率 </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(Recall)</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：识别出所有正类样本的能力</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可在疾病诊断中避免漏诊</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精确率 </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(Precision)</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：判定为阳性样本中正确判定的比例</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F</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值 </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(F Measure)</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：精度与召回率的调和平均数</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类别不平衡时综合评估</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Dice</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系数：衡量两样本集相似性</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在图像分割中衡量重合度</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C429EBF-CC2C-AEE1-AFFE-3C45190B20CB}"/>
                    </a:ext>
                  </a:extLst>
                </p:cNvPr>
                <p:cNvSpPr txBox="1"/>
                <p:nvPr/>
              </p:nvSpPr>
              <p:spPr>
                <a:xfrm>
                  <a:off x="2933700" y="2512951"/>
                  <a:ext cx="6096000" cy="557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ACC</m:t>
                        </m:r>
                        <m: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fPr>
                          <m:num>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TP</m:t>
                            </m:r>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TN</m:t>
                            </m:r>
                          </m:num>
                          <m:den>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TP</m:t>
                            </m:r>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TN</m:t>
                            </m:r>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FP</m:t>
                            </m:r>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FN</m:t>
                            </m:r>
                          </m:den>
                        </m:f>
                      </m:oMath>
                    </m:oMathPara>
                  </a14:m>
                  <a:endParaRPr lang="zh-CN" altLang="en-US" sz="1600" dirty="0"/>
                </a:p>
              </p:txBody>
            </p:sp>
          </mc:Choice>
          <mc:Fallback xmlns="">
            <p:sp>
              <p:nvSpPr>
                <p:cNvPr id="12" name="文本框 11">
                  <a:extLst>
                    <a:ext uri="{FF2B5EF4-FFF2-40B4-BE49-F238E27FC236}">
                      <a16:creationId xmlns:a16="http://schemas.microsoft.com/office/drawing/2014/main" id="{DC429EBF-CC2C-AEE1-AFFE-3C45190B20CB}"/>
                    </a:ext>
                  </a:extLst>
                </p:cNvPr>
                <p:cNvSpPr txBox="1">
                  <a:spLocks noRot="1" noChangeAspect="1" noMove="1" noResize="1" noEditPoints="1" noAdjustHandles="1" noChangeArrowheads="1" noChangeShapeType="1" noTextEdit="1"/>
                </p:cNvSpPr>
                <p:nvPr/>
              </p:nvSpPr>
              <p:spPr>
                <a:xfrm>
                  <a:off x="2933700" y="2512951"/>
                  <a:ext cx="6096000" cy="55746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C3906D3-FB50-48A0-1828-5FE58996DBAC}"/>
                    </a:ext>
                  </a:extLst>
                </p:cNvPr>
                <p:cNvSpPr txBox="1"/>
                <p:nvPr/>
              </p:nvSpPr>
              <p:spPr>
                <a:xfrm>
                  <a:off x="2933700" y="3370556"/>
                  <a:ext cx="6096000" cy="5752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R</m:t>
                        </m:r>
                        <m:r>
                          <m:rPr>
                            <m:sty m:val="p"/>
                          </m:rP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ec</m:t>
                        </m:r>
                        <m: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fPr>
                          <m:num>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TP</m:t>
                            </m:r>
                          </m:num>
                          <m:den>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TP</m:t>
                            </m:r>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FN</m:t>
                            </m:r>
                          </m:den>
                        </m:f>
                      </m:oMath>
                    </m:oMathPara>
                  </a14:m>
                  <a:endParaRPr lang="zh-CN" altLang="en-US" sz="1600" dirty="0"/>
                </a:p>
              </p:txBody>
            </p:sp>
          </mc:Choice>
          <mc:Fallback xmlns="">
            <p:sp>
              <p:nvSpPr>
                <p:cNvPr id="14" name="文本框 13">
                  <a:extLst>
                    <a:ext uri="{FF2B5EF4-FFF2-40B4-BE49-F238E27FC236}">
                      <a16:creationId xmlns:a16="http://schemas.microsoft.com/office/drawing/2014/main" id="{4C3906D3-FB50-48A0-1828-5FE58996DBAC}"/>
                    </a:ext>
                  </a:extLst>
                </p:cNvPr>
                <p:cNvSpPr txBox="1">
                  <a:spLocks noRot="1" noChangeAspect="1" noMove="1" noResize="1" noEditPoints="1" noAdjustHandles="1" noChangeArrowheads="1" noChangeShapeType="1" noTextEdit="1"/>
                </p:cNvSpPr>
                <p:nvPr/>
              </p:nvSpPr>
              <p:spPr>
                <a:xfrm>
                  <a:off x="2933700" y="3370556"/>
                  <a:ext cx="6096000" cy="57522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0013D8A-B8CA-BB77-E2BC-CD506B120817}"/>
                    </a:ext>
                  </a:extLst>
                </p:cNvPr>
                <p:cNvSpPr txBox="1"/>
                <p:nvPr/>
              </p:nvSpPr>
              <p:spPr>
                <a:xfrm>
                  <a:off x="2933700" y="4228161"/>
                  <a:ext cx="6096000" cy="557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Pre</m:t>
                        </m:r>
                        <m: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fPr>
                          <m:num>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TP</m:t>
                            </m:r>
                          </m:num>
                          <m:den>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TP</m:t>
                            </m:r>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FP</m:t>
                            </m:r>
                          </m:den>
                        </m:f>
                      </m:oMath>
                    </m:oMathPara>
                  </a14:m>
                  <a:endParaRPr lang="zh-CN" altLang="en-US" sz="1600" dirty="0"/>
                </a:p>
              </p:txBody>
            </p:sp>
          </mc:Choice>
          <mc:Fallback xmlns="">
            <p:sp>
              <p:nvSpPr>
                <p:cNvPr id="15" name="文本框 14">
                  <a:extLst>
                    <a:ext uri="{FF2B5EF4-FFF2-40B4-BE49-F238E27FC236}">
                      <a16:creationId xmlns:a16="http://schemas.microsoft.com/office/drawing/2014/main" id="{B0013D8A-B8CA-BB77-E2BC-CD506B120817}"/>
                    </a:ext>
                  </a:extLst>
                </p:cNvPr>
                <p:cNvSpPr txBox="1">
                  <a:spLocks noRot="1" noChangeAspect="1" noMove="1" noResize="1" noEditPoints="1" noAdjustHandles="1" noChangeArrowheads="1" noChangeShapeType="1" noTextEdit="1"/>
                </p:cNvSpPr>
                <p:nvPr/>
              </p:nvSpPr>
              <p:spPr>
                <a:xfrm>
                  <a:off x="2933700" y="4228161"/>
                  <a:ext cx="6096000" cy="55746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CE118FFB-616D-8706-A449-DBD905FD9321}"/>
                    </a:ext>
                  </a:extLst>
                </p:cNvPr>
                <p:cNvSpPr txBox="1"/>
                <p:nvPr/>
              </p:nvSpPr>
              <p:spPr>
                <a:xfrm>
                  <a:off x="2933700" y="5102700"/>
                  <a:ext cx="6096000" cy="557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F</m:t>
                        </m:r>
                        <m: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=2×</m:t>
                        </m:r>
                        <m:f>
                          <m:fPr>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fPr>
                          <m:num>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Pre</m:t>
                            </m:r>
                            <m: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t>Rec</m:t>
                            </m:r>
                          </m:num>
                          <m:den>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Pre</m:t>
                            </m:r>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Rec</m:t>
                            </m:r>
                          </m:den>
                        </m:f>
                      </m:oMath>
                    </m:oMathPara>
                  </a14:m>
                  <a:endParaRPr lang="zh-CN" altLang="en-US" sz="1600" dirty="0"/>
                </a:p>
              </p:txBody>
            </p:sp>
          </mc:Choice>
          <mc:Fallback xmlns="">
            <p:sp>
              <p:nvSpPr>
                <p:cNvPr id="16" name="文本框 15">
                  <a:extLst>
                    <a:ext uri="{FF2B5EF4-FFF2-40B4-BE49-F238E27FC236}">
                      <a16:creationId xmlns:a16="http://schemas.microsoft.com/office/drawing/2014/main" id="{CE118FFB-616D-8706-A449-DBD905FD9321}"/>
                    </a:ext>
                  </a:extLst>
                </p:cNvPr>
                <p:cNvSpPr txBox="1">
                  <a:spLocks noRot="1" noChangeAspect="1" noMove="1" noResize="1" noEditPoints="1" noAdjustHandles="1" noChangeArrowheads="1" noChangeShapeType="1" noTextEdit="1"/>
                </p:cNvSpPr>
                <p:nvPr/>
              </p:nvSpPr>
              <p:spPr>
                <a:xfrm>
                  <a:off x="2933700" y="5102700"/>
                  <a:ext cx="6096000" cy="55746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F4E4B93-89FA-EFD8-BDFA-E2A96FA3E57C}"/>
                    </a:ext>
                  </a:extLst>
                </p:cNvPr>
                <p:cNvSpPr txBox="1"/>
                <p:nvPr/>
              </p:nvSpPr>
              <p:spPr>
                <a:xfrm>
                  <a:off x="2933700" y="5977239"/>
                  <a:ext cx="6096000" cy="6014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Dice</m:t>
                        </m:r>
                        <m: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fPr>
                          <m:num>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2</m:t>
                            </m:r>
                            <m:d>
                              <m:dPr>
                                <m:begChr m:val="|"/>
                                <m:endChr m:val="|"/>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dPr>
                              <m:e>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A</m:t>
                                </m:r>
                                <m: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t>B</m:t>
                                </m:r>
                              </m:e>
                            </m:d>
                          </m:num>
                          <m:den>
                            <m:d>
                              <m:dPr>
                                <m:begChr m:val="|"/>
                                <m:endChr m:val="|"/>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dPr>
                              <m:e>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A</m:t>
                                </m:r>
                              </m:e>
                            </m:d>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d>
                              <m:dPr>
                                <m:begChr m:val="|"/>
                                <m:endChr m:val="|"/>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dPr>
                              <m:e>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B</m:t>
                                </m:r>
                              </m:e>
                            </m:d>
                          </m:den>
                        </m:f>
                      </m:oMath>
                    </m:oMathPara>
                  </a14:m>
                  <a:endParaRPr lang="zh-CN" altLang="en-US" sz="1600" dirty="0"/>
                </a:p>
              </p:txBody>
            </p:sp>
          </mc:Choice>
          <mc:Fallback xmlns="">
            <p:sp>
              <p:nvSpPr>
                <p:cNvPr id="17" name="文本框 16">
                  <a:extLst>
                    <a:ext uri="{FF2B5EF4-FFF2-40B4-BE49-F238E27FC236}">
                      <a16:creationId xmlns:a16="http://schemas.microsoft.com/office/drawing/2014/main" id="{4F4E4B93-89FA-EFD8-BDFA-E2A96FA3E57C}"/>
                    </a:ext>
                  </a:extLst>
                </p:cNvPr>
                <p:cNvSpPr txBox="1">
                  <a:spLocks noRot="1" noChangeAspect="1" noMove="1" noResize="1" noEditPoints="1" noAdjustHandles="1" noChangeArrowheads="1" noChangeShapeType="1" noTextEdit="1"/>
                </p:cNvSpPr>
                <p:nvPr/>
              </p:nvSpPr>
              <p:spPr>
                <a:xfrm>
                  <a:off x="2933700" y="5977239"/>
                  <a:ext cx="6096000" cy="601447"/>
                </a:xfrm>
                <a:prstGeom prst="rect">
                  <a:avLst/>
                </a:prstGeom>
                <a:blipFill>
                  <a:blip r:embed="rId8"/>
                  <a:stretch>
                    <a:fillRect/>
                  </a:stretch>
                </a:blipFill>
              </p:spPr>
              <p:txBody>
                <a:bodyPr/>
                <a:lstStyle/>
                <a:p>
                  <a:r>
                    <a:rPr lang="zh-CN" altLang="en-US">
                      <a:noFill/>
                    </a:rPr>
                    <a:t> </a:t>
                  </a:r>
                </a:p>
              </p:txBody>
            </p:sp>
          </mc:Fallback>
        </mc:AlternateContent>
      </p:grpSp>
      <p:graphicFrame>
        <p:nvGraphicFramePr>
          <p:cNvPr id="4" name="表格 3">
            <a:extLst>
              <a:ext uri="{FF2B5EF4-FFF2-40B4-BE49-F238E27FC236}">
                <a16:creationId xmlns:a16="http://schemas.microsoft.com/office/drawing/2014/main" id="{20E239A2-3AB2-3FB8-7674-70846BA57286}"/>
              </a:ext>
            </a:extLst>
          </p:cNvPr>
          <p:cNvGraphicFramePr>
            <a:graphicFrameLocks noGrp="1"/>
          </p:cNvGraphicFramePr>
          <p:nvPr/>
        </p:nvGraphicFramePr>
        <p:xfrm>
          <a:off x="8683726" y="2512951"/>
          <a:ext cx="2520000" cy="2520000"/>
        </p:xfrm>
        <a:graphic>
          <a:graphicData uri="http://schemas.openxmlformats.org/drawingml/2006/table">
            <a:tbl>
              <a:tblPr>
                <a:tableStyleId>{5DA37D80-6434-44D0-A028-1B22A696006F}</a:tableStyleId>
              </a:tblPr>
              <a:tblGrid>
                <a:gridCol w="840000">
                  <a:extLst>
                    <a:ext uri="{9D8B030D-6E8A-4147-A177-3AD203B41FA5}">
                      <a16:colId xmlns:a16="http://schemas.microsoft.com/office/drawing/2014/main" val="862460710"/>
                    </a:ext>
                  </a:extLst>
                </a:gridCol>
                <a:gridCol w="840000">
                  <a:extLst>
                    <a:ext uri="{9D8B030D-6E8A-4147-A177-3AD203B41FA5}">
                      <a16:colId xmlns:a16="http://schemas.microsoft.com/office/drawing/2014/main" val="1890120390"/>
                    </a:ext>
                  </a:extLst>
                </a:gridCol>
                <a:gridCol w="840000">
                  <a:extLst>
                    <a:ext uri="{9D8B030D-6E8A-4147-A177-3AD203B41FA5}">
                      <a16:colId xmlns:a16="http://schemas.microsoft.com/office/drawing/2014/main" val="2275751859"/>
                    </a:ext>
                  </a:extLst>
                </a:gridCol>
              </a:tblGrid>
              <a:tr h="840000">
                <a:tc>
                  <a:txBody>
                    <a:bodyPr/>
                    <a:lstStyle/>
                    <a:p>
                      <a:pPr algn="ctr">
                        <a:lnSpc>
                          <a:spcPts val="1650"/>
                        </a:lnSpc>
                        <a:buNone/>
                      </a:pPr>
                      <a:r>
                        <a:rPr lang="zh-CN" altLang="en-US" sz="1600" kern="1200" dirty="0">
                          <a:solidFill>
                            <a:schemeClr val="tx1">
                              <a:lumMod val="75000"/>
                              <a:lumOff val="25000"/>
                            </a:schemeClr>
                          </a:solidFill>
                        </a:rPr>
                        <a:t> </a:t>
                      </a:r>
                      <a:endParaRPr lang="zh-CN" altLang="en-US" sz="1600" kern="1200" dirty="0">
                        <a:solidFill>
                          <a:schemeClr val="tx1">
                            <a:lumMod val="75000"/>
                            <a:lumOff val="25000"/>
                          </a:schemeClr>
                        </a:solidFill>
                        <a:latin typeface="思源黑体 CN Regular" charset="-122"/>
                        <a:ea typeface="思源黑体 CN Regular" charset="-122"/>
                      </a:endParaRPr>
                    </a:p>
                  </a:txBody>
                  <a:tcPr marL="50800" marR="50800" marT="50800" marB="50800" anchor="ctr">
                    <a:lnTlToBr w="12700" cap="flat" cmpd="sng" algn="ctr">
                      <a:solidFill>
                        <a:schemeClr val="tx1"/>
                      </a:solidFill>
                      <a:prstDash val="solid"/>
                      <a:round/>
                      <a:headEnd type="none" w="med" len="med"/>
                      <a:tailEnd type="none" w="med" len="med"/>
                    </a:lnTlToBr>
                  </a:tcPr>
                </a:tc>
                <a:tc>
                  <a:txBody>
                    <a:bodyPr/>
                    <a:lstStyle/>
                    <a:p>
                      <a:pPr algn="ctr">
                        <a:lnSpc>
                          <a:spcPts val="1650"/>
                        </a:lnSpc>
                        <a:buNone/>
                      </a:pPr>
                      <a:r>
                        <a:rPr lang="zh-CN" altLang="en-US" sz="1600" kern="1200" dirty="0">
                          <a:solidFill>
                            <a:schemeClr val="tx1">
                              <a:lumMod val="75000"/>
                              <a:lumOff val="25000"/>
                            </a:schemeClr>
                          </a:solidFill>
                        </a:rPr>
                        <a:t>负类</a:t>
                      </a:r>
                      <a:endParaRPr lang="en-US" sz="1600" kern="1200" dirty="0">
                        <a:solidFill>
                          <a:schemeClr val="tx1">
                            <a:lumMod val="75000"/>
                            <a:lumOff val="25000"/>
                          </a:schemeClr>
                        </a:solidFill>
                        <a:latin typeface="思源黑体 CN Regular" charset="-122"/>
                        <a:ea typeface="思源黑体 CN Regular" charset="-122"/>
                      </a:endParaRPr>
                    </a:p>
                  </a:txBody>
                  <a:tcPr marL="50800" marR="50800" marT="50800" marB="50800" anchor="ctr"/>
                </a:tc>
                <a:tc>
                  <a:txBody>
                    <a:bodyPr/>
                    <a:lstStyle/>
                    <a:p>
                      <a:pPr algn="ctr">
                        <a:lnSpc>
                          <a:spcPts val="1650"/>
                        </a:lnSpc>
                        <a:buNone/>
                      </a:pPr>
                      <a:r>
                        <a:rPr lang="zh-CN" altLang="en-US" sz="1600" kern="1200" dirty="0">
                          <a:solidFill>
                            <a:schemeClr val="tx1">
                              <a:lumMod val="75000"/>
                              <a:lumOff val="25000"/>
                            </a:schemeClr>
                          </a:solidFill>
                        </a:rPr>
                        <a:t>正类</a:t>
                      </a:r>
                      <a:endParaRPr lang="en-US" sz="1600" kern="1200" dirty="0">
                        <a:solidFill>
                          <a:schemeClr val="tx1">
                            <a:lumMod val="75000"/>
                            <a:lumOff val="25000"/>
                          </a:schemeClr>
                        </a:solidFill>
                        <a:latin typeface="思源黑体 CN Regular" charset="-122"/>
                        <a:ea typeface="思源黑体 CN Regular" charset="-122"/>
                      </a:endParaRPr>
                    </a:p>
                  </a:txBody>
                  <a:tcPr marL="50800" marR="50800" marT="50800" marB="50800" anchor="ctr"/>
                </a:tc>
                <a:extLst>
                  <a:ext uri="{0D108BD9-81ED-4DB2-BD59-A6C34878D82A}">
                    <a16:rowId xmlns:a16="http://schemas.microsoft.com/office/drawing/2014/main" val="4191579260"/>
                  </a:ext>
                </a:extLst>
              </a:tr>
              <a:tr h="840000">
                <a:tc>
                  <a:txBody>
                    <a:bodyPr/>
                    <a:lstStyle/>
                    <a:p>
                      <a:pPr algn="ctr">
                        <a:lnSpc>
                          <a:spcPts val="1650"/>
                        </a:lnSpc>
                        <a:buNone/>
                      </a:pPr>
                      <a:r>
                        <a:rPr lang="zh-CN" altLang="en-US" sz="1600" kern="1200" dirty="0">
                          <a:solidFill>
                            <a:schemeClr val="tx1">
                              <a:lumMod val="75000"/>
                              <a:lumOff val="25000"/>
                            </a:schemeClr>
                          </a:solidFill>
                        </a:rPr>
                        <a:t>负类</a:t>
                      </a:r>
                      <a:endParaRPr lang="en-US" sz="1600" kern="1200" dirty="0">
                        <a:solidFill>
                          <a:schemeClr val="tx1">
                            <a:lumMod val="75000"/>
                            <a:lumOff val="25000"/>
                          </a:schemeClr>
                        </a:solidFill>
                        <a:latin typeface="思源黑体 CN Regular" charset="-122"/>
                        <a:ea typeface="思源黑体 CN Regular" charset="-122"/>
                      </a:endParaRPr>
                    </a:p>
                  </a:txBody>
                  <a:tcPr marL="50800" marR="50800" marT="50800" marB="50800" anchor="ctr"/>
                </a:tc>
                <a:tc>
                  <a:txBody>
                    <a:bodyPr/>
                    <a:lstStyle/>
                    <a:p>
                      <a:pPr algn="ctr">
                        <a:lnSpc>
                          <a:spcPts val="1650"/>
                        </a:lnSpc>
                        <a:buNone/>
                      </a:pPr>
                      <a:r>
                        <a:rPr lang="en-US" sz="1600" kern="1200" dirty="0">
                          <a:solidFill>
                            <a:schemeClr val="tx1">
                              <a:lumMod val="75000"/>
                              <a:lumOff val="25000"/>
                            </a:schemeClr>
                          </a:solidFill>
                        </a:rPr>
                        <a:t>TN</a:t>
                      </a:r>
                      <a:endParaRPr lang="en-US" sz="1600" kern="1200" dirty="0">
                        <a:solidFill>
                          <a:schemeClr val="tx1">
                            <a:lumMod val="75000"/>
                            <a:lumOff val="25000"/>
                          </a:schemeClr>
                        </a:solidFill>
                        <a:latin typeface="思源黑体 CN Regular" charset="-122"/>
                        <a:ea typeface="思源黑体 CN Regular" charset="-122"/>
                      </a:endParaRPr>
                    </a:p>
                  </a:txBody>
                  <a:tcPr marL="50800" marR="50800" marT="50800" marB="50800" anchor="ctr"/>
                </a:tc>
                <a:tc>
                  <a:txBody>
                    <a:bodyPr/>
                    <a:lstStyle/>
                    <a:p>
                      <a:pPr algn="ctr">
                        <a:lnSpc>
                          <a:spcPts val="1650"/>
                        </a:lnSpc>
                        <a:buNone/>
                      </a:pPr>
                      <a:r>
                        <a:rPr lang="en-US" sz="1600" kern="1200" dirty="0">
                          <a:solidFill>
                            <a:schemeClr val="tx1">
                              <a:lumMod val="75000"/>
                              <a:lumOff val="25000"/>
                            </a:schemeClr>
                          </a:solidFill>
                        </a:rPr>
                        <a:t>FP</a:t>
                      </a:r>
                      <a:endParaRPr lang="en-US" sz="1600" kern="1200" dirty="0">
                        <a:solidFill>
                          <a:schemeClr val="tx1">
                            <a:lumMod val="75000"/>
                            <a:lumOff val="25000"/>
                          </a:schemeClr>
                        </a:solidFill>
                        <a:latin typeface="思源黑体 CN Regular" charset="-122"/>
                        <a:ea typeface="思源黑体 CN Regular" charset="-122"/>
                      </a:endParaRPr>
                    </a:p>
                  </a:txBody>
                  <a:tcPr marL="50800" marR="50800" marT="50800" marB="50800" anchor="ctr"/>
                </a:tc>
                <a:extLst>
                  <a:ext uri="{0D108BD9-81ED-4DB2-BD59-A6C34878D82A}">
                    <a16:rowId xmlns:a16="http://schemas.microsoft.com/office/drawing/2014/main" val="889129879"/>
                  </a:ext>
                </a:extLst>
              </a:tr>
              <a:tr h="840000">
                <a:tc>
                  <a:txBody>
                    <a:bodyPr/>
                    <a:lstStyle/>
                    <a:p>
                      <a:pPr algn="ctr">
                        <a:lnSpc>
                          <a:spcPts val="1650"/>
                        </a:lnSpc>
                        <a:buNone/>
                      </a:pPr>
                      <a:r>
                        <a:rPr lang="zh-CN" altLang="en-US" sz="1600" kern="1200" dirty="0">
                          <a:solidFill>
                            <a:schemeClr val="tx1">
                              <a:lumMod val="75000"/>
                              <a:lumOff val="25000"/>
                            </a:schemeClr>
                          </a:solidFill>
                        </a:rPr>
                        <a:t>正类 </a:t>
                      </a:r>
                      <a:endParaRPr lang="en-US" sz="1600" kern="1200" dirty="0">
                        <a:solidFill>
                          <a:schemeClr val="tx1">
                            <a:lumMod val="75000"/>
                            <a:lumOff val="25000"/>
                          </a:schemeClr>
                        </a:solidFill>
                        <a:latin typeface="思源黑体 CN Regular" charset="-122"/>
                        <a:ea typeface="思源黑体 CN Regular" charset="-122"/>
                      </a:endParaRPr>
                    </a:p>
                  </a:txBody>
                  <a:tcPr marL="50800" marR="50800" marT="50800" marB="50800" anchor="ctr"/>
                </a:tc>
                <a:tc>
                  <a:txBody>
                    <a:bodyPr/>
                    <a:lstStyle/>
                    <a:p>
                      <a:pPr algn="ctr">
                        <a:lnSpc>
                          <a:spcPts val="1650"/>
                        </a:lnSpc>
                        <a:buNone/>
                      </a:pPr>
                      <a:r>
                        <a:rPr lang="en-US" sz="1600" kern="1200" dirty="0">
                          <a:solidFill>
                            <a:schemeClr val="tx1">
                              <a:lumMod val="75000"/>
                              <a:lumOff val="25000"/>
                            </a:schemeClr>
                          </a:solidFill>
                        </a:rPr>
                        <a:t>FN</a:t>
                      </a:r>
                      <a:endParaRPr lang="en-US" sz="1600" kern="1200" dirty="0">
                        <a:solidFill>
                          <a:schemeClr val="tx1">
                            <a:lumMod val="75000"/>
                            <a:lumOff val="25000"/>
                          </a:schemeClr>
                        </a:solidFill>
                        <a:latin typeface="思源黑体 CN Regular" charset="-122"/>
                        <a:ea typeface="思源黑体 CN Regular" charset="-122"/>
                      </a:endParaRPr>
                    </a:p>
                  </a:txBody>
                  <a:tcPr marL="50800" marR="50800" marT="50800" marB="50800" anchor="ctr"/>
                </a:tc>
                <a:tc>
                  <a:txBody>
                    <a:bodyPr/>
                    <a:lstStyle/>
                    <a:p>
                      <a:pPr algn="ctr">
                        <a:lnSpc>
                          <a:spcPts val="1650"/>
                        </a:lnSpc>
                        <a:buNone/>
                      </a:pPr>
                      <a:r>
                        <a:rPr lang="en-US" sz="1600" kern="1200" dirty="0">
                          <a:solidFill>
                            <a:schemeClr val="tx1">
                              <a:lumMod val="75000"/>
                              <a:lumOff val="25000"/>
                            </a:schemeClr>
                          </a:solidFill>
                        </a:rPr>
                        <a:t>TP</a:t>
                      </a:r>
                      <a:endParaRPr lang="en-US" sz="1600" kern="1200" dirty="0">
                        <a:solidFill>
                          <a:schemeClr val="tx1">
                            <a:lumMod val="75000"/>
                            <a:lumOff val="25000"/>
                          </a:schemeClr>
                        </a:solidFill>
                        <a:latin typeface="思源黑体 CN Regular" charset="-122"/>
                        <a:ea typeface="思源黑体 CN Regular" charset="-122"/>
                      </a:endParaRPr>
                    </a:p>
                  </a:txBody>
                  <a:tcPr marL="50800" marR="50800" marT="50800" marB="50800" anchor="ctr"/>
                </a:tc>
                <a:extLst>
                  <a:ext uri="{0D108BD9-81ED-4DB2-BD59-A6C34878D82A}">
                    <a16:rowId xmlns:a16="http://schemas.microsoft.com/office/drawing/2014/main" val="1534926769"/>
                  </a:ext>
                </a:extLst>
              </a:tr>
            </a:tbl>
          </a:graphicData>
        </a:graphic>
      </p:graphicFrame>
      <p:sp>
        <p:nvSpPr>
          <p:cNvPr id="7" name="文本框 6">
            <a:extLst>
              <a:ext uri="{FF2B5EF4-FFF2-40B4-BE49-F238E27FC236}">
                <a16:creationId xmlns:a16="http://schemas.microsoft.com/office/drawing/2014/main" id="{944D6880-F8A2-4AA8-D24A-9AB862161323}"/>
              </a:ext>
            </a:extLst>
          </p:cNvPr>
          <p:cNvSpPr txBox="1"/>
          <p:nvPr/>
        </p:nvSpPr>
        <p:spPr>
          <a:xfrm>
            <a:off x="8941477" y="2569453"/>
            <a:ext cx="658184" cy="338554"/>
          </a:xfrm>
          <a:prstGeom prst="rect">
            <a:avLst/>
          </a:prstGeom>
          <a:noFill/>
        </p:spPr>
        <p:txBody>
          <a:bodyPr wrap="square">
            <a:spAutoFit/>
          </a:bodyPr>
          <a:lstStyle/>
          <a:p>
            <a:r>
              <a:rPr lang="zh-CN" altLang="en-US" sz="1600" kern="1200" dirty="0">
                <a:solidFill>
                  <a:schemeClr val="tx1">
                    <a:lumMod val="75000"/>
                    <a:lumOff val="25000"/>
                  </a:schemeClr>
                </a:solidFill>
              </a:rPr>
              <a:t>预测</a:t>
            </a:r>
            <a:endParaRPr lang="zh-CN" altLang="en-US" sz="1600" dirty="0"/>
          </a:p>
        </p:txBody>
      </p:sp>
      <p:sp>
        <p:nvSpPr>
          <p:cNvPr id="8" name="文本框 7">
            <a:extLst>
              <a:ext uri="{FF2B5EF4-FFF2-40B4-BE49-F238E27FC236}">
                <a16:creationId xmlns:a16="http://schemas.microsoft.com/office/drawing/2014/main" id="{9DAD0D3E-A604-153E-2FFD-EA9EFE986DDC}"/>
              </a:ext>
            </a:extLst>
          </p:cNvPr>
          <p:cNvSpPr txBox="1"/>
          <p:nvPr/>
        </p:nvSpPr>
        <p:spPr>
          <a:xfrm>
            <a:off x="8643070" y="2964509"/>
            <a:ext cx="658184" cy="338554"/>
          </a:xfrm>
          <a:prstGeom prst="rect">
            <a:avLst/>
          </a:prstGeom>
          <a:noFill/>
        </p:spPr>
        <p:txBody>
          <a:bodyPr wrap="square">
            <a:spAutoFit/>
          </a:bodyPr>
          <a:lstStyle/>
          <a:p>
            <a:r>
              <a:rPr lang="zh-CN" altLang="en-US" sz="1600" kern="1200" dirty="0">
                <a:solidFill>
                  <a:schemeClr val="tx1">
                    <a:lumMod val="75000"/>
                    <a:lumOff val="25000"/>
                  </a:schemeClr>
                </a:solidFill>
              </a:rPr>
              <a:t>真实</a:t>
            </a:r>
            <a:endParaRPr lang="zh-CN" altLang="en-US" sz="1600" dirty="0"/>
          </a:p>
        </p:txBody>
      </p:sp>
    </p:spTree>
    <p:custDataLst>
      <p:tags r:id="rId1"/>
    </p:custDataLst>
    <p:extLst>
      <p:ext uri="{BB962C8B-B14F-4D97-AF65-F5344CB8AC3E}">
        <p14:creationId xmlns:p14="http://schemas.microsoft.com/office/powerpoint/2010/main" val="2285637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058F7-D7E1-1EBF-0D94-3361E12FC79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4DFDB51-9BA8-6618-EDF9-66982E2A0675}"/>
              </a:ext>
            </a:extLst>
          </p:cNvPr>
          <p:cNvSpPr txBox="1"/>
          <p:nvPr/>
        </p:nvSpPr>
        <p:spPr>
          <a:xfrm>
            <a:off x="1224647" y="1926226"/>
            <a:ext cx="9652635" cy="4194909"/>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特定任务准确性评估指标</a:t>
            </a:r>
            <a:endParaRPr lang="en-US" altLang="zh-CN"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结构拓扑完整性：用于医学影像中器官或肿瘤区域检测</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考察预测与真实结构在拓扑上的一致性</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形状相似性：通过豪斯多夫距离评估模型输出与实际结构之间的形状相似度</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13" name="文本框">
            <a:extLst>
              <a:ext uri="{FF2B5EF4-FFF2-40B4-BE49-F238E27FC236}">
                <a16:creationId xmlns:a16="http://schemas.microsoft.com/office/drawing/2014/main" id="{B137CCDD-B895-A839-505A-9072D351A6A5}"/>
              </a:ext>
            </a:extLst>
          </p:cNvPr>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charset="-122"/>
                <a:ea typeface="思源黑体 CN Regular" charset="-122"/>
                <a:cs typeface="+mn-ea"/>
                <a:sym typeface="Arial" panose="020B0604020202090204" pitchFamily="34" charset="0"/>
              </a:rPr>
              <a:t>模型评估指标</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A2BAF4B-D91F-C407-B4A7-E4367C67A815}"/>
                  </a:ext>
                </a:extLst>
              </p:cNvPr>
              <p:cNvSpPr txBox="1"/>
              <p:nvPr/>
            </p:nvSpPr>
            <p:spPr>
              <a:xfrm>
                <a:off x="2227947" y="2850486"/>
                <a:ext cx="6096000" cy="6124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拓扑</m:t>
                      </m:r>
                      <m:r>
                        <a:rPr lang="zh-CN" altLang="en-US"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一致性</m:t>
                      </m:r>
                      <m:r>
                        <a:rPr lang="en-US" altLang="zh-CN" sz="16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f>
                        <m:fPr>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fPr>
                        <m:num>
                          <m:r>
                            <a:rPr lang="zh-CN" altLang="en-US"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正确</m:t>
                          </m:r>
                          <m:r>
                            <a:rPr lang="zh-CN" altLang="en-US" sz="160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结构</m:t>
                          </m:r>
                          <m:r>
                            <a:rPr lang="zh-CN" altLang="en-US"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的</m:t>
                          </m:r>
                          <m:r>
                            <a:rPr lang="zh-CN" altLang="en-US" sz="160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重叠</m:t>
                          </m:r>
                          <m:r>
                            <a:rPr lang="zh-CN" altLang="en-US"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数量</m:t>
                          </m:r>
                        </m:num>
                        <m:den>
                          <m:r>
                            <a:rPr lang="zh-CN" altLang="en-US"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结构</m:t>
                          </m:r>
                          <m:r>
                            <a:rPr lang="zh-CN" altLang="en-US" sz="160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总数</m:t>
                          </m:r>
                        </m:den>
                      </m:f>
                    </m:oMath>
                  </m:oMathPara>
                </a14:m>
                <a:endParaRPr lang="zh-CN" altLang="en-US" sz="1600" dirty="0"/>
              </a:p>
            </p:txBody>
          </p:sp>
        </mc:Choice>
        <mc:Fallback xmlns="">
          <p:sp>
            <p:nvSpPr>
              <p:cNvPr id="2" name="文本框 1">
                <a:extLst>
                  <a:ext uri="{FF2B5EF4-FFF2-40B4-BE49-F238E27FC236}">
                    <a16:creationId xmlns:a16="http://schemas.microsoft.com/office/drawing/2014/main" id="{CA2BAF4B-D91F-C407-B4A7-E4367C67A815}"/>
                  </a:ext>
                </a:extLst>
              </p:cNvPr>
              <p:cNvSpPr txBox="1">
                <a:spLocks noRot="1" noChangeAspect="1" noMove="1" noResize="1" noEditPoints="1" noAdjustHandles="1" noChangeArrowheads="1" noChangeShapeType="1" noTextEdit="1"/>
              </p:cNvSpPr>
              <p:nvPr/>
            </p:nvSpPr>
            <p:spPr>
              <a:xfrm>
                <a:off x="2227947" y="2850486"/>
                <a:ext cx="6096000" cy="612475"/>
              </a:xfrm>
              <a:prstGeom prst="rect">
                <a:avLst/>
              </a:prstGeom>
              <a:blipFill>
                <a:blip r:embed="rId4"/>
                <a:stretch>
                  <a:fillRect/>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B4C85018-0624-980E-3DEB-96D5C6215983}"/>
              </a:ext>
            </a:extLst>
          </p:cNvPr>
          <p:cNvPicPr>
            <a:picLocks noChangeAspect="1"/>
          </p:cNvPicPr>
          <p:nvPr/>
        </p:nvPicPr>
        <p:blipFill>
          <a:blip r:embed="rId5"/>
          <a:stretch>
            <a:fillRect/>
          </a:stretch>
        </p:blipFill>
        <p:spPr>
          <a:xfrm>
            <a:off x="3068456" y="4616356"/>
            <a:ext cx="5255491" cy="665900"/>
          </a:xfrm>
          <a:prstGeom prst="rect">
            <a:avLst/>
          </a:prstGeom>
        </p:spPr>
      </p:pic>
      <p:sp>
        <p:nvSpPr>
          <p:cNvPr id="3" name="文本框 2">
            <a:extLst>
              <a:ext uri="{FF2B5EF4-FFF2-40B4-BE49-F238E27FC236}">
                <a16:creationId xmlns:a16="http://schemas.microsoft.com/office/drawing/2014/main" id="{CDE00774-76A5-219E-912B-D7E791737D7B}"/>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1</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）准确性评估指标</a:t>
            </a:r>
          </a:p>
        </p:txBody>
      </p:sp>
    </p:spTree>
    <p:custDataLst>
      <p:tags r:id="rId1"/>
    </p:custDataLst>
    <p:extLst>
      <p:ext uri="{BB962C8B-B14F-4D97-AF65-F5344CB8AC3E}">
        <p14:creationId xmlns:p14="http://schemas.microsoft.com/office/powerpoint/2010/main" val="3203555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67085-B947-AB2C-6790-D1825D31D25D}"/>
            </a:ext>
          </a:extLst>
        </p:cNvPr>
        <p:cNvGrpSpPr/>
        <p:nvPr/>
      </p:nvGrpSpPr>
      <p:grpSpPr>
        <a:xfrm>
          <a:off x="0" y="0"/>
          <a:ext cx="0" cy="0"/>
          <a:chOff x="0" y="0"/>
          <a:chExt cx="0" cy="0"/>
        </a:xfrm>
      </p:grpSpPr>
      <p:sp>
        <p:nvSpPr>
          <p:cNvPr id="13" name="文本框">
            <a:extLst>
              <a:ext uri="{FF2B5EF4-FFF2-40B4-BE49-F238E27FC236}">
                <a16:creationId xmlns:a16="http://schemas.microsoft.com/office/drawing/2014/main" id="{3AFCA14C-12F4-D3AC-0873-7A8A7F4F4E1F}"/>
              </a:ext>
            </a:extLst>
          </p:cNvPr>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charset="-122"/>
                <a:ea typeface="思源黑体 CN Regular" charset="-122"/>
                <a:cs typeface="+mn-ea"/>
                <a:sym typeface="Arial" panose="020B0604020202090204" pitchFamily="34" charset="0"/>
              </a:rPr>
              <a:t>模型评估指标</a:t>
            </a:r>
          </a:p>
        </p:txBody>
      </p:sp>
      <p:sp>
        <p:nvSpPr>
          <p:cNvPr id="3" name="TextBox 8">
            <a:extLst>
              <a:ext uri="{FF2B5EF4-FFF2-40B4-BE49-F238E27FC236}">
                <a16:creationId xmlns:a16="http://schemas.microsoft.com/office/drawing/2014/main" id="{9BD6A8CB-EEC5-32BA-7231-22C811CB2FAC}"/>
              </a:ext>
            </a:extLst>
          </p:cNvPr>
          <p:cNvSpPr txBox="1"/>
          <p:nvPr/>
        </p:nvSpPr>
        <p:spPr>
          <a:xfrm>
            <a:off x="966901" y="2037219"/>
            <a:ext cx="9652635" cy="4194909"/>
          </a:xfrm>
          <a:prstGeom prst="rect">
            <a:avLst/>
          </a:prstGeom>
          <a:noFill/>
        </p:spPr>
        <p:txBody>
          <a:bodyPr wrap="square" lIns="0" tIns="0" rIns="0" bIns="0" rtlCol="0" anchor="t">
            <a:noAutofit/>
          </a:bodyPr>
          <a:lstStyle/>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特征重要性：评估输入特征对预测结果的影响程度</a:t>
            </a:r>
          </a:p>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应用：癌症预测中识别年龄、吸烟历史等关键特征</a:t>
            </a:r>
            <a:r>
              <a:rPr lang="en-US" altLang="zh-CN" sz="1600" dirty="0">
                <a:solidFill>
                  <a:srgbClr val="05B0F0"/>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帮助理解决策依据</a:t>
            </a:r>
          </a:p>
          <a:p>
            <a:pPr marL="342900" indent="-342900" algn="l" defTabSz="1219200" fontAlgn="auto">
              <a:lnSpc>
                <a:spcPct val="150000"/>
              </a:lnSpc>
              <a:spcBef>
                <a:spcPts val="600"/>
              </a:spcBef>
              <a:buFont typeface="+mj-ea"/>
              <a:buAutoNum type="circleNumDbPlain" startAt="2"/>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局部可解释性：对特定预测的解释</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常用</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LIME</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和</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SHAP</a:t>
            </a:r>
          </a:p>
          <a:p>
            <a:pPr defTabSz="1219200">
              <a:lnSpc>
                <a:spcPct val="150000"/>
              </a:lnSpc>
              <a:spcBef>
                <a:spcPts val="600"/>
              </a:spcBef>
              <a:defRPr/>
            </a:pPr>
            <a:r>
              <a:rPr lang="zh-CN" altLang="en-US" sz="1600" dirty="0">
                <a:solidFill>
                  <a:schemeClr val="accent1"/>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应用：心脏病预测中解释</a:t>
            </a:r>
            <a:r>
              <a:rPr lang="en-US" altLang="zh-CN" sz="1600" dirty="0">
                <a:solidFill>
                  <a:srgbClr val="05B0F0"/>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年龄、血糖、高血压史导致患病预测</a:t>
            </a:r>
            <a:r>
              <a:rPr lang="en-US" altLang="zh-CN" sz="1600" dirty="0">
                <a:solidFill>
                  <a:srgbClr val="05B0F0"/>
                </a:solidFill>
                <a:latin typeface="思源黑体 CN Regular" charset="-122"/>
                <a:ea typeface="思源黑体 CN Regular" charset="-122"/>
                <a:cs typeface="思源黑体 CN Regular" charset="-122"/>
                <a:sym typeface="Arial" panose="020B0604020202090204" pitchFamily="34" charset="0"/>
              </a:rPr>
              <a:t>"</a:t>
            </a:r>
            <a:endPar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startAt="3"/>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全局可解释性：解释整个模型的决策规则和结构</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defTabSz="1219200">
              <a:lnSpc>
                <a:spcPct val="150000"/>
              </a:lnSpc>
              <a:spcBef>
                <a:spcPts val="600"/>
              </a:spcBef>
              <a:defRPr/>
            </a:pPr>
            <a:r>
              <a:rPr lang="zh-CN" altLang="en-US" sz="1600" dirty="0">
                <a:solidFill>
                  <a:schemeClr val="accent1"/>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应用：乳腺癌预测中显示模型通过肿瘤边缘特征做出区分</a:t>
            </a:r>
            <a:endParaRPr lang="en-US" altLang="zh-CN" sz="1600" dirty="0">
              <a:solidFill>
                <a:srgbClr val="05B0F0"/>
              </a:solidFill>
              <a:latin typeface="思源黑体 CN Regular" charset="-122"/>
              <a:ea typeface="思源黑体 CN Regular" charset="-122"/>
              <a:cs typeface="思源黑体 CN Regular" charset="-122"/>
              <a:sym typeface="Arial" panose="020B0604020202090204" pitchFamily="34" charset="0"/>
            </a:endParaRPr>
          </a:p>
          <a:p>
            <a:pPr marL="342900" indent="-342900" defTabSz="1219200">
              <a:lnSpc>
                <a:spcPct val="150000"/>
              </a:lnSpc>
              <a:spcBef>
                <a:spcPts val="600"/>
              </a:spcBef>
              <a:buFont typeface="+mj-ea"/>
              <a:buAutoNum type="circleNumDbPlain" startAt="4"/>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可视化解释：通过图形呈现模型内部机制</a:t>
            </a:r>
          </a:p>
          <a:p>
            <a:pPr defTabSz="1219200">
              <a:lnSpc>
                <a:spcPct val="150000"/>
              </a:lnSpc>
              <a:spcBef>
                <a:spcPts val="600"/>
              </a:spcBef>
              <a:defRPr/>
            </a:pP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        应用：膀胱癌检测中关键区域的可视化</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algn="l" defTabSz="1219200" fontAlgn="auto">
              <a:lnSpc>
                <a:spcPct val="150000"/>
              </a:lnSpc>
              <a:spcBef>
                <a:spcPts val="600"/>
              </a:spcBef>
              <a:buFont typeface="+mj-ea"/>
              <a:buAutoNum type="circleNumDbPlain" startAt="3"/>
              <a:defRPr/>
            </a:pPr>
            <a:endPar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pic>
        <p:nvPicPr>
          <p:cNvPr id="4" name="图片 3">
            <a:extLst>
              <a:ext uri="{FF2B5EF4-FFF2-40B4-BE49-F238E27FC236}">
                <a16:creationId xmlns:a16="http://schemas.microsoft.com/office/drawing/2014/main" id="{CEA2FC6C-9347-467E-F3A0-ABD48BFD24A7}"/>
              </a:ext>
            </a:extLst>
          </p:cNvPr>
          <p:cNvPicPr>
            <a:picLocks noChangeAspect="1"/>
          </p:cNvPicPr>
          <p:nvPr/>
        </p:nvPicPr>
        <p:blipFill>
          <a:blip r:embed="rId4"/>
          <a:stretch>
            <a:fillRect/>
          </a:stretch>
        </p:blipFill>
        <p:spPr>
          <a:xfrm>
            <a:off x="7840020" y="2779764"/>
            <a:ext cx="4161135" cy="1789431"/>
          </a:xfrm>
          <a:prstGeom prst="rect">
            <a:avLst/>
          </a:prstGeom>
        </p:spPr>
      </p:pic>
      <p:sp>
        <p:nvSpPr>
          <p:cNvPr id="5" name="文本框 4">
            <a:extLst>
              <a:ext uri="{FF2B5EF4-FFF2-40B4-BE49-F238E27FC236}">
                <a16:creationId xmlns:a16="http://schemas.microsoft.com/office/drawing/2014/main" id="{AEAA2E04-29B5-A284-2EBD-B5859DD60C72}"/>
              </a:ext>
            </a:extLst>
          </p:cNvPr>
          <p:cNvSpPr txBox="1"/>
          <p:nvPr/>
        </p:nvSpPr>
        <p:spPr>
          <a:xfrm>
            <a:off x="8928492" y="4675177"/>
            <a:ext cx="2090567" cy="307777"/>
          </a:xfrm>
          <a:prstGeom prst="rect">
            <a:avLst/>
          </a:prstGeom>
          <a:noFill/>
        </p:spPr>
        <p:txBody>
          <a:bodyPr wrap="square">
            <a:spAutoFit/>
          </a:bodyPr>
          <a:lstStyle/>
          <a:p>
            <a:pPr algn="ct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可视化解释案例</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7" name="文本框 6">
            <a:extLst>
              <a:ext uri="{FF2B5EF4-FFF2-40B4-BE49-F238E27FC236}">
                <a16:creationId xmlns:a16="http://schemas.microsoft.com/office/drawing/2014/main" id="{A64393AC-A86E-2D45-EEBA-42064C00BD7D}"/>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2</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）可解释性评估指标</a:t>
            </a:r>
          </a:p>
        </p:txBody>
      </p:sp>
    </p:spTree>
    <p:custDataLst>
      <p:tags r:id="rId1"/>
    </p:custDataLst>
    <p:extLst>
      <p:ext uri="{BB962C8B-B14F-4D97-AF65-F5344CB8AC3E}">
        <p14:creationId xmlns:p14="http://schemas.microsoft.com/office/powerpoint/2010/main" val="3009317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56BE0-4160-8843-3876-8964FE92054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7096B3B-5551-8161-2EF6-A7418AC74EB4}"/>
              </a:ext>
            </a:extLst>
          </p:cNvPr>
          <p:cNvSpPr txBox="1"/>
          <p:nvPr/>
        </p:nvSpPr>
        <p:spPr>
          <a:xfrm>
            <a:off x="1627047" y="1932363"/>
            <a:ext cx="9652635" cy="187046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鲁棒性 </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(Robustness)</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：模型在面对噪声、异常值或不完美数据时</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依然能够做出正确预测的能力</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添加噪声测试：在输入数据中加入随机噪声</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评估预测变化</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对抗样本测试：对输入进行微小修改</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测试模型抵抗能力</a:t>
            </a:r>
          </a:p>
          <a:p>
            <a:pPr algn="l" defTabSz="1219200" fontAlgn="auto">
              <a:lnSpc>
                <a:spcPct val="150000"/>
              </a:lnSpc>
              <a:spcBef>
                <a:spcPts val="600"/>
              </a:spcBef>
              <a:defRPr/>
            </a:pP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实例：</a:t>
            </a:r>
            <a:r>
              <a:rPr lang="en-US" altLang="zh-CN" sz="1600" dirty="0">
                <a:solidFill>
                  <a:srgbClr val="05B0F0"/>
                </a:solidFill>
                <a:latin typeface="思源黑体 CN Regular" charset="-122"/>
                <a:ea typeface="思源黑体 CN Regular" charset="-122"/>
                <a:cs typeface="思源黑体 CN Regular" charset="-122"/>
                <a:sym typeface="Arial" panose="020B0604020202090204" pitchFamily="34" charset="0"/>
              </a:rPr>
              <a:t>X</a:t>
            </a: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光影像质量不佳时</a:t>
            </a:r>
            <a:r>
              <a:rPr lang="en-US" altLang="zh-CN" sz="1600" dirty="0">
                <a:solidFill>
                  <a:srgbClr val="05B0F0"/>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鲁棒模型仍能准确识别肺结节</a:t>
            </a:r>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13" name="文本框">
            <a:extLst>
              <a:ext uri="{FF2B5EF4-FFF2-40B4-BE49-F238E27FC236}">
                <a16:creationId xmlns:a16="http://schemas.microsoft.com/office/drawing/2014/main" id="{D233CAFD-99C0-186B-C3E3-3BBB284B9B41}"/>
              </a:ext>
            </a:extLst>
          </p:cNvPr>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charset="-122"/>
                <a:ea typeface="思源黑体 CN Regular" charset="-122"/>
                <a:cs typeface="+mn-ea"/>
                <a:sym typeface="Arial" panose="020B0604020202090204" pitchFamily="34" charset="0"/>
              </a:rPr>
              <a:t>模型评估指标</a:t>
            </a:r>
          </a:p>
        </p:txBody>
      </p:sp>
      <p:sp>
        <p:nvSpPr>
          <p:cNvPr id="4" name="TextBox 8">
            <a:extLst>
              <a:ext uri="{FF2B5EF4-FFF2-40B4-BE49-F238E27FC236}">
                <a16:creationId xmlns:a16="http://schemas.microsoft.com/office/drawing/2014/main" id="{9EE8EBDE-0D5E-5CE5-4980-46B736CC275C}"/>
              </a:ext>
            </a:extLst>
          </p:cNvPr>
          <p:cNvSpPr txBox="1"/>
          <p:nvPr/>
        </p:nvSpPr>
        <p:spPr>
          <a:xfrm>
            <a:off x="1627047" y="3926097"/>
            <a:ext cx="9652635" cy="187046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稳定性 </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(Stability)</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：模型在面对相似输入时</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能够保持一致性和可靠性的程度</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小扰动测试：对输入进行微小扰动</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观察输出是否显著变化</a:t>
            </a: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输入变动分析：小范围变化输入</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查看结果稳定性</a:t>
            </a:r>
          </a:p>
          <a:p>
            <a:pPr algn="l" defTabSz="1219200" fontAlgn="auto">
              <a:lnSpc>
                <a:spcPct val="150000"/>
              </a:lnSpc>
              <a:spcBef>
                <a:spcPts val="600"/>
              </a:spcBef>
              <a:defRPr/>
            </a:pP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实例：患者体重微小变化时</a:t>
            </a:r>
            <a:r>
              <a:rPr lang="en-US" altLang="zh-CN" sz="1600" dirty="0">
                <a:solidFill>
                  <a:srgbClr val="05B0F0"/>
                </a:solidFill>
                <a:latin typeface="思源黑体 CN Regular" charset="-122"/>
                <a:ea typeface="思源黑体 CN Regular" charset="-122"/>
                <a:cs typeface="思源黑体 CN Regular" charset="-122"/>
                <a:sym typeface="Arial" panose="020B0604020202090204" pitchFamily="34" charset="0"/>
              </a:rPr>
              <a:t>,</a:t>
            </a:r>
            <a:r>
              <a:rPr lang="zh-CN" altLang="en-US" sz="1600" dirty="0">
                <a:solidFill>
                  <a:srgbClr val="05B0F0"/>
                </a:solidFill>
                <a:latin typeface="思源黑体 CN Regular" charset="-122"/>
                <a:ea typeface="思源黑体 CN Regular" charset="-122"/>
                <a:cs typeface="思源黑体 CN Regular" charset="-122"/>
                <a:sym typeface="Arial" panose="020B0604020202090204" pitchFamily="34" charset="0"/>
              </a:rPr>
              <a:t>心脏病预测模型应保持稳定输出</a:t>
            </a:r>
          </a:p>
        </p:txBody>
      </p:sp>
      <p:sp>
        <p:nvSpPr>
          <p:cNvPr id="7" name="文本框 6">
            <a:extLst>
              <a:ext uri="{FF2B5EF4-FFF2-40B4-BE49-F238E27FC236}">
                <a16:creationId xmlns:a16="http://schemas.microsoft.com/office/drawing/2014/main" id="{D0ABA1AB-A465-2CBD-D477-C51950F56103}"/>
              </a:ext>
            </a:extLst>
          </p:cNvPr>
          <p:cNvSpPr txBox="1"/>
          <p:nvPr/>
        </p:nvSpPr>
        <p:spPr>
          <a:xfrm>
            <a:off x="336550" y="982345"/>
            <a:ext cx="6096000" cy="506101"/>
          </a:xfrm>
          <a:prstGeom prst="rect">
            <a:avLst/>
          </a:prstGeom>
          <a:noFill/>
        </p:spPr>
        <p:txBody>
          <a:bodyPr wrap="square" rtlCol="0" anchor="t">
            <a:spAutoFit/>
          </a:bodyPr>
          <a:lstStyle/>
          <a:p>
            <a:pPr defTabSz="1219200">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a:t>
            </a:r>
            <a:r>
              <a:rPr lang="en-US" altLang="zh-CN"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3</a:t>
            </a: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）鲁棒性与稳定性评估指标</a:t>
            </a:r>
          </a:p>
        </p:txBody>
      </p:sp>
    </p:spTree>
    <p:custDataLst>
      <p:tags r:id="rId1"/>
    </p:custDataLst>
    <p:extLst>
      <p:ext uri="{BB962C8B-B14F-4D97-AF65-F5344CB8AC3E}">
        <p14:creationId xmlns:p14="http://schemas.microsoft.com/office/powerpoint/2010/main" val="1056141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A21BF-B7F5-8804-D78B-A1C5D3190FEC}"/>
            </a:ext>
          </a:extLst>
        </p:cNvPr>
        <p:cNvGrpSpPr/>
        <p:nvPr/>
      </p:nvGrpSpPr>
      <p:grpSpPr>
        <a:xfrm>
          <a:off x="0" y="0"/>
          <a:ext cx="0" cy="0"/>
          <a:chOff x="0" y="0"/>
          <a:chExt cx="0" cy="0"/>
        </a:xfrm>
      </p:grpSpPr>
      <p:grpSp>
        <p:nvGrpSpPr>
          <p:cNvPr id="5" name="组合 4">
            <a:extLst>
              <a:ext uri="{FF2B5EF4-FFF2-40B4-BE49-F238E27FC236}">
                <a16:creationId xmlns:a16="http://schemas.microsoft.com/office/drawing/2014/main" id="{E727D9AF-103A-8803-1D63-754E343BDF5C}"/>
              </a:ext>
            </a:extLst>
          </p:cNvPr>
          <p:cNvGrpSpPr/>
          <p:nvPr/>
        </p:nvGrpSpPr>
        <p:grpSpPr>
          <a:xfrm rot="16200000">
            <a:off x="2667000" y="-2667000"/>
            <a:ext cx="6858000" cy="12192000"/>
            <a:chOff x="0" y="0"/>
            <a:chExt cx="12192000" cy="6858000"/>
          </a:xfrm>
        </p:grpSpPr>
        <p:pic>
          <p:nvPicPr>
            <p:cNvPr id="4" name="图片 3">
              <a:extLst>
                <a:ext uri="{FF2B5EF4-FFF2-40B4-BE49-F238E27FC236}">
                  <a16:creationId xmlns:a16="http://schemas.microsoft.com/office/drawing/2014/main" id="{29388D96-BA47-1FD3-71A0-A22767A7F6CE}"/>
                </a:ext>
              </a:extLst>
            </p:cNvPr>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a:extLst>
                <a:ext uri="{FF2B5EF4-FFF2-40B4-BE49-F238E27FC236}">
                  <a16:creationId xmlns:a16="http://schemas.microsoft.com/office/drawing/2014/main" id="{23050021-9D40-E296-B593-7BC15763A165}"/>
                </a:ext>
              </a:extLst>
            </p:cNvPr>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a:extLst>
              <a:ext uri="{FF2B5EF4-FFF2-40B4-BE49-F238E27FC236}">
                <a16:creationId xmlns:a16="http://schemas.microsoft.com/office/drawing/2014/main" id="{21609C33-D9C3-752E-1DDC-CD08BA1E2EFB}"/>
              </a:ext>
            </a:extLst>
          </p:cNvPr>
          <p:cNvSpPr/>
          <p:nvPr/>
        </p:nvSpPr>
        <p:spPr>
          <a:xfrm>
            <a:off x="0" y="3160686"/>
            <a:ext cx="12192000" cy="707886"/>
          </a:xfrm>
          <a:prstGeom prst="rect">
            <a:avLst/>
          </a:prstGeom>
        </p:spPr>
        <p:txBody>
          <a:bodyPr wrap="square">
            <a:spAutoFit/>
          </a:bodyPr>
          <a:lstStyle/>
          <a:p>
            <a:pPr algn="ctr">
              <a:buClrTx/>
              <a:buSzTx/>
              <a:buFontTx/>
            </a:pPr>
            <a:r>
              <a:rPr lang="zh-CN" altLang="en-US" sz="4000" dirty="0">
                <a:solidFill>
                  <a:srgbClr val="006FAE"/>
                </a:solidFill>
                <a:latin typeface="思源黑体 CN Regular" charset="-122"/>
                <a:ea typeface="思源黑体 CN Regular" charset="-122"/>
                <a:cs typeface="+mn-ea"/>
                <a:sym typeface="Arial" panose="020B0604020202090204" pitchFamily="34" charset="0"/>
              </a:rPr>
              <a:t>应用案例：医学管状分割模型的先验知识融入</a:t>
            </a:r>
          </a:p>
        </p:txBody>
      </p:sp>
      <p:sp>
        <p:nvSpPr>
          <p:cNvPr id="23" name="椭圆 22">
            <a:extLst>
              <a:ext uri="{FF2B5EF4-FFF2-40B4-BE49-F238E27FC236}">
                <a16:creationId xmlns:a16="http://schemas.microsoft.com/office/drawing/2014/main" id="{92CBF6AB-3649-9A68-B450-81DE99D45DC4}"/>
              </a:ext>
            </a:extLst>
          </p:cNvPr>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charset="-122"/>
                <a:ea typeface="思源黑体 CN Regular" charset="-122"/>
                <a:cs typeface="思源黑体 CN Regular" charset="-122"/>
                <a:sym typeface="Arial" panose="020B0604020202090204" pitchFamily="34" charset="0"/>
              </a:rPr>
              <a:t>05</a:t>
            </a:r>
            <a:endParaRPr lang="zh-CN" altLang="en-US" sz="3200" dirty="0">
              <a:solidFill>
                <a:schemeClr val="bg1"/>
              </a:solidFill>
              <a:latin typeface="思源黑体 CN Regular" charset="-122"/>
              <a:ea typeface="思源黑体 CN Regular" charset="-122"/>
              <a:cs typeface="思源黑体 CN Regular" charset="-122"/>
              <a:sym typeface="Arial" panose="020B0604020202090204" pitchFamily="34" charset="0"/>
            </a:endParaRPr>
          </a:p>
        </p:txBody>
      </p:sp>
      <p:sp>
        <p:nvSpPr>
          <p:cNvPr id="2" name="矩形 1">
            <a:extLst>
              <a:ext uri="{FF2B5EF4-FFF2-40B4-BE49-F238E27FC236}">
                <a16:creationId xmlns:a16="http://schemas.microsoft.com/office/drawing/2014/main" id="{51FF1D7D-1FD0-5A92-7FFC-056881ADAADA}"/>
              </a:ext>
            </a:extLst>
          </p:cNvPr>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charset="-122"/>
                <a:ea typeface="思源黑体 CN Regular" charset="-122"/>
                <a:cs typeface="+mn-ea"/>
                <a:sym typeface="Arial" panose="020B0604020202090204" pitchFamily="34" charset="0"/>
              </a:rPr>
              <a:t>Application Case</a:t>
            </a:r>
          </a:p>
        </p:txBody>
      </p:sp>
    </p:spTree>
    <p:custDataLst>
      <p:tags r:id="rId1"/>
    </p:custDataLst>
    <p:extLst>
      <p:ext uri="{BB962C8B-B14F-4D97-AF65-F5344CB8AC3E}">
        <p14:creationId xmlns:p14="http://schemas.microsoft.com/office/powerpoint/2010/main" val="3744105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A4842-33A0-35E6-8C99-CF56491F3AD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E5FFC41-8480-7449-567C-99E6FB81CF9B}"/>
              </a:ext>
            </a:extLst>
          </p:cNvPr>
          <p:cNvSpPr txBox="1"/>
          <p:nvPr/>
        </p:nvSpPr>
        <p:spPr>
          <a:xfrm>
            <a:off x="412750" y="1558534"/>
            <a:ext cx="11118850" cy="1121166"/>
          </a:xfrm>
          <a:prstGeom prst="rect">
            <a:avLst/>
          </a:prstGeom>
          <a:noFill/>
        </p:spPr>
        <p:txBody>
          <a:bodyPr wrap="square" lIns="0" tIns="0" rIns="0" bIns="0" rtlCol="0" anchor="t">
            <a:noAutofit/>
          </a:bodyPr>
          <a:lstStyle/>
          <a:p>
            <a:pPr defTabSz="1219200">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管状结构构成了医学图像中重要的解剖特征，主要包括血管、神经和气道。由于其错综复杂的形态和不同的尺度，管状结构的分割是一项艰巨的任务。</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13" name="文本框">
            <a:extLst>
              <a:ext uri="{FF2B5EF4-FFF2-40B4-BE49-F238E27FC236}">
                <a16:creationId xmlns:a16="http://schemas.microsoft.com/office/drawing/2014/main" id="{89ABA81E-301D-8110-9A76-3CE7350C050A}"/>
              </a:ext>
            </a:extLst>
          </p:cNvPr>
          <p:cNvSpPr/>
          <p:nvPr/>
        </p:nvSpPr>
        <p:spPr>
          <a:xfrm>
            <a:off x="787400" y="206480"/>
            <a:ext cx="9353550" cy="58477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应用案例：医学管状分割模型的先验知识融入</a:t>
            </a:r>
          </a:p>
        </p:txBody>
      </p:sp>
      <p:sp>
        <p:nvSpPr>
          <p:cNvPr id="6" name="文本框 5">
            <a:extLst>
              <a:ext uri="{FF2B5EF4-FFF2-40B4-BE49-F238E27FC236}">
                <a16:creationId xmlns:a16="http://schemas.microsoft.com/office/drawing/2014/main" id="{6F50B900-53C1-6483-47AD-FF61ACB86C2E}"/>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医学管状分割模型的拓扑不连续性</a:t>
            </a:r>
            <a:r>
              <a:rPr lang="en-US" altLang="zh-CN" sz="2000" b="1" baseline="30000" dirty="0">
                <a:solidFill>
                  <a:schemeClr val="accent1"/>
                </a:solidFill>
                <a:latin typeface="思源黑体 CN Regular" charset="-122"/>
                <a:ea typeface="思源黑体 CN Regular" charset="-122"/>
                <a:cs typeface="思源黑体 CN Regular" charset="-122"/>
                <a:sym typeface="Arial" panose="020B0604020202090204" pitchFamily="34" charset="0"/>
              </a:rPr>
              <a:t>[3]</a:t>
            </a:r>
            <a:endParaRPr lang="zh-CN" altLang="en-US" sz="2000" b="1" baseline="30000" dirty="0">
              <a:solidFill>
                <a:schemeClr val="accent1"/>
              </a:solidFill>
              <a:latin typeface="思源黑体 CN Regular" charset="-122"/>
              <a:ea typeface="思源黑体 CN Regular" charset="-122"/>
              <a:cs typeface="思源黑体 CN Regular" charset="-122"/>
              <a:sym typeface="Arial" panose="020B0604020202090204" pitchFamily="34" charset="0"/>
            </a:endParaRPr>
          </a:p>
        </p:txBody>
      </p:sp>
      <p:pic>
        <p:nvPicPr>
          <p:cNvPr id="3" name="图片 2">
            <a:extLst>
              <a:ext uri="{FF2B5EF4-FFF2-40B4-BE49-F238E27FC236}">
                <a16:creationId xmlns:a16="http://schemas.microsoft.com/office/drawing/2014/main" id="{5C45A64C-6E91-29F8-AC33-B1ED7271CC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9628" y="2573561"/>
            <a:ext cx="2844894" cy="2844894"/>
          </a:xfrm>
          <a:prstGeom prst="rect">
            <a:avLst/>
          </a:prstGeom>
        </p:spPr>
      </p:pic>
      <p:pic>
        <p:nvPicPr>
          <p:cNvPr id="7" name="图片 6">
            <a:extLst>
              <a:ext uri="{FF2B5EF4-FFF2-40B4-BE49-F238E27FC236}">
                <a16:creationId xmlns:a16="http://schemas.microsoft.com/office/drawing/2014/main" id="{3C81D936-6B53-8E9A-AAF5-D2E8177521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3986" y="2573561"/>
            <a:ext cx="2844894" cy="2844894"/>
          </a:xfrm>
          <a:prstGeom prst="rect">
            <a:avLst/>
          </a:prstGeom>
        </p:spPr>
      </p:pic>
      <p:pic>
        <p:nvPicPr>
          <p:cNvPr id="10" name="图片 9">
            <a:extLst>
              <a:ext uri="{FF2B5EF4-FFF2-40B4-BE49-F238E27FC236}">
                <a16:creationId xmlns:a16="http://schemas.microsoft.com/office/drawing/2014/main" id="{EA752A9D-903E-F3D3-1901-D30B11FAC0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06807" y="2573561"/>
            <a:ext cx="2844894" cy="2844894"/>
          </a:xfrm>
          <a:prstGeom prst="rect">
            <a:avLst/>
          </a:prstGeom>
        </p:spPr>
      </p:pic>
      <p:sp>
        <p:nvSpPr>
          <p:cNvPr id="11" name="TextBox 8">
            <a:extLst>
              <a:ext uri="{FF2B5EF4-FFF2-40B4-BE49-F238E27FC236}">
                <a16:creationId xmlns:a16="http://schemas.microsoft.com/office/drawing/2014/main" id="{73917754-A0F9-7083-5D12-9FB4486DDC9E}"/>
              </a:ext>
            </a:extLst>
          </p:cNvPr>
          <p:cNvSpPr txBox="1"/>
          <p:nvPr/>
        </p:nvSpPr>
        <p:spPr>
          <a:xfrm>
            <a:off x="1253986" y="5418455"/>
            <a:ext cx="2844893"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a:t>
            </a: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）原图</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12" name="TextBox 8">
            <a:extLst>
              <a:ext uri="{FF2B5EF4-FFF2-40B4-BE49-F238E27FC236}">
                <a16:creationId xmlns:a16="http://schemas.microsoft.com/office/drawing/2014/main" id="{A39A9F14-F21C-D23B-5BD6-53C8700E9281}"/>
              </a:ext>
            </a:extLst>
          </p:cNvPr>
          <p:cNvSpPr txBox="1"/>
          <p:nvPr/>
        </p:nvSpPr>
        <p:spPr>
          <a:xfrm>
            <a:off x="4406807" y="5418455"/>
            <a:ext cx="2844894"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b</a:t>
            </a: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）真实血管结构</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14" name="TextBox 8">
            <a:extLst>
              <a:ext uri="{FF2B5EF4-FFF2-40B4-BE49-F238E27FC236}">
                <a16:creationId xmlns:a16="http://schemas.microsoft.com/office/drawing/2014/main" id="{10BC52F3-C46C-D8D2-1E4C-6E324BDCC52F}"/>
              </a:ext>
            </a:extLst>
          </p:cNvPr>
          <p:cNvSpPr txBox="1"/>
          <p:nvPr/>
        </p:nvSpPr>
        <p:spPr>
          <a:xfrm>
            <a:off x="7559628" y="5418455"/>
            <a:ext cx="2844894"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c</a:t>
            </a: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err="1">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Unet</a:t>
            </a: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模型分割结果</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2" name="TextBox 8">
            <a:extLst>
              <a:ext uri="{FF2B5EF4-FFF2-40B4-BE49-F238E27FC236}">
                <a16:creationId xmlns:a16="http://schemas.microsoft.com/office/drawing/2014/main" id="{42FE0271-5276-6768-871E-6F3AD44F77D9}"/>
              </a:ext>
            </a:extLst>
          </p:cNvPr>
          <p:cNvSpPr txBox="1"/>
          <p:nvPr/>
        </p:nvSpPr>
        <p:spPr>
          <a:xfrm>
            <a:off x="1253986" y="5715122"/>
            <a:ext cx="9150536"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医学图像管状结构分割模型的拓扑不连续性</a:t>
            </a:r>
            <a:endParaRPr lang="en-US" altLang="zh-CN" sz="1400" baseline="30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4" name="TextBox 8">
            <a:extLst>
              <a:ext uri="{FF2B5EF4-FFF2-40B4-BE49-F238E27FC236}">
                <a16:creationId xmlns:a16="http://schemas.microsoft.com/office/drawing/2014/main" id="{ACF98ECD-7EB9-BCC8-28E5-B6EE35118C85}"/>
              </a:ext>
            </a:extLst>
          </p:cNvPr>
          <p:cNvSpPr txBox="1"/>
          <p:nvPr/>
        </p:nvSpPr>
        <p:spPr>
          <a:xfrm>
            <a:off x="336550" y="6382549"/>
            <a:ext cx="11567121" cy="421371"/>
          </a:xfrm>
          <a:prstGeom prst="rect">
            <a:avLst/>
          </a:prstGeom>
          <a:noFill/>
        </p:spPr>
        <p:txBody>
          <a:bodyPr wrap="square" lIns="0" tIns="0" rIns="0" bIns="0" rtlCol="0" anchor="t">
            <a:noAutofit/>
          </a:bodyPr>
          <a:lstStyle/>
          <a:p>
            <a:pPr algn="l" defTabSz="1219200" fontAlgn="auto">
              <a:lnSpc>
                <a:spcPct val="150000"/>
              </a:lnSpc>
              <a:spcBef>
                <a:spcPts val="300"/>
              </a:spcBef>
              <a:defRPr/>
            </a:pPr>
            <a:r>
              <a:rPr lang="en-US" altLang="zh-CN" sz="1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[3] Wu Q, Chen Y, Liu W, et al. Deep closing: Enhancing topological connectivity in medical tubular segmentation[J]. IEEE Transactions on Medical Imaging, 2024, 43(11): 3990-4003.</a:t>
            </a:r>
            <a:endParaRPr lang="zh-CN" altLang="en-US" sz="10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extLst>
      <p:ext uri="{BB962C8B-B14F-4D97-AF65-F5344CB8AC3E}">
        <p14:creationId xmlns:p14="http://schemas.microsoft.com/office/powerpoint/2010/main" val="23380507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89BD5-00EF-F29B-5D0D-2CACFA8CB5F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C5F90E6-AD46-E9CD-BFFA-B48F3AFA8CE0}"/>
                  </a:ext>
                </a:extLst>
              </p:cNvPr>
              <p:cNvSpPr txBox="1"/>
              <p:nvPr/>
            </p:nvSpPr>
            <p:spPr>
              <a:xfrm>
                <a:off x="412750" y="1558534"/>
                <a:ext cx="11118850" cy="1521216"/>
              </a:xfrm>
              <a:prstGeom prst="rect">
                <a:avLst/>
              </a:prstGeom>
              <a:noFill/>
            </p:spPr>
            <p:txBody>
              <a:bodyPr wrap="square" lIns="0" tIns="0" rIns="0" bIns="0" rtlCol="0" anchor="t">
                <a:noAutofit/>
              </a:bodyPr>
              <a:lstStyle/>
              <a:p>
                <a:pPr defTabSz="1219200">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将“管状结构是天然连通的”这一先验知识嵌入到模型中，以此增强模型对血管分割的连通性保持。在融入阶段，可使用</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仿真结果</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来模拟管状结构的缺失、断裂现象，从而让分割模型学习管状结构的拓扑连通性。这个过程可以由如下公式表示：</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defTabSz="1219200">
                  <a:lnSpc>
                    <a:spcPct val="150000"/>
                  </a:lnSpc>
                  <a:spcBef>
                    <a:spcPts val="6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𝐿</m:t>
                          </m:r>
                        </m:e>
                        <m:sub>
                          <m: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𝑀</m:t>
                          </m:r>
                        </m:sub>
                      </m:sSub>
                      <m: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𝐿</m:t>
                      </m:r>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t>⊙(1−</m:t>
                      </m:r>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t>𝑀</m:t>
                      </m:r>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t>)</m:t>
                      </m:r>
                    </m:oMath>
                  </m:oMathPara>
                </a14:m>
                <a:endParaRPr lang="zh-CN" altLang="en-US" sz="1600" dirty="0"/>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mc:Choice>
        <mc:Fallback xmlns="">
          <p:sp>
            <p:nvSpPr>
              <p:cNvPr id="9" name="TextBox 8">
                <a:extLst>
                  <a:ext uri="{FF2B5EF4-FFF2-40B4-BE49-F238E27FC236}">
                    <a16:creationId xmlns:a16="http://schemas.microsoft.com/office/drawing/2014/main" id="{FC5F90E6-AD46-E9CD-BFFA-B48F3AFA8CE0}"/>
                  </a:ext>
                </a:extLst>
              </p:cNvPr>
              <p:cNvSpPr txBox="1">
                <a:spLocks noRot="1" noChangeAspect="1" noMove="1" noResize="1" noEditPoints="1" noAdjustHandles="1" noChangeArrowheads="1" noChangeShapeType="1" noTextEdit="1"/>
              </p:cNvSpPr>
              <p:nvPr/>
            </p:nvSpPr>
            <p:spPr>
              <a:xfrm>
                <a:off x="412750" y="1558534"/>
                <a:ext cx="11118850" cy="1521216"/>
              </a:xfrm>
              <a:prstGeom prst="rect">
                <a:avLst/>
              </a:prstGeom>
              <a:blipFill>
                <a:blip r:embed="rId4"/>
                <a:stretch>
                  <a:fillRect l="-1151"/>
                </a:stretch>
              </a:blipFill>
            </p:spPr>
            <p:txBody>
              <a:bodyPr/>
              <a:lstStyle/>
              <a:p>
                <a:r>
                  <a:rPr lang="zh-CN" altLang="en-US">
                    <a:noFill/>
                  </a:rPr>
                  <a:t> </a:t>
                </a:r>
              </a:p>
            </p:txBody>
          </p:sp>
        </mc:Fallback>
      </mc:AlternateContent>
      <p:sp>
        <p:nvSpPr>
          <p:cNvPr id="13" name="文本框">
            <a:extLst>
              <a:ext uri="{FF2B5EF4-FFF2-40B4-BE49-F238E27FC236}">
                <a16:creationId xmlns:a16="http://schemas.microsoft.com/office/drawing/2014/main" id="{CB03B5EA-F82A-5424-9FD1-0F25776D6321}"/>
              </a:ext>
            </a:extLst>
          </p:cNvPr>
          <p:cNvSpPr/>
          <p:nvPr/>
        </p:nvSpPr>
        <p:spPr>
          <a:xfrm>
            <a:off x="787400" y="206480"/>
            <a:ext cx="9353550" cy="58477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应用案例：医学管状分割模型的先验知识融入</a:t>
            </a:r>
          </a:p>
        </p:txBody>
      </p:sp>
      <p:sp>
        <p:nvSpPr>
          <p:cNvPr id="6" name="文本框 5">
            <a:extLst>
              <a:ext uri="{FF2B5EF4-FFF2-40B4-BE49-F238E27FC236}">
                <a16:creationId xmlns:a16="http://schemas.microsoft.com/office/drawing/2014/main" id="{A658C74A-3189-A8AA-2021-EB692867B4F8}"/>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管状结构先验知识的融入</a:t>
            </a:r>
          </a:p>
        </p:txBody>
      </p:sp>
      <p:pic>
        <p:nvPicPr>
          <p:cNvPr id="4" name="图片 3">
            <a:extLst>
              <a:ext uri="{FF2B5EF4-FFF2-40B4-BE49-F238E27FC236}">
                <a16:creationId xmlns:a16="http://schemas.microsoft.com/office/drawing/2014/main" id="{DB06F837-640A-341D-E9B4-B96E41EE51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18230" y="2797313"/>
            <a:ext cx="2804323" cy="2786462"/>
          </a:xfrm>
          <a:prstGeom prst="rect">
            <a:avLst/>
          </a:prstGeom>
        </p:spPr>
      </p:pic>
      <p:pic>
        <p:nvPicPr>
          <p:cNvPr id="8" name="图片 7">
            <a:extLst>
              <a:ext uri="{FF2B5EF4-FFF2-40B4-BE49-F238E27FC236}">
                <a16:creationId xmlns:a16="http://schemas.microsoft.com/office/drawing/2014/main" id="{7ED168E0-6193-1773-BF64-0318565747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1351" y="2797314"/>
            <a:ext cx="2768600" cy="2786463"/>
          </a:xfrm>
          <a:prstGeom prst="rect">
            <a:avLst/>
          </a:prstGeom>
        </p:spPr>
      </p:pic>
      <p:pic>
        <p:nvPicPr>
          <p:cNvPr id="16" name="图片 15">
            <a:extLst>
              <a:ext uri="{FF2B5EF4-FFF2-40B4-BE49-F238E27FC236}">
                <a16:creationId xmlns:a16="http://schemas.microsoft.com/office/drawing/2014/main" id="{C1B9CCB1-4805-F401-927D-B0D29AF1D7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14734" y="2797313"/>
            <a:ext cx="2768714" cy="2786463"/>
          </a:xfrm>
          <a:prstGeom prst="rect">
            <a:avLst/>
          </a:prstGeom>
        </p:spPr>
      </p:pic>
      <mc:AlternateContent xmlns:mc="http://schemas.openxmlformats.org/markup-compatibility/2006" xmlns:a14="http://schemas.microsoft.com/office/drawing/2010/main">
        <mc:Choice Requires="a14">
          <p:sp>
            <p:nvSpPr>
              <p:cNvPr id="19" name="TextBox 8">
                <a:extLst>
                  <a:ext uri="{FF2B5EF4-FFF2-40B4-BE49-F238E27FC236}">
                    <a16:creationId xmlns:a16="http://schemas.microsoft.com/office/drawing/2014/main" id="{A8EBE722-09BE-BF52-812B-DDE50AB9A4CE}"/>
                  </a:ext>
                </a:extLst>
              </p:cNvPr>
              <p:cNvSpPr txBox="1"/>
              <p:nvPr/>
            </p:nvSpPr>
            <p:spPr>
              <a:xfrm>
                <a:off x="1911351" y="5597060"/>
                <a:ext cx="2768599"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ea typeface="思源黑体 CN Regular" charset="-122"/>
                    <a:cs typeface="思源黑体 CN Regular" charset="-122"/>
                    <a:sym typeface="Arial" panose="020B0604020202090204" pitchFamily="34" charset="0"/>
                  </a:rPr>
                  <a:t>（</a:t>
                </a:r>
                <a:r>
                  <a:rPr lang="en-US" altLang="zh-CN" sz="1400" dirty="0">
                    <a:solidFill>
                      <a:schemeClr val="tx1">
                        <a:lumMod val="75000"/>
                        <a:lumOff val="25000"/>
                      </a:schemeClr>
                    </a:solidFill>
                    <a:ea typeface="思源黑体 CN Regular" charset="-122"/>
                    <a:cs typeface="思源黑体 CN Regular" charset="-122"/>
                    <a:sym typeface="Arial" panose="020B0604020202090204" pitchFamily="34" charset="0"/>
                  </a:rPr>
                  <a:t>a</a:t>
                </a:r>
                <a:r>
                  <a:rPr lang="zh-CN" altLang="en-US" sz="1400" dirty="0">
                    <a:solidFill>
                      <a:schemeClr val="tx1">
                        <a:lumMod val="75000"/>
                        <a:lumOff val="25000"/>
                      </a:schemeClr>
                    </a:solidFill>
                    <a:ea typeface="思源黑体 CN Regular" charset="-122"/>
                    <a:cs typeface="思源黑体 CN Regular" charset="-122"/>
                    <a:sym typeface="Arial" panose="020B0604020202090204" pitchFamily="34" charset="0"/>
                  </a:rPr>
                  <a:t>）</a:t>
                </a:r>
                <a14:m>
                  <m:oMath xmlns:m="http://schemas.openxmlformats.org/officeDocument/2006/math">
                    <m:r>
                      <a:rPr lang="en-US" altLang="zh-CN" sz="14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𝐿</m:t>
                    </m:r>
                  </m:oMath>
                </a14:m>
                <a:endParaRPr sz="1400" dirty="0"/>
              </a:p>
            </p:txBody>
          </p:sp>
        </mc:Choice>
        <mc:Fallback xmlns="">
          <p:sp>
            <p:nvSpPr>
              <p:cNvPr id="19" name="TextBox 8">
                <a:extLst>
                  <a:ext uri="{FF2B5EF4-FFF2-40B4-BE49-F238E27FC236}">
                    <a16:creationId xmlns:a16="http://schemas.microsoft.com/office/drawing/2014/main" id="{A8EBE722-09BE-BF52-812B-DDE50AB9A4CE}"/>
                  </a:ext>
                </a:extLst>
              </p:cNvPr>
              <p:cNvSpPr txBox="1">
                <a:spLocks noRot="1" noChangeAspect="1" noMove="1" noResize="1" noEditPoints="1" noAdjustHandles="1" noChangeArrowheads="1" noChangeShapeType="1" noTextEdit="1"/>
              </p:cNvSpPr>
              <p:nvPr/>
            </p:nvSpPr>
            <p:spPr>
              <a:xfrm>
                <a:off x="1911351" y="5597060"/>
                <a:ext cx="2768599" cy="321066"/>
              </a:xfrm>
              <a:prstGeom prst="rect">
                <a:avLst/>
              </a:prstGeom>
              <a:blipFill>
                <a:blip r:embed="rId8"/>
                <a:stretch>
                  <a:fillRect b="-226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Box 8">
                <a:extLst>
                  <a:ext uri="{FF2B5EF4-FFF2-40B4-BE49-F238E27FC236}">
                    <a16:creationId xmlns:a16="http://schemas.microsoft.com/office/drawing/2014/main" id="{D5BEC0A0-9105-3F87-0E79-9618B86EE624}"/>
                  </a:ext>
                </a:extLst>
              </p:cNvPr>
              <p:cNvSpPr txBox="1"/>
              <p:nvPr/>
            </p:nvSpPr>
            <p:spPr>
              <a:xfrm>
                <a:off x="4714734" y="5603336"/>
                <a:ext cx="2768599"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b="0" dirty="0">
                    <a:solidFill>
                      <a:schemeClr val="tx1">
                        <a:lumMod val="75000"/>
                        <a:lumOff val="25000"/>
                      </a:schemeClr>
                    </a:solidFill>
                    <a:ea typeface="思源黑体 CN Regular" charset="-122"/>
                    <a:cs typeface="思源黑体 CN Regular" charset="-122"/>
                    <a:sym typeface="Arial" panose="020B0604020202090204" pitchFamily="34" charset="0"/>
                  </a:rPr>
                  <a:t>（</a:t>
                </a:r>
                <a14:m>
                  <m:oMath xmlns:m="http://schemas.openxmlformats.org/officeDocument/2006/math">
                    <m:r>
                      <m:rPr>
                        <m:sty m:val="p"/>
                      </m:rPr>
                      <a:rPr lang="en-US" altLang="zh-CN" sz="14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b</m:t>
                    </m:r>
                    <m:r>
                      <a:rPr lang="zh-CN" altLang="en-US" sz="14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m:t>
                    </m:r>
                    <m:r>
                      <a:rPr lang="en-US" altLang="zh-CN" sz="1400" b="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𝑀</m:t>
                    </m:r>
                  </m:oMath>
                </a14:m>
                <a:endParaRPr sz="1400" dirty="0"/>
              </a:p>
            </p:txBody>
          </p:sp>
        </mc:Choice>
        <mc:Fallback xmlns="">
          <p:sp>
            <p:nvSpPr>
              <p:cNvPr id="20" name="TextBox 8">
                <a:extLst>
                  <a:ext uri="{FF2B5EF4-FFF2-40B4-BE49-F238E27FC236}">
                    <a16:creationId xmlns:a16="http://schemas.microsoft.com/office/drawing/2014/main" id="{D5BEC0A0-9105-3F87-0E79-9618B86EE624}"/>
                  </a:ext>
                </a:extLst>
              </p:cNvPr>
              <p:cNvSpPr txBox="1">
                <a:spLocks noRot="1" noChangeAspect="1" noMove="1" noResize="1" noEditPoints="1" noAdjustHandles="1" noChangeArrowheads="1" noChangeShapeType="1" noTextEdit="1"/>
              </p:cNvSpPr>
              <p:nvPr/>
            </p:nvSpPr>
            <p:spPr>
              <a:xfrm>
                <a:off x="4714734" y="5603336"/>
                <a:ext cx="2768599" cy="321066"/>
              </a:xfrm>
              <a:prstGeom prst="rect">
                <a:avLst/>
              </a:prstGeom>
              <a:blipFill>
                <a:blip r:embed="rId9"/>
                <a:stretch>
                  <a:fillRect b="-245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299781D6-6747-25FA-1EF6-046358CA2C8D}"/>
                  </a:ext>
                </a:extLst>
              </p:cNvPr>
              <p:cNvSpPr txBox="1"/>
              <p:nvPr/>
            </p:nvSpPr>
            <p:spPr>
              <a:xfrm>
                <a:off x="7512051" y="5598604"/>
                <a:ext cx="2804323"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ea typeface="思源黑体 CN Regular" charset="-122"/>
                    <a:sym typeface="Arial" panose="020B0604020202090204" pitchFamily="34" charset="0"/>
                  </a:rPr>
                  <a:t>（</a:t>
                </a:r>
                <a:r>
                  <a:rPr lang="en-US" altLang="zh-CN" sz="1400" b="0" dirty="0">
                    <a:solidFill>
                      <a:schemeClr val="tx1">
                        <a:lumMod val="75000"/>
                        <a:lumOff val="25000"/>
                      </a:schemeClr>
                    </a:solidFill>
                    <a:ea typeface="思源黑体 CN Regular" charset="-122"/>
                    <a:sym typeface="Arial" panose="020B0604020202090204" pitchFamily="34" charset="0"/>
                  </a:rPr>
                  <a:t>c</a:t>
                </a:r>
                <a:r>
                  <a:rPr lang="zh-CN" altLang="en-US" sz="1400" b="0" dirty="0">
                    <a:solidFill>
                      <a:schemeClr val="tx1">
                        <a:lumMod val="75000"/>
                        <a:lumOff val="25000"/>
                      </a:schemeClr>
                    </a:solidFill>
                    <a:ea typeface="思源黑体 CN Regular" charset="-122"/>
                    <a:sym typeface="Arial" panose="020B0604020202090204" pitchFamily="34" charset="0"/>
                  </a:rPr>
                  <a:t>）</a:t>
                </a:r>
                <a14:m>
                  <m:oMath xmlns:m="http://schemas.openxmlformats.org/officeDocument/2006/math">
                    <m:sSub>
                      <m:sSubPr>
                        <m:ctrlPr>
                          <a:rPr lang="en-US" altLang="zh-CN" sz="14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sSubPr>
                      <m:e>
                        <m:r>
                          <a:rPr lang="en-US" altLang="zh-CN" sz="14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𝐿</m:t>
                        </m:r>
                      </m:e>
                      <m:sub>
                        <m:r>
                          <a:rPr lang="en-US" altLang="zh-CN" sz="14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𝑀</m:t>
                        </m:r>
                      </m:sub>
                    </m:sSub>
                  </m:oMath>
                </a14:m>
                <a:endParaRPr sz="1400" dirty="0"/>
              </a:p>
            </p:txBody>
          </p:sp>
        </mc:Choice>
        <mc:Fallback xmlns="">
          <p:sp>
            <p:nvSpPr>
              <p:cNvPr id="21" name="TextBox 8">
                <a:extLst>
                  <a:ext uri="{FF2B5EF4-FFF2-40B4-BE49-F238E27FC236}">
                    <a16:creationId xmlns:a16="http://schemas.microsoft.com/office/drawing/2014/main" id="{299781D6-6747-25FA-1EF6-046358CA2C8D}"/>
                  </a:ext>
                </a:extLst>
              </p:cNvPr>
              <p:cNvSpPr txBox="1">
                <a:spLocks noRot="1" noChangeAspect="1" noMove="1" noResize="1" noEditPoints="1" noAdjustHandles="1" noChangeArrowheads="1" noChangeShapeType="1" noTextEdit="1"/>
              </p:cNvSpPr>
              <p:nvPr/>
            </p:nvSpPr>
            <p:spPr>
              <a:xfrm>
                <a:off x="7512051" y="5598604"/>
                <a:ext cx="2804323" cy="321066"/>
              </a:xfrm>
              <a:prstGeom prst="rect">
                <a:avLst/>
              </a:prstGeom>
              <a:blipFill>
                <a:blip r:embed="rId10"/>
                <a:stretch>
                  <a:fillRect b="-22642"/>
                </a:stretch>
              </a:blipFill>
            </p:spPr>
            <p:txBody>
              <a:bodyPr/>
              <a:lstStyle/>
              <a:p>
                <a:r>
                  <a:rPr lang="zh-CN" altLang="en-US">
                    <a:noFill/>
                  </a:rPr>
                  <a:t> </a:t>
                </a:r>
              </a:p>
            </p:txBody>
          </p:sp>
        </mc:Fallback>
      </mc:AlternateContent>
      <p:sp>
        <p:nvSpPr>
          <p:cNvPr id="3" name="TextBox 8">
            <a:extLst>
              <a:ext uri="{FF2B5EF4-FFF2-40B4-BE49-F238E27FC236}">
                <a16:creationId xmlns:a16="http://schemas.microsoft.com/office/drawing/2014/main" id="{313A7FCE-5558-ABBA-760D-1EAA7D7D2377}"/>
              </a:ext>
            </a:extLst>
          </p:cNvPr>
          <p:cNvSpPr txBox="1"/>
          <p:nvPr/>
        </p:nvSpPr>
        <p:spPr>
          <a:xfrm>
            <a:off x="1911351" y="5918126"/>
            <a:ext cx="8405023"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医学图像管状结构分割模型的拓扑不连续性</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extLst>
      <p:ext uri="{BB962C8B-B14F-4D97-AF65-F5344CB8AC3E}">
        <p14:creationId xmlns:p14="http://schemas.microsoft.com/office/powerpoint/2010/main" val="3204928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E59A5-4E76-5892-1028-F3DAA526D39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851CBB5-D269-D5C2-2433-9AB8B89CA8F6}"/>
              </a:ext>
            </a:extLst>
          </p:cNvPr>
          <p:cNvSpPr txBox="1"/>
          <p:nvPr/>
        </p:nvSpPr>
        <p:spPr>
          <a:xfrm>
            <a:off x="412750" y="1558535"/>
            <a:ext cx="11118850" cy="41365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在本案例中，对先验知识的融入策略是在</a:t>
            </a:r>
            <a:r>
              <a:rPr lang="zh-CN" altLang="en-US" sz="1600" b="1"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学习算法阶段</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 </a:t>
            </a: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管状结构重建的损失定义如下</a:t>
            </a:r>
            <a:r>
              <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p>
        </p:txBody>
      </p:sp>
      <p:sp>
        <p:nvSpPr>
          <p:cNvPr id="13" name="文本框">
            <a:extLst>
              <a:ext uri="{FF2B5EF4-FFF2-40B4-BE49-F238E27FC236}">
                <a16:creationId xmlns:a16="http://schemas.microsoft.com/office/drawing/2014/main" id="{CA019115-BA19-D5A6-8703-815BD64EC2AB}"/>
              </a:ext>
            </a:extLst>
          </p:cNvPr>
          <p:cNvSpPr/>
          <p:nvPr/>
        </p:nvSpPr>
        <p:spPr>
          <a:xfrm>
            <a:off x="787400" y="206480"/>
            <a:ext cx="9353550" cy="58477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应用案例：医学管状分割模型的先验知识融入</a:t>
            </a:r>
          </a:p>
        </p:txBody>
      </p:sp>
      <p:sp>
        <p:nvSpPr>
          <p:cNvPr id="6" name="文本框 5">
            <a:extLst>
              <a:ext uri="{FF2B5EF4-FFF2-40B4-BE49-F238E27FC236}">
                <a16:creationId xmlns:a16="http://schemas.microsoft.com/office/drawing/2014/main" id="{90CB24BE-24AE-A80A-930D-CB15B196F7EF}"/>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管状结构先验知识的融入</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DD2048C-DD87-C8DF-DA79-B36449ED6D49}"/>
                  </a:ext>
                </a:extLst>
              </p:cNvPr>
              <p:cNvSpPr txBox="1"/>
              <p:nvPr/>
            </p:nvSpPr>
            <p:spPr>
              <a:xfrm>
                <a:off x="4267200" y="2118683"/>
                <a:ext cx="3657600" cy="4509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𝐿𝑜𝑠𝑠</m:t>
                      </m:r>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sSubSup>
                        <m:sSubSupPr>
                          <m:ctrlP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sSubSupPr>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𝐿</m:t>
                              </m:r>
                              <m: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m:t>
                              </m:r>
                              <m:r>
                                <m:rPr>
                                  <m:sty m:val="p"/>
                                </m:rPr>
                                <a:rPr lang="el-GR"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σ</m:t>
                              </m:r>
                              <m:d>
                                <m:dPr>
                                  <m:ctrlP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𝑓</m:t>
                                  </m:r>
                                  <m:d>
                                    <m:dPr>
                                      <m:ctrlP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ctrlPr>
                                        </m:sSubPr>
                                        <m:e>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t>𝐿</m:t>
                                          </m:r>
                                        </m:e>
                                        <m:sub>
                                          <m:r>
                                            <a:rPr lang="en-US" altLang="zh-CN" sz="1600" i="1" dirty="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90204" pitchFamily="34" charset="0"/>
                                            </a:rPr>
                                            <m:t>𝑀</m:t>
                                          </m:r>
                                        </m:sub>
                                      </m:sSub>
                                    </m:e>
                                  </m:d>
                                </m:e>
                              </m:d>
                            </m:e>
                          </m:d>
                        </m:e>
                        <m:sub>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2</m:t>
                          </m:r>
                        </m:sub>
                        <m:sup>
                          <m:r>
                            <a:rPr lang="en-US" altLang="zh-CN" sz="1600" b="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t>2</m:t>
                          </m:r>
                        </m:sup>
                      </m:sSubSup>
                    </m:oMath>
                  </m:oMathPara>
                </a14:m>
                <a:endParaRPr lang="zh-CN" altLang="en-US" sz="1600" i="1" dirty="0"/>
              </a:p>
            </p:txBody>
          </p:sp>
        </mc:Choice>
        <mc:Fallback xmlns="">
          <p:sp>
            <p:nvSpPr>
              <p:cNvPr id="18" name="文本框 17">
                <a:extLst>
                  <a:ext uri="{FF2B5EF4-FFF2-40B4-BE49-F238E27FC236}">
                    <a16:creationId xmlns:a16="http://schemas.microsoft.com/office/drawing/2014/main" id="{4DD2048C-DD87-C8DF-DA79-B36449ED6D49}"/>
                  </a:ext>
                </a:extLst>
              </p:cNvPr>
              <p:cNvSpPr txBox="1">
                <a:spLocks noRot="1" noChangeAspect="1" noMove="1" noResize="1" noEditPoints="1" noAdjustHandles="1" noChangeArrowheads="1" noChangeShapeType="1" noTextEdit="1"/>
              </p:cNvSpPr>
              <p:nvPr/>
            </p:nvSpPr>
            <p:spPr>
              <a:xfrm>
                <a:off x="4267200" y="2118683"/>
                <a:ext cx="3657600" cy="45095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TextBox 8">
                <a:extLst>
                  <a:ext uri="{FF2B5EF4-FFF2-40B4-BE49-F238E27FC236}">
                    <a16:creationId xmlns:a16="http://schemas.microsoft.com/office/drawing/2014/main" id="{C1EA391F-5672-48DB-8ACE-E0F30E040B80}"/>
                  </a:ext>
                </a:extLst>
              </p:cNvPr>
              <p:cNvSpPr txBox="1"/>
              <p:nvPr/>
            </p:nvSpPr>
            <p:spPr>
              <a:xfrm>
                <a:off x="412750" y="2830432"/>
                <a:ext cx="11118850" cy="1812132"/>
              </a:xfrm>
              <a:prstGeom prst="rect">
                <a:avLst/>
              </a:prstGeom>
              <a:noFill/>
            </p:spPr>
            <p:txBody>
              <a:bodyPr wrap="square" lIns="0" tIns="0" rIns="0" bIns="0" rtlCol="0" anchor="t">
                <a:noAutofit/>
              </a:bodyPr>
              <a:lstStyle/>
              <a:p>
                <a:pPr defTabSz="1219200">
                  <a:lnSpc>
                    <a:spcPct val="150000"/>
                  </a:lnSpc>
                  <a:spcBef>
                    <a:spcPts val="600"/>
                  </a:spcBef>
                  <a:defRPr/>
                </a:pPr>
                <a:r>
                  <a:rPr lang="zh-CN" altLang="en-US" sz="2000" b="1" dirty="0">
                    <a:solidFill>
                      <a:schemeClr val="accent1"/>
                    </a:solidFill>
                    <a:latin typeface="思源黑体 CN Regular" charset="-122"/>
                    <a:ea typeface="思源黑体 CN Regular" charset="-122"/>
                    <a:sym typeface="Arial" panose="020B0604020202090204" pitchFamily="34" charset="0"/>
                  </a:rPr>
                  <a:t>模型效果评估</a:t>
                </a:r>
                <a:endParaRPr lang="en-US" altLang="zh-CN" sz="2000" b="1" dirty="0">
                  <a:solidFill>
                    <a:schemeClr val="accent1"/>
                  </a:solidFill>
                  <a:latin typeface="思源黑体 CN Regular" charset="-122"/>
                  <a:ea typeface="思源黑体 CN Regular" charset="-122"/>
                  <a:sym typeface="Arial" panose="020B0604020202090204" pitchFamily="34" charset="0"/>
                </a:endParaRPr>
              </a:p>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考虑到管状结构分割的任务特点，分割结果既需要准确性，又要保证拓扑连通性，这就需要在两个维度上同时进行评估：</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defTabSz="1219200">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分割结果与真实结果的重合度：</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𝐷𝑖𝑐𝑒</m:t>
                    </m:r>
                  </m:oMath>
                </a14:m>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系数</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marL="342900" indent="-342900" defTabSz="1219200">
                  <a:spcBef>
                    <a:spcPts val="600"/>
                  </a:spcBef>
                  <a:buFont typeface="+mj-ea"/>
                  <a:buAutoNum type="circleNumDbPlain"/>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拓扑指标：欧拉示性数误差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charset="-122"/>
                            <a:sym typeface="Arial" panose="020B060402020209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𝜒</m:t>
                        </m:r>
                      </m:e>
                      <m:sub>
                        <m:r>
                          <a:rPr lang="en-US" altLang="zh-CN" sz="1600" i="1" dirty="0">
                            <a:solidFill>
                              <a:schemeClr val="tx1">
                                <a:lumMod val="75000"/>
                                <a:lumOff val="25000"/>
                              </a:schemeClr>
                            </a:solidFill>
                            <a:latin typeface="Cambria Math" panose="02040503050406030204" pitchFamily="18" charset="0"/>
                            <a:ea typeface="思源黑体 CN Regular" charset="-122"/>
                            <a:cs typeface="思源黑体 CN Regular" charset="-122"/>
                            <a:sym typeface="Arial" panose="020B0604020202090204" pitchFamily="34" charset="0"/>
                          </a:rPr>
                          <m:t>𝑒𝑟𝑟𝑜𝑟</m:t>
                        </m:r>
                      </m:sub>
                    </m:sSub>
                  </m:oMath>
                </a14:m>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mc:Choice>
        <mc:Fallback xmlns="">
          <p:sp>
            <p:nvSpPr>
              <p:cNvPr id="2" name="TextBox 8">
                <a:extLst>
                  <a:ext uri="{FF2B5EF4-FFF2-40B4-BE49-F238E27FC236}">
                    <a16:creationId xmlns:a16="http://schemas.microsoft.com/office/drawing/2014/main" id="{C1EA391F-5672-48DB-8ACE-E0F30E040B80}"/>
                  </a:ext>
                </a:extLst>
              </p:cNvPr>
              <p:cNvSpPr txBox="1">
                <a:spLocks noRot="1" noChangeAspect="1" noMove="1" noResize="1" noEditPoints="1" noAdjustHandles="1" noChangeArrowheads="1" noChangeShapeType="1" noTextEdit="1"/>
              </p:cNvSpPr>
              <p:nvPr/>
            </p:nvSpPr>
            <p:spPr>
              <a:xfrm>
                <a:off x="412750" y="2830432"/>
                <a:ext cx="11118850" cy="1812132"/>
              </a:xfrm>
              <a:prstGeom prst="rect">
                <a:avLst/>
              </a:prstGeom>
              <a:blipFill>
                <a:blip r:embed="rId5"/>
                <a:stretch>
                  <a:fillRect l="-1425"/>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828585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52855-F333-58AE-0A51-D401B4360C8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DA63162-D7DD-F5F2-B227-4677DB0DD89B}"/>
              </a:ext>
            </a:extLst>
          </p:cNvPr>
          <p:cNvSpPr txBox="1"/>
          <p:nvPr/>
        </p:nvSpPr>
        <p:spPr>
          <a:xfrm>
            <a:off x="412750" y="1558534"/>
            <a:ext cx="11118850" cy="42441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融入先验知识前后的分割模型结果对比如下图所示：</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13" name="文本框">
            <a:extLst>
              <a:ext uri="{FF2B5EF4-FFF2-40B4-BE49-F238E27FC236}">
                <a16:creationId xmlns:a16="http://schemas.microsoft.com/office/drawing/2014/main" id="{C48EEDD2-69AF-80E4-F075-546E369B7872}"/>
              </a:ext>
            </a:extLst>
          </p:cNvPr>
          <p:cNvSpPr/>
          <p:nvPr/>
        </p:nvSpPr>
        <p:spPr>
          <a:xfrm>
            <a:off x="787400" y="206480"/>
            <a:ext cx="9353550" cy="584775"/>
          </a:xfrm>
          <a:prstGeom prst="rect">
            <a:avLst/>
          </a:prstGeom>
        </p:spPr>
        <p:txBody>
          <a:bodyPr wrap="square">
            <a:spAutoFit/>
          </a:bodyPr>
          <a:lstStyle/>
          <a:p>
            <a:pPr lvl="0" algn="l">
              <a:buClrTx/>
              <a:buSzTx/>
              <a:buFontTx/>
            </a:pPr>
            <a:r>
              <a:rPr lang="zh-CN" altLang="en-US" sz="3200" b="1" dirty="0">
                <a:latin typeface="思源黑体 CN Regular" charset="-122"/>
                <a:ea typeface="思源黑体 CN Regular" charset="-122"/>
                <a:cs typeface="+mn-ea"/>
                <a:sym typeface="Arial" panose="020B0604020202090204" pitchFamily="34" charset="0"/>
              </a:rPr>
              <a:t>应用案例：医学管状分割模型的先验知识融入</a:t>
            </a:r>
          </a:p>
        </p:txBody>
      </p:sp>
      <p:sp>
        <p:nvSpPr>
          <p:cNvPr id="6" name="文本框 5">
            <a:extLst>
              <a:ext uri="{FF2B5EF4-FFF2-40B4-BE49-F238E27FC236}">
                <a16:creationId xmlns:a16="http://schemas.microsoft.com/office/drawing/2014/main" id="{031338B0-5B10-E1AB-6BD9-69295E5ED37E}"/>
              </a:ext>
            </a:extLst>
          </p:cNvPr>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charset="-122"/>
                <a:ea typeface="思源黑体 CN Regular" charset="-122"/>
                <a:cs typeface="思源黑体 CN Regular" charset="-122"/>
                <a:sym typeface="Arial" panose="020B0604020202090204" pitchFamily="34" charset="0"/>
              </a:rPr>
              <a:t>融入了管状结构先验知识的分割模型结果展示</a:t>
            </a:r>
          </a:p>
        </p:txBody>
      </p:sp>
      <p:sp>
        <p:nvSpPr>
          <p:cNvPr id="3" name="TextBox 8">
            <a:extLst>
              <a:ext uri="{FF2B5EF4-FFF2-40B4-BE49-F238E27FC236}">
                <a16:creationId xmlns:a16="http://schemas.microsoft.com/office/drawing/2014/main" id="{8F6D18C7-13A7-6494-C309-AE70A932FA41}"/>
              </a:ext>
            </a:extLst>
          </p:cNvPr>
          <p:cNvSpPr txBox="1"/>
          <p:nvPr/>
        </p:nvSpPr>
        <p:spPr>
          <a:xfrm>
            <a:off x="336550" y="5496047"/>
            <a:ext cx="11118850" cy="75921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对比融入了先验知识前后的分割模型结果，预测结果的血管结构拓扑完整性明显提升，与真实结果也更加接近，这说明融入了先验知识的模型在特定领域的专业问题上能够起到提升模型性能的作用。</a:t>
            </a: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pic>
        <p:nvPicPr>
          <p:cNvPr id="5" name="图片 4">
            <a:extLst>
              <a:ext uri="{FF2B5EF4-FFF2-40B4-BE49-F238E27FC236}">
                <a16:creationId xmlns:a16="http://schemas.microsoft.com/office/drawing/2014/main" id="{AE6ADC29-4587-482B-CF4F-098FEEA91C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2750" y="2134127"/>
            <a:ext cx="2546128" cy="2532439"/>
          </a:xfrm>
          <a:prstGeom prst="rect">
            <a:avLst/>
          </a:prstGeom>
        </p:spPr>
      </p:pic>
      <p:pic>
        <p:nvPicPr>
          <p:cNvPr id="8" name="图片 7">
            <a:extLst>
              <a:ext uri="{FF2B5EF4-FFF2-40B4-BE49-F238E27FC236}">
                <a16:creationId xmlns:a16="http://schemas.microsoft.com/office/drawing/2014/main" id="{6EA4DA5C-A945-97F3-CF43-FFC6F9DE0D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12879" y="2134127"/>
            <a:ext cx="2546128" cy="2532439"/>
          </a:xfrm>
          <a:prstGeom prst="rect">
            <a:avLst/>
          </a:prstGeom>
        </p:spPr>
      </p:pic>
      <p:pic>
        <p:nvPicPr>
          <p:cNvPr id="11" name="图片 10">
            <a:extLst>
              <a:ext uri="{FF2B5EF4-FFF2-40B4-BE49-F238E27FC236}">
                <a16:creationId xmlns:a16="http://schemas.microsoft.com/office/drawing/2014/main" id="{E8B70372-0655-289D-AB1E-7279A14BB5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3008" y="2134127"/>
            <a:ext cx="2546129" cy="2532439"/>
          </a:xfrm>
          <a:prstGeom prst="rect">
            <a:avLst/>
          </a:prstGeom>
        </p:spPr>
      </p:pic>
      <p:pic>
        <p:nvPicPr>
          <p:cNvPr id="14" name="图片 13">
            <a:extLst>
              <a:ext uri="{FF2B5EF4-FFF2-40B4-BE49-F238E27FC236}">
                <a16:creationId xmlns:a16="http://schemas.microsoft.com/office/drawing/2014/main" id="{9DC60343-9928-7D39-3ADA-A27417652F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13138" y="2134127"/>
            <a:ext cx="2546129" cy="2532439"/>
          </a:xfrm>
          <a:prstGeom prst="rect">
            <a:avLst/>
          </a:prstGeom>
        </p:spPr>
      </p:pic>
      <p:sp>
        <p:nvSpPr>
          <p:cNvPr id="15" name="TextBox 8">
            <a:extLst>
              <a:ext uri="{FF2B5EF4-FFF2-40B4-BE49-F238E27FC236}">
                <a16:creationId xmlns:a16="http://schemas.microsoft.com/office/drawing/2014/main" id="{1B61C00B-972F-DC23-30F3-B706D6E42258}"/>
              </a:ext>
            </a:extLst>
          </p:cNvPr>
          <p:cNvSpPr txBox="1"/>
          <p:nvPr/>
        </p:nvSpPr>
        <p:spPr>
          <a:xfrm>
            <a:off x="412750" y="4680477"/>
            <a:ext cx="2546128"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a:t>
            </a: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）视网膜原图</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16" name="TextBox 8">
            <a:extLst>
              <a:ext uri="{FF2B5EF4-FFF2-40B4-BE49-F238E27FC236}">
                <a16:creationId xmlns:a16="http://schemas.microsoft.com/office/drawing/2014/main" id="{2EBD69EA-3AD7-1A6F-9FF5-D7BD023E7E3A}"/>
              </a:ext>
            </a:extLst>
          </p:cNvPr>
          <p:cNvSpPr txBox="1"/>
          <p:nvPr/>
        </p:nvSpPr>
        <p:spPr>
          <a:xfrm>
            <a:off x="3212879" y="4680477"/>
            <a:ext cx="2546128"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b</a:t>
            </a: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）真实血管结构</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17" name="TextBox 8">
            <a:extLst>
              <a:ext uri="{FF2B5EF4-FFF2-40B4-BE49-F238E27FC236}">
                <a16:creationId xmlns:a16="http://schemas.microsoft.com/office/drawing/2014/main" id="{5259B5FD-27C7-4700-CA47-15CD1B8A8D23}"/>
              </a:ext>
            </a:extLst>
          </p:cNvPr>
          <p:cNvSpPr txBox="1"/>
          <p:nvPr/>
        </p:nvSpPr>
        <p:spPr>
          <a:xfrm>
            <a:off x="6013008" y="4677693"/>
            <a:ext cx="2546128"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c</a:t>
            </a: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）未融入先验知识结果</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19" name="TextBox 8">
            <a:extLst>
              <a:ext uri="{FF2B5EF4-FFF2-40B4-BE49-F238E27FC236}">
                <a16:creationId xmlns:a16="http://schemas.microsoft.com/office/drawing/2014/main" id="{4E1AE2BB-8323-F056-2525-4A20DD73455F}"/>
              </a:ext>
            </a:extLst>
          </p:cNvPr>
          <p:cNvSpPr txBox="1"/>
          <p:nvPr/>
        </p:nvSpPr>
        <p:spPr>
          <a:xfrm>
            <a:off x="8813137" y="4677693"/>
            <a:ext cx="2546128"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a:t>
            </a:r>
            <a:r>
              <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d</a:t>
            </a: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）融入先验知识后结果</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
        <p:nvSpPr>
          <p:cNvPr id="2" name="TextBox 8">
            <a:extLst>
              <a:ext uri="{FF2B5EF4-FFF2-40B4-BE49-F238E27FC236}">
                <a16:creationId xmlns:a16="http://schemas.microsoft.com/office/drawing/2014/main" id="{B8776757-F4EB-5201-EE1B-860D1BDF5AD6}"/>
              </a:ext>
            </a:extLst>
          </p:cNvPr>
          <p:cNvSpPr txBox="1"/>
          <p:nvPr/>
        </p:nvSpPr>
        <p:spPr>
          <a:xfrm>
            <a:off x="412750" y="4978400"/>
            <a:ext cx="10946514" cy="321066"/>
          </a:xfrm>
          <a:prstGeom prst="rect">
            <a:avLst/>
          </a:prstGeom>
          <a:noFill/>
        </p:spPr>
        <p:txBody>
          <a:bodyPr wrap="square" lIns="0" tIns="0" rIns="0" bIns="0" rtlCol="0" anchor="t">
            <a:noAutofit/>
          </a:bodyPr>
          <a:lstStyle/>
          <a:p>
            <a:pPr algn="ctr" defTabSz="1219200" fontAlgn="auto">
              <a:lnSpc>
                <a:spcPct val="150000"/>
              </a:lnSpc>
              <a:spcBef>
                <a:spcPts val="600"/>
              </a:spcBef>
              <a:defRPr/>
            </a:pPr>
            <a:r>
              <a:rPr lang="zh-CN" altLang="en-US"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rPr>
              <a:t>在真实管状结构标注图上应用掩码得到仿真结果</a:t>
            </a:r>
            <a:endParaRPr lang="en-US" altLang="zh-CN" sz="1400" dirty="0">
              <a:solidFill>
                <a:schemeClr val="tx1">
                  <a:lumMod val="75000"/>
                  <a:lumOff val="25000"/>
                </a:schemeClr>
              </a:solidFill>
              <a:latin typeface="思源黑体 CN Regular" charset="-122"/>
              <a:ea typeface="思源黑体 CN Regular" charset="-122"/>
              <a:cs typeface="思源黑体 CN Regular" charset="-122"/>
              <a:sym typeface="Arial" panose="020B0604020202090204" pitchFamily="34" charset="0"/>
            </a:endParaRPr>
          </a:p>
        </p:txBody>
      </p:sp>
    </p:spTree>
    <p:custDataLst>
      <p:tags r:id="rId1"/>
    </p:custDataLst>
    <p:extLst>
      <p:ext uri="{BB962C8B-B14F-4D97-AF65-F5344CB8AC3E}">
        <p14:creationId xmlns:p14="http://schemas.microsoft.com/office/powerpoint/2010/main" val="7776038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e449126-64c9-4d19-a63f-f572ce796e9d"/>
  <p:tag name="COMMONDATA" val="eyJoZGlkIjoiNTQ0MDc3NzBkNTM1ZjYzYmNhY2VjZGI2NTUwOWI0NjkifQ=="/>
</p:tagLst>
</file>

<file path=ppt/tags/tag2.xml><?xml version="1.0" encoding="utf-8"?>
<p:tagLst xmlns:a="http://schemas.openxmlformats.org/drawingml/2006/main" xmlns:r="http://schemas.openxmlformats.org/officeDocument/2006/relationships" xmlns:p="http://schemas.openxmlformats.org/presentationml/2006/main">
  <p:tag name="ISLIDE.ICON" val="#407207;"/>
</p:tagLst>
</file>

<file path=ppt/tags/tag3.xml><?xml version="1.0" encoding="utf-8"?>
<p:tagLst xmlns:a="http://schemas.openxmlformats.org/drawingml/2006/main" xmlns:r="http://schemas.openxmlformats.org/officeDocument/2006/relationships" xmlns:p="http://schemas.openxmlformats.org/presentationml/2006/main">
  <p:tag name="ISLIDE.ICON" val="#40720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9.xml><?xml version="1.0" encoding="utf-8"?>
<p:tagLst xmlns:a="http://schemas.openxmlformats.org/drawingml/2006/main" xmlns:r="http://schemas.openxmlformats.org/officeDocument/2006/relationships" xmlns:p="http://schemas.openxmlformats.org/presentationml/2006/main">
  <p:tag name="ISLIDE.ICON" val="#407207;"/>
</p:tagLst>
</file>

<file path=ppt/tags/tag20.xml><?xml version="1.0" encoding="utf-8"?>
<p:tagLst xmlns:a="http://schemas.openxmlformats.org/drawingml/2006/main" xmlns:r="http://schemas.openxmlformats.org/officeDocument/2006/relationships" xmlns:p="http://schemas.openxmlformats.org/presentationml/2006/main">
  <p:tag name="ISLIDE.ICON" val="#407207;"/>
</p:tagLst>
</file>

<file path=ppt/tags/tag21.xml><?xml version="1.0" encoding="utf-8"?>
<p:tagLst xmlns:a="http://schemas.openxmlformats.org/drawingml/2006/main" xmlns:r="http://schemas.openxmlformats.org/officeDocument/2006/relationships" xmlns:p="http://schemas.openxmlformats.org/presentationml/2006/main">
  <p:tag name="ISLIDE.ICON" val="#407207;"/>
</p:tagLst>
</file>

<file path=ppt/tags/tag22.xml><?xml version="1.0" encoding="utf-8"?>
<p:tagLst xmlns:a="http://schemas.openxmlformats.org/drawingml/2006/main" xmlns:r="http://schemas.openxmlformats.org/officeDocument/2006/relationships" xmlns:p="http://schemas.openxmlformats.org/presentationml/2006/main">
  <p:tag name="ISLIDE.ICON" val="#407207;"/>
</p:tagLst>
</file>

<file path=ppt/tags/tag23.xml><?xml version="1.0" encoding="utf-8"?>
<p:tagLst xmlns:a="http://schemas.openxmlformats.org/drawingml/2006/main" xmlns:r="http://schemas.openxmlformats.org/officeDocument/2006/relationships" xmlns:p="http://schemas.openxmlformats.org/presentationml/2006/main">
  <p:tag name="ISLIDE.ICON" val="#407207;"/>
</p:tagLst>
</file>

<file path=ppt/tags/tag24.xml><?xml version="1.0" encoding="utf-8"?>
<p:tagLst xmlns:a="http://schemas.openxmlformats.org/drawingml/2006/main" xmlns:r="http://schemas.openxmlformats.org/officeDocument/2006/relationships" xmlns:p="http://schemas.openxmlformats.org/presentationml/2006/main">
  <p:tag name="ISLIDE.ICON" val="#407207;"/>
</p:tagLst>
</file>

<file path=ppt/tags/tag25.xml><?xml version="1.0" encoding="utf-8"?>
<p:tagLst xmlns:a="http://schemas.openxmlformats.org/drawingml/2006/main" xmlns:r="http://schemas.openxmlformats.org/officeDocument/2006/relationships" xmlns:p="http://schemas.openxmlformats.org/presentationml/2006/main">
  <p:tag name="ISLIDE.ICON" val="#407207;"/>
</p:tagLst>
</file>

<file path=ppt/tags/tag26.xml><?xml version="1.0" encoding="utf-8"?>
<p:tagLst xmlns:a="http://schemas.openxmlformats.org/drawingml/2006/main" xmlns:r="http://schemas.openxmlformats.org/officeDocument/2006/relationships" xmlns:p="http://schemas.openxmlformats.org/presentationml/2006/main">
  <p:tag name="ISLIDE.ICON" val="#407207;"/>
</p:tagLst>
</file>

<file path=ppt/tags/tag27.xml><?xml version="1.0" encoding="utf-8"?>
<p:tagLst xmlns:a="http://schemas.openxmlformats.org/drawingml/2006/main" xmlns:r="http://schemas.openxmlformats.org/officeDocument/2006/relationships" xmlns:p="http://schemas.openxmlformats.org/presentationml/2006/main">
  <p:tag name="ISLIDE.ICON" val="#407207;"/>
</p:tagLst>
</file>

<file path=ppt/tags/tag28.xml><?xml version="1.0" encoding="utf-8"?>
<p:tagLst xmlns:a="http://schemas.openxmlformats.org/drawingml/2006/main" xmlns:r="http://schemas.openxmlformats.org/officeDocument/2006/relationships" xmlns:p="http://schemas.openxmlformats.org/presentationml/2006/main">
  <p:tag name="ISLIDE.ICON" val="#407207;"/>
</p:tagLst>
</file>

<file path=ppt/tags/tag29.xml><?xml version="1.0" encoding="utf-8"?>
<p:tagLst xmlns:a="http://schemas.openxmlformats.org/drawingml/2006/main" xmlns:r="http://schemas.openxmlformats.org/officeDocument/2006/relationships" xmlns:p="http://schemas.openxmlformats.org/presentationml/2006/main">
  <p:tag name="ISLIDE.ICON" val="#407207;"/>
</p:tagLst>
</file>

<file path=ppt/tags/tag30.xml><?xml version="1.0" encoding="utf-8"?>
<p:tagLst xmlns:a="http://schemas.openxmlformats.org/drawingml/2006/main" xmlns:r="http://schemas.openxmlformats.org/officeDocument/2006/relationships" xmlns:p="http://schemas.openxmlformats.org/presentationml/2006/main">
  <p:tag name="ISLIDE.ICON" val="#407207;"/>
</p:tagLst>
</file>

<file path=ppt/tags/tag31.xml><?xml version="1.0" encoding="utf-8"?>
<p:tagLst xmlns:a="http://schemas.openxmlformats.org/drawingml/2006/main" xmlns:r="http://schemas.openxmlformats.org/officeDocument/2006/relationships" xmlns:p="http://schemas.openxmlformats.org/presentationml/2006/main">
  <p:tag name="ISLIDE.ICON" val="#407207;"/>
</p:tagLst>
</file>

<file path=ppt/tags/tag32.xml><?xml version="1.0" encoding="utf-8"?>
<p:tagLst xmlns:a="http://schemas.openxmlformats.org/drawingml/2006/main" xmlns:r="http://schemas.openxmlformats.org/officeDocument/2006/relationships" xmlns:p="http://schemas.openxmlformats.org/presentationml/2006/main">
  <p:tag name="ISLIDE.ICON" val="#407207;"/>
</p:tagLst>
</file>

<file path=ppt/tags/tag33.xml><?xml version="1.0" encoding="utf-8"?>
<p:tagLst xmlns:a="http://schemas.openxmlformats.org/drawingml/2006/main" xmlns:r="http://schemas.openxmlformats.org/officeDocument/2006/relationships" xmlns:p="http://schemas.openxmlformats.org/presentationml/2006/main">
  <p:tag name="ISLIDE.ICON" val="#407207;"/>
</p:tagLst>
</file>

<file path=ppt/tags/tag34.xml><?xml version="1.0" encoding="utf-8"?>
<p:tagLst xmlns:a="http://schemas.openxmlformats.org/drawingml/2006/main" xmlns:r="http://schemas.openxmlformats.org/officeDocument/2006/relationships" xmlns:p="http://schemas.openxmlformats.org/presentationml/2006/main">
  <p:tag name="ISLIDE.ICON" val="#407207;"/>
</p:tagLst>
</file>

<file path=ppt/tags/tag35.xml><?xml version="1.0" encoding="utf-8"?>
<p:tagLst xmlns:a="http://schemas.openxmlformats.org/drawingml/2006/main" xmlns:r="http://schemas.openxmlformats.org/officeDocument/2006/relationships" xmlns:p="http://schemas.openxmlformats.org/presentationml/2006/main">
  <p:tag name="ISLIDE.ICON" val="#407207;"/>
</p:tagLst>
</file>

<file path=ppt/tags/tag36.xml><?xml version="1.0" encoding="utf-8"?>
<p:tagLst xmlns:a="http://schemas.openxmlformats.org/drawingml/2006/main" xmlns:r="http://schemas.openxmlformats.org/officeDocument/2006/relationships" xmlns:p="http://schemas.openxmlformats.org/presentationml/2006/main">
  <p:tag name="ISLIDE.ICON" val="#407207;"/>
</p:tagLst>
</file>

<file path=ppt/tags/tag37.xml><?xml version="1.0" encoding="utf-8"?>
<p:tagLst xmlns:a="http://schemas.openxmlformats.org/drawingml/2006/main" xmlns:r="http://schemas.openxmlformats.org/officeDocument/2006/relationships" xmlns:p="http://schemas.openxmlformats.org/presentationml/2006/main">
  <p:tag name="ISLIDE.ICON" val="#407207;"/>
</p:tagLst>
</file>

<file path=ppt/tags/tag38.xml><?xml version="1.0" encoding="utf-8"?>
<p:tagLst xmlns:a="http://schemas.openxmlformats.org/drawingml/2006/main" xmlns:r="http://schemas.openxmlformats.org/officeDocument/2006/relationships" xmlns:p="http://schemas.openxmlformats.org/presentationml/2006/main">
  <p:tag name="ISLIDE.ICON" val="#407207;"/>
</p:tagLst>
</file>

<file path=ppt/tags/tag39.xml><?xml version="1.0" encoding="utf-8"?>
<p:tagLst xmlns:a="http://schemas.openxmlformats.org/drawingml/2006/main" xmlns:r="http://schemas.openxmlformats.org/officeDocument/2006/relationships" xmlns:p="http://schemas.openxmlformats.org/presentationml/2006/main">
  <p:tag name="ISLIDE.ICON" val="#407207;"/>
</p:tagLst>
</file>

<file path=ppt/tags/tag40.xml><?xml version="1.0" encoding="utf-8"?>
<p:tagLst xmlns:a="http://schemas.openxmlformats.org/drawingml/2006/main" xmlns:r="http://schemas.openxmlformats.org/officeDocument/2006/relationships" xmlns:p="http://schemas.openxmlformats.org/presentationml/2006/main">
  <p:tag name="ISLIDE.ICON" val="#407207;"/>
</p:tagLst>
</file>

<file path=ppt/tags/tag41.xml><?xml version="1.0" encoding="utf-8"?>
<p:tagLst xmlns:a="http://schemas.openxmlformats.org/drawingml/2006/main" xmlns:r="http://schemas.openxmlformats.org/officeDocument/2006/relationships" xmlns:p="http://schemas.openxmlformats.org/presentationml/2006/main">
  <p:tag name="ISLIDE.ICON" val="#407207;"/>
</p:tagLst>
</file>

<file path=ppt/tags/tag42.xml><?xml version="1.0" encoding="utf-8"?>
<p:tagLst xmlns:a="http://schemas.openxmlformats.org/drawingml/2006/main" xmlns:r="http://schemas.openxmlformats.org/officeDocument/2006/relationships" xmlns:p="http://schemas.openxmlformats.org/presentationml/2006/main">
  <p:tag name="ISLIDE.ICON" val="#407207;"/>
</p:tagLst>
</file>

<file path=ppt/tags/tag43.xml><?xml version="1.0" encoding="utf-8"?>
<p:tagLst xmlns:a="http://schemas.openxmlformats.org/drawingml/2006/main" xmlns:r="http://schemas.openxmlformats.org/officeDocument/2006/relationships" xmlns:p="http://schemas.openxmlformats.org/presentationml/2006/main">
  <p:tag name="ISLIDE.ICON" val="#407207;"/>
</p:tagLst>
</file>

<file path=ppt/tags/tag44.xml><?xml version="1.0" encoding="utf-8"?>
<p:tagLst xmlns:a="http://schemas.openxmlformats.org/drawingml/2006/main" xmlns:r="http://schemas.openxmlformats.org/officeDocument/2006/relationships" xmlns:p="http://schemas.openxmlformats.org/presentationml/2006/main">
  <p:tag name="ISLIDE.ICON" val="#407207;"/>
</p:tagLst>
</file>

<file path=ppt/tags/tag45.xml><?xml version="1.0" encoding="utf-8"?>
<p:tagLst xmlns:a="http://schemas.openxmlformats.org/drawingml/2006/main" xmlns:r="http://schemas.openxmlformats.org/officeDocument/2006/relationships" xmlns:p="http://schemas.openxmlformats.org/presentationml/2006/main">
  <p:tag name="ISLIDE.ICON" val="#407207;"/>
</p:tagLst>
</file>

<file path=ppt/tags/tag46.xml><?xml version="1.0" encoding="utf-8"?>
<p:tagLst xmlns:a="http://schemas.openxmlformats.org/drawingml/2006/main" xmlns:r="http://schemas.openxmlformats.org/officeDocument/2006/relationships" xmlns:p="http://schemas.openxmlformats.org/presentationml/2006/main">
  <p:tag name="ISLIDE.ICON" val="#407207;"/>
</p:tagLst>
</file>

<file path=ppt/tags/tag47.xml><?xml version="1.0" encoding="utf-8"?>
<p:tagLst xmlns:a="http://schemas.openxmlformats.org/drawingml/2006/main" xmlns:r="http://schemas.openxmlformats.org/officeDocument/2006/relationships" xmlns:p="http://schemas.openxmlformats.org/presentationml/2006/main">
  <p:tag name="ISLIDE.ICON" val="#407207;"/>
</p:tagLst>
</file>

<file path=ppt/tags/tag48.xml><?xml version="1.0" encoding="utf-8"?>
<p:tagLst xmlns:a="http://schemas.openxmlformats.org/drawingml/2006/main" xmlns:r="http://schemas.openxmlformats.org/officeDocument/2006/relationships" xmlns:p="http://schemas.openxmlformats.org/presentationml/2006/main">
  <p:tag name="ISLIDE.ICON" val="#407207;"/>
</p:tagLst>
</file>

<file path=ppt/tags/tag49.xml><?xml version="1.0" encoding="utf-8"?>
<p:tagLst xmlns:a="http://schemas.openxmlformats.org/drawingml/2006/main" xmlns:r="http://schemas.openxmlformats.org/officeDocument/2006/relationships" xmlns:p="http://schemas.openxmlformats.org/presentationml/2006/main">
  <p:tag name="ISLIDE.ICON" val="#407207;"/>
</p:tagLst>
</file>

<file path=ppt/tags/tag50.xml><?xml version="1.0" encoding="utf-8"?>
<p:tagLst xmlns:a="http://schemas.openxmlformats.org/drawingml/2006/main" xmlns:r="http://schemas.openxmlformats.org/officeDocument/2006/relationships" xmlns:p="http://schemas.openxmlformats.org/presentationml/2006/main">
  <p:tag name="ISLIDE.ICON" val="#407207;"/>
</p:tagLst>
</file>

<file path=ppt/tags/tag51.xml><?xml version="1.0" encoding="utf-8"?>
<p:tagLst xmlns:a="http://schemas.openxmlformats.org/drawingml/2006/main" xmlns:r="http://schemas.openxmlformats.org/officeDocument/2006/relationships" xmlns:p="http://schemas.openxmlformats.org/presentationml/2006/main">
  <p:tag name="ISLIDE.ICON" val="#407207;"/>
</p:tagLst>
</file>

<file path=ppt/theme/theme1.xml><?xml version="1.0" encoding="utf-8"?>
<a:theme xmlns:a="http://schemas.openxmlformats.org/drawingml/2006/main" name="Office 主题​​">
  <a:themeElements>
    <a:clrScheme name="自定义 351">
      <a:dk1>
        <a:sysClr val="windowText" lastClr="000000"/>
      </a:dk1>
      <a:lt1>
        <a:sysClr val="window" lastClr="FFFFFF"/>
      </a:lt1>
      <a:dk2>
        <a:srgbClr val="44546A"/>
      </a:dk2>
      <a:lt2>
        <a:srgbClr val="E7E6E6"/>
      </a:lt2>
      <a:accent1>
        <a:srgbClr val="00568A"/>
      </a:accent1>
      <a:accent2>
        <a:srgbClr val="006FAE"/>
      </a:accent2>
      <a:accent3>
        <a:srgbClr val="3F3F3F"/>
      </a:accent3>
      <a:accent4>
        <a:srgbClr val="00568A"/>
      </a:accent4>
      <a:accent5>
        <a:srgbClr val="006FAE"/>
      </a:accent5>
      <a:accent6>
        <a:srgbClr val="3F3F3F"/>
      </a:accent6>
      <a:hlink>
        <a:srgbClr val="0563C1"/>
      </a:hlink>
      <a:folHlink>
        <a:srgbClr val="954F72"/>
      </a:folHlink>
    </a:clrScheme>
    <a:fontScheme name="4rqz4uym">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334E55B0-647D-440b-865C-3EC943EB4CBC-2">
      <extobjdata type="334E55B0-647D-440b-865C-3EC943EB4CBC" data="ewoJIkltZ1NldHRpbmdKc29uIiA6ICJ7XCJkcGlcIjpcIjYwMFwiLFwiZm9ybWF0XCI6XCJQTkdcIixcInRyYW5zcGFyZW50XCI6dHJ1ZSxcImF1dG9cIjpmYWxzZX0iLAoJIkxhdGV4IiA6ICJYRnNnVUNoQ0lGeHRhV1FnUVNrZ1BTQmNabkpoWTN0UUtFRWdYR05oY0NCQ0tYMTdVQ2hCS1gwZ1hGMD0iLAoJIkxhdGV4SW1nQmFzZTY0IiA6ICJpVkJPUncwS0dnb0FBQUFOU1VoRVVnQUFBeDRBQUFERUJBTUFBQURqV2VyWkFBQUFNRkJNVkVYLy8vOEFBQUFBQUFBQUFBQUFBQUFBQUFBQUFBQUFBQUFBQUFBQUFBQUFBQUFBQUFBQUFBQUFBQUFBQUFBQUFBQXYzYUI3QUFBQUQzUlNUbE1BdSsvZHpabFVFR2FKcXlKMk1rUWY3cDZUQUFBQUNYQklXWE1BQUE3RUFBQU94QUdWS3c0YkFBQWJqRWxFUVZSNEFlMDlXNGdzU1ZiVjNiZTcrdmJiMVVGWXdXcnVyQS9XUnpWN1ozR1poYzI3em95S0gvYmR4Um1ZR2RscXhnOVJQNnFkOVdOOFFEYnFmZ3grZEN0Y1JWQ3FCeHlRVWFqZUFjSEZkYXRjQlVIQmFrVHhiN3B3RUJUQjd0djNqdlBZblVuUHljeUlPQ2Z5UkZabWRqMXVaMVYrZEo1NG5ZZzRKK004SXFKT1Z5cXpSMVBnNS9zYUhCdXcrb05qNitxNmRiUjRlVEtCSVh0YkUrajBXblRaL3RBMXpQWG5YU1ZYei8veXcvMnJJeWtqaHJtZzc1cFd4MTNrYXBJNWY3WCtZNW5yVGxYRjNmZWMwNjBGQjg2eUt4ZWNQWmpDQlRKWEQraHorY1J6TmhGV2dpTVhhWmNDZDVtckRjdi9JdTA3Q0tEM0UxTytGTnd4aVdtQmZFNFJTRDA0NEhOdjNlZHBrcG9QZ21PU3pBOG1PbWU5dHo3SWovRzZ0MWkrOTlySGtDcjNuOFhuaFI4SDhQS0FUbW9qZUpjbUdkd0tnaTJXa1RmeGl5OThGM1orK1hyWSs3T1l1TnpUU0JhQ3JvYW5DV2dBRlpTVStxdGQ0STFLSUJGZWRxdUlWU0RmemxVSmRST1EzRkZJWGdIcGFaYmphdUEwN0ZTRFVyNTdRZkJ0UGJFbElBazFiSFlmNmlJYm1BTlNidHVaZWRQTGdLU3ZHNjFRN2xSNkQzVEJOQUh0SVBpV21lK2JvRUxNQWxtbVJhWlNDSjBEOFM2c3ZOekpSVUJDR3NGWWpOYVl2Nks1UVBCZUp4Qld4TFlaTHhoTndWMmQ5QW1zTTJQQWc1cHU1V0xYZHFRWHFJUkM4UmdFZTZycThsUUtMRlFEeDRvRThONE5DQm5hZ1ZrcnBBNkNhOUNPMUxSS01ma2JiLzJQczdXcTdsTmhXYW1nT3RsUlpSWFBMU3gxbmRJQktNRVB5S3g2UkdTc0IrK1FFZzc2N3dEblB1SjVKTFgrRlE4UUIwLytNOGtUd0NibjZUbzBNVnE4YWRhSzBMU2tXYWhEVDhqY2dFSmFvcytsQ0tUMnU3VWdjUHJ1WC9NQVRmaDgzeWxCbmdBYlhBZFZvWWt4TGhhb0lFMDBMV2tHZUhXWGRHcG5RSkorbkhIbVZoOGJ3UUhROG4zYWtzRC9Da2pVODJDUEZOaWdaL2t3ME1nc3lUWENHN3RoYWRNZHJsRXI1MENTZzNpMnRjRDVjUzg4cUxRbzdSaDl2Z280N3YvQnYxZXEzL2hITHdnZTlsa2hUZUI2Nk5LTU9wR1dsU3IvVW1pOThzS0hWRUxBTkZGZWRhUHBWZ08zQjlEN3NBSXRqZmRHQ1lTcS9rdHh4dXJmT2JrR05kQ2FZeXlITkZsejdTbFVJRzJxUVlGRVBjT1BOVW9iU3ZBS2ZMckh1SkprQTZqQjlxSGVEb0tmNUkxTnluSS9LbWpzRVoxMGJueDMwNmJrVUoxcjFBcndSMzJWQzI1dmNBVU00VE5MOHloQzNkQUxMTXA1S1hDZU1DNVlTd3lOUGVLY2J0S0VRbC91TjM2UlczU0t3QjlsYjUyNVA4OHpzSUo4cUVsYktyZ2RmRmFCNGJ0YUl6NEZLMEVVeHB5Q0ltQWw3WFBPdlVBNW52S2s4SXZza3VrZ2Y1VFdhTGczTEhaM0twVk5xTHBQbXNiZ2NrS3JMSkpORUY2L2FRbkxEcURjTTFXVzlWQk1Yc2toZEQrb1JrWCtxRS9XR0w0MkVaYlJKQVpMV2Ewa1duNldYQTF0YmJIUmlnQTNMR0ZaNHlvSlBnNDZOcXR4S1pNZ3dablFRWWx4RWMxMGc1ZlE2YitNdTM3WXRFOXpJM2czeVNTblkrZHhZWW5tRmxFZmxZckgxbTZ5ci9MbCtKWkc3UUJKanFKcDNuU1lUMURhd0kxRTNIQS9pS3FTdit0NmVabk1kV28wbVd5dzByaXdoTTFsS3E0cVlGeHNrZXJUQUlJRVYrSXBuRzdEcUk4YlRtMjZIbjYyS09xNkNSb3RxdVZGUzJxeVlRd3JrQXFrcWhjRS8wZWJnWXNUcjFXV1crWUUwSjl1Q3VJWHF5VEdwa1VjUTRZYm9jYkh6ZGk3SmpPRzVvVThjREwzRXhVaEF6R1EvRitGWkora0syQlNtOTFGVmxEYWhLZlZSVGhGZE5BTzRzbWVPNGx4R0xJUTNmRGp1SzU1ZGJqRWlRcDhLVE0wYjRtSHZ3Nm10dVU1YmpvRW5lbXVaQkN1aHp0a1RpQyt0SC9jY2dtTGF2MFltNkQydllNQWU4NmxwZUM0bStCVFlWbHRCY0VQTTFSb01xRGhNRVVQMHZUSXpCY0YrcDVLT3QyNHhjaUN3c09LSFZWWnZ3K3BCRks1YzVJUXErQ09pNVpIMVcvQzFwVXQxVmFtYlVjUjVWTmZVYTFTYVFYQmorcFUzV1hjZENJTEFGM0hDMTFiQVQyMmV4L25yZ2lDRFlxZ080WGc2N1VnK0NtRlE3OWhlQnFlQ29DN0gyK3p2VmhKVzRkRVFlY2NueXZ6WXhmY3Y2Znh1UTJvUHZtN0VWYjZGMVRVQ1UyWEh2YUpRMXo5YmJCMSszcks4UGwzZFlJQ1MycEZBUkdWTFdiS3hWczZqdlVCQ016ejRDLzJEWllZQW5IYVQyU1dPUVAwOXp0L0hUNXZmUVcrMXZ0azlxQkxEc1Nwenl1YnlPTzJjbFE1Qno5UVc2blBmL1UvNjhMQkZhZ29lUXppd0VxUTJURGZKMENmVnRUQm1jRk9WbCtjWVVzdENtQWdkOSt3ZWc1K2dQdEJsQTJrN3RQK0VSbXMwU044VDgzakdYNTg0ckZmWU5NRytweXlqRGl4cWtuVXB1YXFxcHFESDdCWFJzM1pjMnBNeE9na0QwZjFWTUkzdWg4WGpubUJiV04vcm1ITk9mMU5OOWpoYW93bUJ6ODJpYk1EclhGcnVSOWpVUy9KdzFGbEpYeWorN0hsbUJkc1QrMUxSVTB0bzNyOCs0NHE1K0FITEFnbCtzSzJ1MVlhTXFlTUgraCtkQ002SnY2NitGSFhER3hhZThNaGloejhhTEdicXVGVkNtVXFxTkZJSHFjcUsrRWIzWTlUeDd4Z08xMWFIemVORklQdld4MGxHaHc1K0FIclFmTVdFV3pDYVBvR0UwTDE2Ym9TNXdNRk9BRk1DclN0U1Jpb0U5eFNUNTNaUjNHVkhQeUF6cnNHY1hSNmZrd3pwbzRmVFVuaXhCUng4S01HVkNRUEp4K2tzdlBET3Yyb1ZQQkFaWnNqOUp6bUJxOVhrbFJEc2xqanVjbjgyQWcrL29aNjJrQy9FNXNTMmZsaG5YNUV4eUhXTHhpbVRGNTVaSVBWSnF5c1B4YUl4c1VMRFFudGs1MGZ3SENDRExwSDY0SVpYQ2l2ZHV4eGxUaWQ1bjZnOU5oUHpyMUhDQVlFTmJ2enFtcDJmb0Q2amphS1ZWT1VWNG4xTVUzOFNITS9aSDVVdFhNT1JJUVZGQndvWXFwM2RuNmMyNHNUK1h1aDhFVHY2ZkkvMHR3UGxCNG5uRGlRV3RIT09TU3crWkZkSlRzL1dqYjFZY0hZNHNteWlPM09TcFpPY3ovd3NrRS9NZDl6N1p4REVTcmt1M2FWN1B6WXRULytab0svSUZDUDdRNUtuUGFCQU03cGdURGJTeFI2ZDBnV2JqaHRrWFFJWnVkSGd2cHR5T0ZMY3NyMmQrR0Q1QllPSmE1MDlyREc3Q2xVUDNkb0U0UXo4d1Bkano1dGpkYUZOUnpuR1F4dFZ4NjRZVnM0ZEdwQW5vUnk4TTJQeWFBcVhtallwazBRenN5UGhQdUI1cFcrM2hDaEJZNzNJMmdxL25vSkF0QnBDOHFoL1FPMGduaWhJVE0vd0pyaXR4YlBnQi9XRnpCZDUrZXA3Z2RlWnI1RHFROHcvSWlUNVFBQkxYOGh4L3JZdEU1UHF2QjEyTnVUWU1HeERzdWRRUG1mME1kbXlyV0VNSHJab2hlMHR3Uk1EbjZjV2FmdjZNMzhpT2s5aE9ZU0hMSXFsQ3FKRXJ6cm5sRXY4ZkczcWJVTERUMkxwSWdyczd6cVdZc0xyYXRUYXpUejVOZlBWbEVKazZudWgzQ1plZG4ybm5mNWdXdElvc3o4Z01ZN2hLaDRtVHF4Mkh6aHdnUnBJNEpMbnhPekIyVCsvdDBCRlpMRmJ4NGs4NjZVNHdNSlVoQWtMalAzYklVQ24vVDdOb0tzL0VEbFJXaXc0WUgyT0xHUm5kbjdpM1lGSWQzNElTRnpZSmI5cVExc0FKZUxMZU04UTVQMEtyMmtBcVVONXRqdGozQjc1SUtXaC9LS1hoQUpDN1B5QTUzSlBZMXV0Y2JaRXhjY0psU1lidUVDVmhKQ3oxV1Q1bGNUc3BtV0V2amZqblNpNmxtMzhYVkpNUURWdVk0TUo2QzRTVzlIVlNxL1dRZDNiWi9XQzZOaTJOOTBWbjc4Qi9SK3FyQjlIWVJYSU1pWmR2N3RrdHBIQ21tZTkyckdoYmdhRVBSdmtraGhlVG9UNmxaZmZlRTFJQUZRK0kzbi8wRW94eXh3amcyeC8vczd3K29QbjFPVlg3a1hSbDRNSHI3K3ZDWXJsbVhoeC9LOU4ycUk3c25uL3dpZk1HNWo4Qk1LTTNuWExRT2JGRG5BRzdsYmhJaXk4bU11ZU05MHZNNUM2Wm44QWhCdXphcUg5TUF4VVlHaUt1djkzWmJLc1d6bUxQdzRORzBWOU9CTHZPOHdCUnNBK3l3NytnUlVtK0R4Wi9nVlBxamJaZ3B0RWRZMGZSNS81cGNaUHAzSXlvOG1VNWhON3RCcWJQbUJ0ZUR5MXUwbjRHTDVwMjY1bVV5bHhlN2w0MDg4ZmZ1V3NUOFBnMXVQM3dZRXQ2eHYrTkR5VWNLeExWTFZYYW04UkdrRThPWG5mODZzUkRLWk5jdURSeHZBZWo1RHFnTjRrenRVbTFadFNGb040dVpaK1ZGbk92Vm1mbkhLaDVzdmRSNXM1MnVBdGM4bHErT212UkdTRFMrVER0amsxUmUrSS96aUh3c2p4UDRwd3Z3ZklWaS96bHE2OTlvdXN1U1RVVVRaTDJEaSs2VytNL0lEUERZMlBZOGZjRXFZaDVnM1Q1VlhWcnczcFBtdTNoYS8vMEU0ZmNIcVFVbXJkdEZXZndjUzMwMndWT3RKNGRzaSsyVFYzNElHVzZTQkFqUHlvMk5acEIxamtpaE1JM3pmWkl0emhCMjVVUGU0bUF1cjRhOUl1N29CU0Q1cTVOeXdQU1NvZU1nMkVkcUVPeG9MWHFUL0ZrazV3WnAxNDJ5TnViVE9aa01xQUhFOUpFd0YwWGpDNTRlNzhtYXhyZFpadk9CRFVxVDZiTEJqWVd4K3JJck1PeHMvOE1pR2s2VE96QWVEYnpUUWhPT0JyVnJxUEp6a1BQOUVtL1FuZGxWamJoaUNlRXhDVllHQjFpNGNWczNHRDl4ZzRoYmZvZkRGbUs2SERYV0U1VC9zUGxMd0xVcjZxOE12MWVPZGxGT0ZZMFhRTjJpVGRWVUZlTGNzRlJBVlplTkhEM0NaM3JEbHdsZ3B0SmpjNFl1R1A1Ni92cVI2RC9rZUpxcVRZeldjTTBIZjRDNkVaaGhVUExQU1VkdE0vS2dHUHd1Tis2bzNmQzlKaTQxV0dDcGM1ZGJkVUhGblFOWmloSXdidFBrZFJpVDNoY0pWNDhJa3pFWjdUSlhqMjRkMGwyYUVjQ1orckFTL0FvMFBXR05QTzhnc2UwUUprU0lqNml1QnRpcWFkeUQvdDBsVlBNTlhXMHBpK0dhUStjeGwySVFHZHdtQ0NNekVqL1Aza0xsSHJIRlBZQzZyTU5URWdwRUZROFdiQ2RsTlFSdUVFUyszU0hNMGVaVFBNU2VKVjkrNnN3SDJnRENwVFB6d2RwSTN6bnoyZFpDQmpRVGMwTi9lU05DbkkrMVlvaUdzamR2MFhkSU81WlZ5a24zSkcyaGF4MXk0UHZnbmp0aXk4QU11T3lWdm5LMk1WWUZVR21NVmo0VE9BSXIvZXdUOWgxTlNEL1c1NGtkUElIU2xRZlFMdHV0QWd3T0NJQUt6OE1QL0FMZThMWU5xUTdMSkUraUhsckVneU5xaElVOUh0S3kzUldnOUZEYzBqZnhSL29RbmVJTVZqN2tmb2JzdVZNdkNqL2E3MG8wejZwM1NnWTBHbnVBL0RmSzVaUm5QcjJPcForUlB2Tld4TG4ycXR2dUIvMDlEMkNYUHdBOE1pb2ZZTGppbGE5S2k1RldHbVdyUzdhRmhJaDZJcTZiRUVLdDVhTVJUbUEvOFVWcGpNWGlmVlEwVHR2dUJkL2pVZWlLMU0vQWpESW9IcmEwYlo0ZXFlNEp0aE9DYUpTOUgyQlZIYlIyWnFNSzJwWjZCUDBxL2IwckdoKzErNEMydk93cVplV2ZneHlHYTFYVzlHbFhiam1UVXFjSVJ2RnNmakFCcEJwUTk1alhvQnA0bE1IYUJ2bkhodVMxS01OOTJQNXBRLzBSajA4Qmdma1JCOGFCNzVlM0ViUmUwT2FHUmpSUW9lSlIwMVRFdENVNEM0RVFCdmtWd28vaFJVcW9sZmZnK2wyKzRIeXlJcXd6MjdtTG8rOWVNdHhPUFlvVzdtMlJzSXdKN3l0MGFFWDRaN1JtN1NhL3JvRHJvNmxUMEU2MmRPTDByYWRaekx0KytETzMzU0hzRkRsNGZaNkU2YTNQMlFuTndTUlNTOGJ5WG1MMC9uajVoSFhURm5sQWQ5RW1KRDJrbGZrUkt0NWg4cSs0bTVFMkViREEvb3FCNGdNNzZVR0RENXBRTWFBemdYNm9KajZFdjFVWDF6eFhFMzNnQ1FYTWFSbjZBcnlZUUJoaXdaUnI4Q3hpNyt5WnBvSUg4Q0NQV3cyMG12dHVQQ0NUMzBpQXVPZVJ6N3dIRjEwRThaZGhiU2s2ZXV4Ky9CbWRaM1dRbHlCbklqekJpZlJqeXh2WmVQRm5UaWQyVUxyTnAxRGZPN1p4b1ovRzNDYmpCb1ZjTjNyRDhRNWtrQS9uUmlKek9zK1JwVm51c080cnk4Q2VXMjJEeUg1YkVaVitOWlY0eWRIQkROcTZ3K3Jld3RnNVViZXM5aUIrcnNUN3JHSHdLUTBNeXMxVmgyZDhlVmM4YmtMcXJaN3hwYTFvc3dlUGNNS0xzVTFEMzhzOU9kRzBMR01TUEtHSjlGQkxLYXRwVCt6VTB2L3JXLzdvZTV4aG8rMnNDb3pxNG84YjZDcEQ0Y3lxQkc3ZkNCc3NtTkREUGs2NnJ5Z1AxUnpQMkFoR2ZSZENtN1NIaWtGNDJuZHFRTUVvemlXc0dvZjUrTVF4UCt6Zi9oV2ZaMzB2R2Y2N1BwVmltK1hxLzhjVWcrQmxTUnNGQjYwTUZ4VVA3cms4YjRvRzg0S0NCWW5NOThyNER4M2xkVXVoK21PZkJpM1RjaDlKMzJncW90b1hVOTlBbUJoN0FEeDBVRCtYZm5tbUdVRWR2RUpEOEZUQWRIQTlaMHFUQjlRVHg4NHlmeTg4L3Q4OG0wWkkyOW5iWjRTeFlXMGIvczhZRCtORlJleko0M05KbExTSEs0SVIyK1Bnd0pwTHlnUnl1amh0R01wa3FVUC9BcEt5N282UmdBRDlxMjNGZFhLQkhwQjJBbTlKNUNxOVMybFRUT28yaUUyM2JKeE5RaU80SFZiOG9ibWhhdDAvbng1S1dVZXk2VjlSNm12blJTR3puYVlyQy8vNnlUb3FnQ0IwVVV5UDZGekpiTkVQQjZmelFFZXZoL2h2YmY4SG1tMVAxRzNsRnNPanQ4ZDFhVmxnVCtBSHJnWnN6UU02UFdLczRrYzZQVnVTY1ExMWNjRHNjd1R4bk9TL01tQUtzMStxSnB5VWNYNXNKN3dwKzhxYTlua0MvaTlvM2xSK3I4R015OVFEWnRrMmZDRTB4UHdScFlXZ2o4ZVBjWGs5dFM0Q3A1cW44d0ROZThseW9SdEViYkQ2ZVVTQkZzRjhMTUo0aVdqZGQxM1FsZnJUbzlnbzJoQXpoanUrQS9kM3oreXJDN1J0dlFIc3R2S0tSVFBINlFQZmoxTVVQU1grQWVPTHF1d0VZVGdRTXFldkRJempxOW9vRGVTWDlnbFhvbzN4WlBsRFRPU3ZKdm9MNlhkWUE1Rlh1OWJGR09RZ2N0czdmcDVnZlRkdGNvclFXK01GT1A4SzZRRTZSbzJucncxZk9PV0tvbVFQSnVQTXA5ajhhdHJrVWt5UjhDZjQ1T2YySWF3STdST21TeG8vMk51a0doa0RaQXlXYmxrbE5LcGNkOUJMQ204eTRsZlFzd1AzZ3A2dG9vRm5rakRDazhHTkRPK2RZdFpXNDBPQ0xGdlEwbkgra3VoL3dQNHN0d1I2ZUhuSHE0M2FnWlI0TjVNY0NZK2xoUW1TSys3dFRjZjZSNm41STV4RG50amZ1QXorSXNSVHhBdittckkvZWg2YWFkS0hCZGU0Q1hZa1AzekNndUs4Ym5PcCtWUHlrSkdyWjdrY2JLSFFxVGR2Tmp5bzVFb2FXWndtSFVqd2ZuSXJ6ajFUM0EvU3FkVk1OZnRGRFRuZVJDL2hqUXk3QUZHL2MvRmpoSWNJNmdFSTFpdDdpK1RtdlV0S1VuNkFGbmVpQ3BidWhET29mMFNwNFczU0habWpZelk5emZocTdDU2oyZFRNRXB2ZCtTVE9oU3lsaDVoTDdyTGdjK3JSS0RZU05LSzdjK3FOYTV3eEVmbkFVTlFlTGFjZmxoRnRwN2tjRmpvcjRoNHM1TEF1dEs2YWNEWm1jNjJPRldidmg3eGM0aitFbklYY05ucW1DUENjNWtRekppODNnZmxEbkR5OVRXOSsySnArVEg0ZVd0Z0NjN0FRWWZ3R3hwOUZNRlpEdWZnZ1htMzN1dTcwTnBQeXNnMkl1ZnRnUjZzTC9BWGRFa2NCbmNFTFQwd09qK05sSm1XN052dGg4eVBiK3Znck5FeGFZUXVmaVI4TzJwdERHTzFhdDhMMmNVRnUwZElKd3ByalFieDRVSHlHb2MvRW4wQXBqeXpxNTI2Z1QrYmI2OTlENlFWL1Z0ZDh5UDZyZmhFWTAvbHhsSFdVZTgvQlh4TzBTRy84RTBwbmlRaGVONmZ4S0hDRTIrUGpyZjd6dm1OdzVKVlFjei9iQjYyRkUyWHRocU1XSGU0NldzbisrOFhzZUVEOElubEhOcXE5K0FWZ016MDgvK3ljYTA3eDBQVkdYVGc1SWlRczloSmpPalpBTzBaOER4eVEzeVFZV0JyYXduMC8zSFEwaFcxb2Ztd3JCZHR3T3Q0dmp4Mng2bkFuWEtOejlqSytrSnQ3YndQNkhFZE81RjBXWGZRckN5enAvRUU4bHgxTDBJU3Z5QmNFbkh2dW5ORnBJL0xnUjNMcjk5Rk9mTXZZc3FBb01rdnNVeE1nMVRtSWlxSDFhTitNclM0a0x6YUsyRGpHbXN6MjVqU3RvVm9rZk5uNDVYZVBtcjF4cDJMa2ZNeDhhUWdQalFyUCtSeFhUbVhXQ2licmxxU1VxdURNSzh3T01jSmMrYy9kMjFSSzAvSzNuTXh5bkZSZWFGWTR0cG5PTFc2SnNFQU1TaGZteDVyYWhCM1I1bGVLOGNhRnBYNkFGamZhREF1L2J0SFNZc0MvY2lNdUl2ekEvRmx3N01CazdMbHdORHg5eXhZVldQWFg0cmdYOFh1SlVGUTM1ZllYWVlJWDUwVEcvMXhyeWJBYWdRKys0cSt1OEJFUW1jbE9LQzYzcTFxd1RuTkhGZEJiajlhcGhwTDhMODZOUlhHZWxqMmhRS1c2T251aEtHZUpDeDNYeHpnM2ZreHRkVE9kRzRhVlhsQitUaThBNnp6L3pKdDBNRXVOQ3gvekFEUjl1Z293dXByTXZINDdycjhnTkZPWEh6VW1wRHhEN2JLTUc5NTIxSHBEaVFxdTU5NUFmdWlibWppNm1jM0hxRk9XSFg5eWtVd1FxK0Q3a0YvTlFuUndyVkZKYzZMaHN2REdkdlEvVWtISytpL0tqeFpkK3psNnZVcjNOOXpYeDdzMkZ3bGR6ajJxOE1aM1BpMnJYZ3Z4WUpSc25paGhqZXRmNUQxSHdiRnJ0V0lseG9lTmhqVGVtODZLMTVaNlpOZ1g1a1daWFp1NjdVRVVNeExaRldxTFo5RjZjRnVOQ3gyVmpqdW5zT1UrY3lOZ0ZzQ0EvRHZsbElBSHhxTEp3QTd0TGtLTzhVbzYyN3o2MkczZE01NkxPWmpGK1ZMV0lJSlFaRDRqdUI3V1NVSjhyZm9oeG9hTmgrV09PNmJ6ay9tOXhxWFFxeG84NTlvbW1kakRzUW5BL21GZUgvRkgzbHozaUtGcjlqajJtYzQvZGZyWkc0MDRXNDBlam9IUjBqeU56U2NmYUZVVCt4T2ZJWWx6b0NQSDRZem9YL0plQWhmaXh4alJxWmxJT3BTSzRIMG84aGZpQVAwcHJpSEdobzA0bkVOTzVKVi9RSFVDRVF2eG9GdlYyQmd3bVN6RzRIK3hxSC9CSENVOHhMblNFY3dJeG5kY0tuZGRsL3YvT2hGYnJrN3lZNkJIM0Q4ZTBDL3lJeHliR2hRN0xKaExUdWNtK20zaU1BMS9HdVIxWVZWWHdtY0JRdWVONTR3a2hkVDhHeG9VT2h6V1JtTTZyTHhZaHlTL3Q1VzcxNnllNW13eXRBYm9iWFlJTlQ2ZDI0clFZRnpvc093dS9JQkIxMXBjMDlwak9aT1RsQUpIK2ZUSVZIOUxxOHdpQ1BWSkN3VWNucGpNZFZSbGdQTVdnODJpWTNSTFlPVG1sUlFhZXhYUTJ0Qmd5Qk91Qk9sb292ZzdpTHVDK2dxT3pXVXhuQjJHdW50M2tQN3c3Tjg1NVJZd0xIZmJZaUJ6R00rdENBNVJOZFV6bnEzTURmeVJIdDg1Z1NWejJGVm94TGpRV3ptSTZLeElOLysxUjl5TkRYR2djUWQ2WXpzTWZkV2t4b3Z0eFI4MHVTMXhvckpzM3ByUENQM3NQcEFEcTcxeHhvUkZqM3BqT0EwY3hxNkFvZ082SGVUTEVoWWFHdVdNNnE4NW03NEVVQ0M5UlJRekpGaGNhTUhiVVJpc2VsWFI1RjlNYzA1bFRvbGpLQjVLNldqYlVPWWhWb2JZZForRGlPdUtGVXh6RGl4T2lZQXJjRDNaSG5hSVI0ckpoOFN5bU15WFNrT0ZHWWt2UWRPRGd4eXltc3lIUjBDSFBPbzJpSFVoeFBhRzhGVG5uQU9IVklMVVhIRGNjUm94VU9vWXBnOUg5dUhETldZcDdpODc1cUdNNnU4WXpCZm5vZm15NTVpbnpZL1F4blYzam1ZSjh0SkM2cm5uSy9CaDlUR2ZYZUtZZ0g5MlBVOWM4WmYzaGtmVlVUMmlmS1k0aDdDSmpubndmK09Hc0w5cFhzNWpPVG5vTm9TRE4vUkQvRDByRlY4NDU5bDR6aDRueFlHYis0Slc0MGtoeFArQm9SRnUycHBOWlRHZERpK0ZEWGtJQmtENkV1TkRnY3V5eEd2YVA1dVdZenFUSkRFeWhRS3I3SWNXRnJoU0s2Wnd5Z2xrUnBVQ3EreUhGaGE0VWl1bE11NXpCS1JSSWRUOHFRbHpvWWpHZFUwWXdLNklVU0hVL3BMalFzNWpPbEh4RGgvMGd4ZjJBbjVQVG0xbGg1N09ZemtQbkFVV1k2bjdBL1N2Mkx4ZWg0U3ltTTZYZThPRldtdnNoeElXZXhYUWVQZzhveGxUM1E0Z0xQWXZwVEtrM2REamQvVWpHaFo3RmRCNDZDeGpDdkhHaEc3YjJSL3ZzbUtKOFpHTTYwMEUrc2pDb2N4MFpUaHBraXdXcHVOWXhuYVhwUFZKNWVlTkNYKytZem84VTZjWEJnT3pSejRGWUEvK0xtUW9NRVA1SHM2aitkbHo1V3NWMGRrendFY3JPR3hmNldzZDBmb1RvZnBXaDVJOExYZE0vcnJwS3Y3TzJEZ3JralFzTkJ2UytBOVVzZXdnVWFIRnJkaURHeWNSMEhqaXMwbFR3M1pmbHhEbE9MS2F6T0pyeVplYU5DejJ4bU03bEk3MDRvN3h4b1NjVzAxa2NmUWt6Rys3YmNzSnNKeGZUV1JoTUtiUHl4WVV1SHJXNGxNUWJ3YVR5VWRqUGFZNk5ZTUJsUitubGlaUTJ1WmpPWldlRG5sK2V1TkFUak9tc3gxdDJJRTljNk1uRmRDNDdGOGo4Y3NTRm5seE1aekxlc29PZHpCYnZCR002bDUwSlpIN1o0MEpQTUtZekdXL3B3Y3h4b1NjWTA3bjBUQ0FUekJvWGVwSXhuY2x3eXcrMjZDK2kzTk9kWkV4bjk2aEtXSkl0THZSRVl6cVhrT29wVThvVUYzcVNNWjFUeGw3R29reHhvUXZHZFA1L3dZS3JJbzlBRFlvQUFBQUFTVVZPUks1Q1lJST0iCn0K"/>
    </extobj>
    <extobj name="334E55B0-647D-440b-865C-3EC943EB4CBC-3">
      <extobjdata type="334E55B0-647D-440b-865C-3EC943EB4CBC" data="ewoJIkltZ1NldHRpbmdKc29uIiA6ICJ7XCJkcGlcIjpcIjYwMFwiLFwiZm9ybWF0XCI6XCJQTkdcIixcInRyYW5zcGFyZW50XCI6dHJ1ZSxcImF1dG9cIjpmYWxzZX0iLAoJIkxhdGV4IiA6ICJYRnNnWEdaeVlXTjdVQ2hDSUZ4dGFXUWdRU2w5ZTFBb1FpbDlJRnhkIiwKCSJMYXRleEltZ0Jhc2U2NCIgOiAiaVZCT1J3MEtHZ29BQUFBTlNVaEVVZ0FBQVVrQUFBREVCQU1BQUFEZy9jNHBBQUFBTUZCTVZFWC8vLzhBQUFBQUFBQUFBQUFBQUFBQUFBQUFBQUFBQUFBQUFBQUFBQUFBQUFBQUFBQUFBQUFBQUFBQUFBQUFBQUF2M2FCN0FBQUFEM1JTVGxNQXUrL2R6WmxVRUdhSnF5SjJNa1FmN3A2VEFBQUFDWEJJV1hNQUFBN0VBQUFPeEFHVkt3NGJBQUFQNEVsRVFWUjRBZTFjVFlna1NSWE83cDdwNnY5dS9MbDRxV1pXVVVTdHdSa1JQRml0TEs2M0hvUmRtRUdzeGoySXAyNUdENHNJV1NBZXhFUDNaUTZlcXZld0hrYWhtZ0ZCY0tFS0x4NnJENTZ0d3NXRHArN3BubkYzWFhmQzl6SXpJdDU3R2ZrWGxUMnpBNVdIeWhjUjc3MzRJdUxGaThqSXJCY0VWYTQzSjFXNEU5N2xMMVFXV3YxU1pSRXJjUDNpeENaS1U1dXFOS3RoYkc4WnNqTFIvN2l5Q0FpRTZxQ1UyUHBkeS9hekorVmtySVNoNXRURTBCV0lnU28zQWdPaWZyWDF6UW8xTU5iZEQxaXliS0lzeXFicVdwWGpTMmRuenJVVXZTNXV2eUhaVnRTUjFSSUVQNkRzU29GQVJwZVZSTG1vcVA1RnRVTXIwM1RJSzRYVVpWZVh4ZmZlWTVaTzhhY0VFdmFTS09lVk9pWVY5UDVMRW9aY2V2RDJwN0RpeDYvamRlKzdRRjUwVFNrUUcrcDltZ3grZXU4enlIL3hUaVR3T2lZdTloaEhraWlKc3FmVUZoRmZVRU9Tb21RSEt0TGovT2RkUUt3VHlIU2ZtazBzdFF6SWRtSXlDTjRDaytHOW5aU1VRN2tLdW01cVhYQmZWVmtPWmFUVS93empJdFJLSjlydUUxT2tpU1hRUE5HSllJVmlOcmxCVUE3bEhFaHZFNmxnZEVsVGhPNHI5WkZOUGdMVHRKMjVSSXNTcHV1ZzJmSUhJTzR5cG5Jb3owRFhPVkVXek5QSlJBdWc5N1p0R2lhZHVtT1NJYUYxNWdJZjQvc2dzS2ZMN0wwY3lqWUlNOE5meWhoeU5JMWpxejNZVllTeDcxaEJRbW9oUVlCbVNrMHJVVlVLNVJySWt0cFF0SjAyTWN4R00rc2lrVndqTW9McjZxbk90dmQ5cm5nOVZWSEVXZ3BsK0JUNjVKbFZEZFMrYTJDQ3lQeFBDQ09BTUdZM3g0Y2o1dXB3VTJvQXY1MTlSbEVwbFAzM20wcnh0VzJCbXAvUkJ2YXFMbXdxQ01aUTZ5VEpHRHZNTW1oekZ4Y0F2NlBIeTZEY1VOMk9VaC9TMm9NMVY1UFJaWENIZHdhMWRoUEJwanBsS2pDQmZUZWt1UzFpSWphL0RNcUZ5NkFubTlqZ2ZhWVZIb29Cd3hGUFVEU1V3M3VoRTJEWUljMjdJOUpjQnVYbzR3QnFGNHRDMzJtWWZUNFpncEZGdWVhcVhyaExXQzZrYVpWRjJRRGZjcWFVbU5SbmRtSFRIUW4zRnA4TTZLVjFheFljUGowUTdqTHlFV1JWMEpwTDlPVUt1TG14bUJWQnNPbXFGTHRpUzZ2R082RFdHOWl4cTFtaHNKQnJ3TDlERmNSMENaUmpjQTJnelhpVVdIRE9OWURvTG9la0VrU3RyYkhqV3E3MmhZVU1RR0NQS0VqSUVpaDNiMkxQS2JGd0xKbnFpVkxjTGRESmdLaWhqZEZsWFJJUjZBZ0xhYVlzSzJJdVJybUVEZy84b0I2NXBBN29Kb29uemdVelkxMk9BM2dlRjIzd2trUkxtMXNJVG5tSFdaYllFOTNIVFFwV1AwazBtd3FHUEFOU29YQUZBeEE3aXJtVzVmVERiT2t1WVEvbEd2QVNLRHU0emNDdFd4ZjEycXZQNTBsVUFHYW1CemhLZDZ4WlhuUFpNWFF3SFpGR1c2bi8yQm9zVlRqaTY5RjBRSU1iV2lta0R2VllrbXhBUlpkNzdDbzlnSnV1K25FTFJNUi9Ec2tKU1J1eUVPVzFhSTZpdWp0R0tDTEdZcGVFbVcxamhoRUwrdXh1UkFYZ2NSM2JlN0Jic2xpc2c5OTZMV0hudDBLVWgxSG40Tjd0bUV0dXFnOTRSbXhtT3lRVERNRHc5QnhkajNac0xhVFJVK29yUkpxUVJTZ2JyV1BreHNtM2c0UzlGdEo3ZitSS0pndnlvZFh0YVlHbWEzZDdSdHhsNDYrd2hCOW9kbjR2UW5rOWRrQzRPNzNKSlZmUyt3MGM0WW5sNmluMU5aTnFPU1liYm1MT0U0NTNtMHA5MzNBTG9namxJQjRSWEVTMHZrUURRQks2SW45bDg5NWorNmlVWFNQakxqanhWL0c2QmZxLy9Gc3JLNmdpbExqdzRKVkdDYVo2RXBlWjM1Q3NISTFmZ1JlYW1DSm81dEFrREFGYTdYWDV4d05USUlnQ2xJdDZCRUdaOWltSkJqRENpVkFHcytYcFg2THJINytHYm5wTXlzRkd1NEk3Tmx6ZDB0Vi90ZFFUSXNDWUMxRE9hMGZSNXA0UWRJQ3BkcG1xSU9qWWpnSHFHeG9BY3NHS1BoSGMwUk1qZWY0QWIvZVlpaEQyQXBROTNZSFFOV0pWZ0RFOElvcVFoS2JvNi9PZi9Ra3JCQWluTEFNVDRDNXgrZFhYR1oxdE9qTzY1Nk5jTlVENjFMUEZHbEllRkplYWM2YmRKbUN1cGZ0cGsvaFRZTVVkMU1TS0VDb2Y1Wndaa0U3NmVTVGxRZEZkYmhIZGxJUWw5b0NtSXhvNlQ0OVZsTjRWYVNPUWozTGZqUEtJRHc3S3AxQ2l1eHdhelp4d291eXg0eHA4eUtjTEpsR1FqN0psdXNhaElPWG5jWHQzU25SVEVqWlY2YjZFdmpNVklQTW1LSmhRS1Uzbm9seTJ0blJtOTJCYXRDVVBEa0tvUkJmS08wd1VtUlU1NFNITkJTYTVXNGlMYzFFTzFBMTl0VktQWi9Ea3RVMnJ5Qmt3WUhPaEZMdkwrUHhHNkl4cnlFWFpoTGFSaTJNQ3YzUE9jenBwUDJBWVhDakY3akkrY1dOSGUxbzhEK1dHK3R4RGZmVUI3WWtXaXUrcHZteVRIUTVualRiN0tic0U1SHJSaU5seCtyRkpyN1hrb1Z3Z092RHg3RlFMeGZlVzJDWGx1VXM4akV1aGhNbGlkNWVvRTU4SUt2ZmxpTFFMRFhzdlJxZC9KY284ZCtsRUNUT1M3OSt4a25PdG50NXorckpoRmg0UWNEeWVTWCtaNXk0RDE5clRrNWlnYzhYNEpGQnpVSzZZaFFkNEVjSVJiUjc2a1MyV2tlY3U4U2g2d3JnaHNTdmJ1Wit1SkpiSlFYbG1GaDVneGZsNGgxVURabmpNTWtKZ1lSazBBZWF3UjlOSXB6RDFJZWRFY21FNkIyVjdod2pnVG9CM1hXcFBCRDFCcGh1UlJkS3h6ME4zT2FGc09QM2NHckpScnJFNWpWTmpoNnJFWjY4dXkraklLVXRMQWNFUlRRT2RjcGM0eGZsMDBoTFpLRU4ydm8yUFo5dGFLTG9EN2duTGFHZlZFWEZKZzRtV0kzNG1Pb1k2WkZQaUdySlI5cjlJTWFRZnorUnpUNjY3eEIzeUR0VUg5S2JZRE9MNWl6NUdGS3laS09ISW43RkNPN25EaFZuUEdOQW11T1d5NHFZWWl1ajl4VFBLZ3M3dXF6VEQwcGtvNzR0bWdRcHVNM09pNFdobVE2dFlVaVBSeUFEUDNGbTdjWWFmU3JFNG5ZbXlULzBROExibDQ5bThlREdUNnk2eDUzZ2pJM2Q1azREQ295ekpvb3V6VUM3SnBXcVhQNlBnV1NWdlJ3aTFhSzJPZStwWUNlMzRqbVhjYUlOVm50ZzBvN0pRanFTeHczaDh5Q1RIWXZzQ0F5aU1oTEhQc2NkRktFSVB2R2RZVnBzY3RDbUlpQXlVTURYT09TTTBsVDZWNHZubE51WEF5V08rTXFBRkNiMHNqNVgrQ1FLbm12RmRHQ3IxYloxSzNkMG9mOW1DVmVDQU12OGR0UERWcTI4WHlNWnY3cjJONWVyeHc3dC9vMUtFaGtYQWp1ZlNnNGRONVAvVzNkL2hGWDNpb2I1SHVBWHBRdm52VDZNRzllUU56ZnZXZytpckVmWGtuYnVtOWZCQTBkWGx1QlhSMXdjNlU5N3ArQjVxYm51Ly9KRVVJR2tYU2kxcTlrUTluVU04SWl4R3ByUFgxTVdOVzdmaDVPenJOOWgzR3FTZUFGNmpIWnYwajYzQ2lMcjR6Zzl0UnhzdVM3aFE3bDY4Y3Z2Vld6ZXNwemxVTjE2NUJTQnVrUDViYzcxenNIclQxQm0zNHpSRFRvNExaUTY3TFpwVG1XTnJtU2cxejE0TTBKSmkyaHRseUJlTzRwcVdoWThvbHJBYzNpaEgxQ1ZiZmRrVWVQSHN3b0lTYjVSdDYrd0txdERGN2pmcXVqVDM3b3R5dGVya3djZUNuVndvT1lXK0tLOVhud3ZYTXpjVE9mamlJbCtVWWQ1ZTBsMXJJK09oeHMzTmNuMVI5aXFiWlJENHlFelZsdzBmdDdKQVZoL1dWWVVKejc1Y3J1b3RFY2hHZFZ0TzhIdWlITml0Um1GSFdJYU8yUm5ZdkZLVUowckg5NTRscWx1b3VoSm9uWDRvbHhSN0ROYktpdTdabjhBV1NQcWhETVdCUVVFbHBuaWZmTmxxTWtzUWZpaWIvSFMwUkQweHk1cm44dU9GOHJxdmZRVTkvdXhVdG5sZUtFZnVrN0VTZFM1bkhBUVZpUHFnWFBUMnpuQ2dVWEh2SE1NUDdkTkxRWHRzOFppZHh0bjhNdFNpeDhxS0IxOWxkRE9lUnQ1eEVPTjBKZjZVK3hqbWtvQzh4ZDluRkdSbk4vNlFYVFlybWZYQXJBZG1QVERyZ1ZrUHpIcmdKZXNCY2JEN2lVeWU0M3Z1VC93MVExbmZFSjIvWkxOb0JuZldBN01lbVBYQXJBZG1QVERyZ1ZrUHZBdzlVRExNMHFQdWkyeE0yVEJMOUFQdzU0KzNiSmlsUnZ1MTV3OU8xMWcrek5JanozZEh1cVpwN3VYRExLMW5mN28wRFFENDZCMCtUQ1BYbEdHVzl2bjN1dE5CSTlJaGdSaVRsMTFTREdTUHYwbEs4U3Npc0R6RkN4MWVLMC9WSEdhcDdmbWVrWU55cGpya0E4Z3B3eXdOdk40ZE9WSEp6Qkg5cW4yNk1FdHI3ajlkeUJwOTBuMzJGNTdwd2l5MStOZTFQbkF5WkdDYWI5c2kvQUwyamttR2hOYVo4RkUwblZFc3pOTGhWUTA1ZnAxL3JCSEFmWmQrV0YwMXpOS0M1K3QyVXIrYnhHK1d1NlFJek5TOE1xOGNabWxSZk9aTjlFNUg0ajg2NlB2U2ZVaHJqZFhETExWOVA2clJWV2JjNThVL0ZzZUFjcEx3amgxbWlWL3piMUZkd0c5ZmZJK21lcjFNMVhKNndDY0RCdXN4RnRCMFRBYjg5bjVJVmJTSWljQ1gvZHUwckRiNmtMcEwwSW9qUG95MWU0UlpXcmtpdyt6VE9RM29SaGFsUjVpbGplcGZnY1k5VXZEYkVuOHFBTlQ2ZndvK1laYjRWQ3lvdTNReHVrczJHUUMxbnZOamwvY0xoWVhnWHlaM2JIVk52MjlxckFJbmhlNXlTRW9RdGY2UFNNZFY0NzZ3a0FFSTdGa0ZoMWV5bEtPN1BMV1ZSSDlNMGZzdjY1SUlRMGRZU0pNRXl3QzJnZjlYdktRU1NlSmZsV2dlK2M4ci9CMkVsaVIwbTFzSXJ2c2ZFYllGcGR0SU1xY21RK0V1QjFEclVhelZLOHpTQ3R1S1RBMHZVUUJteGhyZnNXYnBGV1lKN0x3dWFFUVBvSHBHa3JpeTZBSDBDck1FLzR5aFprNVVUME8yK1dUQVB3WjFFMzErWVphcy9EU3d1Q3oyM1E3SkFnTXdYK2YxNUgvSWtDK2tGdExvcGNNc3RkbHVsYWllZ3NRcG1rd1cxSUwvSjk3VDZ2ekNMUFd2WUwrQkl6elJzUEF6KzZuRExIVmNJMkJyOEtLNHUzeVBiaFhoTGZ1ZHRNN2RvakJMSXpQNzBzSytPU0ZaT2VvSnM3VFBmSVl2TGk0SHM2WG1NRXRqTy8xNFZWT2tPbUNYOXFvanpOSkEvT04xQ25CR3RHMGgxaFJtYWRNK2dwcGFwaVRRWFo1bjZJRHBmNUlxMmlUK0ZBcHgzemZoVEp2MTc5YlJYVzd4V2t3SzluUUhKcUdKTTd1QVJsa3c1ZldDbXJCY0FVcDBsME9OUU55ZEtIdnN1TVlWdFdmVGJLS0ZQdjhrdXN2VERIR0lGNUR1UytnNzF2ZGdBV0xJNStWZnFUUFVWOGdPb1pJc2R0Z1BwNHVBZjBoemNkTjhURE1neUdudHh4djdZZzlNNjNPaHhIV2U5VDAra0d4VEtRd2F5TkkxSkRwMGh5UDB1VkNtNG9aZ0JvdlljQlY5MlJZUGhCU295eTRCT1QyN2pHUG04RWsrWC92c3lYT1h6Z0JHTUZuWTg0Y2p6Rkw5S1BQY3BSUGxtZXg3bkQzbmRBVGdmeUIxdi9YSmM1ZStZWlkyaFUyd0puZ2w4dHlsYjVpbHNQWjFQSVR4eW13ZW1NT2VMQVQrSTViWGg1d1RsbFAvbmlqUFhmcUdXVHFyZlgvWmtWT1c5Z280QU41djVjSXMxYjlYYjhzcFMxRTZubnRnUnZNSlBJWUJGMDJwL2JrbjExMzZobG1xL1JreTExMEdRVk9zME9YQ0xEbWY0dGtZVlV4Y1NaaWxsdXY1dUNJd3hwN3JMajNETElFVjdiRktwazZFWVBzNVNyekNMTUdaRy9lZk9SV1VLeHJaczBxWGdGZVlwYVc2TjhFNGVXb1BzN1JTNXdKNVpXR1c1dXRjZW5BM3BDOXpZQ21IblU2RVE4MXQ3ODR3UzJPeGRaYzZLNld2TE14U0tnaFpKVmcrekQ1aGxwcm13TnVuUmg4Wmp6Qkw0QzRQZktxYVFzWWp6TklhZWFNL1JjMVZSS0ZqcXJBajc4S1Z2T0RMUjFFOXpOS0F2ZkhJMTE1WGFmVTZPK0xVcUM0a2VYb3FoMW1hSXVKUkhvNzhzc3FWTHI4QXM4VDNQNmY1N1JDbG9UaUFFOFZYbEt3YVpxbjMzTDBsTnJ4aW1LWFZPcmNhRlRxK1Urbkk5Tm9MOEVQWW1HcGhsZzd6dHFzVitxWXFhNlV3UzQwcmVMbFhEbkNWTUV0ei9NeTlYQVcxY0ZVSnM5U3gzdzdXVW5jRkpUM3p6V2lSMEJwL3lWTEVYbXQ1K1RCTCs2WGJVeXZBV0ZuWk1FdnJkUjlxVkdwTDJUQkxJWDh2VUttT0dwaExobG42UmNVempmOERjbmJKcWFWOHdoNEFBQUFBU1VWT1JLNUNZSUk9Igp9Cg=="/>
    </extobj>
  </extobjs>
</s:customData>
</file>

<file path=customXml/itemProps1.xml><?xml version="1.0" encoding="utf-8"?>
<ds:datastoreItem xmlns:ds="http://schemas.openxmlformats.org/officeDocument/2006/customXml" ds:itemID="{6340FA41-7644-4DF2-8B7D-F36F30BFB01D}">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447</TotalTime>
  <Words>4237</Words>
  <Application>Microsoft Office PowerPoint</Application>
  <PresentationFormat>宽屏</PresentationFormat>
  <Paragraphs>389</Paragraphs>
  <Slides>35</Slides>
  <Notes>35</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35</vt:i4>
      </vt:variant>
    </vt:vector>
  </HeadingPairs>
  <TitlesOfParts>
    <vt:vector size="39" baseType="lpstr">
      <vt:lpstr>思源黑体 CN Regular</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正青 曹</cp:lastModifiedBy>
  <cp:revision>89</cp:revision>
  <dcterms:created xsi:type="dcterms:W3CDTF">2025-12-27T06:12:21Z</dcterms:created>
  <dcterms:modified xsi:type="dcterms:W3CDTF">2026-02-13T04:27:31Z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2052-7.4.1.8983</vt:lpwstr>
  </property>
  <property fmtid="{D5CDD505-2E9C-101B-9397-08002B2CF9AE}" pid="3" name="ICV">
    <vt:lpwstr>FA0D7DC21BEC4B2A15764F69A6625F4E_43</vt:lpwstr>
  </property>
  <property fmtid="{D5CDD505-2E9C-101B-9397-08002B2CF9AE}" pid="4" name="KSOTemplateUUID">
    <vt:lpwstr>v1.0_mb_8FD/Rqav6PdV2YvimblSqQ==</vt:lpwstr>
  </property>
</Properties>
</file>