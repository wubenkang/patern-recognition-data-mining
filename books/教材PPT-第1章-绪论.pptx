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25"/>
  </p:handoutMasterIdLst>
  <p:sldIdLst>
    <p:sldId id="256" r:id="rId3"/>
    <p:sldId id="257" r:id="rId5"/>
    <p:sldId id="258" r:id="rId6"/>
    <p:sldId id="277" r:id="rId7"/>
    <p:sldId id="262" r:id="rId8"/>
    <p:sldId id="283" r:id="rId9"/>
    <p:sldId id="326" r:id="rId10"/>
    <p:sldId id="266" r:id="rId11"/>
    <p:sldId id="285" r:id="rId12"/>
    <p:sldId id="270" r:id="rId13"/>
    <p:sldId id="288" r:id="rId14"/>
    <p:sldId id="293" r:id="rId15"/>
    <p:sldId id="294" r:id="rId16"/>
    <p:sldId id="327" r:id="rId17"/>
    <p:sldId id="292" r:id="rId18"/>
    <p:sldId id="299" r:id="rId19"/>
    <p:sldId id="328" r:id="rId20"/>
    <p:sldId id="281" r:id="rId21"/>
    <p:sldId id="300" r:id="rId22"/>
    <p:sldId id="329" r:id="rId23"/>
    <p:sldId id="330" r:id="rId24"/>
  </p:sldIdLst>
  <p:sldSz cx="12192000" cy="6858000"/>
  <p:notesSz cx="6858000" cy="9144000"/>
  <p:embeddedFontLst>
    <p:embeddedFont>
      <p:font typeface="思源黑体 CN Regular" panose="020B0500000000000000" charset="-122"/>
      <p:regular r:id="rId29"/>
    </p:embeddedFont>
    <p:embeddedFont>
      <p:font typeface="楷体" panose="02010609060101010101" charset="-122"/>
      <p:regular r:id="rId30"/>
    </p:embeddedFont>
  </p:embeddedFontLst>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B0F0"/>
    <a:srgbClr val="006FAE"/>
    <a:srgbClr val="0056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12" autoAdjust="0"/>
    <p:restoredTop sz="94660"/>
  </p:normalViewPr>
  <p:slideViewPr>
    <p:cSldViewPr snapToGrid="0">
      <p:cViewPr varScale="1">
        <p:scale>
          <a:sx n="83" d="100"/>
          <a:sy n="83" d="100"/>
        </p:scale>
        <p:origin x="126" y="5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gs" Target="tags/tag143.xml"/><Relationship Id="rId30" Type="http://schemas.openxmlformats.org/officeDocument/2006/relationships/font" Target="fonts/font2.fntdata"/><Relationship Id="rId3" Type="http://schemas.openxmlformats.org/officeDocument/2006/relationships/slide" Target="slides/slide1.xml"/><Relationship Id="rId29" Type="http://schemas.openxmlformats.org/officeDocument/2006/relationships/font" Target="fonts/font1.fntdata"/><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思源黑体 CN Regular" panose="020B0500000000000000" charset="-122"/>
              </a:rPr>
            </a:fld>
            <a:endParaRPr lang="zh-CN" altLang="en-US">
              <a:cs typeface="思源黑体 CN Regular" panose="020B05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思源黑体 CN Regular" panose="020B0500000000000000" charset="-122"/>
              </a:rPr>
            </a:fld>
            <a:endParaRPr lang="zh-CN" altLang="en-US">
              <a:cs typeface="思源黑体 CN Regular" panose="020B05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AC6BB1A7-0D1B-4F2D-B557-917D931FD80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24E404EE-387A-4429-A950-C98FCE955E0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4572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9144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3716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18288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E8E436A-E919-4421-9BC7-04029FF8AF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9329AE-01FF-4B06-A12C-DAE64B6F660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2E8E436A-E919-4421-9BC7-04029FF8AF7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B29329AE-01FF-4B06-A12C-DAE64B6F6607}" type="slidenum">
              <a:rPr lang="zh-CN" altLang="en-US" smtClean="0"/>
            </a:fld>
            <a:endParaRPr lang="zh-CN" altLang="en-US"/>
          </a:p>
        </p:txBody>
      </p:sp>
      <p:grpSp>
        <p:nvGrpSpPr>
          <p:cNvPr id="7" name="组合 6"/>
          <p:cNvGrpSpPr/>
          <p:nvPr userDrawn="1"/>
        </p:nvGrpSpPr>
        <p:grpSpPr>
          <a:xfrm>
            <a:off x="0" y="0"/>
            <a:ext cx="12192000" cy="6858000"/>
            <a:chOff x="0" y="0"/>
            <a:chExt cx="12192000" cy="6858000"/>
          </a:xfrm>
        </p:grpSpPr>
        <p:grpSp>
          <p:nvGrpSpPr>
            <p:cNvPr id="8" name="组合 7"/>
            <p:cNvGrpSpPr/>
            <p:nvPr/>
          </p:nvGrpSpPr>
          <p:grpSpPr>
            <a:xfrm rot="16200000">
              <a:off x="2667000" y="-2667000"/>
              <a:ext cx="6858000" cy="12192000"/>
              <a:chOff x="0" y="0"/>
              <a:chExt cx="12192000" cy="6858000"/>
            </a:xfrm>
          </p:grpSpPr>
          <p:pic>
            <p:nvPicPr>
              <p:cNvPr id="10" name="图片 9"/>
              <p:cNvPicPr>
                <a:picLocks noChangeAspect="1"/>
              </p:cNvPicPr>
              <p:nvPr/>
            </p:nvPicPr>
            <p:blipFill rotWithShape="1">
              <a:blip r:embed="rId2">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9" name="矩形 8"/>
            <p:cNvSpPr/>
            <p:nvPr/>
          </p:nvSpPr>
          <p:spPr>
            <a:xfrm>
              <a:off x="50800" y="29138"/>
              <a:ext cx="12090400" cy="6800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Regular" panose="020B0500000000000000" charset="-122"/>
                <a:ea typeface="思源黑体 CN Regular" panose="020B0500000000000000" charset="-122"/>
                <a:cs typeface="思源黑体 CN Regular" panose="020B0500000000000000" charset="-122"/>
              </a:endParaRPr>
            </a:p>
          </p:txBody>
        </p:sp>
      </p:grpSp>
      <p:grpSp>
        <p:nvGrpSpPr>
          <p:cNvPr id="12" name="组合 11"/>
          <p:cNvGrpSpPr/>
          <p:nvPr userDrawn="1"/>
        </p:nvGrpSpPr>
        <p:grpSpPr>
          <a:xfrm>
            <a:off x="215427" y="228549"/>
            <a:ext cx="526193" cy="526193"/>
            <a:chOff x="5643770" y="2158950"/>
            <a:chExt cx="904461" cy="904461"/>
          </a:xfrm>
        </p:grpSpPr>
        <p:sp>
          <p:nvSpPr>
            <p:cNvPr id="13" name="椭圆 12"/>
            <p:cNvSpPr/>
            <p:nvPr/>
          </p:nvSpPr>
          <p:spPr>
            <a:xfrm>
              <a:off x="5643770" y="2158950"/>
              <a:ext cx="904461" cy="904461"/>
            </a:xfrm>
            <a:prstGeom prst="ellipse">
              <a:avLst/>
            </a:prstGeom>
            <a:solidFill>
              <a:srgbClr val="006F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14" name="Oval 14"/>
            <p:cNvSpPr/>
            <p:nvPr/>
          </p:nvSpPr>
          <p:spPr>
            <a:xfrm>
              <a:off x="5825435" y="2359230"/>
              <a:ext cx="541130" cy="503901"/>
            </a:xfrm>
            <a:custGeom>
              <a:avLst/>
              <a:gdLst>
                <a:gd name="T0" fmla="*/ 8052 w 11204"/>
                <a:gd name="T1" fmla="*/ 701 h 10433"/>
                <a:gd name="T2" fmla="*/ 7702 w 11204"/>
                <a:gd name="T3" fmla="*/ 6 h 10433"/>
                <a:gd name="T4" fmla="*/ 7352 w 11204"/>
                <a:gd name="T5" fmla="*/ 701 h 10433"/>
                <a:gd name="T6" fmla="*/ 3854 w 11204"/>
                <a:gd name="T7" fmla="*/ 353 h 10433"/>
                <a:gd name="T8" fmla="*/ 3504 w 11204"/>
                <a:gd name="T9" fmla="*/ 6 h 10433"/>
                <a:gd name="T10" fmla="*/ 3154 w 11204"/>
                <a:gd name="T11" fmla="*/ 353 h 10433"/>
                <a:gd name="T12" fmla="*/ 1755 w 11204"/>
                <a:gd name="T13" fmla="*/ 701 h 10433"/>
                <a:gd name="T14" fmla="*/ 5 w 11204"/>
                <a:gd name="T15" fmla="*/ 2438 h 10433"/>
                <a:gd name="T16" fmla="*/ 513 w 11204"/>
                <a:gd name="T17" fmla="*/ 9925 h 10433"/>
                <a:gd name="T18" fmla="*/ 9450 w 11204"/>
                <a:gd name="T19" fmla="*/ 10428 h 10433"/>
                <a:gd name="T20" fmla="*/ 11200 w 11204"/>
                <a:gd name="T21" fmla="*/ 8691 h 10433"/>
                <a:gd name="T22" fmla="*/ 10693 w 11204"/>
                <a:gd name="T23" fmla="*/ 1205 h 10433"/>
                <a:gd name="T24" fmla="*/ 707 w 11204"/>
                <a:gd name="T25" fmla="*/ 2438 h 10433"/>
                <a:gd name="T26" fmla="*/ 3155 w 11204"/>
                <a:gd name="T27" fmla="*/ 1396 h 10433"/>
                <a:gd name="T28" fmla="*/ 3252 w 11204"/>
                <a:gd name="T29" fmla="*/ 1996 h 10433"/>
                <a:gd name="T30" fmla="*/ 3759 w 11204"/>
                <a:gd name="T31" fmla="*/ 1996 h 10433"/>
                <a:gd name="T32" fmla="*/ 3855 w 11204"/>
                <a:gd name="T33" fmla="*/ 1396 h 10433"/>
                <a:gd name="T34" fmla="*/ 7353 w 11204"/>
                <a:gd name="T35" fmla="*/ 1743 h 10433"/>
                <a:gd name="T36" fmla="*/ 7950 w 11204"/>
                <a:gd name="T37" fmla="*/ 1990 h 10433"/>
                <a:gd name="T38" fmla="*/ 8053 w 11204"/>
                <a:gd name="T39" fmla="*/ 1396 h 10433"/>
                <a:gd name="T40" fmla="*/ 10500 w 11204"/>
                <a:gd name="T41" fmla="*/ 2438 h 10433"/>
                <a:gd name="T42" fmla="*/ 707 w 11204"/>
                <a:gd name="T43" fmla="*/ 3480 h 10433"/>
                <a:gd name="T44" fmla="*/ 10499 w 11204"/>
                <a:gd name="T45" fmla="*/ 8691 h 10433"/>
                <a:gd name="T46" fmla="*/ 1757 w 11204"/>
                <a:gd name="T47" fmla="*/ 9733 h 10433"/>
                <a:gd name="T48" fmla="*/ 707 w 11204"/>
                <a:gd name="T49" fmla="*/ 4175 h 10433"/>
                <a:gd name="T50" fmla="*/ 10499 w 11204"/>
                <a:gd name="T51" fmla="*/ 8691 h 10433"/>
                <a:gd name="T52" fmla="*/ 2504 w 11204"/>
                <a:gd name="T53" fmla="*/ 8691 h 10433"/>
                <a:gd name="T54" fmla="*/ 3202 w 11204"/>
                <a:gd name="T55" fmla="*/ 7996 h 10433"/>
                <a:gd name="T56" fmla="*/ 2502 w 11204"/>
                <a:gd name="T57" fmla="*/ 7301 h 10433"/>
                <a:gd name="T58" fmla="*/ 1802 w 11204"/>
                <a:gd name="T59" fmla="*/ 7996 h 10433"/>
                <a:gd name="T60" fmla="*/ 2504 w 11204"/>
                <a:gd name="T61" fmla="*/ 8691 h 10433"/>
                <a:gd name="T62" fmla="*/ 2991 w 11204"/>
                <a:gd name="T63" fmla="*/ 6398 h 10433"/>
                <a:gd name="T64" fmla="*/ 2991 w 11204"/>
                <a:gd name="T65" fmla="*/ 5426 h 10433"/>
                <a:gd name="T66" fmla="*/ 2012 w 11204"/>
                <a:gd name="T67" fmla="*/ 5426 h 10433"/>
                <a:gd name="T68" fmla="*/ 2012 w 11204"/>
                <a:gd name="T69" fmla="*/ 6398 h 10433"/>
                <a:gd name="T70" fmla="*/ 5646 w 11204"/>
                <a:gd name="T71" fmla="*/ 8691 h 10433"/>
                <a:gd name="T72" fmla="*/ 6136 w 11204"/>
                <a:gd name="T73" fmla="*/ 7510 h 10433"/>
                <a:gd name="T74" fmla="*/ 5156 w 11204"/>
                <a:gd name="T75" fmla="*/ 7510 h 10433"/>
                <a:gd name="T76" fmla="*/ 5156 w 11204"/>
                <a:gd name="T77" fmla="*/ 8482 h 10433"/>
                <a:gd name="T78" fmla="*/ 5646 w 11204"/>
                <a:gd name="T79" fmla="*/ 6606 h 10433"/>
                <a:gd name="T80" fmla="*/ 6139 w 11204"/>
                <a:gd name="T81" fmla="*/ 5426 h 10433"/>
                <a:gd name="T82" fmla="*/ 5159 w 11204"/>
                <a:gd name="T83" fmla="*/ 5426 h 10433"/>
                <a:gd name="T84" fmla="*/ 5154 w 11204"/>
                <a:gd name="T85" fmla="*/ 6398 h 10433"/>
                <a:gd name="T86" fmla="*/ 8630 w 11204"/>
                <a:gd name="T87" fmla="*/ 8691 h 10433"/>
                <a:gd name="T88" fmla="*/ 9330 w 11204"/>
                <a:gd name="T89" fmla="*/ 7996 h 10433"/>
                <a:gd name="T90" fmla="*/ 8630 w 11204"/>
                <a:gd name="T91" fmla="*/ 7301 h 10433"/>
                <a:gd name="T92" fmla="*/ 7930 w 11204"/>
                <a:gd name="T93" fmla="*/ 7996 h 10433"/>
                <a:gd name="T94" fmla="*/ 8630 w 11204"/>
                <a:gd name="T95" fmla="*/ 8691 h 10433"/>
                <a:gd name="T96" fmla="*/ 9329 w 11204"/>
                <a:gd name="T97" fmla="*/ 5912 h 10433"/>
                <a:gd name="T98" fmla="*/ 8629 w 11204"/>
                <a:gd name="T99" fmla="*/ 5217 h 10433"/>
                <a:gd name="T100" fmla="*/ 7929 w 11204"/>
                <a:gd name="T101" fmla="*/ 5912 h 10433"/>
                <a:gd name="T102" fmla="*/ 8630 w 11204"/>
                <a:gd name="T103" fmla="*/ 6606 h 10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204" h="10433">
                  <a:moveTo>
                    <a:pt x="9450" y="701"/>
                  </a:moveTo>
                  <a:lnTo>
                    <a:pt x="8052" y="701"/>
                  </a:lnTo>
                  <a:lnTo>
                    <a:pt x="8052" y="353"/>
                  </a:lnTo>
                  <a:cubicBezTo>
                    <a:pt x="8052" y="161"/>
                    <a:pt x="7895" y="6"/>
                    <a:pt x="7702" y="6"/>
                  </a:cubicBezTo>
                  <a:cubicBezTo>
                    <a:pt x="7509" y="6"/>
                    <a:pt x="7353" y="161"/>
                    <a:pt x="7352" y="353"/>
                  </a:cubicBezTo>
                  <a:lnTo>
                    <a:pt x="7352" y="701"/>
                  </a:lnTo>
                  <a:lnTo>
                    <a:pt x="3854" y="701"/>
                  </a:lnTo>
                  <a:lnTo>
                    <a:pt x="3854" y="353"/>
                  </a:lnTo>
                  <a:cubicBezTo>
                    <a:pt x="3860" y="260"/>
                    <a:pt x="3825" y="167"/>
                    <a:pt x="3758" y="101"/>
                  </a:cubicBezTo>
                  <a:cubicBezTo>
                    <a:pt x="3690" y="35"/>
                    <a:pt x="3598" y="0"/>
                    <a:pt x="3504" y="6"/>
                  </a:cubicBezTo>
                  <a:cubicBezTo>
                    <a:pt x="3410" y="0"/>
                    <a:pt x="3318" y="35"/>
                    <a:pt x="3250" y="101"/>
                  </a:cubicBezTo>
                  <a:cubicBezTo>
                    <a:pt x="3184" y="167"/>
                    <a:pt x="3149" y="260"/>
                    <a:pt x="3154" y="353"/>
                  </a:cubicBezTo>
                  <a:lnTo>
                    <a:pt x="3154" y="701"/>
                  </a:lnTo>
                  <a:lnTo>
                    <a:pt x="1755" y="701"/>
                  </a:lnTo>
                  <a:cubicBezTo>
                    <a:pt x="1290" y="696"/>
                    <a:pt x="843" y="877"/>
                    <a:pt x="513" y="1205"/>
                  </a:cubicBezTo>
                  <a:cubicBezTo>
                    <a:pt x="184" y="1531"/>
                    <a:pt x="2" y="1975"/>
                    <a:pt x="5" y="2438"/>
                  </a:cubicBezTo>
                  <a:lnTo>
                    <a:pt x="5" y="8691"/>
                  </a:lnTo>
                  <a:cubicBezTo>
                    <a:pt x="0" y="9153"/>
                    <a:pt x="184" y="9598"/>
                    <a:pt x="513" y="9925"/>
                  </a:cubicBezTo>
                  <a:cubicBezTo>
                    <a:pt x="843" y="10252"/>
                    <a:pt x="1290" y="10433"/>
                    <a:pt x="1755" y="10428"/>
                  </a:cubicBezTo>
                  <a:lnTo>
                    <a:pt x="9450" y="10428"/>
                  </a:lnTo>
                  <a:cubicBezTo>
                    <a:pt x="9915" y="10433"/>
                    <a:pt x="10363" y="10252"/>
                    <a:pt x="10693" y="9925"/>
                  </a:cubicBezTo>
                  <a:cubicBezTo>
                    <a:pt x="11022" y="9598"/>
                    <a:pt x="11204" y="9155"/>
                    <a:pt x="11200" y="8691"/>
                  </a:cubicBezTo>
                  <a:lnTo>
                    <a:pt x="11200" y="2438"/>
                  </a:lnTo>
                  <a:cubicBezTo>
                    <a:pt x="11204" y="1976"/>
                    <a:pt x="11022" y="1531"/>
                    <a:pt x="10693" y="1205"/>
                  </a:cubicBezTo>
                  <a:cubicBezTo>
                    <a:pt x="10362" y="878"/>
                    <a:pt x="9915" y="697"/>
                    <a:pt x="9450" y="701"/>
                  </a:cubicBezTo>
                  <a:close/>
                  <a:moveTo>
                    <a:pt x="707" y="2438"/>
                  </a:moveTo>
                  <a:cubicBezTo>
                    <a:pt x="720" y="1868"/>
                    <a:pt x="1183" y="1410"/>
                    <a:pt x="1757" y="1396"/>
                  </a:cubicBezTo>
                  <a:lnTo>
                    <a:pt x="3155" y="1396"/>
                  </a:lnTo>
                  <a:lnTo>
                    <a:pt x="3155" y="1743"/>
                  </a:lnTo>
                  <a:cubicBezTo>
                    <a:pt x="3149" y="1837"/>
                    <a:pt x="3184" y="1930"/>
                    <a:pt x="3252" y="1996"/>
                  </a:cubicBezTo>
                  <a:cubicBezTo>
                    <a:pt x="3319" y="2062"/>
                    <a:pt x="3410" y="2097"/>
                    <a:pt x="3505" y="2091"/>
                  </a:cubicBezTo>
                  <a:cubicBezTo>
                    <a:pt x="3599" y="2097"/>
                    <a:pt x="3692" y="2062"/>
                    <a:pt x="3759" y="1996"/>
                  </a:cubicBezTo>
                  <a:cubicBezTo>
                    <a:pt x="3827" y="1930"/>
                    <a:pt x="3862" y="1837"/>
                    <a:pt x="3855" y="1743"/>
                  </a:cubicBezTo>
                  <a:lnTo>
                    <a:pt x="3855" y="1396"/>
                  </a:lnTo>
                  <a:lnTo>
                    <a:pt x="7353" y="1396"/>
                  </a:lnTo>
                  <a:lnTo>
                    <a:pt x="7353" y="1743"/>
                  </a:lnTo>
                  <a:cubicBezTo>
                    <a:pt x="7353" y="1936"/>
                    <a:pt x="7509" y="2091"/>
                    <a:pt x="7703" y="2091"/>
                  </a:cubicBezTo>
                  <a:cubicBezTo>
                    <a:pt x="7795" y="2091"/>
                    <a:pt x="7884" y="2055"/>
                    <a:pt x="7950" y="1990"/>
                  </a:cubicBezTo>
                  <a:cubicBezTo>
                    <a:pt x="8015" y="1925"/>
                    <a:pt x="8053" y="1836"/>
                    <a:pt x="8053" y="1743"/>
                  </a:cubicBezTo>
                  <a:lnTo>
                    <a:pt x="8053" y="1396"/>
                  </a:lnTo>
                  <a:lnTo>
                    <a:pt x="9452" y="1396"/>
                  </a:lnTo>
                  <a:cubicBezTo>
                    <a:pt x="10025" y="1410"/>
                    <a:pt x="10486" y="1868"/>
                    <a:pt x="10500" y="2438"/>
                  </a:cubicBezTo>
                  <a:lnTo>
                    <a:pt x="10500" y="3480"/>
                  </a:lnTo>
                  <a:lnTo>
                    <a:pt x="707" y="3480"/>
                  </a:lnTo>
                  <a:lnTo>
                    <a:pt x="707" y="2438"/>
                  </a:lnTo>
                  <a:close/>
                  <a:moveTo>
                    <a:pt x="10499" y="8691"/>
                  </a:moveTo>
                  <a:cubicBezTo>
                    <a:pt x="10485" y="9261"/>
                    <a:pt x="10023" y="9718"/>
                    <a:pt x="9450" y="9733"/>
                  </a:cubicBezTo>
                  <a:lnTo>
                    <a:pt x="1757" y="9733"/>
                  </a:lnTo>
                  <a:cubicBezTo>
                    <a:pt x="1183" y="9720"/>
                    <a:pt x="720" y="9261"/>
                    <a:pt x="707" y="8691"/>
                  </a:cubicBezTo>
                  <a:lnTo>
                    <a:pt x="707" y="4175"/>
                  </a:lnTo>
                  <a:lnTo>
                    <a:pt x="10500" y="4175"/>
                  </a:lnTo>
                  <a:lnTo>
                    <a:pt x="10499" y="8691"/>
                  </a:lnTo>
                  <a:close/>
                  <a:moveTo>
                    <a:pt x="10499" y="8691"/>
                  </a:moveTo>
                  <a:close/>
                  <a:moveTo>
                    <a:pt x="2504" y="8691"/>
                  </a:moveTo>
                  <a:cubicBezTo>
                    <a:pt x="2689" y="8696"/>
                    <a:pt x="2868" y="8620"/>
                    <a:pt x="2991" y="8482"/>
                  </a:cubicBezTo>
                  <a:cubicBezTo>
                    <a:pt x="3125" y="8356"/>
                    <a:pt x="3202" y="8179"/>
                    <a:pt x="3202" y="7996"/>
                  </a:cubicBezTo>
                  <a:cubicBezTo>
                    <a:pt x="3202" y="7812"/>
                    <a:pt x="3125" y="7636"/>
                    <a:pt x="2991" y="7510"/>
                  </a:cubicBezTo>
                  <a:cubicBezTo>
                    <a:pt x="2864" y="7376"/>
                    <a:pt x="2687" y="7301"/>
                    <a:pt x="2502" y="7301"/>
                  </a:cubicBezTo>
                  <a:cubicBezTo>
                    <a:pt x="2316" y="7301"/>
                    <a:pt x="2140" y="7376"/>
                    <a:pt x="2012" y="7510"/>
                  </a:cubicBezTo>
                  <a:cubicBezTo>
                    <a:pt x="1878" y="7636"/>
                    <a:pt x="1802" y="7812"/>
                    <a:pt x="1802" y="7996"/>
                  </a:cubicBezTo>
                  <a:cubicBezTo>
                    <a:pt x="1802" y="8179"/>
                    <a:pt x="1878" y="8356"/>
                    <a:pt x="2012" y="8482"/>
                  </a:cubicBezTo>
                  <a:cubicBezTo>
                    <a:pt x="2137" y="8621"/>
                    <a:pt x="2317" y="8697"/>
                    <a:pt x="2504" y="8691"/>
                  </a:cubicBezTo>
                  <a:close/>
                  <a:moveTo>
                    <a:pt x="2504" y="6606"/>
                  </a:moveTo>
                  <a:cubicBezTo>
                    <a:pt x="2689" y="6611"/>
                    <a:pt x="2868" y="6535"/>
                    <a:pt x="2991" y="6398"/>
                  </a:cubicBezTo>
                  <a:cubicBezTo>
                    <a:pt x="3118" y="6267"/>
                    <a:pt x="3193" y="6095"/>
                    <a:pt x="3202" y="5912"/>
                  </a:cubicBezTo>
                  <a:cubicBezTo>
                    <a:pt x="3194" y="5730"/>
                    <a:pt x="3119" y="5557"/>
                    <a:pt x="2991" y="5426"/>
                  </a:cubicBezTo>
                  <a:cubicBezTo>
                    <a:pt x="2864" y="5292"/>
                    <a:pt x="2687" y="5217"/>
                    <a:pt x="2502" y="5217"/>
                  </a:cubicBezTo>
                  <a:cubicBezTo>
                    <a:pt x="2316" y="5217"/>
                    <a:pt x="2139" y="5292"/>
                    <a:pt x="2012" y="5426"/>
                  </a:cubicBezTo>
                  <a:cubicBezTo>
                    <a:pt x="1885" y="5557"/>
                    <a:pt x="1810" y="5730"/>
                    <a:pt x="1802" y="5912"/>
                  </a:cubicBezTo>
                  <a:cubicBezTo>
                    <a:pt x="1810" y="6095"/>
                    <a:pt x="1884" y="6267"/>
                    <a:pt x="2012" y="6398"/>
                  </a:cubicBezTo>
                  <a:cubicBezTo>
                    <a:pt x="2137" y="6536"/>
                    <a:pt x="2317" y="6612"/>
                    <a:pt x="2504" y="6606"/>
                  </a:cubicBezTo>
                  <a:close/>
                  <a:moveTo>
                    <a:pt x="5646" y="8691"/>
                  </a:moveTo>
                  <a:cubicBezTo>
                    <a:pt x="5929" y="8695"/>
                    <a:pt x="6185" y="8526"/>
                    <a:pt x="6294" y="8265"/>
                  </a:cubicBezTo>
                  <a:cubicBezTo>
                    <a:pt x="6401" y="8005"/>
                    <a:pt x="6339" y="7705"/>
                    <a:pt x="6136" y="7510"/>
                  </a:cubicBezTo>
                  <a:cubicBezTo>
                    <a:pt x="6009" y="7376"/>
                    <a:pt x="5831" y="7301"/>
                    <a:pt x="5646" y="7301"/>
                  </a:cubicBezTo>
                  <a:cubicBezTo>
                    <a:pt x="5461" y="7301"/>
                    <a:pt x="5284" y="7376"/>
                    <a:pt x="5156" y="7510"/>
                  </a:cubicBezTo>
                  <a:cubicBezTo>
                    <a:pt x="5023" y="7636"/>
                    <a:pt x="4946" y="7812"/>
                    <a:pt x="4946" y="7996"/>
                  </a:cubicBezTo>
                  <a:cubicBezTo>
                    <a:pt x="4946" y="8179"/>
                    <a:pt x="5023" y="8356"/>
                    <a:pt x="5156" y="8482"/>
                  </a:cubicBezTo>
                  <a:cubicBezTo>
                    <a:pt x="5281" y="8621"/>
                    <a:pt x="5461" y="8696"/>
                    <a:pt x="5646" y="8691"/>
                  </a:cubicBezTo>
                  <a:close/>
                  <a:moveTo>
                    <a:pt x="5646" y="6606"/>
                  </a:moveTo>
                  <a:cubicBezTo>
                    <a:pt x="6030" y="6598"/>
                    <a:pt x="6339" y="6292"/>
                    <a:pt x="6349" y="5912"/>
                  </a:cubicBezTo>
                  <a:cubicBezTo>
                    <a:pt x="6340" y="5730"/>
                    <a:pt x="6267" y="5557"/>
                    <a:pt x="6139" y="5426"/>
                  </a:cubicBezTo>
                  <a:cubicBezTo>
                    <a:pt x="6012" y="5292"/>
                    <a:pt x="5834" y="5217"/>
                    <a:pt x="5649" y="5217"/>
                  </a:cubicBezTo>
                  <a:cubicBezTo>
                    <a:pt x="5464" y="5217"/>
                    <a:pt x="5288" y="5292"/>
                    <a:pt x="5159" y="5426"/>
                  </a:cubicBezTo>
                  <a:cubicBezTo>
                    <a:pt x="5032" y="5557"/>
                    <a:pt x="4958" y="5730"/>
                    <a:pt x="4949" y="5912"/>
                  </a:cubicBezTo>
                  <a:cubicBezTo>
                    <a:pt x="4957" y="6093"/>
                    <a:pt x="5029" y="6266"/>
                    <a:pt x="5154" y="6398"/>
                  </a:cubicBezTo>
                  <a:cubicBezTo>
                    <a:pt x="5280" y="6536"/>
                    <a:pt x="5460" y="6612"/>
                    <a:pt x="5646" y="6606"/>
                  </a:cubicBezTo>
                  <a:close/>
                  <a:moveTo>
                    <a:pt x="8630" y="8691"/>
                  </a:moveTo>
                  <a:cubicBezTo>
                    <a:pt x="8817" y="8696"/>
                    <a:pt x="8995" y="8620"/>
                    <a:pt x="9120" y="8482"/>
                  </a:cubicBezTo>
                  <a:cubicBezTo>
                    <a:pt x="9254" y="8356"/>
                    <a:pt x="9330" y="8179"/>
                    <a:pt x="9330" y="7996"/>
                  </a:cubicBezTo>
                  <a:cubicBezTo>
                    <a:pt x="9330" y="7812"/>
                    <a:pt x="9254" y="7636"/>
                    <a:pt x="9120" y="7510"/>
                  </a:cubicBezTo>
                  <a:cubicBezTo>
                    <a:pt x="8993" y="7376"/>
                    <a:pt x="8815" y="7301"/>
                    <a:pt x="8630" y="7301"/>
                  </a:cubicBezTo>
                  <a:cubicBezTo>
                    <a:pt x="8445" y="7301"/>
                    <a:pt x="8268" y="7376"/>
                    <a:pt x="8140" y="7510"/>
                  </a:cubicBezTo>
                  <a:cubicBezTo>
                    <a:pt x="8003" y="7633"/>
                    <a:pt x="7925" y="7811"/>
                    <a:pt x="7930" y="7996"/>
                  </a:cubicBezTo>
                  <a:cubicBezTo>
                    <a:pt x="7939" y="8178"/>
                    <a:pt x="8013" y="8351"/>
                    <a:pt x="8140" y="8482"/>
                  </a:cubicBezTo>
                  <a:cubicBezTo>
                    <a:pt x="8265" y="8620"/>
                    <a:pt x="8444" y="8696"/>
                    <a:pt x="8630" y="8691"/>
                  </a:cubicBezTo>
                  <a:close/>
                  <a:moveTo>
                    <a:pt x="8630" y="6606"/>
                  </a:moveTo>
                  <a:cubicBezTo>
                    <a:pt x="9013" y="6597"/>
                    <a:pt x="9320" y="6291"/>
                    <a:pt x="9329" y="5912"/>
                  </a:cubicBezTo>
                  <a:cubicBezTo>
                    <a:pt x="9320" y="5730"/>
                    <a:pt x="9247" y="5557"/>
                    <a:pt x="9119" y="5426"/>
                  </a:cubicBezTo>
                  <a:cubicBezTo>
                    <a:pt x="8992" y="5292"/>
                    <a:pt x="8814" y="5217"/>
                    <a:pt x="8629" y="5217"/>
                  </a:cubicBezTo>
                  <a:cubicBezTo>
                    <a:pt x="8444" y="5217"/>
                    <a:pt x="8267" y="5292"/>
                    <a:pt x="8139" y="5426"/>
                  </a:cubicBezTo>
                  <a:cubicBezTo>
                    <a:pt x="8013" y="5557"/>
                    <a:pt x="7938" y="5730"/>
                    <a:pt x="7929" y="5912"/>
                  </a:cubicBezTo>
                  <a:cubicBezTo>
                    <a:pt x="7938" y="6095"/>
                    <a:pt x="8012" y="6267"/>
                    <a:pt x="8139" y="6398"/>
                  </a:cubicBezTo>
                  <a:cubicBezTo>
                    <a:pt x="8265" y="6536"/>
                    <a:pt x="8444" y="6612"/>
                    <a:pt x="8630" y="6606"/>
                  </a:cubicBezTo>
                  <a:close/>
                  <a:moveTo>
                    <a:pt x="8630" y="6606"/>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8" Type="http://schemas.openxmlformats.org/officeDocument/2006/relationships/notesSlide" Target="../notesSlides/notesSlide2.xml"/><Relationship Id="rId27" Type="http://schemas.openxmlformats.org/officeDocument/2006/relationships/slideLayout" Target="../slideLayouts/slideLayout1.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8.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tags" Target="../tags/tag29.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tags" Target="../tags/tag30.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tags" Target="../tags/tag3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9" Type="http://schemas.openxmlformats.org/officeDocument/2006/relationships/notesSlide" Target="../notesSlides/notesSlide9.xml"/><Relationship Id="rId58" Type="http://schemas.openxmlformats.org/officeDocument/2006/relationships/slideLayout" Target="../slideLayouts/slideLayout1.xml"/><Relationship Id="rId57" Type="http://schemas.openxmlformats.org/officeDocument/2006/relationships/tags" Target="../tags/tag89.xml"/><Relationship Id="rId56" Type="http://schemas.openxmlformats.org/officeDocument/2006/relationships/tags" Target="../tags/tag88.xml"/><Relationship Id="rId55" Type="http://schemas.openxmlformats.org/officeDocument/2006/relationships/tags" Target="../tags/tag87.xml"/><Relationship Id="rId54" Type="http://schemas.openxmlformats.org/officeDocument/2006/relationships/tags" Target="../tags/tag86.xml"/><Relationship Id="rId53" Type="http://schemas.openxmlformats.org/officeDocument/2006/relationships/tags" Target="../tags/tag85.xml"/><Relationship Id="rId52" Type="http://schemas.openxmlformats.org/officeDocument/2006/relationships/tags" Target="../tags/tag84.xml"/><Relationship Id="rId51" Type="http://schemas.openxmlformats.org/officeDocument/2006/relationships/tags" Target="../tags/tag83.xml"/><Relationship Id="rId50" Type="http://schemas.openxmlformats.org/officeDocument/2006/relationships/tags" Target="../tags/tag82.xml"/><Relationship Id="rId5" Type="http://schemas.openxmlformats.org/officeDocument/2006/relationships/tags" Target="../tags/tag37.xml"/><Relationship Id="rId49" Type="http://schemas.openxmlformats.org/officeDocument/2006/relationships/tags" Target="../tags/tag81.xml"/><Relationship Id="rId48" Type="http://schemas.openxmlformats.org/officeDocument/2006/relationships/tags" Target="../tags/tag80.xml"/><Relationship Id="rId47" Type="http://schemas.openxmlformats.org/officeDocument/2006/relationships/tags" Target="../tags/tag79.xml"/><Relationship Id="rId46" Type="http://schemas.openxmlformats.org/officeDocument/2006/relationships/tags" Target="../tags/tag78.xml"/><Relationship Id="rId45" Type="http://schemas.openxmlformats.org/officeDocument/2006/relationships/tags" Target="../tags/tag77.xml"/><Relationship Id="rId44" Type="http://schemas.openxmlformats.org/officeDocument/2006/relationships/tags" Target="../tags/tag76.xml"/><Relationship Id="rId43" Type="http://schemas.openxmlformats.org/officeDocument/2006/relationships/tags" Target="../tags/tag75.xml"/><Relationship Id="rId42" Type="http://schemas.openxmlformats.org/officeDocument/2006/relationships/tags" Target="../tags/tag74.xml"/><Relationship Id="rId41" Type="http://schemas.openxmlformats.org/officeDocument/2006/relationships/tags" Target="../tags/tag73.xml"/><Relationship Id="rId40" Type="http://schemas.openxmlformats.org/officeDocument/2006/relationships/tags" Target="../tags/tag72.xml"/><Relationship Id="rId4" Type="http://schemas.openxmlformats.org/officeDocument/2006/relationships/tags" Target="../tags/tag36.xml"/><Relationship Id="rId39" Type="http://schemas.openxmlformats.org/officeDocument/2006/relationships/tags" Target="../tags/tag71.xml"/><Relationship Id="rId38" Type="http://schemas.openxmlformats.org/officeDocument/2006/relationships/tags" Target="../tags/tag70.xml"/><Relationship Id="rId37" Type="http://schemas.openxmlformats.org/officeDocument/2006/relationships/tags" Target="../tags/tag69.xml"/><Relationship Id="rId36" Type="http://schemas.openxmlformats.org/officeDocument/2006/relationships/tags" Target="../tags/tag68.xml"/><Relationship Id="rId35" Type="http://schemas.openxmlformats.org/officeDocument/2006/relationships/tags" Target="../tags/tag67.xml"/><Relationship Id="rId34" Type="http://schemas.openxmlformats.org/officeDocument/2006/relationships/tags" Target="../tags/tag66.xml"/><Relationship Id="rId33" Type="http://schemas.openxmlformats.org/officeDocument/2006/relationships/tags" Target="../tags/tag65.xml"/><Relationship Id="rId32" Type="http://schemas.openxmlformats.org/officeDocument/2006/relationships/tags" Target="../tags/tag64.xml"/><Relationship Id="rId31" Type="http://schemas.openxmlformats.org/officeDocument/2006/relationships/tags" Target="../tags/tag63.xml"/><Relationship Id="rId30" Type="http://schemas.openxmlformats.org/officeDocument/2006/relationships/tags" Target="../tags/tag62.xml"/><Relationship Id="rId3" Type="http://schemas.openxmlformats.org/officeDocument/2006/relationships/tags" Target="../tags/tag35.xml"/><Relationship Id="rId29" Type="http://schemas.openxmlformats.org/officeDocument/2006/relationships/tags" Target="../tags/tag61.xml"/><Relationship Id="rId28" Type="http://schemas.openxmlformats.org/officeDocument/2006/relationships/tags" Target="../tags/tag60.xml"/><Relationship Id="rId27" Type="http://schemas.openxmlformats.org/officeDocument/2006/relationships/tags" Target="../tags/tag59.xml"/><Relationship Id="rId26" Type="http://schemas.openxmlformats.org/officeDocument/2006/relationships/tags" Target="../tags/tag58.xml"/><Relationship Id="rId25" Type="http://schemas.openxmlformats.org/officeDocument/2006/relationships/tags" Target="../tags/tag57.xml"/><Relationship Id="rId24" Type="http://schemas.openxmlformats.org/officeDocument/2006/relationships/tags" Target="../tags/tag56.xml"/><Relationship Id="rId23" Type="http://schemas.openxmlformats.org/officeDocument/2006/relationships/tags" Target="../tags/tag55.xml"/><Relationship Id="rId22" Type="http://schemas.openxmlformats.org/officeDocument/2006/relationships/tags" Target="../tags/tag54.xml"/><Relationship Id="rId21" Type="http://schemas.openxmlformats.org/officeDocument/2006/relationships/tags" Target="../tags/tag53.xml"/><Relationship Id="rId20" Type="http://schemas.openxmlformats.org/officeDocument/2006/relationships/tags" Target="../tags/tag52.xml"/><Relationship Id="rId2" Type="http://schemas.openxmlformats.org/officeDocument/2006/relationships/tags" Target="../tags/tag34.xml"/><Relationship Id="rId19" Type="http://schemas.openxmlformats.org/officeDocument/2006/relationships/tags" Target="../tags/tag51.xml"/><Relationship Id="rId18" Type="http://schemas.openxmlformats.org/officeDocument/2006/relationships/tags" Target="../tags/tag50.xml"/><Relationship Id="rId17" Type="http://schemas.openxmlformats.org/officeDocument/2006/relationships/tags" Target="../tags/tag49.xml"/><Relationship Id="rId16" Type="http://schemas.openxmlformats.org/officeDocument/2006/relationships/tags" Target="../tags/tag48.xml"/><Relationship Id="rId15" Type="http://schemas.openxmlformats.org/officeDocument/2006/relationships/tags" Target="../tags/tag47.xml"/><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tags" Target="../tags/tag33.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tags" Target="../tags/tag90.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tags" Target="../tags/tag91.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tags" Target="../tags/tag9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98.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tags" Target="../tags/tag99.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0" Type="http://schemas.openxmlformats.org/officeDocument/2006/relationships/notesSlide" Target="../notesSlides/notesSlide16.xml"/><Relationship Id="rId4" Type="http://schemas.openxmlformats.org/officeDocument/2006/relationships/tags" Target="../tags/tag103.xml"/><Relationship Id="rId39" Type="http://schemas.openxmlformats.org/officeDocument/2006/relationships/slideLayout" Target="../slideLayouts/slideLayout1.xml"/><Relationship Id="rId38" Type="http://schemas.openxmlformats.org/officeDocument/2006/relationships/tags" Target="../tags/tag137.xml"/><Relationship Id="rId37" Type="http://schemas.openxmlformats.org/officeDocument/2006/relationships/tags" Target="../tags/tag136.xml"/><Relationship Id="rId36" Type="http://schemas.openxmlformats.org/officeDocument/2006/relationships/tags" Target="../tags/tag135.xml"/><Relationship Id="rId35" Type="http://schemas.openxmlformats.org/officeDocument/2006/relationships/tags" Target="../tags/tag134.xml"/><Relationship Id="rId34" Type="http://schemas.openxmlformats.org/officeDocument/2006/relationships/tags" Target="../tags/tag133.xml"/><Relationship Id="rId33" Type="http://schemas.openxmlformats.org/officeDocument/2006/relationships/tags" Target="../tags/tag132.xml"/><Relationship Id="rId32" Type="http://schemas.openxmlformats.org/officeDocument/2006/relationships/tags" Target="../tags/tag131.xml"/><Relationship Id="rId31" Type="http://schemas.openxmlformats.org/officeDocument/2006/relationships/tags" Target="../tags/tag130.xml"/><Relationship Id="rId30" Type="http://schemas.openxmlformats.org/officeDocument/2006/relationships/tags" Target="../tags/tag129.xml"/><Relationship Id="rId3" Type="http://schemas.openxmlformats.org/officeDocument/2006/relationships/tags" Target="../tags/tag102.xml"/><Relationship Id="rId29" Type="http://schemas.openxmlformats.org/officeDocument/2006/relationships/tags" Target="../tags/tag128.xml"/><Relationship Id="rId28" Type="http://schemas.openxmlformats.org/officeDocument/2006/relationships/tags" Target="../tags/tag127.xml"/><Relationship Id="rId27" Type="http://schemas.openxmlformats.org/officeDocument/2006/relationships/tags" Target="../tags/tag126.xml"/><Relationship Id="rId26" Type="http://schemas.openxmlformats.org/officeDocument/2006/relationships/tags" Target="../tags/tag125.xml"/><Relationship Id="rId25" Type="http://schemas.openxmlformats.org/officeDocument/2006/relationships/tags" Target="../tags/tag124.xml"/><Relationship Id="rId24" Type="http://schemas.openxmlformats.org/officeDocument/2006/relationships/tags" Target="../tags/tag123.xml"/><Relationship Id="rId23" Type="http://schemas.openxmlformats.org/officeDocument/2006/relationships/tags" Target="../tags/tag122.xml"/><Relationship Id="rId22" Type="http://schemas.openxmlformats.org/officeDocument/2006/relationships/tags" Target="../tags/tag121.xml"/><Relationship Id="rId21" Type="http://schemas.openxmlformats.org/officeDocument/2006/relationships/tags" Target="../tags/tag120.xml"/><Relationship Id="rId20" Type="http://schemas.openxmlformats.org/officeDocument/2006/relationships/tags" Target="../tags/tag119.xml"/><Relationship Id="rId2" Type="http://schemas.openxmlformats.org/officeDocument/2006/relationships/tags" Target="../tags/tag101.xml"/><Relationship Id="rId19" Type="http://schemas.openxmlformats.org/officeDocument/2006/relationships/tags" Target="../tags/tag118.xml"/><Relationship Id="rId18" Type="http://schemas.openxmlformats.org/officeDocument/2006/relationships/tags" Target="../tags/tag117.xml"/><Relationship Id="rId17" Type="http://schemas.openxmlformats.org/officeDocument/2006/relationships/tags" Target="../tags/tag116.xml"/><Relationship Id="rId16" Type="http://schemas.openxmlformats.org/officeDocument/2006/relationships/tags" Target="../tags/tag115.xml"/><Relationship Id="rId15" Type="http://schemas.openxmlformats.org/officeDocument/2006/relationships/tags" Target="../tags/tag114.xml"/><Relationship Id="rId14" Type="http://schemas.openxmlformats.org/officeDocument/2006/relationships/tags" Target="../tags/tag113.xml"/><Relationship Id="rId13" Type="http://schemas.openxmlformats.org/officeDocument/2006/relationships/tags" Target="../tags/tag112.xml"/><Relationship Id="rId12" Type="http://schemas.openxmlformats.org/officeDocument/2006/relationships/tags" Target="../tags/tag11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tags" Target="../tags/tag100.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tags" Target="../tags/tag138.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tags" Target="../tags/tag139.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tags" Target="../tags/tag140.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tags" Target="../tags/tag141.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tags" Target="../tags/tag142.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矩形 16"/>
          <p:cNvSpPr/>
          <p:nvPr/>
        </p:nvSpPr>
        <p:spPr>
          <a:xfrm>
            <a:off x="1621753" y="3328538"/>
            <a:ext cx="8948494" cy="737235"/>
          </a:xfrm>
          <a:prstGeom prst="rect">
            <a:avLst/>
          </a:prstGeom>
        </p:spPr>
        <p:txBody>
          <a:bodyPr wrap="square">
            <a:spAutoFit/>
          </a:bodyPr>
          <a:lstStyle/>
          <a:p>
            <a:pPr algn="ctr">
              <a:lnSpc>
                <a:spcPct val="150000"/>
              </a:lnSpc>
              <a:defRPr/>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第</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1</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章</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    </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绪论</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9" name="矩形 18"/>
          <p:cNvSpPr/>
          <p:nvPr/>
        </p:nvSpPr>
        <p:spPr>
          <a:xfrm>
            <a:off x="2912110" y="2776220"/>
            <a:ext cx="6367780" cy="368300"/>
          </a:xfrm>
          <a:prstGeom prst="rect">
            <a:avLst/>
          </a:prstGeom>
        </p:spPr>
        <p:txBody>
          <a:bodyPr wrap="square">
            <a:spAutoFit/>
          </a:bodyPr>
          <a:lstStyle/>
          <a:p>
            <a:pPr algn="dist"/>
            <a:r>
              <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Pattern </a:t>
            </a:r>
            <a:r>
              <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Recognition and </a:t>
            </a:r>
            <a:r>
              <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Data Mining</a:t>
            </a:r>
            <a:endPar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8" name="矩形 27"/>
          <p:cNvSpPr/>
          <p:nvPr/>
        </p:nvSpPr>
        <p:spPr>
          <a:xfrm>
            <a:off x="1520327" y="1743492"/>
            <a:ext cx="9151347" cy="1106805"/>
          </a:xfrm>
          <a:prstGeom prst="rect">
            <a:avLst/>
          </a:prstGeom>
        </p:spPr>
        <p:txBody>
          <a:bodyPr wrap="square">
            <a:spAutoFit/>
          </a:bodyPr>
          <a:lstStyle/>
          <a:p>
            <a:pPr algn="ctr"/>
            <a:r>
              <a:rPr lang="zh-CN" altLang="en-US" sz="6600" dirty="0">
                <a:solidFill>
                  <a:srgbClr val="00568A"/>
                </a:solidFill>
                <a:latin typeface="思源黑体 CN Regular" panose="020B0500000000000000" charset="-122"/>
                <a:ea typeface="思源黑体 CN Regular" panose="020B0500000000000000" charset="-122"/>
                <a:cs typeface="+mn-ea"/>
                <a:sym typeface="+mn-lt"/>
              </a:rPr>
              <a:t>模式识别与数据挖掘</a:t>
            </a:r>
            <a:endParaRPr lang="zh-CN" altLang="en-US" sz="6600" dirty="0">
              <a:solidFill>
                <a:srgbClr val="00568A"/>
              </a:solidFill>
              <a:latin typeface="思源黑体 CN Regular" panose="020B0500000000000000" charset="-122"/>
              <a:ea typeface="思源黑体 CN Regular" panose="020B0500000000000000" charset="-122"/>
              <a:cs typeface="+mn-ea"/>
              <a:sym typeface="+mn-lt"/>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0"/>
            <a:ext cx="12192000" cy="6858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grpSp>
        <p:nvGrpSpPr>
          <p:cNvPr id="29" name="组合 28"/>
          <p:cNvGrpSpPr/>
          <p:nvPr/>
        </p:nvGrpSpPr>
        <p:grpSpPr>
          <a:xfrm>
            <a:off x="1001337" y="2483266"/>
            <a:ext cx="2462530" cy="1322704"/>
            <a:chOff x="1873898" y="1323128"/>
            <a:chExt cx="1670063" cy="897045"/>
          </a:xfrm>
        </p:grpSpPr>
        <p:sp>
          <p:nvSpPr>
            <p:cNvPr id="30" name="椭圆 29"/>
            <p:cNvSpPr/>
            <p:nvPr/>
          </p:nvSpPr>
          <p:spPr>
            <a:xfrm>
              <a:off x="2123668"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目</a:t>
              </a:r>
              <a:endPar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1" name="椭圆 30"/>
            <p:cNvSpPr/>
            <p:nvPr/>
          </p:nvSpPr>
          <p:spPr>
            <a:xfrm>
              <a:off x="2636020"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录</a:t>
              </a:r>
              <a:endPar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2" name="矩形 31"/>
            <p:cNvSpPr/>
            <p:nvPr/>
          </p:nvSpPr>
          <p:spPr>
            <a:xfrm>
              <a:off x="1873898" y="1740859"/>
              <a:ext cx="1670063" cy="479314"/>
            </a:xfrm>
            <a:prstGeom prst="rect">
              <a:avLst/>
            </a:prstGeom>
          </p:spPr>
          <p:txBody>
            <a:bodyPr vert="horz" wrap="square">
              <a:spAutoFit/>
            </a:bodyPr>
            <a:lstStyle/>
            <a:p>
              <a:r>
                <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Contents</a:t>
              </a:r>
              <a:endPar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grpSp>
      <p:sp>
        <p:nvSpPr>
          <p:cNvPr id="33" name="文本框"/>
          <p:cNvSpPr/>
          <p:nvPr>
            <p:custDataLst>
              <p:tags r:id="rId2"/>
            </p:custDataLst>
          </p:nvPr>
        </p:nvSpPr>
        <p:spPr>
          <a:xfrm>
            <a:off x="4452620" y="1414780"/>
            <a:ext cx="3765608" cy="521970"/>
          </a:xfrm>
          <a:prstGeom prst="rect">
            <a:avLst/>
          </a:prstGeom>
        </p:spPr>
        <p:txBody>
          <a:bodyPr wrap="square">
            <a:spAutoFit/>
          </a:bodyPr>
          <a:lstStyle/>
          <a:p>
            <a:pPr lvl="0" algn="l">
              <a:buClrTx/>
              <a:buSzTx/>
              <a:buFontTx/>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引言</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4" name="矩形 33"/>
          <p:cNvSpPr/>
          <p:nvPr>
            <p:custDataLst>
              <p:tags r:id="rId3"/>
            </p:custDataLst>
          </p:nvPr>
        </p:nvSpPr>
        <p:spPr>
          <a:xfrm flipH="1">
            <a:off x="4452620" y="1845648"/>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Introduction</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5" name="文本框"/>
          <p:cNvSpPr/>
          <p:nvPr>
            <p:custDataLst>
              <p:tags r:id="rId4"/>
            </p:custDataLst>
          </p:nvPr>
        </p:nvSpPr>
        <p:spPr>
          <a:xfrm>
            <a:off x="4452620" y="2515891"/>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模式与模式识别</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6" name="矩形 35"/>
          <p:cNvSpPr/>
          <p:nvPr>
            <p:custDataLst>
              <p:tags r:id="rId5"/>
            </p:custDataLst>
          </p:nvPr>
        </p:nvSpPr>
        <p:spPr>
          <a:xfrm flipH="1">
            <a:off x="4452620" y="2946759"/>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Pattern and Pattern Recognition</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7" name="文本框"/>
          <p:cNvSpPr/>
          <p:nvPr>
            <p:custDataLst>
              <p:tags r:id="rId6"/>
            </p:custDataLst>
          </p:nvPr>
        </p:nvSpPr>
        <p:spPr>
          <a:xfrm>
            <a:off x="4452620" y="3617002"/>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模式识别发展简史</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8" name="矩形 37"/>
          <p:cNvSpPr/>
          <p:nvPr>
            <p:custDataLst>
              <p:tags r:id="rId7"/>
            </p:custDataLst>
          </p:nvPr>
        </p:nvSpPr>
        <p:spPr>
          <a:xfrm flipH="1">
            <a:off x="4452620" y="4047870"/>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A Brief History of Pattern Recognition</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9" name="文本框"/>
          <p:cNvSpPr/>
          <p:nvPr>
            <p:custDataLst>
              <p:tags r:id="rId8"/>
            </p:custDataLst>
          </p:nvPr>
        </p:nvSpPr>
        <p:spPr>
          <a:xfrm>
            <a:off x="4452620" y="4718112"/>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模式识别流程</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0" name="矩形 39"/>
          <p:cNvSpPr/>
          <p:nvPr>
            <p:custDataLst>
              <p:tags r:id="rId9"/>
            </p:custDataLst>
          </p:nvPr>
        </p:nvSpPr>
        <p:spPr>
          <a:xfrm flipH="1">
            <a:off x="4452620" y="5148980"/>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Pattern Recognition Process</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1" name="椭圆 40"/>
          <p:cNvSpPr/>
          <p:nvPr>
            <p:custDataLst>
              <p:tags r:id="rId10"/>
            </p:custDataLst>
          </p:nvPr>
        </p:nvSpPr>
        <p:spPr>
          <a:xfrm>
            <a:off x="3685164" y="141478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2" name="椭圆 41"/>
          <p:cNvSpPr/>
          <p:nvPr>
            <p:custDataLst>
              <p:tags r:id="rId11"/>
            </p:custDataLst>
          </p:nvPr>
        </p:nvSpPr>
        <p:spPr>
          <a:xfrm>
            <a:off x="3685164" y="2515891"/>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3" name="椭圆 42"/>
          <p:cNvSpPr/>
          <p:nvPr>
            <p:custDataLst>
              <p:tags r:id="rId12"/>
            </p:custDataLst>
          </p:nvPr>
        </p:nvSpPr>
        <p:spPr>
          <a:xfrm>
            <a:off x="3685164" y="361700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4" name="椭圆 43"/>
          <p:cNvSpPr/>
          <p:nvPr>
            <p:custDataLst>
              <p:tags r:id="rId13"/>
            </p:custDataLst>
          </p:nvPr>
        </p:nvSpPr>
        <p:spPr>
          <a:xfrm>
            <a:off x="3685164" y="471811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custDataLst>
              <p:tags r:id="rId14"/>
            </p:custDataLst>
          </p:nvPr>
        </p:nvSpPr>
        <p:spPr>
          <a:xfrm>
            <a:off x="8317230" y="2513330"/>
            <a:ext cx="3765608" cy="521970"/>
          </a:xfrm>
          <a:prstGeom prst="rect">
            <a:avLst/>
          </a:prstGeom>
        </p:spPr>
        <p:txBody>
          <a:bodyPr wrap="square">
            <a:spAutoFit/>
          </a:bodyPr>
          <a:p>
            <a:pPr lvl="0" algn="l">
              <a:buClrTx/>
              <a:buSzTx/>
              <a:buFontTx/>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数据挖掘发展简史</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矩形 2"/>
          <p:cNvSpPr/>
          <p:nvPr>
            <p:custDataLst>
              <p:tags r:id="rId15"/>
            </p:custDataLst>
          </p:nvPr>
        </p:nvSpPr>
        <p:spPr>
          <a:xfrm flipH="1">
            <a:off x="8317230" y="2944198"/>
            <a:ext cx="3550472" cy="300990"/>
          </a:xfrm>
          <a:prstGeom prst="rect">
            <a:avLst/>
          </a:prstGeom>
        </p:spPr>
        <p:txBody>
          <a:bodyPr wrap="square">
            <a:spAutoFit/>
          </a:bodyPr>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A Brief History of Data Mining</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p:cNvSpPr/>
          <p:nvPr>
            <p:custDataLst>
              <p:tags r:id="rId16"/>
            </p:custDataLst>
          </p:nvPr>
        </p:nvSpPr>
        <p:spPr>
          <a:xfrm>
            <a:off x="8317230" y="3614441"/>
            <a:ext cx="3765608" cy="521970"/>
          </a:xfrm>
          <a:prstGeom prst="rect">
            <a:avLst/>
          </a:prstGeom>
        </p:spPr>
        <p:txBody>
          <a:bodyPr wrap="square">
            <a:spAutoFit/>
          </a:bodyPr>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数据挖掘流程</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7" name="矩形 6"/>
          <p:cNvSpPr/>
          <p:nvPr>
            <p:custDataLst>
              <p:tags r:id="rId17"/>
            </p:custDataLst>
          </p:nvPr>
        </p:nvSpPr>
        <p:spPr>
          <a:xfrm flipH="1">
            <a:off x="8317230" y="4045309"/>
            <a:ext cx="3550472" cy="300990"/>
          </a:xfrm>
          <a:prstGeom prst="rect">
            <a:avLst/>
          </a:prstGeom>
        </p:spPr>
        <p:txBody>
          <a:bodyPr wrap="square">
            <a:spAutoFit/>
          </a:bodyPr>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Data Mining Process</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2" name="椭圆 11"/>
          <p:cNvSpPr/>
          <p:nvPr>
            <p:custDataLst>
              <p:tags r:id="rId18"/>
            </p:custDataLst>
          </p:nvPr>
        </p:nvSpPr>
        <p:spPr>
          <a:xfrm>
            <a:off x="7521199" y="251333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06</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椭圆 12"/>
          <p:cNvSpPr/>
          <p:nvPr>
            <p:custDataLst>
              <p:tags r:id="rId19"/>
            </p:custDataLst>
          </p:nvPr>
        </p:nvSpPr>
        <p:spPr>
          <a:xfrm>
            <a:off x="7521199" y="3614441"/>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07</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6" name="文本框"/>
          <p:cNvSpPr/>
          <p:nvPr>
            <p:custDataLst>
              <p:tags r:id="rId20"/>
            </p:custDataLst>
          </p:nvPr>
        </p:nvSpPr>
        <p:spPr>
          <a:xfrm>
            <a:off x="8317230" y="1417320"/>
            <a:ext cx="3765608" cy="521970"/>
          </a:xfrm>
          <a:prstGeom prst="rect">
            <a:avLst/>
          </a:prstGeom>
        </p:spPr>
        <p:txBody>
          <a:bodyPr wrap="square">
            <a:spAutoFit/>
          </a:bodyPr>
          <a:p>
            <a:pPr lvl="0" algn="l">
              <a:buClrTx/>
              <a:buSzTx/>
              <a:buFontTx/>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数据与数据挖掘</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7" name="矩形 16"/>
          <p:cNvSpPr/>
          <p:nvPr>
            <p:custDataLst>
              <p:tags r:id="rId21"/>
            </p:custDataLst>
          </p:nvPr>
        </p:nvSpPr>
        <p:spPr>
          <a:xfrm flipH="1">
            <a:off x="8317230" y="1848188"/>
            <a:ext cx="3550472" cy="300990"/>
          </a:xfrm>
          <a:prstGeom prst="rect">
            <a:avLst/>
          </a:prstGeom>
        </p:spPr>
        <p:txBody>
          <a:bodyPr wrap="square">
            <a:spAutoFit/>
          </a:bodyPr>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Data and Data Mining</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8" name="椭圆 17"/>
          <p:cNvSpPr/>
          <p:nvPr>
            <p:custDataLst>
              <p:tags r:id="rId22"/>
            </p:custDataLst>
          </p:nvPr>
        </p:nvSpPr>
        <p:spPr>
          <a:xfrm>
            <a:off x="7521199" y="141732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05</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9" name="文本框"/>
          <p:cNvSpPr/>
          <p:nvPr>
            <p:custDataLst>
              <p:tags r:id="rId23"/>
            </p:custDataLst>
          </p:nvPr>
        </p:nvSpPr>
        <p:spPr>
          <a:xfrm>
            <a:off x="8317230" y="4720611"/>
            <a:ext cx="3765608" cy="521970"/>
          </a:xfrm>
          <a:prstGeom prst="rect">
            <a:avLst/>
          </a:prstGeom>
        </p:spPr>
        <p:txBody>
          <a:bodyPr wrap="square">
            <a:spAutoFit/>
          </a:bodyPr>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本书主要内容</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0" name="矩形 9"/>
          <p:cNvSpPr/>
          <p:nvPr>
            <p:custDataLst>
              <p:tags r:id="rId24"/>
            </p:custDataLst>
          </p:nvPr>
        </p:nvSpPr>
        <p:spPr>
          <a:xfrm flipH="1">
            <a:off x="8317230" y="5151479"/>
            <a:ext cx="3550472" cy="300990"/>
          </a:xfrm>
          <a:prstGeom prst="rect">
            <a:avLst/>
          </a:prstGeom>
        </p:spPr>
        <p:txBody>
          <a:bodyPr wrap="square">
            <a:spAutoFit/>
          </a:bodyPr>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Main Content of This Book</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1" name="椭圆 10"/>
          <p:cNvSpPr/>
          <p:nvPr>
            <p:custDataLst>
              <p:tags r:id="rId25"/>
            </p:custDataLst>
          </p:nvPr>
        </p:nvSpPr>
        <p:spPr>
          <a:xfrm>
            <a:off x="7521199" y="4720611"/>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08</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6"/>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3138170"/>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引言</a:t>
            </a:r>
            <a:endParaRPr lang="zh-CN" altLang="en-US" sz="66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2" name="矩形 21"/>
          <p:cNvSpPr/>
          <p:nvPr/>
        </p:nvSpPr>
        <p:spPr>
          <a:xfrm>
            <a:off x="2622923" y="4107543"/>
            <a:ext cx="6946156" cy="506730"/>
          </a:xfrm>
          <a:prstGeom prst="rect">
            <a:avLst/>
          </a:prstGeom>
        </p:spPr>
        <p:txBody>
          <a:bodyPr wrap="square">
            <a:spAutoFit/>
          </a:bodyPr>
          <a:lstStyle/>
          <a:p>
            <a:pPr algn="ctr">
              <a:lnSpc>
                <a:spcPct val="150000"/>
              </a:lnSpc>
              <a:defRPr/>
            </a:pPr>
            <a:r>
              <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Introduction</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引言</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圆角矩形 1"/>
          <p:cNvSpPr/>
          <p:nvPr/>
        </p:nvSpPr>
        <p:spPr>
          <a:xfrm>
            <a:off x="633095" y="1171575"/>
            <a:ext cx="30632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模式识别与数据挖掘</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3" name="圆角矩形 2"/>
          <p:cNvSpPr/>
          <p:nvPr/>
        </p:nvSpPr>
        <p:spPr>
          <a:xfrm>
            <a:off x="609600" y="1821180"/>
            <a:ext cx="10825480" cy="1424940"/>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787400" y="1821180"/>
            <a:ext cx="10350500" cy="1421130"/>
          </a:xfrm>
          <a:prstGeom prst="rect">
            <a:avLst/>
          </a:prstGeom>
          <a:noFill/>
        </p:spPr>
        <p:txBody>
          <a:bodyPr wrap="square" rtlCol="0">
            <a:noAutofit/>
          </a:bodyPr>
          <a:p>
            <a:pPr indent="0" fontAlgn="auto">
              <a:lnSpc>
                <a:spcPct val="150000"/>
              </a:lnSpc>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智能的本质之一</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在于对模式的感知与利用。模式是蕴含在数据、事物与现象中的规律性特征。</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模式识别, 是研究如何用计算机实现对此类特征的自动辨识与分类的理论与方法</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。与之相辅相成的</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数据挖掘</a:t>
            </a: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则更侧重于从海量数据中发掘潜在的、未知的有价值模式</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a:p>
        </p:txBody>
      </p:sp>
      <p:sp>
        <p:nvSpPr>
          <p:cNvPr id="6" name="圆角矩形 5"/>
          <p:cNvSpPr/>
          <p:nvPr/>
        </p:nvSpPr>
        <p:spPr>
          <a:xfrm>
            <a:off x="634365" y="360680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学习内容</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8" name="圆角矩形 7"/>
          <p:cNvSpPr/>
          <p:nvPr/>
        </p:nvSpPr>
        <p:spPr>
          <a:xfrm>
            <a:off x="633095" y="4252595"/>
            <a:ext cx="10802620" cy="1208405"/>
          </a:xfrm>
          <a:prstGeom prst="roundRect">
            <a:avLst>
              <a:gd name="adj" fmla="val 8633"/>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698500" y="4296410"/>
            <a:ext cx="10438765" cy="1149985"/>
          </a:xfrm>
          <a:prstGeom prst="rect">
            <a:avLst/>
          </a:prstGeom>
          <a:noFill/>
        </p:spPr>
        <p:txBody>
          <a:bodyPr wrap="square" rtlCol="0">
            <a:noAutofit/>
          </a:bodyPr>
          <a:p>
            <a:pPr indent="0" fontAlgn="auto">
              <a:lnSpc>
                <a:spcPct val="150000"/>
              </a:lnSpc>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本章将系统阐述这两大领域的</a:t>
            </a: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基本思想、发展简史与技术流程</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旨在为读者构建一个完整的知识框架</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为后续深入探索具体算法与技术应用奠定坚实的基础。</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zh-CN"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模式与模式识别</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506730"/>
          </a:xfrm>
          <a:prstGeom prst="rect">
            <a:avLst/>
          </a:prstGeom>
        </p:spPr>
        <p:txBody>
          <a:bodyPr wrap="square">
            <a:spAutoFit/>
          </a:bodyPr>
          <a:p>
            <a:pPr algn="ctr">
              <a:lnSpc>
                <a:spcPct val="150000"/>
              </a:lnSpc>
              <a:defRPr/>
            </a:pPr>
            <a:r>
              <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Pattern and Pattern Recognition</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3187700" y="4217035"/>
            <a:ext cx="8246745" cy="226631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TextBox 8"/>
          <p:cNvSpPr txBox="1"/>
          <p:nvPr/>
        </p:nvSpPr>
        <p:spPr>
          <a:xfrm>
            <a:off x="3400425" y="4801235"/>
            <a:ext cx="7767955" cy="1338580"/>
          </a:xfrm>
          <a:prstGeom prst="rect">
            <a:avLst/>
          </a:prstGeom>
          <a:noFill/>
        </p:spPr>
        <p:txBody>
          <a:bodyPr wrap="square" lIns="0" tIns="0" rIns="0" bIns="0" rtlCol="0" anchor="t">
            <a:noAutofit/>
          </a:bodyPr>
          <a:lstStyle/>
          <a:p>
            <a:pPr indent="457200" algn="l" defTabSz="1219200">
              <a:lnSpc>
                <a:spcPct val="150000"/>
              </a:lnSpc>
              <a:spcBef>
                <a:spcPct val="20000"/>
              </a:spcBef>
              <a:buClrTx/>
              <a:buSzTx/>
              <a:buFont typeface="Arial" panose="020B0604020202020204" pitchFamily="34" charset="0"/>
              <a:defRPr/>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生物特征识别是利用人体固有的生理特性</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如指纹、虹膜等</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和行为特征</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如步态等</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来进行个人身份的鉴定。</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模式与模式识别</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圆角矩形 1"/>
          <p:cNvSpPr/>
          <p:nvPr/>
        </p:nvSpPr>
        <p:spPr>
          <a:xfrm>
            <a:off x="633095" y="10096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基础术语定义</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10" name="组合 9"/>
          <p:cNvGrpSpPr/>
          <p:nvPr/>
        </p:nvGrpSpPr>
        <p:grpSpPr>
          <a:xfrm>
            <a:off x="609600" y="1576705"/>
            <a:ext cx="10825480" cy="920115"/>
            <a:chOff x="960" y="2543"/>
            <a:chExt cx="17048" cy="1449"/>
          </a:xfrm>
        </p:grpSpPr>
        <p:sp>
          <p:nvSpPr>
            <p:cNvPr id="4" name="圆角矩形 3"/>
            <p:cNvSpPr/>
            <p:nvPr/>
          </p:nvSpPr>
          <p:spPr>
            <a:xfrm>
              <a:off x="960" y="2543"/>
              <a:ext cx="17048" cy="1449"/>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997" y="2544"/>
              <a:ext cx="17011" cy="1448"/>
            </a:xfrm>
            <a:prstGeom prst="rect">
              <a:avLst/>
            </a:prstGeom>
            <a:noFill/>
          </p:spPr>
          <p:txBody>
            <a:bodyPr wrap="square" rtlCol="0">
              <a:noAutofit/>
            </a:bodyPr>
            <a:p>
              <a:pPr indent="0" fontAlgn="auto">
                <a:lnSpc>
                  <a:spcPct val="150000"/>
                </a:lnSpc>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模式</a:t>
              </a:r>
              <a:r>
                <a:rPr lang="en-US" altLang="zh-CN"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(pattern)</a:t>
              </a:r>
              <a:r>
                <a:rPr lang="en-US" altLang="zh-CN"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是指数据、事物或现象所具有的某种规律性或结构性的特征。模式可以是抽象的概念</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也可以是具体的形式。</a:t>
              </a:r>
              <a:endParaRPr lang="zh-CN" altLang="en-US"/>
            </a:p>
          </p:txBody>
        </p:sp>
      </p:grpSp>
      <p:grpSp>
        <p:nvGrpSpPr>
          <p:cNvPr id="11" name="组合 10"/>
          <p:cNvGrpSpPr/>
          <p:nvPr/>
        </p:nvGrpSpPr>
        <p:grpSpPr>
          <a:xfrm>
            <a:off x="609600" y="2606675"/>
            <a:ext cx="10825480" cy="920115"/>
            <a:chOff x="960" y="2543"/>
            <a:chExt cx="17048" cy="1449"/>
          </a:xfrm>
        </p:grpSpPr>
        <p:sp>
          <p:nvSpPr>
            <p:cNvPr id="12" name="圆角矩形 11"/>
            <p:cNvSpPr/>
            <p:nvPr/>
          </p:nvSpPr>
          <p:spPr>
            <a:xfrm>
              <a:off x="960" y="2543"/>
              <a:ext cx="17048" cy="1449"/>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997" y="2544"/>
              <a:ext cx="17011" cy="1448"/>
            </a:xfrm>
            <a:prstGeom prst="rect">
              <a:avLst/>
            </a:prstGeom>
            <a:noFill/>
          </p:spPr>
          <p:txBody>
            <a:bodyPr wrap="square" rtlCol="0">
              <a:noAutofit/>
            </a:bodyPr>
            <a:p>
              <a:pPr indent="0" fontAlgn="auto">
                <a:lnSpc>
                  <a:spcPct val="150000"/>
                </a:lnSpc>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模式识别 (pattern recognition)</a:t>
              </a:r>
              <a:r>
                <a:rPr lang="en-US" altLang="zh-CN"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是指通过某种方法或算法</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从复杂的数据或信息中自动识别并提取模式</a:t>
              </a:r>
              <a:r>
                <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以便进行分类、预测或其他决策。</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fontAlgn="auto">
                <a:lnSpc>
                  <a:spcPct val="150000"/>
                </a:lnSpc>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a:p>
          </p:txBody>
        </p:sp>
      </p:grpSp>
      <p:sp>
        <p:nvSpPr>
          <p:cNvPr id="16" name="圆角矩形 15"/>
          <p:cNvSpPr/>
          <p:nvPr/>
        </p:nvSpPr>
        <p:spPr>
          <a:xfrm>
            <a:off x="633095" y="3623945"/>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典型场景</a:t>
            </a:r>
            <a:endParaRPr 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7" name="图片 6"/>
          <p:cNvPicPr>
            <a:picLocks noChangeAspect="1"/>
          </p:cNvPicPr>
          <p:nvPr/>
        </p:nvPicPr>
        <p:blipFill>
          <a:blip r:embed="rId1"/>
          <a:srcRect r="73340"/>
          <a:stretch>
            <a:fillRect/>
          </a:stretch>
        </p:blipFill>
        <p:spPr>
          <a:xfrm>
            <a:off x="633095" y="4187190"/>
            <a:ext cx="2359660" cy="2402840"/>
          </a:xfrm>
          <a:prstGeom prst="rect">
            <a:avLst/>
          </a:prstGeom>
        </p:spPr>
      </p:pic>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4319905" y="4217035"/>
            <a:ext cx="7114540" cy="226631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TextBox 8"/>
          <p:cNvSpPr txBox="1"/>
          <p:nvPr/>
        </p:nvSpPr>
        <p:spPr>
          <a:xfrm>
            <a:off x="4434840" y="4681220"/>
            <a:ext cx="6733540" cy="1338580"/>
          </a:xfrm>
          <a:prstGeom prst="rect">
            <a:avLst/>
          </a:prstGeom>
          <a:noFill/>
        </p:spPr>
        <p:txBody>
          <a:bodyPr wrap="square" lIns="0" tIns="0" rIns="0" bIns="0" rtlCol="0" anchor="t">
            <a:noAutofit/>
          </a:bodyPr>
          <a:lstStyle/>
          <a:p>
            <a:pPr indent="457200" algn="l" defTabSz="1219200">
              <a:lnSpc>
                <a:spcPct val="150000"/>
              </a:lnSpc>
              <a:spcBef>
                <a:spcPct val="20000"/>
              </a:spcBef>
              <a:buClrTx/>
              <a:buSzTx/>
              <a:buFont typeface="Arial" panose="020B0604020202020204" pitchFamily="34" charset="0"/>
              <a:defRPr/>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光学字符识别</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(optical character recognition, OCR)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是对图像中文字的特征进行提取和模式识别</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从而将图像中的文字转化为可编辑文本。</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模式与模式识别</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圆角矩形 5"/>
          <p:cNvSpPr/>
          <p:nvPr/>
        </p:nvSpPr>
        <p:spPr>
          <a:xfrm>
            <a:off x="4319905" y="1419225"/>
            <a:ext cx="7114540" cy="226631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TextBox 8"/>
          <p:cNvSpPr txBox="1"/>
          <p:nvPr/>
        </p:nvSpPr>
        <p:spPr>
          <a:xfrm>
            <a:off x="4434840" y="1834515"/>
            <a:ext cx="6894195" cy="1338580"/>
          </a:xfrm>
          <a:prstGeom prst="rect">
            <a:avLst/>
          </a:prstGeom>
          <a:noFill/>
        </p:spPr>
        <p:txBody>
          <a:bodyPr wrap="square" lIns="0" tIns="0" rIns="0" bIns="0" rtlCol="0" anchor="t">
            <a:noAutofit/>
          </a:bodyPr>
          <a:lstStyle/>
          <a:p>
            <a:pPr indent="457200" algn="l" defTabSz="1219200">
              <a:lnSpc>
                <a:spcPct val="150000"/>
              </a:lnSpc>
              <a:spcBef>
                <a:spcPct val="20000"/>
              </a:spcBef>
              <a:buClrTx/>
              <a:buSzTx/>
              <a:buFont typeface="Arial" panose="020B0604020202020204" pitchFamily="34" charset="0"/>
              <a:defRPr/>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医疗影像识别是利用</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X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射线、计算机断层扫描</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(computer tomography, CT)</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、磁共振成像</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(magnetic resonance imaging, MRI)</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、超声影像</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(ultrasonic imaging)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来辅助医学疾病的诊断。</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sp>
        <p:nvSpPr>
          <p:cNvPr id="9" name="圆角矩形 8"/>
          <p:cNvSpPr/>
          <p:nvPr/>
        </p:nvSpPr>
        <p:spPr>
          <a:xfrm>
            <a:off x="565150" y="826135"/>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典型场景</a:t>
            </a:r>
            <a:endParaRPr lang="zh-CN"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18" name="图片 17"/>
          <p:cNvPicPr>
            <a:picLocks noChangeAspect="1"/>
          </p:cNvPicPr>
          <p:nvPr/>
        </p:nvPicPr>
        <p:blipFill>
          <a:blip r:embed="rId1"/>
          <a:srcRect l="27144" r="36641"/>
          <a:stretch>
            <a:fillRect/>
          </a:stretch>
        </p:blipFill>
        <p:spPr>
          <a:xfrm>
            <a:off x="584200" y="1328420"/>
            <a:ext cx="3380105" cy="2533015"/>
          </a:xfrm>
          <a:prstGeom prst="rect">
            <a:avLst/>
          </a:prstGeom>
        </p:spPr>
      </p:pic>
      <p:pic>
        <p:nvPicPr>
          <p:cNvPr id="19" name="图片 18"/>
          <p:cNvPicPr>
            <a:picLocks noChangeAspect="1"/>
          </p:cNvPicPr>
          <p:nvPr/>
        </p:nvPicPr>
        <p:blipFill>
          <a:blip r:embed="rId1"/>
          <a:srcRect l="64145"/>
          <a:stretch>
            <a:fillRect/>
          </a:stretch>
        </p:blipFill>
        <p:spPr>
          <a:xfrm>
            <a:off x="565150" y="3897630"/>
            <a:ext cx="3399155" cy="2572385"/>
          </a:xfrm>
          <a:prstGeom prst="rect">
            <a:avLst/>
          </a:prstGeom>
        </p:spPr>
      </p:pic>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模式识别发展简史</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506730"/>
          </a:xfrm>
          <a:prstGeom prst="rect">
            <a:avLst/>
          </a:prstGeom>
        </p:spPr>
        <p:txBody>
          <a:bodyPr wrap="square">
            <a:spAutoFit/>
          </a:bodyPr>
          <a:p>
            <a:pPr algn="ctr">
              <a:lnSpc>
                <a:spcPct val="150000"/>
              </a:lnSpc>
              <a:buClrTx/>
              <a:buSzTx/>
              <a:buFontTx/>
              <a:defRPr/>
            </a:pPr>
            <a:r>
              <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A Brief History of Pattern Recognition</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模式识别发展简史</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cxnSp>
        <p:nvCxnSpPr>
          <p:cNvPr id="18" name="直接连接符 17"/>
          <p:cNvCxnSpPr/>
          <p:nvPr>
            <p:custDataLst>
              <p:tags r:id="rId1"/>
            </p:custDataLst>
          </p:nvPr>
        </p:nvCxnSpPr>
        <p:spPr>
          <a:xfrm>
            <a:off x="2342054" y="2668809"/>
            <a:ext cx="6768752" cy="0"/>
          </a:xfrm>
          <a:prstGeom prst="line">
            <a:avLst/>
          </a:prstGeom>
          <a:ln w="2857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9" name="椭圆 18"/>
          <p:cNvSpPr/>
          <p:nvPr>
            <p:custDataLst>
              <p:tags r:id="rId2"/>
            </p:custDataLst>
          </p:nvPr>
        </p:nvSpPr>
        <p:spPr>
          <a:xfrm>
            <a:off x="2233930" y="2529109"/>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custDataLst>
              <p:tags r:id="rId3"/>
            </p:custDataLst>
          </p:nvPr>
        </p:nvSpPr>
        <p:spPr>
          <a:xfrm>
            <a:off x="3918224" y="2529109"/>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custDataLst>
              <p:tags r:id="rId4"/>
            </p:custDataLst>
          </p:nvPr>
        </p:nvSpPr>
        <p:spPr>
          <a:xfrm>
            <a:off x="5602518" y="2529109"/>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custDataLst>
              <p:tags r:id="rId5"/>
            </p:custDataLst>
          </p:nvPr>
        </p:nvSpPr>
        <p:spPr>
          <a:xfrm>
            <a:off x="7286812" y="2529109"/>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custDataLst>
              <p:tags r:id="rId6"/>
            </p:custDataLst>
          </p:nvPr>
        </p:nvSpPr>
        <p:spPr>
          <a:xfrm>
            <a:off x="8971106" y="2529109"/>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custDataLst>
              <p:tags r:id="rId7"/>
            </p:custDataLst>
          </p:nvPr>
        </p:nvGrpSpPr>
        <p:grpSpPr>
          <a:xfrm>
            <a:off x="1704212" y="879067"/>
            <a:ext cx="1338832" cy="1338834"/>
            <a:chOff x="549782" y="903799"/>
            <a:chExt cx="1338832" cy="1338834"/>
          </a:xfrm>
        </p:grpSpPr>
        <p:sp>
          <p:nvSpPr>
            <p:cNvPr id="26" name="泪滴形 25"/>
            <p:cNvSpPr/>
            <p:nvPr>
              <p:custDataLst>
                <p:tags r:id="rId8"/>
              </p:custDataLst>
            </p:nvPr>
          </p:nvSpPr>
          <p:spPr>
            <a:xfrm rot="8100000">
              <a:off x="549782" y="903799"/>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custDataLst>
                <p:tags r:id="rId9"/>
              </p:custDataLst>
            </p:nvPr>
          </p:nvSpPr>
          <p:spPr>
            <a:xfrm>
              <a:off x="660398"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p:cNvGrpSpPr/>
          <p:nvPr>
            <p:custDataLst>
              <p:tags r:id="rId10"/>
            </p:custDataLst>
          </p:nvPr>
        </p:nvGrpSpPr>
        <p:grpSpPr>
          <a:xfrm>
            <a:off x="3388509" y="879068"/>
            <a:ext cx="1338832" cy="1338834"/>
            <a:chOff x="2234079" y="903800"/>
            <a:chExt cx="1338832" cy="1338834"/>
          </a:xfrm>
        </p:grpSpPr>
        <p:sp>
          <p:nvSpPr>
            <p:cNvPr id="31" name="泪滴形 30"/>
            <p:cNvSpPr/>
            <p:nvPr>
              <p:custDataLst>
                <p:tags r:id="rId11"/>
              </p:custDataLst>
            </p:nvPr>
          </p:nvSpPr>
          <p:spPr>
            <a:xfrm rot="8100000">
              <a:off x="2234079" y="903800"/>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custDataLst>
                <p:tags r:id="rId12"/>
              </p:custDataLst>
            </p:nvPr>
          </p:nvSpPr>
          <p:spPr>
            <a:xfrm>
              <a:off x="2344695"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custDataLst>
              <p:tags r:id="rId13"/>
            </p:custDataLst>
          </p:nvPr>
        </p:nvGrpSpPr>
        <p:grpSpPr>
          <a:xfrm>
            <a:off x="5057013" y="885969"/>
            <a:ext cx="1338832" cy="1338834"/>
            <a:chOff x="3902583" y="910701"/>
            <a:chExt cx="1338832" cy="1338834"/>
          </a:xfrm>
        </p:grpSpPr>
        <p:sp>
          <p:nvSpPr>
            <p:cNvPr id="34" name="泪滴形 33"/>
            <p:cNvSpPr/>
            <p:nvPr>
              <p:custDataLst>
                <p:tags r:id="rId14"/>
              </p:custDataLst>
            </p:nvPr>
          </p:nvSpPr>
          <p:spPr>
            <a:xfrm rot="8100000">
              <a:off x="3902583" y="910701"/>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custDataLst>
                <p:tags r:id="rId15"/>
              </p:custDataLst>
            </p:nvPr>
          </p:nvSpPr>
          <p:spPr>
            <a:xfrm>
              <a:off x="4028988"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custDataLst>
              <p:tags r:id="rId16"/>
            </p:custDataLst>
          </p:nvPr>
        </p:nvGrpSpPr>
        <p:grpSpPr>
          <a:xfrm>
            <a:off x="6757096" y="879066"/>
            <a:ext cx="1338832" cy="1338834"/>
            <a:chOff x="5602666" y="903798"/>
            <a:chExt cx="1338832" cy="1338834"/>
          </a:xfrm>
        </p:grpSpPr>
        <p:sp>
          <p:nvSpPr>
            <p:cNvPr id="37" name="泪滴形 36"/>
            <p:cNvSpPr/>
            <p:nvPr>
              <p:custDataLst>
                <p:tags r:id="rId17"/>
              </p:custDataLst>
            </p:nvPr>
          </p:nvSpPr>
          <p:spPr>
            <a:xfrm rot="8100000">
              <a:off x="5602666" y="903798"/>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custDataLst>
                <p:tags r:id="rId18"/>
              </p:custDataLst>
            </p:nvPr>
          </p:nvSpPr>
          <p:spPr>
            <a:xfrm>
              <a:off x="5713282"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p:cNvGrpSpPr/>
          <p:nvPr>
            <p:custDataLst>
              <p:tags r:id="rId19"/>
            </p:custDataLst>
          </p:nvPr>
        </p:nvGrpSpPr>
        <p:grpSpPr>
          <a:xfrm>
            <a:off x="8441390" y="911363"/>
            <a:ext cx="1338832" cy="1338834"/>
            <a:chOff x="7286960" y="936095"/>
            <a:chExt cx="1338832" cy="1338834"/>
          </a:xfrm>
        </p:grpSpPr>
        <p:sp>
          <p:nvSpPr>
            <p:cNvPr id="49" name="泪滴形 48"/>
            <p:cNvSpPr/>
            <p:nvPr>
              <p:custDataLst>
                <p:tags r:id="rId20"/>
              </p:custDataLst>
            </p:nvPr>
          </p:nvSpPr>
          <p:spPr>
            <a:xfrm rot="8100000">
              <a:off x="7286960" y="936095"/>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21"/>
              </p:custDataLst>
            </p:nvPr>
          </p:nvSpPr>
          <p:spPr>
            <a:xfrm>
              <a:off x="7397576"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1" name="矩形 50"/>
          <p:cNvSpPr/>
          <p:nvPr>
            <p:custDataLst>
              <p:tags r:id="rId22"/>
            </p:custDataLst>
          </p:nvPr>
        </p:nvSpPr>
        <p:spPr>
          <a:xfrm>
            <a:off x="1794510" y="1367790"/>
            <a:ext cx="1137920" cy="368300"/>
          </a:xfrm>
          <a:prstGeom prst="rect">
            <a:avLst/>
          </a:prstGeom>
        </p:spPr>
        <p:txBody>
          <a:bodyPr wrap="square">
            <a:spAutoFit/>
          </a:bodyPr>
          <a:lstStyle/>
          <a:p>
            <a:pPr lvl="0" algn="ct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1929年</a:t>
            </a:r>
            <a:endParaRPr lang="zh-CN" altLang="en-US" sz="1600" dirty="0">
              <a:solidFill>
                <a:schemeClr val="tx1">
                  <a:lumMod val="85000"/>
                  <a:lumOff val="15000"/>
                </a:schemeClr>
              </a:solidFill>
              <a:latin typeface="微软雅黑" panose="020B0503020204020204" charset="-122"/>
              <a:ea typeface="微软雅黑" panose="020B0503020204020204" charset="-122"/>
            </a:endParaRPr>
          </a:p>
        </p:txBody>
      </p:sp>
      <p:sp>
        <p:nvSpPr>
          <p:cNvPr id="52" name="矩形 51"/>
          <p:cNvSpPr/>
          <p:nvPr>
            <p:custDataLst>
              <p:tags r:id="rId23"/>
            </p:custDataLst>
          </p:nvPr>
        </p:nvSpPr>
        <p:spPr>
          <a:xfrm>
            <a:off x="3552825" y="1243965"/>
            <a:ext cx="946785" cy="645160"/>
          </a:xfrm>
          <a:prstGeom prst="rect">
            <a:avLst/>
          </a:prstGeom>
        </p:spPr>
        <p:txBody>
          <a:bodyPr wrap="square">
            <a:spAutoFit/>
          </a:bodyPr>
          <a:lstStyle/>
          <a:p>
            <a:pPr lvl="0" algn="ct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20世纪30年代</a:t>
            </a:r>
            <a:endPar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58" name="文本框 7"/>
          <p:cNvSpPr txBox="1">
            <a:spLocks noChangeArrowheads="1"/>
          </p:cNvSpPr>
          <p:nvPr>
            <p:custDataLst>
              <p:tags r:id="rId24"/>
            </p:custDataLst>
          </p:nvPr>
        </p:nvSpPr>
        <p:spPr bwMode="auto">
          <a:xfrm>
            <a:off x="1466215" y="2795270"/>
            <a:ext cx="1727835" cy="129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600"/>
              </a:lnSpc>
              <a:spcBef>
                <a:spcPts val="300"/>
              </a:spcBef>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陶谢克发明光电阅读机，开启OCR技术</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
        <p:nvSpPr>
          <p:cNvPr id="72" name="文本框 7"/>
          <p:cNvSpPr txBox="1">
            <a:spLocks noChangeArrowheads="1"/>
          </p:cNvSpPr>
          <p:nvPr>
            <p:custDataLst>
              <p:tags r:id="rId25"/>
            </p:custDataLst>
          </p:nvPr>
        </p:nvSpPr>
        <p:spPr bwMode="auto">
          <a:xfrm>
            <a:off x="3194050" y="2795270"/>
            <a:ext cx="1727835" cy="129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600"/>
              </a:lnSpc>
              <a:spcBef>
                <a:spcPts val="300"/>
              </a:spcBef>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费希尔提出统计分类理论</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
        <p:nvSpPr>
          <p:cNvPr id="73" name="矩形 72"/>
          <p:cNvSpPr/>
          <p:nvPr>
            <p:custDataLst>
              <p:tags r:id="rId26"/>
            </p:custDataLst>
          </p:nvPr>
        </p:nvSpPr>
        <p:spPr>
          <a:xfrm>
            <a:off x="5268595" y="1367790"/>
            <a:ext cx="946785" cy="368300"/>
          </a:xfrm>
          <a:prstGeom prst="rect">
            <a:avLst/>
          </a:prstGeom>
        </p:spPr>
        <p:txBody>
          <a:bodyPr wrap="square">
            <a:spAutoFit/>
          </a:bodyPr>
          <a:lstStyle/>
          <a:p>
            <a:pPr lvl="0" algn="ctr"/>
            <a:r>
              <a:rPr lang="en-US" altLang="zh-CN"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1955</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年</a:t>
            </a:r>
            <a:endPar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74" name="矩形 73"/>
          <p:cNvSpPr/>
          <p:nvPr>
            <p:custDataLst>
              <p:tags r:id="rId27"/>
            </p:custDataLst>
          </p:nvPr>
        </p:nvSpPr>
        <p:spPr>
          <a:xfrm>
            <a:off x="6953250" y="1367790"/>
            <a:ext cx="946785" cy="368300"/>
          </a:xfrm>
          <a:prstGeom prst="rect">
            <a:avLst/>
          </a:prstGeom>
        </p:spPr>
        <p:txBody>
          <a:bodyPr wrap="square">
            <a:spAutoFit/>
          </a:bodyPr>
          <a:lstStyle/>
          <a:p>
            <a:pPr lvl="0" algn="ctr"/>
            <a:r>
              <a:rPr lang="en-US" altLang="zh-CN"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1958</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年</a:t>
            </a:r>
            <a:endPar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75" name="矩形 74"/>
          <p:cNvSpPr/>
          <p:nvPr>
            <p:custDataLst>
              <p:tags r:id="rId28"/>
            </p:custDataLst>
          </p:nvPr>
        </p:nvSpPr>
        <p:spPr>
          <a:xfrm>
            <a:off x="8637905" y="1105535"/>
            <a:ext cx="946785" cy="922020"/>
          </a:xfrm>
          <a:prstGeom prst="rect">
            <a:avLst/>
          </a:prstGeom>
        </p:spPr>
        <p:txBody>
          <a:bodyPr wrap="square">
            <a:spAutoFit/>
          </a:bodyPr>
          <a:lstStyle/>
          <a:p>
            <a:pPr lvl="0" algn="ctr"/>
            <a:r>
              <a:rPr lang="en-US" altLang="zh-CN"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20</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世纪</a:t>
            </a:r>
            <a:r>
              <a:rPr lang="en-US" altLang="zh-CN"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60-70</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年代</a:t>
            </a:r>
            <a:endPar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76" name="文本框 7"/>
          <p:cNvSpPr txBox="1">
            <a:spLocks noChangeArrowheads="1"/>
          </p:cNvSpPr>
          <p:nvPr>
            <p:custDataLst>
              <p:tags r:id="rId29"/>
            </p:custDataLst>
          </p:nvPr>
        </p:nvSpPr>
        <p:spPr bwMode="auto">
          <a:xfrm>
            <a:off x="4862195" y="2795270"/>
            <a:ext cx="1727835" cy="129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600"/>
              </a:lnSpc>
              <a:spcBef>
                <a:spcPts val="300"/>
              </a:spcBef>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塞尔弗里奇正式提出</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模式识别</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术语</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
        <p:nvSpPr>
          <p:cNvPr id="77" name="文本框 7"/>
          <p:cNvSpPr txBox="1">
            <a:spLocks noChangeArrowheads="1"/>
          </p:cNvSpPr>
          <p:nvPr>
            <p:custDataLst>
              <p:tags r:id="rId30"/>
            </p:custDataLst>
          </p:nvPr>
        </p:nvSpPr>
        <p:spPr bwMode="auto">
          <a:xfrm>
            <a:off x="6562725" y="2795270"/>
            <a:ext cx="1727835" cy="129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600"/>
              </a:lnSpc>
              <a:spcBef>
                <a:spcPts val="300"/>
              </a:spcBef>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罗森布拉特提出感知机</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
        <p:nvSpPr>
          <p:cNvPr id="78" name="文本框 7"/>
          <p:cNvSpPr txBox="1">
            <a:spLocks noChangeArrowheads="1"/>
          </p:cNvSpPr>
          <p:nvPr>
            <p:custDataLst>
              <p:tags r:id="rId31"/>
            </p:custDataLst>
          </p:nvPr>
        </p:nvSpPr>
        <p:spPr bwMode="auto">
          <a:xfrm>
            <a:off x="8258175" y="2795270"/>
            <a:ext cx="2150745" cy="129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600"/>
              </a:lnSpc>
              <a:spcBef>
                <a:spcPts val="300"/>
              </a:spcBef>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统计模式识别与结构模式识别（傅京孙）成为主流</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cxnSp>
        <p:nvCxnSpPr>
          <p:cNvPr id="79" name="直接连接符 78"/>
          <p:cNvCxnSpPr>
            <a:endCxn id="83" idx="6"/>
          </p:cNvCxnSpPr>
          <p:nvPr>
            <p:custDataLst>
              <p:tags r:id="rId32"/>
            </p:custDataLst>
          </p:nvPr>
        </p:nvCxnSpPr>
        <p:spPr>
          <a:xfrm>
            <a:off x="3179619" y="5637434"/>
            <a:ext cx="5224145" cy="0"/>
          </a:xfrm>
          <a:prstGeom prst="line">
            <a:avLst/>
          </a:prstGeom>
          <a:ln w="2857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80" name="椭圆 79"/>
          <p:cNvSpPr/>
          <p:nvPr>
            <p:custDataLst>
              <p:tags r:id="rId33"/>
            </p:custDataLst>
          </p:nvPr>
        </p:nvSpPr>
        <p:spPr>
          <a:xfrm>
            <a:off x="3071495" y="5497734"/>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34"/>
            </p:custDataLst>
          </p:nvPr>
        </p:nvSpPr>
        <p:spPr>
          <a:xfrm>
            <a:off x="4755789" y="5497734"/>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35"/>
            </p:custDataLst>
          </p:nvPr>
        </p:nvSpPr>
        <p:spPr>
          <a:xfrm>
            <a:off x="6440083" y="5497734"/>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custDataLst>
              <p:tags r:id="rId36"/>
            </p:custDataLst>
          </p:nvPr>
        </p:nvSpPr>
        <p:spPr>
          <a:xfrm>
            <a:off x="8124377" y="5497734"/>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5" name="组合 84"/>
          <p:cNvGrpSpPr/>
          <p:nvPr>
            <p:custDataLst>
              <p:tags r:id="rId37"/>
            </p:custDataLst>
          </p:nvPr>
        </p:nvGrpSpPr>
        <p:grpSpPr>
          <a:xfrm>
            <a:off x="2541777" y="3847692"/>
            <a:ext cx="1338832" cy="1338834"/>
            <a:chOff x="549782" y="903799"/>
            <a:chExt cx="1338832" cy="1338834"/>
          </a:xfrm>
        </p:grpSpPr>
        <p:sp>
          <p:nvSpPr>
            <p:cNvPr id="86" name="泪滴形 85"/>
            <p:cNvSpPr/>
            <p:nvPr>
              <p:custDataLst>
                <p:tags r:id="rId38"/>
              </p:custDataLst>
            </p:nvPr>
          </p:nvSpPr>
          <p:spPr>
            <a:xfrm rot="8100000">
              <a:off x="549782" y="903799"/>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custDataLst>
                <p:tags r:id="rId39"/>
              </p:custDataLst>
            </p:nvPr>
          </p:nvSpPr>
          <p:spPr>
            <a:xfrm>
              <a:off x="660398"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p:cNvGrpSpPr/>
          <p:nvPr>
            <p:custDataLst>
              <p:tags r:id="rId40"/>
            </p:custDataLst>
          </p:nvPr>
        </p:nvGrpSpPr>
        <p:grpSpPr>
          <a:xfrm>
            <a:off x="4226074" y="3847693"/>
            <a:ext cx="1338832" cy="1338834"/>
            <a:chOff x="2234079" y="903800"/>
            <a:chExt cx="1338832" cy="1338834"/>
          </a:xfrm>
        </p:grpSpPr>
        <p:sp>
          <p:nvSpPr>
            <p:cNvPr id="89" name="泪滴形 88"/>
            <p:cNvSpPr/>
            <p:nvPr>
              <p:custDataLst>
                <p:tags r:id="rId41"/>
              </p:custDataLst>
            </p:nvPr>
          </p:nvSpPr>
          <p:spPr>
            <a:xfrm rot="8100000">
              <a:off x="2234079" y="903800"/>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custDataLst>
                <p:tags r:id="rId42"/>
              </p:custDataLst>
            </p:nvPr>
          </p:nvSpPr>
          <p:spPr>
            <a:xfrm>
              <a:off x="2344695"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custDataLst>
              <p:tags r:id="rId43"/>
            </p:custDataLst>
          </p:nvPr>
        </p:nvGrpSpPr>
        <p:grpSpPr>
          <a:xfrm>
            <a:off x="5894578" y="3854594"/>
            <a:ext cx="1338832" cy="1338834"/>
            <a:chOff x="3902583" y="910701"/>
            <a:chExt cx="1338832" cy="1338834"/>
          </a:xfrm>
        </p:grpSpPr>
        <p:sp>
          <p:nvSpPr>
            <p:cNvPr id="92" name="泪滴形 91"/>
            <p:cNvSpPr/>
            <p:nvPr>
              <p:custDataLst>
                <p:tags r:id="rId44"/>
              </p:custDataLst>
            </p:nvPr>
          </p:nvSpPr>
          <p:spPr>
            <a:xfrm rot="8100000">
              <a:off x="3902583" y="910701"/>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p:nvPr>
              <p:custDataLst>
                <p:tags r:id="rId45"/>
              </p:custDataLst>
            </p:nvPr>
          </p:nvSpPr>
          <p:spPr>
            <a:xfrm>
              <a:off x="4028988"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4" name="组合 93"/>
          <p:cNvGrpSpPr/>
          <p:nvPr>
            <p:custDataLst>
              <p:tags r:id="rId46"/>
            </p:custDataLst>
          </p:nvPr>
        </p:nvGrpSpPr>
        <p:grpSpPr>
          <a:xfrm>
            <a:off x="7594661" y="3847691"/>
            <a:ext cx="1338832" cy="1338834"/>
            <a:chOff x="5602666" y="903798"/>
            <a:chExt cx="1338832" cy="1338834"/>
          </a:xfrm>
        </p:grpSpPr>
        <p:sp>
          <p:nvSpPr>
            <p:cNvPr id="95" name="泪滴形 94"/>
            <p:cNvSpPr/>
            <p:nvPr>
              <p:custDataLst>
                <p:tags r:id="rId47"/>
              </p:custDataLst>
            </p:nvPr>
          </p:nvSpPr>
          <p:spPr>
            <a:xfrm rot="8100000">
              <a:off x="5602666" y="903798"/>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custDataLst>
                <p:tags r:id="rId48"/>
              </p:custDataLst>
            </p:nvPr>
          </p:nvSpPr>
          <p:spPr>
            <a:xfrm>
              <a:off x="5713282"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矩形 99"/>
          <p:cNvSpPr/>
          <p:nvPr>
            <p:custDataLst>
              <p:tags r:id="rId49"/>
            </p:custDataLst>
          </p:nvPr>
        </p:nvSpPr>
        <p:spPr>
          <a:xfrm>
            <a:off x="2632075" y="4212590"/>
            <a:ext cx="1137920" cy="645160"/>
          </a:xfrm>
          <a:prstGeom prst="rect">
            <a:avLst/>
          </a:prstGeom>
        </p:spPr>
        <p:txBody>
          <a:bodyPr wrap="square">
            <a:spAutoFit/>
          </a:bodyPr>
          <a:lstStyle/>
          <a:p>
            <a:pPr lvl="0" algn="ct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20世纪80年代</a:t>
            </a:r>
            <a:endPar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101" name="矩形 100"/>
          <p:cNvSpPr/>
          <p:nvPr>
            <p:custDataLst>
              <p:tags r:id="rId50"/>
            </p:custDataLst>
          </p:nvPr>
        </p:nvSpPr>
        <p:spPr>
          <a:xfrm>
            <a:off x="4390390" y="4212590"/>
            <a:ext cx="946785" cy="645160"/>
          </a:xfrm>
          <a:prstGeom prst="rect">
            <a:avLst/>
          </a:prstGeom>
        </p:spPr>
        <p:txBody>
          <a:bodyPr wrap="square">
            <a:spAutoFit/>
          </a:bodyPr>
          <a:lstStyle/>
          <a:p>
            <a:pPr lvl="0" algn="ct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20世纪</a:t>
            </a:r>
            <a:r>
              <a:rPr lang="en-US" altLang="zh-CN"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90</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年代</a:t>
            </a:r>
            <a:endPar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102" name="文本框 7"/>
          <p:cNvSpPr txBox="1">
            <a:spLocks noChangeArrowheads="1"/>
          </p:cNvSpPr>
          <p:nvPr>
            <p:custDataLst>
              <p:tags r:id="rId51"/>
            </p:custDataLst>
          </p:nvPr>
        </p:nvSpPr>
        <p:spPr bwMode="auto">
          <a:xfrm>
            <a:off x="2303780" y="5763895"/>
            <a:ext cx="1727835" cy="1018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600"/>
              </a:lnSpc>
              <a:spcBef>
                <a:spcPts val="300"/>
              </a:spcBef>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神经网络复苏</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
        <p:nvSpPr>
          <p:cNvPr id="103" name="文本框 7"/>
          <p:cNvSpPr txBox="1">
            <a:spLocks noChangeArrowheads="1"/>
          </p:cNvSpPr>
          <p:nvPr>
            <p:custDataLst>
              <p:tags r:id="rId52"/>
            </p:custDataLst>
          </p:nvPr>
        </p:nvSpPr>
        <p:spPr bwMode="auto">
          <a:xfrm>
            <a:off x="4031615" y="5763895"/>
            <a:ext cx="1727835" cy="1018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600"/>
              </a:lnSpc>
              <a:spcBef>
                <a:spcPts val="300"/>
              </a:spcBef>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支持向量机等核方法崛起</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
        <p:nvSpPr>
          <p:cNvPr id="104" name="矩形 103"/>
          <p:cNvSpPr/>
          <p:nvPr>
            <p:custDataLst>
              <p:tags r:id="rId53"/>
            </p:custDataLst>
          </p:nvPr>
        </p:nvSpPr>
        <p:spPr>
          <a:xfrm>
            <a:off x="6106160" y="4336415"/>
            <a:ext cx="946785" cy="368300"/>
          </a:xfrm>
          <a:prstGeom prst="rect">
            <a:avLst/>
          </a:prstGeom>
        </p:spPr>
        <p:txBody>
          <a:bodyPr wrap="square">
            <a:spAutoFit/>
          </a:bodyPr>
          <a:lstStyle/>
          <a:p>
            <a:pPr lvl="0" algn="ctr"/>
            <a:r>
              <a:rPr lang="en-US" altLang="zh-CN"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21</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世纪</a:t>
            </a:r>
            <a:endPar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105" name="矩形 104"/>
          <p:cNvSpPr/>
          <p:nvPr>
            <p:custDataLst>
              <p:tags r:id="rId54"/>
            </p:custDataLst>
          </p:nvPr>
        </p:nvSpPr>
        <p:spPr>
          <a:xfrm>
            <a:off x="7790815" y="4063365"/>
            <a:ext cx="946785" cy="922020"/>
          </a:xfrm>
          <a:prstGeom prst="rect">
            <a:avLst/>
          </a:prstGeom>
        </p:spPr>
        <p:txBody>
          <a:bodyPr wrap="square">
            <a:spAutoFit/>
          </a:bodyPr>
          <a:lstStyle/>
          <a:p>
            <a:pPr lvl="0" algn="ctr"/>
            <a:r>
              <a:rPr lang="en-US" altLang="zh-CN"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20</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世纪</a:t>
            </a:r>
            <a:r>
              <a:rPr lang="en-US" altLang="zh-CN"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70</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年代至今</a:t>
            </a:r>
            <a:endPar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107" name="文本框 7"/>
          <p:cNvSpPr txBox="1">
            <a:spLocks noChangeArrowheads="1"/>
          </p:cNvSpPr>
          <p:nvPr>
            <p:custDataLst>
              <p:tags r:id="rId55"/>
            </p:custDataLst>
          </p:nvPr>
        </p:nvSpPr>
        <p:spPr bwMode="auto">
          <a:xfrm>
            <a:off x="5699760" y="5763895"/>
            <a:ext cx="1727835" cy="1018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600"/>
              </a:lnSpc>
              <a:spcBef>
                <a:spcPts val="300"/>
              </a:spcBef>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深度神经网络主导</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
        <p:nvSpPr>
          <p:cNvPr id="108" name="文本框 7"/>
          <p:cNvSpPr txBox="1">
            <a:spLocks noChangeArrowheads="1"/>
          </p:cNvSpPr>
          <p:nvPr>
            <p:custDataLst>
              <p:tags r:id="rId56"/>
            </p:custDataLst>
          </p:nvPr>
        </p:nvSpPr>
        <p:spPr bwMode="auto">
          <a:xfrm>
            <a:off x="7400290" y="5763895"/>
            <a:ext cx="1727835" cy="1018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600"/>
              </a:lnSpc>
              <a:spcBef>
                <a:spcPts val="300"/>
              </a:spcBef>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中国模式识别发展</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Tree>
    <p:custDataLst>
      <p:tags r:id="rId57"/>
    </p:custDataLst>
  </p:cSld>
  <p:clrMapOvr>
    <a:masterClrMapping/>
  </p:clrMapOvr>
  <p:timing>
    <p:tnLst>
      <p:par>
        <p:cTn id="1" dur="indefinite" restart="never" nodeType="tmRoot"/>
      </p:par>
    </p:tnLst>
    <p:bldLst>
      <p:bldP spid="19" grpId="0" bldLvl="0" animBg="1"/>
      <p:bldP spid="16" grpId="0" bldLvl="0" animBg="1"/>
      <p:bldP spid="21" grpId="0" bldLvl="0" animBg="1"/>
      <p:bldP spid="22" grpId="0" bldLvl="0" animBg="1"/>
      <p:bldP spid="23" grpId="0" bldLvl="0" animBg="1"/>
      <p:bldP spid="51" grpId="0"/>
      <p:bldP spid="52" grpId="0"/>
      <p:bldP spid="58" grpId="0"/>
      <p:bldP spid="72" grpId="0"/>
      <p:bldP spid="73" grpId="0"/>
      <p:bldP spid="74" grpId="0"/>
      <p:bldP spid="75" grpId="0"/>
      <p:bldP spid="76" grpId="0"/>
      <p:bldP spid="77" grpId="0"/>
      <p:bldP spid="78" grpId="0"/>
      <p:bldP spid="80" grpId="0" bldLvl="0" animBg="1"/>
      <p:bldP spid="81" grpId="0" bldLvl="0" animBg="1"/>
      <p:bldP spid="82" grpId="0" bldLvl="0" animBg="1"/>
      <p:bldP spid="83" grpId="0" bldLvl="0" animBg="1"/>
      <p:bldP spid="100" grpId="0"/>
      <p:bldP spid="101" grpId="0"/>
      <p:bldP spid="102" grpId="0"/>
      <p:bldP spid="103" grpId="0"/>
      <p:bldP spid="104" grpId="0"/>
      <p:bldP spid="105" grpId="0"/>
      <p:bldP spid="107" grpId="0"/>
      <p:bldP spid="10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模式识别流程</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506730"/>
          </a:xfrm>
          <a:prstGeom prst="rect">
            <a:avLst/>
          </a:prstGeom>
        </p:spPr>
        <p:txBody>
          <a:bodyPr wrap="square">
            <a:spAutoFit/>
          </a:bodyPr>
          <a:p>
            <a:pPr algn="ctr">
              <a:lnSpc>
                <a:spcPct val="150000"/>
              </a:lnSpc>
              <a:buClrTx/>
              <a:buSzTx/>
              <a:buFontTx/>
              <a:defRPr/>
            </a:pPr>
            <a:r>
              <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Pattern Recognition Process</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sz="3200" b="1" dirty="0">
                <a:latin typeface="思源黑体 CN Regular" panose="020B0500000000000000" charset="-122"/>
                <a:ea typeface="思源黑体 CN Regular" panose="020B0500000000000000" charset="-122"/>
                <a:cs typeface="+mn-ea"/>
                <a:sym typeface="Arial" panose="020B0604020202020204" pitchFamily="34" charset="0"/>
              </a:rPr>
              <a:t>模式识别流程</a:t>
            </a:r>
            <a:endParaRPr lang="zh-CN"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 name="TextBox 8"/>
          <p:cNvSpPr txBox="1"/>
          <p:nvPr/>
        </p:nvSpPr>
        <p:spPr>
          <a:xfrm>
            <a:off x="1346835" y="1635125"/>
            <a:ext cx="9487535" cy="2396490"/>
          </a:xfrm>
          <a:prstGeom prst="rect">
            <a:avLst/>
          </a:prstGeom>
          <a:noFill/>
        </p:spPr>
        <p:txBody>
          <a:bodyPr wrap="square" lIns="0" tIns="0" rIns="0" bIns="0" rtlCol="0" anchor="t">
            <a:noAutofit/>
          </a:bodyPr>
          <a:p>
            <a:pPr indent="457200" algn="l" defTabSz="1219200">
              <a:lnSpc>
                <a:spcPct val="150000"/>
              </a:lnSpc>
              <a:spcBef>
                <a:spcPct val="20000"/>
              </a:spcBef>
              <a:buFont typeface="Arial" panose="020B0604020202020204" pitchFamily="34" charset="0"/>
              <a:buNone/>
              <a:defRPr/>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数据采集</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：收集图像、文本、传感器数据等原始信息</a:t>
            </a: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数据预处理</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：清洗噪声、归一化处理，提升数据质量</a:t>
            </a: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特征提取与选择</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：挖掘本质特征，降维优化</a:t>
            </a: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分类器设计</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：训练模型（统计、传统机器学习、深度学习）</a:t>
            </a: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分类决策</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：输出最终识别结果（如类别标签）</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0" name="圆角矩形 19"/>
          <p:cNvSpPr/>
          <p:nvPr/>
        </p:nvSpPr>
        <p:spPr>
          <a:xfrm>
            <a:off x="431165" y="93472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识别阶段</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8" name="圆角矩形 7"/>
          <p:cNvSpPr/>
          <p:nvPr/>
        </p:nvSpPr>
        <p:spPr>
          <a:xfrm>
            <a:off x="1122680" y="1545590"/>
            <a:ext cx="9795510" cy="2537460"/>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1"/>
          <a:stretch>
            <a:fillRect/>
          </a:stretch>
        </p:blipFill>
        <p:spPr>
          <a:xfrm>
            <a:off x="1760220" y="4227830"/>
            <a:ext cx="8545195" cy="1727835"/>
          </a:xfrm>
          <a:prstGeom prst="rect">
            <a:avLst/>
          </a:prstGeom>
        </p:spPr>
      </p:pic>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数据与数据挖掘</a:t>
            </a:r>
            <a:endParaRPr lang="zh-CN"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05</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506730"/>
          </a:xfrm>
          <a:prstGeom prst="rect">
            <a:avLst/>
          </a:prstGeom>
        </p:spPr>
        <p:txBody>
          <a:bodyPr wrap="square">
            <a:spAutoFit/>
          </a:bodyPr>
          <a:p>
            <a:pPr algn="ctr">
              <a:lnSpc>
                <a:spcPct val="150000"/>
              </a:lnSpc>
              <a:buClrTx/>
              <a:buSzTx/>
              <a:buFontTx/>
              <a:defRPr/>
            </a:pPr>
            <a:r>
              <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Data and Data Mining</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数据与数据挖掘</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0" name="圆角矩形 19"/>
          <p:cNvSpPr/>
          <p:nvPr/>
        </p:nvSpPr>
        <p:spPr>
          <a:xfrm>
            <a:off x="633095" y="3608070"/>
            <a:ext cx="3414395"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模式识别与数据挖掘区别</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8" name="圆角矩形 7"/>
          <p:cNvSpPr/>
          <p:nvPr/>
        </p:nvSpPr>
        <p:spPr>
          <a:xfrm>
            <a:off x="431165" y="1575435"/>
            <a:ext cx="11308715" cy="1856740"/>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431165" y="1555115"/>
            <a:ext cx="11066780" cy="1876425"/>
          </a:xfrm>
          <a:prstGeom prst="rect">
            <a:avLst/>
          </a:prstGeom>
          <a:noFill/>
        </p:spPr>
        <p:txBody>
          <a:bodyPr wrap="square" rtlCol="0">
            <a:noAutofit/>
          </a:bodyPr>
          <a:p>
            <a:pPr indent="457200" algn="l" defTabSz="1219200">
              <a:lnSpc>
                <a:spcPct val="150000"/>
              </a:lnSpc>
              <a:spcBef>
                <a:spcPct val="20000"/>
              </a:spcBef>
              <a:buFont typeface="Arial" panose="020B0604020202020204" pitchFamily="34" charset="0"/>
              <a:buNone/>
              <a:defRPr/>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a:t>
            </a:r>
            <a:r>
              <a:rPr lang="en-US" altLang="zh-CN"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是对客观事物的符号表示</a:t>
            </a:r>
            <a:r>
              <a:rPr lang="en-US" altLang="zh-CN"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可以表示为数字、文字、图像、声音等多种形式。数据按照类型可划分为结构化数据、半结构化数据和非结构化数据。</a:t>
            </a:r>
            <a:endParaRPr lang="zh-CN" altLang="en-US"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b="1"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数据挖掘</a:t>
            </a:r>
            <a:r>
              <a:rPr lang="en-US" altLang="zh-CN"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是从大量的、不完全的、有噪声的数据中提取隐含在其中的、人们事先不知道的、有潜在利用价值的信息和知识的过程。</a:t>
            </a:r>
            <a:endParaRPr lang="zh-CN" altLang="en-US"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endParaRPr lang="zh-CN" altLang="en-US"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7" name="文本框 6"/>
          <p:cNvSpPr txBox="1"/>
          <p:nvPr/>
        </p:nvSpPr>
        <p:spPr>
          <a:xfrm>
            <a:off x="1061720" y="7067550"/>
            <a:ext cx="6883400" cy="645160"/>
          </a:xfrm>
          <a:prstGeom prst="rect">
            <a:avLst/>
          </a:prstGeom>
          <a:noFill/>
        </p:spPr>
        <p:txBody>
          <a:bodyPr wrap="square" rtlCol="0">
            <a:spAutoFit/>
          </a:bodyPr>
          <a:p>
            <a:endParaRPr lang="zh-CN" altLang="en-US"/>
          </a:p>
          <a:p>
            <a:endParaRPr lang="zh-CN" altLang="en-US"/>
          </a:p>
        </p:txBody>
      </p:sp>
      <p:sp>
        <p:nvSpPr>
          <p:cNvPr id="5" name="圆角矩形 4"/>
          <p:cNvSpPr/>
          <p:nvPr/>
        </p:nvSpPr>
        <p:spPr>
          <a:xfrm>
            <a:off x="633095" y="10096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基础术语定义</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9" name="矩形 28"/>
          <p:cNvSpPr/>
          <p:nvPr>
            <p:custDataLst>
              <p:tags r:id="rId1"/>
            </p:custDataLst>
          </p:nvPr>
        </p:nvSpPr>
        <p:spPr>
          <a:xfrm rot="20926619">
            <a:off x="3305175" y="5172710"/>
            <a:ext cx="5405755" cy="152400"/>
          </a:xfrm>
          <a:prstGeom prst="rect">
            <a:avLst/>
          </a:prstGeom>
          <a:solidFill>
            <a:srgbClr val="7C97CE"/>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457200"/>
            <a:endParaRPr lang="zh-CN" altLang="en-US" sz="2400" b="1">
              <a:solidFill>
                <a:prstClr val="white"/>
              </a:solidFill>
              <a:cs typeface="+mn-ea"/>
              <a:sym typeface="+mn-lt"/>
            </a:endParaRPr>
          </a:p>
        </p:txBody>
      </p:sp>
      <p:sp>
        <p:nvSpPr>
          <p:cNvPr id="31" name="下箭头 30"/>
          <p:cNvSpPr/>
          <p:nvPr>
            <p:custDataLst>
              <p:tags r:id="rId2"/>
            </p:custDataLst>
          </p:nvPr>
        </p:nvSpPr>
        <p:spPr>
          <a:xfrm>
            <a:off x="3491865" y="4890770"/>
            <a:ext cx="660400" cy="716280"/>
          </a:xfrm>
          <a:prstGeom prst="downArrow">
            <a:avLst/>
          </a:prstGeom>
          <a:solidFill>
            <a:srgbClr val="7C97CE"/>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defTabSz="457200"/>
            <a:endParaRPr lang="zh-CN" altLang="en-US" sz="2000" b="1" dirty="0">
              <a:solidFill>
                <a:prstClr val="white"/>
              </a:solidFill>
              <a:cs typeface="+mn-ea"/>
              <a:sym typeface="+mn-lt"/>
            </a:endParaRPr>
          </a:p>
        </p:txBody>
      </p:sp>
      <p:sp>
        <p:nvSpPr>
          <p:cNvPr id="36" name="等腰三角形 35"/>
          <p:cNvSpPr/>
          <p:nvPr>
            <p:custDataLst>
              <p:tags r:id="rId3"/>
            </p:custDataLst>
          </p:nvPr>
        </p:nvSpPr>
        <p:spPr>
          <a:xfrm>
            <a:off x="5780405" y="5320665"/>
            <a:ext cx="578485" cy="368300"/>
          </a:xfrm>
          <a:prstGeom prst="triangle">
            <a:avLst/>
          </a:prstGeom>
          <a:solidFill>
            <a:srgbClr val="7C97CE"/>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457200"/>
            <a:endParaRPr lang="zh-CN" altLang="en-US" sz="2400" b="1">
              <a:solidFill>
                <a:prstClr val="white"/>
              </a:solidFill>
              <a:cs typeface="+mn-ea"/>
              <a:sym typeface="+mn-lt"/>
            </a:endParaRPr>
          </a:p>
        </p:txBody>
      </p:sp>
      <p:sp>
        <p:nvSpPr>
          <p:cNvPr id="38" name="下箭头 37"/>
          <p:cNvSpPr/>
          <p:nvPr>
            <p:custDataLst>
              <p:tags r:id="rId4"/>
            </p:custDataLst>
          </p:nvPr>
        </p:nvSpPr>
        <p:spPr>
          <a:xfrm rot="10800000">
            <a:off x="7912100" y="4890770"/>
            <a:ext cx="660400" cy="716280"/>
          </a:xfrm>
          <a:prstGeom prst="downArrow">
            <a:avLst/>
          </a:prstGeom>
          <a:solidFill>
            <a:srgbClr val="7C97CE"/>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defTabSz="457200"/>
            <a:endParaRPr lang="zh-CN" altLang="en-US" sz="2000" b="1" dirty="0">
              <a:solidFill>
                <a:prstClr val="white"/>
              </a:solidFill>
              <a:cs typeface="+mn-ea"/>
              <a:sym typeface="+mn-lt"/>
            </a:endParaRPr>
          </a:p>
        </p:txBody>
      </p:sp>
      <p:sp>
        <p:nvSpPr>
          <p:cNvPr id="39" name="文本框 38"/>
          <p:cNvSpPr txBox="1"/>
          <p:nvPr/>
        </p:nvSpPr>
        <p:spPr>
          <a:xfrm>
            <a:off x="3232785" y="4379595"/>
            <a:ext cx="1134745" cy="368300"/>
          </a:xfrm>
          <a:prstGeom prst="rect">
            <a:avLst/>
          </a:prstGeom>
          <a:noFill/>
        </p:spPr>
        <p:txBody>
          <a:bodyPr wrap="square" rtlCol="0">
            <a:spAutoFit/>
          </a:bodyPr>
          <a:p>
            <a:r>
              <a:rPr lang="zh-CN" altLang="en-US"/>
              <a:t>模式识别</a:t>
            </a:r>
            <a:endParaRPr lang="zh-CN" altLang="en-US"/>
          </a:p>
        </p:txBody>
      </p:sp>
      <p:sp>
        <p:nvSpPr>
          <p:cNvPr id="40" name="文本框 39"/>
          <p:cNvSpPr txBox="1"/>
          <p:nvPr/>
        </p:nvSpPr>
        <p:spPr>
          <a:xfrm>
            <a:off x="7707630" y="5849620"/>
            <a:ext cx="1185545" cy="368300"/>
          </a:xfrm>
          <a:prstGeom prst="rect">
            <a:avLst/>
          </a:prstGeom>
          <a:noFill/>
        </p:spPr>
        <p:txBody>
          <a:bodyPr wrap="square" rtlCol="0">
            <a:spAutoFit/>
          </a:bodyPr>
          <a:p>
            <a:r>
              <a:rPr lang="zh-CN" altLang="en-US"/>
              <a:t>数据挖掘</a:t>
            </a:r>
            <a:endParaRPr lang="zh-CN" altLang="en-US"/>
          </a:p>
        </p:txBody>
      </p:sp>
      <p:sp>
        <p:nvSpPr>
          <p:cNvPr id="41" name="文本框 40"/>
          <p:cNvSpPr txBox="1"/>
          <p:nvPr/>
        </p:nvSpPr>
        <p:spPr>
          <a:xfrm>
            <a:off x="4367530" y="4241165"/>
            <a:ext cx="4064000" cy="645160"/>
          </a:xfrm>
          <a:prstGeom prst="rect">
            <a:avLst/>
          </a:prstGeom>
          <a:noFill/>
        </p:spPr>
        <p:txBody>
          <a:bodyPr wrap="square" rtlCol="0">
            <a:spAutoFit/>
          </a:bodyPr>
          <a:p>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rPr>
              <a:t>识别特定、清晰模式（监督分类任务），如人脸识别、OCR</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
        <p:nvSpPr>
          <p:cNvPr id="42" name="文本框 41"/>
          <p:cNvSpPr txBox="1"/>
          <p:nvPr/>
        </p:nvSpPr>
        <p:spPr>
          <a:xfrm>
            <a:off x="4751705" y="5708015"/>
            <a:ext cx="3277235" cy="645160"/>
          </a:xfrm>
          <a:prstGeom prst="rect">
            <a:avLst/>
          </a:prstGeom>
          <a:noFill/>
        </p:spPr>
        <p:txBody>
          <a:bodyPr wrap="square" rtlCol="0">
            <a:spAutoFit/>
          </a:bodyPr>
          <a:p>
            <a:r>
              <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rPr>
              <a:t>发现隐藏模式、关系和知识，如关联规则、文本挖掘</a:t>
            </a:r>
            <a:endParaRPr lang="zh-CN" altLang="en-US"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Tree>
    <p:custDataLst>
      <p:tags r:id="rId5"/>
    </p:custDataLst>
  </p:cSld>
  <p:clrMapOvr>
    <a:masterClrMapping/>
  </p:clrMapOvr>
  <p:timing>
    <p:tnLst>
      <p:par>
        <p:cTn id="1" dur="indefinite" restart="never" nodeType="tmRoot"/>
      </p:par>
    </p:tnLst>
    <p:bldLst>
      <p:bldP spid="29" grpId="0" bldLvl="0" animBg="1"/>
      <p:bldP spid="36"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数据与数据挖掘</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0" name="圆角矩形 19"/>
          <p:cNvSpPr/>
          <p:nvPr/>
        </p:nvSpPr>
        <p:spPr>
          <a:xfrm>
            <a:off x="633095" y="998220"/>
            <a:ext cx="3161665"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数据挖掘典型应用场景</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7" name="文本框 6"/>
          <p:cNvSpPr txBox="1"/>
          <p:nvPr/>
        </p:nvSpPr>
        <p:spPr>
          <a:xfrm>
            <a:off x="1061720" y="7067550"/>
            <a:ext cx="6883400" cy="645160"/>
          </a:xfrm>
          <a:prstGeom prst="rect">
            <a:avLst/>
          </a:prstGeom>
          <a:noFill/>
        </p:spPr>
        <p:txBody>
          <a:bodyPr wrap="square" rtlCol="0">
            <a:spAutoFit/>
          </a:bodyPr>
          <a:p>
            <a:endParaRPr lang="zh-CN" altLang="en-US"/>
          </a:p>
          <a:p>
            <a:endParaRPr lang="zh-CN" altLang="en-US"/>
          </a:p>
        </p:txBody>
      </p:sp>
      <p:sp>
        <p:nvSpPr>
          <p:cNvPr id="6" name="圆角矩形 5"/>
          <p:cNvSpPr/>
          <p:nvPr/>
        </p:nvSpPr>
        <p:spPr>
          <a:xfrm>
            <a:off x="633095" y="1590675"/>
            <a:ext cx="10801350" cy="129540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TextBox 8"/>
          <p:cNvSpPr txBox="1"/>
          <p:nvPr/>
        </p:nvSpPr>
        <p:spPr>
          <a:xfrm>
            <a:off x="899160" y="1721485"/>
            <a:ext cx="10257790" cy="1016000"/>
          </a:xfrm>
          <a:prstGeom prst="rect">
            <a:avLst/>
          </a:prstGeom>
          <a:noFill/>
        </p:spPr>
        <p:txBody>
          <a:bodyPr wrap="square" lIns="0" tIns="0" rIns="0" bIns="0" rtlCol="0" anchor="t">
            <a:noAutofit/>
          </a:bodyPr>
          <a:lstStyle/>
          <a:p>
            <a:pPr indent="457200" algn="l" defTabSz="1219200">
              <a:lnSpc>
                <a:spcPct val="150000"/>
              </a:lnSpc>
              <a:spcBef>
                <a:spcPct val="20000"/>
              </a:spcBef>
              <a:buClrTx/>
              <a:buSzTx/>
              <a:buFont typeface="Arial" panose="020B0604020202020204" pitchFamily="34" charset="0"/>
              <a:defRPr/>
            </a:pP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(1)</a:t>
            </a:r>
            <a:r>
              <a:rPr lang="zh-CN" altLang="en-US" sz="1800" b="1" dirty="0">
                <a:solidFill>
                  <a:srgbClr val="C00000"/>
                </a:solidFill>
                <a:latin typeface="楷体" panose="02010609060101010101" charset="-122"/>
                <a:ea typeface="楷体" panose="02010609060101010101" charset="-122"/>
                <a:cs typeface="楷体" panose="02010609060101010101" charset="-122"/>
                <a:sym typeface="Arial" panose="020B0604020202020204" pitchFamily="34" charset="0"/>
              </a:rPr>
              <a:t>关联规则发现</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是指在大规模数据集中挖掘数据之间的关系</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揭示数据中的潜在模式。在零售数据挖掘场景中</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电商平台通过关联规则发现算法</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可以挖掘出用户购买行为之间的关联关系。</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sp>
        <p:nvSpPr>
          <p:cNvPr id="4" name="圆角矩形 3"/>
          <p:cNvSpPr/>
          <p:nvPr/>
        </p:nvSpPr>
        <p:spPr>
          <a:xfrm>
            <a:off x="633095" y="3012440"/>
            <a:ext cx="10801350" cy="155829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TextBox 8"/>
          <p:cNvSpPr txBox="1"/>
          <p:nvPr/>
        </p:nvSpPr>
        <p:spPr>
          <a:xfrm>
            <a:off x="899160" y="3143250"/>
            <a:ext cx="10257790" cy="1016000"/>
          </a:xfrm>
          <a:prstGeom prst="rect">
            <a:avLst/>
          </a:prstGeom>
          <a:noFill/>
        </p:spPr>
        <p:txBody>
          <a:bodyPr wrap="square" lIns="0" tIns="0" rIns="0" bIns="0" rtlCol="0" anchor="t">
            <a:noAutofit/>
          </a:bodyPr>
          <a:lstStyle/>
          <a:p>
            <a:pPr indent="457200" algn="l" defTabSz="1219200">
              <a:lnSpc>
                <a:spcPct val="150000"/>
              </a:lnSpc>
              <a:spcBef>
                <a:spcPct val="20000"/>
              </a:spcBef>
              <a:buClrTx/>
              <a:buSzTx/>
              <a:buFont typeface="Arial" panose="020B0604020202020204" pitchFamily="34" charset="0"/>
              <a:defRPr/>
            </a:pP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(2)</a:t>
            </a:r>
            <a:r>
              <a:rPr lang="zh-CN" altLang="en-US" sz="1800" b="1" dirty="0">
                <a:solidFill>
                  <a:srgbClr val="C00000"/>
                </a:solidFill>
                <a:latin typeface="楷体" panose="02010609060101010101" charset="-122"/>
                <a:ea typeface="楷体" panose="02010609060101010101" charset="-122"/>
                <a:cs typeface="楷体" panose="02010609060101010101" charset="-122"/>
                <a:sym typeface="Arial" panose="020B0604020202020204" pitchFamily="34" charset="0"/>
              </a:rPr>
              <a:t>网络文本挖掘</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是指从互联网的海量文本数据中提取出有价值的信息和知识的过程。可以通过对互联网海量信息自动抓取、自动分类聚类、主题检测、专题聚焦等</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实现用户的网络舆情监测和新闻专题追踪等信息需求。</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sp>
        <p:nvSpPr>
          <p:cNvPr id="10" name="圆角矩形 9"/>
          <p:cNvSpPr/>
          <p:nvPr/>
        </p:nvSpPr>
        <p:spPr>
          <a:xfrm>
            <a:off x="633095" y="4697095"/>
            <a:ext cx="10801350" cy="155829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TextBox 8"/>
          <p:cNvSpPr txBox="1"/>
          <p:nvPr/>
        </p:nvSpPr>
        <p:spPr>
          <a:xfrm>
            <a:off x="899160" y="4827905"/>
            <a:ext cx="10257790" cy="1457960"/>
          </a:xfrm>
          <a:prstGeom prst="rect">
            <a:avLst/>
          </a:prstGeom>
          <a:noFill/>
        </p:spPr>
        <p:txBody>
          <a:bodyPr wrap="square" lIns="0" tIns="0" rIns="0" bIns="0" rtlCol="0" anchor="t">
            <a:noAutofit/>
          </a:bodyPr>
          <a:lstStyle/>
          <a:p>
            <a:pPr indent="457200" algn="l" defTabSz="1219200">
              <a:lnSpc>
                <a:spcPct val="150000"/>
              </a:lnSpc>
              <a:spcBef>
                <a:spcPct val="20000"/>
              </a:spcBef>
              <a:buClrTx/>
              <a:buSzTx/>
              <a:buFont typeface="Arial" panose="020B0604020202020204" pitchFamily="34" charset="0"/>
              <a:defRPr/>
            </a:pP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(3)</a:t>
            </a:r>
            <a:r>
              <a:rPr lang="zh-CN" altLang="en-US" sz="1800" b="1" dirty="0">
                <a:solidFill>
                  <a:srgbClr val="C00000"/>
                </a:solidFill>
                <a:latin typeface="楷体" panose="02010609060101010101" charset="-122"/>
                <a:ea typeface="楷体" panose="02010609060101010101" charset="-122"/>
                <a:cs typeface="楷体" panose="02010609060101010101" charset="-122"/>
                <a:sym typeface="Arial" panose="020B0604020202020204" pitchFamily="34" charset="0"/>
              </a:rPr>
              <a:t>社交媒体挖掘</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是指从社交媒体平台上提取有价值的信息和知识的过程。通过对用户在社交媒体上发布的文本、图片、视频和互动行为</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如点赞、评论、分享</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 </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进行分析</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rPr>
              <a:t>社交媒体挖掘可以帮助我们深入了解用户的兴趣、情绪、关系网络及其背后的社会动态和趋势。</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数据挖掘发展简史</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06</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506730"/>
          </a:xfrm>
          <a:prstGeom prst="rect">
            <a:avLst/>
          </a:prstGeom>
        </p:spPr>
        <p:txBody>
          <a:bodyPr wrap="square">
            <a:spAutoFit/>
          </a:bodyPr>
          <a:p>
            <a:pPr algn="ctr">
              <a:lnSpc>
                <a:spcPct val="150000"/>
              </a:lnSpc>
              <a:buClrTx/>
              <a:buSzTx/>
              <a:buFontTx/>
              <a:defRPr/>
            </a:pPr>
            <a:r>
              <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A Brief History of Data Mining</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数据挖掘发展简史</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cxnSp>
        <p:nvCxnSpPr>
          <p:cNvPr id="4" name="直接连接符 3"/>
          <p:cNvCxnSpPr/>
          <p:nvPr>
            <p:custDataLst>
              <p:tags r:id="rId1"/>
            </p:custDataLst>
          </p:nvPr>
        </p:nvCxnSpPr>
        <p:spPr>
          <a:xfrm>
            <a:off x="1722294" y="3033934"/>
            <a:ext cx="8525510" cy="0"/>
          </a:xfrm>
          <a:prstGeom prst="line">
            <a:avLst/>
          </a:prstGeom>
          <a:ln w="2857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9" name="椭圆 18"/>
          <p:cNvSpPr/>
          <p:nvPr>
            <p:custDataLst>
              <p:tags r:id="rId2"/>
            </p:custDataLst>
          </p:nvPr>
        </p:nvSpPr>
        <p:spPr>
          <a:xfrm>
            <a:off x="1614170" y="2894234"/>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custDataLst>
              <p:tags r:id="rId3"/>
            </p:custDataLst>
          </p:nvPr>
        </p:nvSpPr>
        <p:spPr>
          <a:xfrm>
            <a:off x="3298464" y="2894234"/>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custDataLst>
              <p:tags r:id="rId4"/>
            </p:custDataLst>
          </p:nvPr>
        </p:nvSpPr>
        <p:spPr>
          <a:xfrm>
            <a:off x="4982758" y="2894234"/>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custDataLst>
              <p:tags r:id="rId5"/>
            </p:custDataLst>
          </p:nvPr>
        </p:nvSpPr>
        <p:spPr>
          <a:xfrm>
            <a:off x="6667052" y="2894234"/>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custDataLst>
              <p:tags r:id="rId6"/>
            </p:custDataLst>
          </p:nvPr>
        </p:nvSpPr>
        <p:spPr>
          <a:xfrm>
            <a:off x="8351346" y="2894234"/>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custDataLst>
              <p:tags r:id="rId7"/>
            </p:custDataLst>
          </p:nvPr>
        </p:nvGrpSpPr>
        <p:grpSpPr>
          <a:xfrm>
            <a:off x="1084452" y="1244192"/>
            <a:ext cx="1338832" cy="1338834"/>
            <a:chOff x="549782" y="903799"/>
            <a:chExt cx="1338832" cy="1338834"/>
          </a:xfrm>
        </p:grpSpPr>
        <p:sp>
          <p:nvSpPr>
            <p:cNvPr id="26" name="泪滴形 25"/>
            <p:cNvSpPr/>
            <p:nvPr>
              <p:custDataLst>
                <p:tags r:id="rId8"/>
              </p:custDataLst>
            </p:nvPr>
          </p:nvSpPr>
          <p:spPr>
            <a:xfrm rot="8100000">
              <a:off x="549782" y="903799"/>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custDataLst>
                <p:tags r:id="rId9"/>
              </p:custDataLst>
            </p:nvPr>
          </p:nvSpPr>
          <p:spPr>
            <a:xfrm>
              <a:off x="660398"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p:cNvGrpSpPr/>
          <p:nvPr>
            <p:custDataLst>
              <p:tags r:id="rId10"/>
            </p:custDataLst>
          </p:nvPr>
        </p:nvGrpSpPr>
        <p:grpSpPr>
          <a:xfrm>
            <a:off x="2768749" y="1244193"/>
            <a:ext cx="1338832" cy="1338834"/>
            <a:chOff x="2234079" y="903800"/>
            <a:chExt cx="1338832" cy="1338834"/>
          </a:xfrm>
        </p:grpSpPr>
        <p:sp>
          <p:nvSpPr>
            <p:cNvPr id="31" name="泪滴形 30"/>
            <p:cNvSpPr/>
            <p:nvPr>
              <p:custDataLst>
                <p:tags r:id="rId11"/>
              </p:custDataLst>
            </p:nvPr>
          </p:nvSpPr>
          <p:spPr>
            <a:xfrm rot="8100000">
              <a:off x="2234079" y="903800"/>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custDataLst>
                <p:tags r:id="rId12"/>
              </p:custDataLst>
            </p:nvPr>
          </p:nvSpPr>
          <p:spPr>
            <a:xfrm>
              <a:off x="2344695"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custDataLst>
              <p:tags r:id="rId13"/>
            </p:custDataLst>
          </p:nvPr>
        </p:nvGrpSpPr>
        <p:grpSpPr>
          <a:xfrm>
            <a:off x="4437253" y="1251094"/>
            <a:ext cx="1338832" cy="1338834"/>
            <a:chOff x="3902583" y="910701"/>
            <a:chExt cx="1338832" cy="1338834"/>
          </a:xfrm>
        </p:grpSpPr>
        <p:sp>
          <p:nvSpPr>
            <p:cNvPr id="34" name="泪滴形 33"/>
            <p:cNvSpPr/>
            <p:nvPr>
              <p:custDataLst>
                <p:tags r:id="rId14"/>
              </p:custDataLst>
            </p:nvPr>
          </p:nvSpPr>
          <p:spPr>
            <a:xfrm rot="8100000">
              <a:off x="3902583" y="910701"/>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custDataLst>
                <p:tags r:id="rId15"/>
              </p:custDataLst>
            </p:nvPr>
          </p:nvSpPr>
          <p:spPr>
            <a:xfrm>
              <a:off x="4028988"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custDataLst>
              <p:tags r:id="rId16"/>
            </p:custDataLst>
          </p:nvPr>
        </p:nvGrpSpPr>
        <p:grpSpPr>
          <a:xfrm>
            <a:off x="6137336" y="1244191"/>
            <a:ext cx="1338832" cy="1338834"/>
            <a:chOff x="5602666" y="903798"/>
            <a:chExt cx="1338832" cy="1338834"/>
          </a:xfrm>
        </p:grpSpPr>
        <p:sp>
          <p:nvSpPr>
            <p:cNvPr id="37" name="泪滴形 36"/>
            <p:cNvSpPr/>
            <p:nvPr>
              <p:custDataLst>
                <p:tags r:id="rId17"/>
              </p:custDataLst>
            </p:nvPr>
          </p:nvSpPr>
          <p:spPr>
            <a:xfrm rot="8100000">
              <a:off x="5602666" y="903798"/>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custDataLst>
                <p:tags r:id="rId18"/>
              </p:custDataLst>
            </p:nvPr>
          </p:nvSpPr>
          <p:spPr>
            <a:xfrm>
              <a:off x="5713282"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p:cNvGrpSpPr/>
          <p:nvPr>
            <p:custDataLst>
              <p:tags r:id="rId19"/>
            </p:custDataLst>
          </p:nvPr>
        </p:nvGrpSpPr>
        <p:grpSpPr>
          <a:xfrm>
            <a:off x="7821630" y="1276488"/>
            <a:ext cx="1338832" cy="1338834"/>
            <a:chOff x="7286960" y="936095"/>
            <a:chExt cx="1338832" cy="1338834"/>
          </a:xfrm>
        </p:grpSpPr>
        <p:sp>
          <p:nvSpPr>
            <p:cNvPr id="49" name="泪滴形 48"/>
            <p:cNvSpPr/>
            <p:nvPr>
              <p:custDataLst>
                <p:tags r:id="rId20"/>
              </p:custDataLst>
            </p:nvPr>
          </p:nvSpPr>
          <p:spPr>
            <a:xfrm rot="8100000">
              <a:off x="7286960" y="936095"/>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21"/>
              </p:custDataLst>
            </p:nvPr>
          </p:nvSpPr>
          <p:spPr>
            <a:xfrm>
              <a:off x="7397576"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1" name="矩形 50"/>
          <p:cNvSpPr/>
          <p:nvPr>
            <p:custDataLst>
              <p:tags r:id="rId22"/>
            </p:custDataLst>
          </p:nvPr>
        </p:nvSpPr>
        <p:spPr>
          <a:xfrm>
            <a:off x="1174750" y="1732915"/>
            <a:ext cx="1137920" cy="368300"/>
          </a:xfrm>
          <a:prstGeom prst="rect">
            <a:avLst/>
          </a:prstGeom>
        </p:spPr>
        <p:txBody>
          <a:bodyPr wrap="square">
            <a:spAutoFit/>
          </a:bodyPr>
          <a:lstStyle/>
          <a:p>
            <a:pPr lvl="0" algn="ct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1989年</a:t>
            </a:r>
            <a:endPar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52" name="矩形 51"/>
          <p:cNvSpPr/>
          <p:nvPr>
            <p:custDataLst>
              <p:tags r:id="rId23"/>
            </p:custDataLst>
          </p:nvPr>
        </p:nvSpPr>
        <p:spPr>
          <a:xfrm>
            <a:off x="2933065" y="1609090"/>
            <a:ext cx="946785" cy="645160"/>
          </a:xfrm>
          <a:prstGeom prst="rect">
            <a:avLst/>
          </a:prstGeom>
        </p:spPr>
        <p:txBody>
          <a:bodyPr wrap="square">
            <a:spAutoFit/>
          </a:bodyPr>
          <a:lstStyle/>
          <a:p>
            <a:pPr lvl="0" algn="ct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20世纪</a:t>
            </a:r>
            <a:r>
              <a:rPr lang="en-US" altLang="zh-CN"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70</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年代</a:t>
            </a:r>
            <a:endPar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58" name="文本框 7"/>
          <p:cNvSpPr txBox="1">
            <a:spLocks noChangeArrowheads="1"/>
          </p:cNvSpPr>
          <p:nvPr>
            <p:custDataLst>
              <p:tags r:id="rId24"/>
            </p:custDataLst>
          </p:nvPr>
        </p:nvSpPr>
        <p:spPr bwMode="auto">
          <a:xfrm>
            <a:off x="715010" y="3160395"/>
            <a:ext cx="1859280" cy="2456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560"/>
              </a:lnSpc>
              <a:spcBef>
                <a:spcPts val="300"/>
              </a:spcBef>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皮亚特茨基</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夏皮罗等人在</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IJCAI</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会议上首次提出</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知识发现</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KDD</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）术语，奠定数据挖掘理论框架</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
        <p:nvSpPr>
          <p:cNvPr id="72" name="文本框 7"/>
          <p:cNvSpPr txBox="1">
            <a:spLocks noChangeArrowheads="1"/>
          </p:cNvSpPr>
          <p:nvPr>
            <p:custDataLst>
              <p:tags r:id="rId25"/>
            </p:custDataLst>
          </p:nvPr>
        </p:nvSpPr>
        <p:spPr bwMode="auto">
          <a:xfrm>
            <a:off x="2574290" y="3160395"/>
            <a:ext cx="1727835" cy="2194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560"/>
              </a:lnSpc>
              <a:spcBef>
                <a:spcPts val="300"/>
              </a:spcBef>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数据库管理系统成熟，支持大规模数据存储与查询，推动数据分析实用化</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
        <p:nvSpPr>
          <p:cNvPr id="73" name="矩形 72"/>
          <p:cNvSpPr/>
          <p:nvPr>
            <p:custDataLst>
              <p:tags r:id="rId26"/>
            </p:custDataLst>
          </p:nvPr>
        </p:nvSpPr>
        <p:spPr>
          <a:xfrm>
            <a:off x="4648835" y="1732915"/>
            <a:ext cx="946785" cy="368300"/>
          </a:xfrm>
          <a:prstGeom prst="rect">
            <a:avLst/>
          </a:prstGeom>
        </p:spPr>
        <p:txBody>
          <a:bodyPr wrap="square">
            <a:spAutoFit/>
          </a:bodyPr>
          <a:lstStyle/>
          <a:p>
            <a:pPr lvl="0" algn="ctr"/>
            <a:r>
              <a:rPr lang="en-US" altLang="zh-CN"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1995</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年</a:t>
            </a:r>
            <a:endPar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74" name="矩形 73"/>
          <p:cNvSpPr/>
          <p:nvPr>
            <p:custDataLst>
              <p:tags r:id="rId27"/>
            </p:custDataLst>
          </p:nvPr>
        </p:nvSpPr>
        <p:spPr>
          <a:xfrm>
            <a:off x="6333490" y="1470660"/>
            <a:ext cx="946785" cy="922020"/>
          </a:xfrm>
          <a:prstGeom prst="rect">
            <a:avLst/>
          </a:prstGeom>
        </p:spPr>
        <p:txBody>
          <a:bodyPr wrap="square">
            <a:spAutoFit/>
          </a:bodyPr>
          <a:lstStyle/>
          <a:p>
            <a:pPr lvl="0" algn="ctr"/>
            <a:r>
              <a:rPr 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20</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世纪</a:t>
            </a:r>
            <a:r>
              <a:rPr lang="en-US" altLang="zh-CN"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90</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年代末</a:t>
            </a:r>
            <a:endPar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75" name="矩形 74"/>
          <p:cNvSpPr/>
          <p:nvPr>
            <p:custDataLst>
              <p:tags r:id="rId28"/>
            </p:custDataLst>
          </p:nvPr>
        </p:nvSpPr>
        <p:spPr>
          <a:xfrm>
            <a:off x="8018145" y="1609090"/>
            <a:ext cx="946785" cy="645160"/>
          </a:xfrm>
          <a:prstGeom prst="rect">
            <a:avLst/>
          </a:prstGeom>
        </p:spPr>
        <p:txBody>
          <a:bodyPr wrap="square">
            <a:spAutoFit/>
          </a:bodyPr>
          <a:lstStyle/>
          <a:p>
            <a:pPr lvl="0" algn="ctr"/>
            <a:r>
              <a:rPr 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2006</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年</a:t>
            </a:r>
            <a:r>
              <a:rPr lang="en-US" altLang="zh-CN"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12</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月</a:t>
            </a:r>
            <a:endPar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76" name="文本框 7"/>
          <p:cNvSpPr txBox="1">
            <a:spLocks noChangeArrowheads="1"/>
          </p:cNvSpPr>
          <p:nvPr>
            <p:custDataLst>
              <p:tags r:id="rId29"/>
            </p:custDataLst>
          </p:nvPr>
        </p:nvSpPr>
        <p:spPr bwMode="auto">
          <a:xfrm>
            <a:off x="4242435" y="3160395"/>
            <a:ext cx="1727835" cy="1740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560"/>
              </a:lnSpc>
              <a:spcBef>
                <a:spcPts val="300"/>
              </a:spcBef>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首届</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KDD</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国际会议在蒙特利尔召开，标志数据挖掘成为独立研究领域</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
        <p:nvSpPr>
          <p:cNvPr id="77" name="文本框 7"/>
          <p:cNvSpPr txBox="1">
            <a:spLocks noChangeArrowheads="1"/>
          </p:cNvSpPr>
          <p:nvPr>
            <p:custDataLst>
              <p:tags r:id="rId30"/>
            </p:custDataLst>
          </p:nvPr>
        </p:nvSpPr>
        <p:spPr bwMode="auto">
          <a:xfrm>
            <a:off x="5942965" y="3160395"/>
            <a:ext cx="1727835" cy="2194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560"/>
              </a:lnSpc>
              <a:spcBef>
                <a:spcPts val="300"/>
              </a:spcBef>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韩家炜、裴健合著《数据挖掘：概念与技术》出版，系统介绍数据挖掘理论方法</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
        <p:nvSpPr>
          <p:cNvPr id="78" name="文本框 7"/>
          <p:cNvSpPr txBox="1">
            <a:spLocks noChangeArrowheads="1"/>
          </p:cNvSpPr>
          <p:nvPr>
            <p:custDataLst>
              <p:tags r:id="rId31"/>
            </p:custDataLst>
          </p:nvPr>
        </p:nvSpPr>
        <p:spPr bwMode="auto">
          <a:xfrm>
            <a:off x="7588250" y="3161030"/>
            <a:ext cx="174752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560"/>
              </a:lnSpc>
              <a:spcBef>
                <a:spcPts val="300"/>
              </a:spcBef>
            </a:pP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ICDM</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会议评选出数据挖掘领域十大经典算法</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
        <p:nvSpPr>
          <p:cNvPr id="6" name="椭圆 5"/>
          <p:cNvSpPr/>
          <p:nvPr>
            <p:custDataLst>
              <p:tags r:id="rId32"/>
            </p:custDataLst>
          </p:nvPr>
        </p:nvSpPr>
        <p:spPr>
          <a:xfrm>
            <a:off x="10103311" y="2894234"/>
            <a:ext cx="279400" cy="279400"/>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custDataLst>
              <p:tags r:id="rId33"/>
            </p:custDataLst>
          </p:nvPr>
        </p:nvGrpSpPr>
        <p:grpSpPr>
          <a:xfrm>
            <a:off x="9573595" y="1276488"/>
            <a:ext cx="1338832" cy="1338834"/>
            <a:chOff x="7286960" y="936095"/>
            <a:chExt cx="1338832" cy="1338834"/>
          </a:xfrm>
        </p:grpSpPr>
        <p:sp>
          <p:nvSpPr>
            <p:cNvPr id="8" name="泪滴形 7"/>
            <p:cNvSpPr/>
            <p:nvPr>
              <p:custDataLst>
                <p:tags r:id="rId34"/>
              </p:custDataLst>
            </p:nvPr>
          </p:nvSpPr>
          <p:spPr>
            <a:xfrm rot="8100000">
              <a:off x="7286960" y="936095"/>
              <a:ext cx="1338832" cy="1338834"/>
            </a:xfrm>
            <a:prstGeom prst="teardrop">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custDataLst>
                <p:tags r:id="rId35"/>
              </p:custDataLst>
            </p:nvPr>
          </p:nvSpPr>
          <p:spPr>
            <a:xfrm>
              <a:off x="7397576" y="1025006"/>
              <a:ext cx="1117600" cy="1117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p:cNvSpPr/>
          <p:nvPr>
            <p:custDataLst>
              <p:tags r:id="rId36"/>
            </p:custDataLst>
          </p:nvPr>
        </p:nvSpPr>
        <p:spPr>
          <a:xfrm>
            <a:off x="9770110" y="1732915"/>
            <a:ext cx="946785" cy="368300"/>
          </a:xfrm>
          <a:prstGeom prst="rect">
            <a:avLst/>
          </a:prstGeom>
        </p:spPr>
        <p:txBody>
          <a:bodyPr wrap="square">
            <a:spAutoFit/>
          </a:bodyPr>
          <a:lstStyle/>
          <a:p>
            <a:pPr lvl="0" algn="ctr"/>
            <a:r>
              <a:rPr 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21</a:t>
            </a:r>
            <a:r>
              <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世纪</a:t>
            </a:r>
            <a:endParaRPr lang="zh-CN" altLang="en-US" sz="18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25" name="文本框 7"/>
          <p:cNvSpPr txBox="1">
            <a:spLocks noChangeArrowheads="1"/>
          </p:cNvSpPr>
          <p:nvPr>
            <p:custDataLst>
              <p:tags r:id="rId37"/>
            </p:custDataLst>
          </p:nvPr>
        </p:nvSpPr>
        <p:spPr bwMode="auto">
          <a:xfrm>
            <a:off x="9356725" y="3160395"/>
            <a:ext cx="2101215" cy="1993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anose="020B0606020202030204" pitchFamily="34" charset="0"/>
                <a:ea typeface="微软雅黑" panose="020B0503020204020204" charset="-122"/>
              </a:defRPr>
            </a:lvl1pPr>
            <a:lvl2pPr>
              <a:defRPr sz="2800">
                <a:solidFill>
                  <a:schemeClr val="tx1"/>
                </a:solidFill>
                <a:latin typeface="Arial Narrow" panose="020B0606020202030204" pitchFamily="34" charset="0"/>
                <a:ea typeface="微软雅黑" panose="020B0503020204020204" charset="-122"/>
              </a:defRPr>
            </a:lvl2pPr>
            <a:lvl3pPr>
              <a:defRPr sz="2400">
                <a:solidFill>
                  <a:schemeClr val="tx1"/>
                </a:solidFill>
                <a:latin typeface="Arial Narrow" panose="020B0606020202030204" pitchFamily="34" charset="0"/>
                <a:ea typeface="微软雅黑" panose="020B0503020204020204" charset="-122"/>
              </a:defRPr>
            </a:lvl3pPr>
            <a:lvl4pPr>
              <a:defRPr sz="2000">
                <a:solidFill>
                  <a:schemeClr val="tx1"/>
                </a:solidFill>
                <a:latin typeface="Arial Narrow" panose="020B0606020202030204" pitchFamily="34" charset="0"/>
                <a:ea typeface="微软雅黑" panose="020B0503020204020204" charset="-122"/>
              </a:defRPr>
            </a:lvl4pPr>
            <a:lvl5pPr>
              <a:defRPr sz="2000">
                <a:solidFill>
                  <a:schemeClr val="tx1"/>
                </a:solidFill>
                <a:latin typeface="Arial Narrow" panose="020B0606020202030204" pitchFamily="34" charset="0"/>
                <a:ea typeface="微软雅黑" panose="020B0503020204020204" charset="-122"/>
              </a:defRPr>
            </a:lvl5pPr>
            <a:lvl6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6pPr>
            <a:lvl7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7pPr>
            <a:lvl8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8pPr>
            <a:lvl9pPr eaLnBrk="0" fontAlgn="base" hangingPunct="0">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charset="-122"/>
              </a:defRPr>
            </a:lvl9pPr>
          </a:lstStyle>
          <a:p>
            <a:pPr indent="0" algn="ctr" fontAlgn="auto">
              <a:lnSpc>
                <a:spcPts val="2560"/>
              </a:lnSpc>
              <a:spcBef>
                <a:spcPts val="300"/>
              </a:spcBef>
            </a:pP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大数据与分布式处理兴起，乌尔曼等编著《</a:t>
            </a:r>
            <a:r>
              <a:rPr lang="en-US" altLang="zh-CN"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Mining of Massive Datasets</a:t>
            </a:r>
            <a:r>
              <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rPr>
              <a:t>》成为重要教材</a:t>
            </a:r>
            <a:endParaRPr lang="zh-CN" altLang="en-US" sz="1800" dirty="0">
              <a:solidFill>
                <a:schemeClr val="tx1">
                  <a:lumMod val="75000"/>
                  <a:lumOff val="25000"/>
                </a:schemeClr>
              </a:solidFill>
              <a:latin typeface="楷体" panose="02010609060101010101" charset="-122"/>
              <a:ea typeface="楷体" panose="02010609060101010101" charset="-122"/>
              <a:cs typeface="楷体" panose="02010609060101010101" charset="-122"/>
            </a:endParaRPr>
          </a:p>
        </p:txBody>
      </p:sp>
    </p:spTree>
    <p:custDataLst>
      <p:tags r:id="rId38"/>
    </p:custDataLst>
  </p:cSld>
  <p:clrMapOvr>
    <a:masterClrMapping/>
  </p:clrMapOvr>
  <p:timing>
    <p:tnLst>
      <p:par>
        <p:cTn id="1" dur="indefinite" restart="never" nodeType="tmRoot"/>
      </p:par>
    </p:tnLst>
    <p:bldLst>
      <p:bldP spid="19" grpId="0" bldLvl="0" animBg="1"/>
      <p:bldP spid="5" grpId="0" bldLvl="0" animBg="1"/>
      <p:bldP spid="21" grpId="0" bldLvl="0" animBg="1"/>
      <p:bldP spid="22" grpId="0" bldLvl="0" animBg="1"/>
      <p:bldP spid="23" grpId="0" bldLvl="0" animBg="1"/>
      <p:bldP spid="51" grpId="0"/>
      <p:bldP spid="52" grpId="0"/>
      <p:bldP spid="58" grpId="0"/>
      <p:bldP spid="72" grpId="0"/>
      <p:bldP spid="73" grpId="0"/>
      <p:bldP spid="74" grpId="0"/>
      <p:bldP spid="75" grpId="0"/>
      <p:bldP spid="76" grpId="0"/>
      <p:bldP spid="77" grpId="0"/>
      <p:bldP spid="78" grpId="0"/>
      <p:bldP spid="6" grpId="0" bldLvl="0" animBg="1"/>
      <p:bldP spid="10" grpId="0"/>
      <p:bldP spid="2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数据挖掘发展简史</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8" name="圆角矩形 7"/>
          <p:cNvSpPr/>
          <p:nvPr/>
        </p:nvSpPr>
        <p:spPr>
          <a:xfrm>
            <a:off x="431165" y="1575435"/>
            <a:ext cx="11308715" cy="1007745"/>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431165" y="1555115"/>
            <a:ext cx="11066780" cy="1028700"/>
          </a:xfrm>
          <a:prstGeom prst="rect">
            <a:avLst/>
          </a:prstGeom>
          <a:noFill/>
        </p:spPr>
        <p:txBody>
          <a:bodyPr wrap="square" rtlCol="0">
            <a:noAutofit/>
          </a:bodyPr>
          <a:p>
            <a:pPr indent="457200" algn="l" defTabSz="1219200">
              <a:lnSpc>
                <a:spcPct val="150000"/>
              </a:lnSpc>
              <a:spcBef>
                <a:spcPct val="20000"/>
              </a:spcBef>
              <a:buFont typeface="Arial" panose="020B0604020202020204" pitchFamily="34" charset="0"/>
              <a:buNone/>
              <a:defRPr/>
            </a:pPr>
            <a:r>
              <a:rPr lang="en-US" altLang="zh-CN"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2006 </a:t>
            </a:r>
            <a:r>
              <a:rPr lang="zh-CN" altLang="en-US"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年</a:t>
            </a:r>
            <a:r>
              <a:rPr lang="en-US" altLang="zh-CN"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12 </a:t>
            </a:r>
            <a:r>
              <a:rPr lang="zh-CN" altLang="en-US"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月</a:t>
            </a:r>
            <a:r>
              <a:rPr lang="en-US" altLang="zh-CN"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IEEE </a:t>
            </a:r>
            <a:r>
              <a:rPr lang="zh-CN" altLang="en-US"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国际数据挖掘会议</a:t>
            </a:r>
            <a:r>
              <a:rPr lang="en-US" altLang="zh-CN"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(IEEE International Conference on DataMining, ICDM) </a:t>
            </a:r>
            <a:r>
              <a:rPr lang="zh-CN" altLang="en-US"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评选出数据挖掘领域的十大经典算法。</a:t>
            </a:r>
            <a:endParaRPr lang="zh-CN" altLang="en-US"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7" name="文本框 6"/>
          <p:cNvSpPr txBox="1"/>
          <p:nvPr/>
        </p:nvSpPr>
        <p:spPr>
          <a:xfrm>
            <a:off x="1061720" y="7067550"/>
            <a:ext cx="6883400" cy="645160"/>
          </a:xfrm>
          <a:prstGeom prst="rect">
            <a:avLst/>
          </a:prstGeom>
          <a:noFill/>
        </p:spPr>
        <p:txBody>
          <a:bodyPr wrap="square" rtlCol="0">
            <a:spAutoFit/>
          </a:bodyPr>
          <a:p>
            <a:endParaRPr lang="zh-CN" altLang="en-US"/>
          </a:p>
          <a:p>
            <a:endParaRPr lang="zh-CN" altLang="en-US"/>
          </a:p>
        </p:txBody>
      </p:sp>
      <p:sp>
        <p:nvSpPr>
          <p:cNvPr id="5" name="圆角矩形 4"/>
          <p:cNvSpPr/>
          <p:nvPr/>
        </p:nvSpPr>
        <p:spPr>
          <a:xfrm>
            <a:off x="633095" y="1009650"/>
            <a:ext cx="1958340" cy="466090"/>
          </a:xfrm>
          <a:prstGeom prst="round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十大经典算法</a:t>
            </a:r>
            <a:endParaRPr lang="zh-CN" altLang="en-US" sz="22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2" name="图片 1"/>
          <p:cNvPicPr>
            <a:picLocks noChangeAspect="1"/>
          </p:cNvPicPr>
          <p:nvPr/>
        </p:nvPicPr>
        <p:blipFill>
          <a:blip r:embed="rId1"/>
          <a:stretch>
            <a:fillRect/>
          </a:stretch>
        </p:blipFill>
        <p:spPr>
          <a:xfrm>
            <a:off x="2040890" y="2625725"/>
            <a:ext cx="8837930" cy="3967480"/>
          </a:xfrm>
          <a:prstGeom prst="rect">
            <a:avLst/>
          </a:prstGeom>
        </p:spPr>
      </p:pic>
    </p:spTree>
    <p:custDataLst>
      <p:tags r:id="rId2"/>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2122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数据挖掘流程</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a:p>
            <a:pPr algn="ctr">
              <a:buClrTx/>
              <a:buSzTx/>
              <a:buFontTx/>
            </a:pP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07</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506730"/>
          </a:xfrm>
          <a:prstGeom prst="rect">
            <a:avLst/>
          </a:prstGeom>
        </p:spPr>
        <p:txBody>
          <a:bodyPr wrap="square">
            <a:spAutoFit/>
          </a:bodyPr>
          <a:p>
            <a:pPr algn="ctr">
              <a:lnSpc>
                <a:spcPct val="150000"/>
              </a:lnSpc>
              <a:buClrTx/>
              <a:buSzTx/>
              <a:buFontTx/>
              <a:defRPr/>
            </a:pPr>
            <a:r>
              <a:rPr lang="en-US" altLang="zh-CN"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Data Mining Process</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数据挖掘流程</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p:cNvPicPr>
            <a:picLocks noChangeAspect="1"/>
          </p:cNvPicPr>
          <p:nvPr/>
        </p:nvPicPr>
        <p:blipFill>
          <a:blip r:embed="rId1"/>
          <a:stretch>
            <a:fillRect/>
          </a:stretch>
        </p:blipFill>
        <p:spPr>
          <a:xfrm>
            <a:off x="2160270" y="3472815"/>
            <a:ext cx="7872095" cy="3284220"/>
          </a:xfrm>
          <a:prstGeom prst="rect">
            <a:avLst/>
          </a:prstGeom>
        </p:spPr>
      </p:pic>
      <p:sp>
        <p:nvSpPr>
          <p:cNvPr id="8" name="圆角矩形 7"/>
          <p:cNvSpPr/>
          <p:nvPr/>
        </p:nvSpPr>
        <p:spPr>
          <a:xfrm>
            <a:off x="934720" y="843915"/>
            <a:ext cx="6816725" cy="2537460"/>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defTabSz="1219200">
              <a:lnSpc>
                <a:spcPct val="150000"/>
              </a:lnSpc>
              <a:spcBef>
                <a:spcPct val="20000"/>
              </a:spcBef>
              <a:buFont typeface="Arial" panose="020B0604020202020204" pitchFamily="34" charset="0"/>
              <a:buNone/>
              <a:defRPr/>
            </a:pPr>
            <a:r>
              <a:rPr lang="zh-CN" altLang="en-US"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数据筛选</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：选择与分析任务相关的数据</a:t>
            </a: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数据预处理</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：提升数据质量（去噪、清洗等）</a:t>
            </a: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数据变换</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：优化数据形式（正则化、降维、编码等）</a:t>
            </a: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数据挖掘</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：核心步骤，使用分类、聚类、关联分析等技术</a:t>
            </a:r>
            <a:endParaRPr lang="en-US" altLang="zh-CN"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algn="l" defTabSz="1219200">
              <a:lnSpc>
                <a:spcPct val="150000"/>
              </a:lnSpc>
              <a:spcBef>
                <a:spcPct val="20000"/>
              </a:spcBef>
              <a:buFont typeface="Arial" panose="020B0604020202020204" pitchFamily="34" charset="0"/>
              <a:buNone/>
              <a:defRPr/>
            </a:pPr>
            <a:r>
              <a:rPr lang="zh-CN" altLang="en-US"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模式解释与评价</a:t>
            </a: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：识别有用知识，应用于决策并评估调整</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5" name="圆角矩形 4"/>
          <p:cNvSpPr/>
          <p:nvPr/>
        </p:nvSpPr>
        <p:spPr>
          <a:xfrm>
            <a:off x="7930515" y="843915"/>
            <a:ext cx="3574415" cy="2537460"/>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defTabSz="1219200">
              <a:lnSpc>
                <a:spcPct val="150000"/>
              </a:lnSpc>
              <a:spcBef>
                <a:spcPct val="20000"/>
              </a:spcBef>
              <a:buFont typeface="Arial" panose="020B0604020202020204" pitchFamily="34" charset="0"/>
              <a:buNone/>
              <a:defRPr/>
            </a:pP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6" name="文本框 5"/>
          <p:cNvSpPr txBox="1"/>
          <p:nvPr/>
        </p:nvSpPr>
        <p:spPr>
          <a:xfrm>
            <a:off x="8002270" y="1599565"/>
            <a:ext cx="3503295" cy="1337945"/>
          </a:xfrm>
          <a:prstGeom prst="rect">
            <a:avLst/>
          </a:prstGeom>
          <a:noFill/>
        </p:spPr>
        <p:txBody>
          <a:bodyPr wrap="square" rtlCol="0" anchor="t">
            <a:spAutoFit/>
          </a:bodyPr>
          <a:p>
            <a:pPr indent="0" fontAlgn="auto">
              <a:lnSpc>
                <a:spcPct val="150000"/>
              </a:lnSpc>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1.均需数据预处理、特征提取</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a:p>
            <a:pPr indent="0" fontAlgn="auto">
              <a:lnSpc>
                <a:spcPct val="150000"/>
              </a:lnSpc>
            </a:pPr>
            <a:r>
              <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rPr>
              <a:t>2.均依赖机器学习算法（决策树、SVM、神经网络、聚类等）</a:t>
            </a:r>
            <a:endParaRPr lang="zh-CN" altLang="en-US"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7" name="文本框 6"/>
          <p:cNvSpPr txBox="1"/>
          <p:nvPr/>
        </p:nvSpPr>
        <p:spPr>
          <a:xfrm>
            <a:off x="8136890" y="1116330"/>
            <a:ext cx="3044190" cy="368300"/>
          </a:xfrm>
          <a:prstGeom prst="rect">
            <a:avLst/>
          </a:prstGeom>
          <a:noFill/>
        </p:spPr>
        <p:txBody>
          <a:bodyPr wrap="square" rtlCol="0">
            <a:spAutoFit/>
          </a:bodyPr>
          <a:p>
            <a:pPr algn="ctr"/>
            <a:r>
              <a:rPr lang="zh-CN" altLang="en-US">
                <a:solidFill>
                  <a:srgbClr val="C00000"/>
                </a:solidFill>
                <a:sym typeface="+mn-ea"/>
              </a:rPr>
              <a:t>模式识别与数据挖掘的共性</a:t>
            </a:r>
            <a:endParaRPr lang="zh-CN" altLang="en-US"/>
          </a:p>
        </p:txBody>
      </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本书主要内容</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08</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506730"/>
          </a:xfrm>
          <a:prstGeom prst="rect">
            <a:avLst/>
          </a:prstGeom>
        </p:spPr>
        <p:txBody>
          <a:bodyPr wrap="square">
            <a:spAutoFit/>
          </a:bodyPr>
          <a:p>
            <a:pPr algn="ctr">
              <a:lnSpc>
                <a:spcPct val="150000"/>
              </a:lnSpc>
              <a:buClrTx/>
              <a:buSzTx/>
              <a:buFontTx/>
              <a:defRPr/>
            </a:pPr>
            <a:r>
              <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Main Content of This Book</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本书主要内容</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8" name="圆角矩形 7"/>
          <p:cNvSpPr/>
          <p:nvPr/>
        </p:nvSpPr>
        <p:spPr>
          <a:xfrm>
            <a:off x="1089660" y="5337175"/>
            <a:ext cx="10013315" cy="807085"/>
          </a:xfrm>
          <a:prstGeom prst="roundRect">
            <a:avLst>
              <a:gd name="adj" fmla="val 13948"/>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3406140" y="5337175"/>
            <a:ext cx="5380355" cy="741045"/>
          </a:xfrm>
          <a:prstGeom prst="rect">
            <a:avLst/>
          </a:prstGeom>
          <a:noFill/>
        </p:spPr>
        <p:txBody>
          <a:bodyPr wrap="square" rtlCol="0">
            <a:noAutofit/>
          </a:bodyPr>
          <a:p>
            <a:pPr indent="0" algn="l" defTabSz="1219200" fontAlgn="auto">
              <a:lnSpc>
                <a:spcPct val="150000"/>
              </a:lnSpc>
              <a:spcBef>
                <a:spcPts val="0"/>
              </a:spcBef>
              <a:buFont typeface="Arial" panose="020B0604020202020204" pitchFamily="34" charset="0"/>
              <a:buNone/>
              <a:defRPr/>
            </a:pPr>
            <a:r>
              <a:rPr lang="zh-CN" altLang="en-US" sz="2400"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核心目标：实现</a:t>
            </a:r>
            <a:r>
              <a:rPr lang="en-US" altLang="zh-CN" sz="2400"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2400"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a:t>
            </a:r>
            <a:r>
              <a:rPr lang="en-US" altLang="zh-CN" sz="2400"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en-US" sz="2400"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400"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2400"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价值</a:t>
            </a:r>
            <a:r>
              <a:rPr lang="en-US" altLang="zh-CN" sz="2400"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2400"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转化</a:t>
            </a:r>
            <a:endParaRPr lang="zh-CN" altLang="en-US" sz="2400" dirty="0">
              <a:solidFill>
                <a:srgbClr val="C0000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7" name="文本框 6"/>
          <p:cNvSpPr txBox="1"/>
          <p:nvPr/>
        </p:nvSpPr>
        <p:spPr>
          <a:xfrm>
            <a:off x="1061720" y="7067550"/>
            <a:ext cx="6883400" cy="645160"/>
          </a:xfrm>
          <a:prstGeom prst="rect">
            <a:avLst/>
          </a:prstGeom>
          <a:noFill/>
        </p:spPr>
        <p:txBody>
          <a:bodyPr wrap="square" rtlCol="0">
            <a:spAutoFit/>
          </a:bodyPr>
          <a:p>
            <a:endParaRPr lang="zh-CN" altLang="en-US"/>
          </a:p>
          <a:p>
            <a:endParaRPr lang="zh-CN" altLang="en-US"/>
          </a:p>
        </p:txBody>
      </p:sp>
      <p:pic>
        <p:nvPicPr>
          <p:cNvPr id="4" name="图片 3"/>
          <p:cNvPicPr>
            <a:picLocks noChangeAspect="1"/>
          </p:cNvPicPr>
          <p:nvPr/>
        </p:nvPicPr>
        <p:blipFill>
          <a:blip r:embed="rId1"/>
          <a:stretch>
            <a:fillRect/>
          </a:stretch>
        </p:blipFill>
        <p:spPr>
          <a:xfrm>
            <a:off x="1409700" y="1014095"/>
            <a:ext cx="9371965" cy="4244340"/>
          </a:xfrm>
          <a:prstGeom prst="rect">
            <a:avLst/>
          </a:prstGeom>
        </p:spPr>
      </p:pic>
    </p:spTree>
    <p:custDataLst>
      <p:tags r:id="rId2"/>
    </p:custDataLst>
  </p:cSld>
  <p:clrMapOvr>
    <a:masterClrMapping/>
  </p:clrMapOvr>
  <p:timing>
    <p:tnLst>
      <p:par>
        <p:cTn id="1" dur="indefinite" restart="never" nodeType="tmRoot"/>
      </p:par>
    </p:tnLst>
  </p:timing>
</p:sld>
</file>

<file path=ppt/tags/tag1.xml><?xml version="1.0" encoding="utf-8"?>
<p:tagLst xmlns:p="http://schemas.openxmlformats.org/presentationml/2006/main">
  <p:tag name="ISLIDE.ICON" val="#407207;"/>
</p:tagLst>
</file>

<file path=ppt/tags/tag2.xml><?xml version="1.0" encoding="utf-8"?>
<p:tagLst xmlns:p="http://schemas.openxmlformats.org/presentationml/2006/main">
  <p:tag name="KSO_WM_DIAGRAM_VIRTUALLY_FRAME" val="{&quot;height&quot;:334.82826771653544,&quot;left&quot;:290.17039370078743,&quot;top&quot;:94.5,&quot;width&quot;:661.2341732283464}"/>
</p:tagLst>
</file>

<file path=ppt/tags/tag3.xml><?xml version="1.0" encoding="utf-8"?>
<p:tagLst xmlns:p="http://schemas.openxmlformats.org/presentationml/2006/main">
  <p:tag name="KSO_WM_DIAGRAM_VIRTUALLY_FRAME" val="{&quot;height&quot;:334.82826771653544,&quot;left&quot;:290.17039370078743,&quot;top&quot;:94.5,&quot;width&quot;:661.2341732283464}"/>
</p:tagLst>
</file>

<file path=ppt/tags/tag4.xml><?xml version="1.0" encoding="utf-8"?>
<p:tagLst xmlns:p="http://schemas.openxmlformats.org/presentationml/2006/main">
  <p:tag name="KSO_WM_DIAGRAM_VIRTUALLY_FRAME" val="{&quot;height&quot;:334.82826771653544,&quot;left&quot;:290.17039370078743,&quot;top&quot;:94.5,&quot;width&quot;:661.2341732283464}"/>
</p:tagLst>
</file>

<file path=ppt/tags/tag5.xml><?xml version="1.0" encoding="utf-8"?>
<p:tagLst xmlns:p="http://schemas.openxmlformats.org/presentationml/2006/main">
  <p:tag name="KSO_WM_DIAGRAM_VIRTUALLY_FRAME" val="{&quot;height&quot;:334.82826771653544,&quot;left&quot;:290.17039370078743,&quot;top&quot;:94.5,&quot;width&quot;:661.2341732283464}"/>
</p:tagLst>
</file>

<file path=ppt/tags/tag6.xml><?xml version="1.0" encoding="utf-8"?>
<p:tagLst xmlns:p="http://schemas.openxmlformats.org/presentationml/2006/main">
  <p:tag name="KSO_WM_DIAGRAM_VIRTUALLY_FRAME" val="{&quot;height&quot;:334.82826771653544,&quot;left&quot;:290.17039370078743,&quot;top&quot;:94.5,&quot;width&quot;:661.2341732283464}"/>
</p:tagLst>
</file>

<file path=ppt/tags/tag7.xml><?xml version="1.0" encoding="utf-8"?>
<p:tagLst xmlns:p="http://schemas.openxmlformats.org/presentationml/2006/main">
  <p:tag name="KSO_WM_DIAGRAM_VIRTUALLY_FRAME" val="{&quot;height&quot;:334.82826771653544,&quot;left&quot;:290.17039370078743,&quot;top&quot;:94.5,&quot;width&quot;:661.2341732283464}"/>
</p:tagLst>
</file>

<file path=ppt/tags/tag8.xml><?xml version="1.0" encoding="utf-8"?>
<p:tagLst xmlns:p="http://schemas.openxmlformats.org/presentationml/2006/main">
  <p:tag name="KSO_WM_DIAGRAM_VIRTUALLY_FRAME" val="{&quot;height&quot;:334.82826771653544,&quot;left&quot;:290.17039370078743,&quot;top&quot;:94.5,&quot;width&quot;:661.2341732283464}"/>
</p:tagLst>
</file>

<file path=ppt/tags/tag9.xml><?xml version="1.0" encoding="utf-8"?>
<p:tagLst xmlns:p="http://schemas.openxmlformats.org/presentationml/2006/main">
  <p:tag name="KSO_WM_DIAGRAM_VIRTUALLY_FRAME" val="{&quot;height&quot;:334.82826771653544,&quot;left&quot;:290.17039370078743,&quot;top&quot;:94.5,&quot;width&quot;:661.2341732283464}"/>
</p:tagLst>
</file>

<file path=ppt/tags/tag10.xml><?xml version="1.0" encoding="utf-8"?>
<p:tagLst xmlns:p="http://schemas.openxmlformats.org/presentationml/2006/main">
  <p:tag name="KSO_WM_DIAGRAM_VIRTUALLY_FRAME" val="{&quot;height&quot;:334.82826771653544,&quot;left&quot;:290.17039370078743,&quot;top&quot;:94.5,&quot;width&quot;:661.2341732283464}"/>
</p:tagLst>
</file>

<file path=ppt/tags/tag11.xml><?xml version="1.0" encoding="utf-8"?>
<p:tagLst xmlns:p="http://schemas.openxmlformats.org/presentationml/2006/main">
  <p:tag name="KSO_WM_DIAGRAM_VIRTUALLY_FRAME" val="{&quot;height&quot;:334.82826771653544,&quot;left&quot;:290.17039370078743,&quot;top&quot;:94.5,&quot;width&quot;:661.2341732283464}"/>
</p:tagLst>
</file>

<file path=ppt/tags/tag12.xml><?xml version="1.0" encoding="utf-8"?>
<p:tagLst xmlns:p="http://schemas.openxmlformats.org/presentationml/2006/main">
  <p:tag name="KSO_WM_DIAGRAM_VIRTUALLY_FRAME" val="{&quot;height&quot;:334.82826771653544,&quot;left&quot;:290.17039370078743,&quot;top&quot;:94.5,&quot;width&quot;:661.2341732283464}"/>
</p:tagLst>
</file>

<file path=ppt/tags/tag13.xml><?xml version="1.0" encoding="utf-8"?>
<p:tagLst xmlns:p="http://schemas.openxmlformats.org/presentationml/2006/main">
  <p:tag name="KSO_WM_DIAGRAM_VIRTUALLY_FRAME" val="{&quot;height&quot;:334.82826771653544,&quot;left&quot;:290.17039370078743,&quot;top&quot;:94.5,&quot;width&quot;:661.2341732283464}"/>
</p:tagLst>
</file>

<file path=ppt/tags/tag14.xml><?xml version="1.0" encoding="utf-8"?>
<p:tagLst xmlns:p="http://schemas.openxmlformats.org/presentationml/2006/main">
  <p:tag name="KSO_WM_DIAGRAM_VIRTUALLY_FRAME" val="{&quot;height&quot;:334.82826771653544,&quot;left&quot;:290.17039370078743,&quot;top&quot;:94.5,&quot;width&quot;:661.2341732283464}"/>
</p:tagLst>
</file>

<file path=ppt/tags/tag15.xml><?xml version="1.0" encoding="utf-8"?>
<p:tagLst xmlns:p="http://schemas.openxmlformats.org/presentationml/2006/main">
  <p:tag name="KSO_WM_DIAGRAM_VIRTUALLY_FRAME" val="{&quot;height&quot;:334.82826771653544,&quot;left&quot;:290.17039370078743,&quot;top&quot;:94.5,&quot;width&quot;:661.2341732283464}"/>
</p:tagLst>
</file>

<file path=ppt/tags/tag16.xml><?xml version="1.0" encoding="utf-8"?>
<p:tagLst xmlns:p="http://schemas.openxmlformats.org/presentationml/2006/main">
  <p:tag name="KSO_WM_DIAGRAM_VIRTUALLY_FRAME" val="{&quot;height&quot;:334.82826771653544,&quot;left&quot;:290.17039370078743,&quot;top&quot;:94.5,&quot;width&quot;:661.2341732283464}"/>
</p:tagLst>
</file>

<file path=ppt/tags/tag17.xml><?xml version="1.0" encoding="utf-8"?>
<p:tagLst xmlns:p="http://schemas.openxmlformats.org/presentationml/2006/main">
  <p:tag name="KSO_WM_DIAGRAM_VIRTUALLY_FRAME" val="{&quot;height&quot;:334.82826771653544,&quot;left&quot;:290.17039370078743,&quot;top&quot;:94.5,&quot;width&quot;:661.2341732283464}"/>
</p:tagLst>
</file>

<file path=ppt/tags/tag18.xml><?xml version="1.0" encoding="utf-8"?>
<p:tagLst xmlns:p="http://schemas.openxmlformats.org/presentationml/2006/main">
  <p:tag name="KSO_WM_DIAGRAM_VIRTUALLY_FRAME" val="{&quot;height&quot;:334.82826771653544,&quot;left&quot;:290.17039370078743,&quot;top&quot;:94.5,&quot;width&quot;:661.2341732283464}"/>
</p:tagLst>
</file>

<file path=ppt/tags/tag19.xml><?xml version="1.0" encoding="utf-8"?>
<p:tagLst xmlns:p="http://schemas.openxmlformats.org/presentationml/2006/main">
  <p:tag name="KSO_WM_DIAGRAM_VIRTUALLY_FRAME" val="{&quot;height&quot;:334.82826771653544,&quot;left&quot;:290.17039370078743,&quot;top&quot;:94.5,&quot;width&quot;:661.2341732283464}"/>
</p:tagLst>
</file>

<file path=ppt/tags/tag20.xml><?xml version="1.0" encoding="utf-8"?>
<p:tagLst xmlns:p="http://schemas.openxmlformats.org/presentationml/2006/main">
  <p:tag name="KSO_WM_DIAGRAM_VIRTUALLY_FRAME" val="{&quot;height&quot;:334.82826771653544,&quot;left&quot;:290.17039370078743,&quot;top&quot;:94.5,&quot;width&quot;:661.2341732283464}"/>
</p:tagLst>
</file>

<file path=ppt/tags/tag21.xml><?xml version="1.0" encoding="utf-8"?>
<p:tagLst xmlns:p="http://schemas.openxmlformats.org/presentationml/2006/main">
  <p:tag name="KSO_WM_DIAGRAM_VIRTUALLY_FRAME" val="{&quot;height&quot;:334.82826771653544,&quot;left&quot;:290.17039370078743,&quot;top&quot;:94.5,&quot;width&quot;:661.2341732283464}"/>
</p:tagLst>
</file>

<file path=ppt/tags/tag22.xml><?xml version="1.0" encoding="utf-8"?>
<p:tagLst xmlns:p="http://schemas.openxmlformats.org/presentationml/2006/main">
  <p:tag name="KSO_WM_DIAGRAM_VIRTUALLY_FRAME" val="{&quot;height&quot;:334.82826771653544,&quot;left&quot;:290.17039370078743,&quot;top&quot;:94.5,&quot;width&quot;:661.2341732283464}"/>
</p:tagLst>
</file>

<file path=ppt/tags/tag23.xml><?xml version="1.0" encoding="utf-8"?>
<p:tagLst xmlns:p="http://schemas.openxmlformats.org/presentationml/2006/main">
  <p:tag name="KSO_WM_DIAGRAM_VIRTUALLY_FRAME" val="{&quot;height&quot;:334.82826771653544,&quot;left&quot;:290.17039370078743,&quot;top&quot;:94.5,&quot;width&quot;:661.2341732283464}"/>
</p:tagLst>
</file>

<file path=ppt/tags/tag24.xml><?xml version="1.0" encoding="utf-8"?>
<p:tagLst xmlns:p="http://schemas.openxmlformats.org/presentationml/2006/main">
  <p:tag name="KSO_WM_DIAGRAM_VIRTUALLY_FRAME" val="{&quot;height&quot;:334.82826771653544,&quot;left&quot;:290.17039370078743,&quot;top&quot;:94.5,&quot;width&quot;:661.2341732283464}"/>
</p:tagLst>
</file>

<file path=ppt/tags/tag25.xml><?xml version="1.0" encoding="utf-8"?>
<p:tagLst xmlns:p="http://schemas.openxmlformats.org/presentationml/2006/main">
  <p:tag name="KSO_WM_DIAGRAM_VIRTUALLY_FRAME" val="{&quot;height&quot;:334.82826771653544,&quot;left&quot;:290.17039370078743,&quot;top&quot;:94.5,&quot;width&quot;:661.2341732283464}"/>
</p:tagLst>
</file>

<file path=ppt/tags/tag26.xml><?xml version="1.0" encoding="utf-8"?>
<p:tagLst xmlns:p="http://schemas.openxmlformats.org/presentationml/2006/main">
  <p:tag name="ISLIDE.ICON" val="#407207;"/>
</p:tagLst>
</file>

<file path=ppt/tags/tag27.xml><?xml version="1.0" encoding="utf-8"?>
<p:tagLst xmlns:p="http://schemas.openxmlformats.org/presentationml/2006/main">
  <p:tag name="ISLIDE.ICON" val="#407207;"/>
</p:tagLst>
</file>

<file path=ppt/tags/tag28.xml><?xml version="1.0" encoding="utf-8"?>
<p:tagLst xmlns:p="http://schemas.openxmlformats.org/presentationml/2006/main">
  <p:tag name="ISLIDE.ICON" val="#407207;"/>
</p:tagLst>
</file>

<file path=ppt/tags/tag29.xml><?xml version="1.0" encoding="utf-8"?>
<p:tagLst xmlns:p="http://schemas.openxmlformats.org/presentationml/2006/main">
  <p:tag name="ISLIDE.ICON" val="#407207;"/>
</p:tagLst>
</file>

<file path=ppt/tags/tag30.xml><?xml version="1.0" encoding="utf-8"?>
<p:tagLst xmlns:p="http://schemas.openxmlformats.org/presentationml/2006/main">
  <p:tag name="ISLIDE.ICON" val="#407207;"/>
</p:tagLst>
</file>

<file path=ppt/tags/tag31.xml><?xml version="1.0" encoding="utf-8"?>
<p:tagLst xmlns:p="http://schemas.openxmlformats.org/presentationml/2006/main">
  <p:tag name="ISLIDE.ICON" val="#407207;"/>
</p:tagLst>
</file>

<file path=ppt/tags/tag32.xml><?xml version="1.0" encoding="utf-8"?>
<p:tagLst xmlns:p="http://schemas.openxmlformats.org/presentationml/2006/main">
  <p:tag name="ISLIDE.ICON" val="#407207;"/>
</p:tagLst>
</file>

<file path=ppt/tags/tag33.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34.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35.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36.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37.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38.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39.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40.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41.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42.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43.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44.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45.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46.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47.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48.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49.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50.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51.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52.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53.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54.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55.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56.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57.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58.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59.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60.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61.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62.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63.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64.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65.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66.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67.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68.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69.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70.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71.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72.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73.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74.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75.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76.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77.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78.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79.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80.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81.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82.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83.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84.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85.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86.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87.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88.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89.xml><?xml version="1.0" encoding="utf-8"?>
<p:tagLst xmlns:p="http://schemas.openxmlformats.org/presentationml/2006/main">
  <p:tag name="ISLIDE.ICON" val="#407207;"/>
</p:tagLst>
</file>

<file path=ppt/tags/tag90.xml><?xml version="1.0" encoding="utf-8"?>
<p:tagLst xmlns:p="http://schemas.openxmlformats.org/presentationml/2006/main">
  <p:tag name="ISLIDE.ICON" val="#407207;"/>
</p:tagLst>
</file>

<file path=ppt/tags/tag91.xml><?xml version="1.0" encoding="utf-8"?>
<p:tagLst xmlns:p="http://schemas.openxmlformats.org/presentationml/2006/main">
  <p:tag name="ISLIDE.ICON" val="#407207;"/>
</p:tagLst>
</file>

<file path=ppt/tags/tag92.xml><?xml version="1.0" encoding="utf-8"?>
<p:tagLst xmlns:p="http://schemas.openxmlformats.org/presentationml/2006/main">
  <p:tag name="ISLIDE.ICON" val="#407207;"/>
</p:tagLst>
</file>

<file path=ppt/tags/tag93.xml><?xml version="1.0" encoding="utf-8"?>
<p:tagLst xmlns:p="http://schemas.openxmlformats.org/presentationml/2006/main">
  <p:tag name="KSO_WM_DIAGRAM_VIRTUALLY_FRAME" val="{&quot;height&quot;:193.82173228346466,&quot;left&quot;:83.58753513475284,&quot;top&quot;:324.9837007874015,&quot;width&quot;:720.735063290444}"/>
</p:tagLst>
</file>

<file path=ppt/tags/tag94.xml><?xml version="1.0" encoding="utf-8"?>
<p:tagLst xmlns:p="http://schemas.openxmlformats.org/presentationml/2006/main">
  <p:tag name="KSO_WM_DIAGRAM_VIRTUALLY_FRAME" val="{&quot;height&quot;:193.82173228346466,&quot;left&quot;:83.58753513475284,&quot;top&quot;:324.9837007874015,&quot;width&quot;:720.735063290444}"/>
</p:tagLst>
</file>

<file path=ppt/tags/tag95.xml><?xml version="1.0" encoding="utf-8"?>
<p:tagLst xmlns:p="http://schemas.openxmlformats.org/presentationml/2006/main">
  <p:tag name="KSO_WM_DIAGRAM_VIRTUALLY_FRAME" val="{&quot;height&quot;:193.82173228346466,&quot;left&quot;:83.58753513475284,&quot;top&quot;:324.9837007874015,&quot;width&quot;:720.735063290444}"/>
</p:tagLst>
</file>

<file path=ppt/tags/tag96.xml><?xml version="1.0" encoding="utf-8"?>
<p:tagLst xmlns:p="http://schemas.openxmlformats.org/presentationml/2006/main">
  <p:tag name="KSO_WM_DIAGRAM_VIRTUALLY_FRAME" val="{&quot;height&quot;:193.82173228346466,&quot;left&quot;:83.58753513475284,&quot;top&quot;:324.9837007874015,&quot;width&quot;:720.735063290444}"/>
</p:tagLst>
</file>

<file path=ppt/tags/tag97.xml><?xml version="1.0" encoding="utf-8"?>
<p:tagLst xmlns:p="http://schemas.openxmlformats.org/presentationml/2006/main">
  <p:tag name="ISLIDE.ICON" val="#407207;"/>
</p:tagLst>
</file>

<file path=ppt/tags/tag98.xml><?xml version="1.0" encoding="utf-8"?>
<p:tagLst xmlns:p="http://schemas.openxmlformats.org/presentationml/2006/main">
  <p:tag name="ISLIDE.ICON" val="#407207;"/>
</p:tagLst>
</file>

<file path=ppt/tags/tag99.xml><?xml version="1.0" encoding="utf-8"?>
<p:tagLst xmlns:p="http://schemas.openxmlformats.org/presentationml/2006/main">
  <p:tag name="ISLIDE.ICON" val="#407207;"/>
</p:tagLst>
</file>

<file path=ppt/tags/tag100.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01.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02.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03.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04.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05.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06.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07.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08.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09.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10.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11.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12.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13.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14.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15.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16.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17.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18.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19.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20.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21.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22.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23.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24.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25.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26.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27.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28.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29.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30.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31.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32.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33.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34.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35.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36.xml><?xml version="1.0" encoding="utf-8"?>
<p:tagLst xmlns:p="http://schemas.openxmlformats.org/presentationml/2006/main">
  <p:tag name="KSO_WM_DIAGRAM_VIRTUALLY_FRAME" val="{&quot;height&quot;:282.04062992125984,&quot;left&quot;:115.4271653543307,&quot;top&quot;:69.21779527559057,&quot;width&quot;:669.9906299212598}"/>
</p:tagLst>
</file>

<file path=ppt/tags/tag137.xml><?xml version="1.0" encoding="utf-8"?>
<p:tagLst xmlns:p="http://schemas.openxmlformats.org/presentationml/2006/main">
  <p:tag name="ISLIDE.ICON" val="#407207;"/>
</p:tagLst>
</file>

<file path=ppt/tags/tag138.xml><?xml version="1.0" encoding="utf-8"?>
<p:tagLst xmlns:p="http://schemas.openxmlformats.org/presentationml/2006/main">
  <p:tag name="ISLIDE.ICON" val="#407207;"/>
</p:tagLst>
</file>

<file path=ppt/tags/tag139.xml><?xml version="1.0" encoding="utf-8"?>
<p:tagLst xmlns:p="http://schemas.openxmlformats.org/presentationml/2006/main">
  <p:tag name="ISLIDE.ICON" val="#407207;"/>
</p:tagLst>
</file>

<file path=ppt/tags/tag140.xml><?xml version="1.0" encoding="utf-8"?>
<p:tagLst xmlns:p="http://schemas.openxmlformats.org/presentationml/2006/main">
  <p:tag name="ISLIDE.ICON" val="#407207;"/>
</p:tagLst>
</file>

<file path=ppt/tags/tag141.xml><?xml version="1.0" encoding="utf-8"?>
<p:tagLst xmlns:p="http://schemas.openxmlformats.org/presentationml/2006/main">
  <p:tag name="ISLIDE.ICON" val="#407207;"/>
</p:tagLst>
</file>

<file path=ppt/tags/tag142.xml><?xml version="1.0" encoding="utf-8"?>
<p:tagLst xmlns:p="http://schemas.openxmlformats.org/presentationml/2006/main">
  <p:tag name="ISLIDE.ICON" val="#407207;"/>
</p:tagLst>
</file>

<file path=ppt/tags/tag143.xml><?xml version="1.0" encoding="utf-8"?>
<p:tagLst xmlns:p="http://schemas.openxmlformats.org/presentationml/2006/main">
  <p:tag name="KSO_WPP_MARK_KEY" val="be449126-64c9-4d19-a63f-f572ce796e9d"/>
  <p:tag name="COMMONDATA" val="eyJoZGlkIjoiNTQ0MDc3NzBkNTM1ZjYzYmNhY2VjZGI2NTUwOWI0NjkifQ=="/>
</p:tagLst>
</file>

<file path=ppt/theme/theme1.xml><?xml version="1.0" encoding="utf-8"?>
<a:theme xmlns:a="http://schemas.openxmlformats.org/drawingml/2006/main" name="Office 主题​​">
  <a:themeElements>
    <a:clrScheme name="自定义 351">
      <a:dk1>
        <a:sysClr val="windowText" lastClr="000000"/>
      </a:dk1>
      <a:lt1>
        <a:sysClr val="window" lastClr="FFFFFF"/>
      </a:lt1>
      <a:dk2>
        <a:srgbClr val="44546A"/>
      </a:dk2>
      <a:lt2>
        <a:srgbClr val="E7E6E6"/>
      </a:lt2>
      <a:accent1>
        <a:srgbClr val="00568A"/>
      </a:accent1>
      <a:accent2>
        <a:srgbClr val="006FAE"/>
      </a:accent2>
      <a:accent3>
        <a:srgbClr val="3F3F3F"/>
      </a:accent3>
      <a:accent4>
        <a:srgbClr val="00568A"/>
      </a:accent4>
      <a:accent5>
        <a:srgbClr val="006FAE"/>
      </a:accent5>
      <a:accent6>
        <a:srgbClr val="3F3F3F"/>
      </a:accent6>
      <a:hlink>
        <a:srgbClr val="0563C1"/>
      </a:hlink>
      <a:folHlink>
        <a:srgbClr val="954F72"/>
      </a:folHlink>
    </a:clrScheme>
    <a:fontScheme name="4rqz4uym">
      <a:majorFont>
        <a:latin typeface="思源黑体 CN Regular"/>
        <a:ea typeface="思源黑体 CN Regular"/>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游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Regular"/>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ＭＳ Ｐ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2650</Words>
  <Application>WPS 演示</Application>
  <PresentationFormat>宽屏</PresentationFormat>
  <Paragraphs>277</Paragraphs>
  <Slides>21</Slides>
  <Notes>20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Arial</vt:lpstr>
      <vt:lpstr>宋体</vt:lpstr>
      <vt:lpstr>Wingdings</vt:lpstr>
      <vt:lpstr>思源黑体 CN Regular</vt:lpstr>
      <vt:lpstr>楷体</vt:lpstr>
      <vt:lpstr>微软雅黑</vt:lpstr>
      <vt:lpstr>Arial Narrow</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张海波</cp:lastModifiedBy>
  <cp:revision>116</cp:revision>
  <dcterms:created xsi:type="dcterms:W3CDTF">2025-12-27T06:12:00Z</dcterms:created>
  <dcterms:modified xsi:type="dcterms:W3CDTF">2026-03-05T06:29:07Z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CE885E7CB2AF40D1AD487642EBB9291E_13</vt:lpwstr>
  </property>
  <property fmtid="{D5CDD505-2E9C-101B-9397-08002B2CF9AE}" pid="4" name="KSOTemplateUUID">
    <vt:lpwstr>v1.0_mb_8FD/Rqav6PdV2YvimblSqQ==</vt:lpwstr>
  </property>
</Properties>
</file>