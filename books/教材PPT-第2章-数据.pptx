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42"/>
  </p:handoutMasterIdLst>
  <p:sldIdLst>
    <p:sldId id="256" r:id="rId3"/>
    <p:sldId id="257" r:id="rId5"/>
    <p:sldId id="303" r:id="rId6"/>
    <p:sldId id="315" r:id="rId7"/>
    <p:sldId id="316" r:id="rId8"/>
    <p:sldId id="317" r:id="rId9"/>
    <p:sldId id="318" r:id="rId10"/>
    <p:sldId id="319" r:id="rId11"/>
    <p:sldId id="320" r:id="rId12"/>
    <p:sldId id="321" r:id="rId13"/>
    <p:sldId id="322" r:id="rId14"/>
    <p:sldId id="323" r:id="rId15"/>
    <p:sldId id="324" r:id="rId16"/>
    <p:sldId id="335" r:id="rId17"/>
    <p:sldId id="334" r:id="rId18"/>
    <p:sldId id="325" r:id="rId19"/>
    <p:sldId id="336" r:id="rId20"/>
    <p:sldId id="326" r:id="rId21"/>
    <p:sldId id="327" r:id="rId22"/>
    <p:sldId id="328" r:id="rId23"/>
    <p:sldId id="329" r:id="rId24"/>
    <p:sldId id="330" r:id="rId25"/>
    <p:sldId id="331" r:id="rId26"/>
    <p:sldId id="332" r:id="rId27"/>
    <p:sldId id="333" r:id="rId28"/>
    <p:sldId id="266" r:id="rId29"/>
    <p:sldId id="301" r:id="rId30"/>
    <p:sldId id="308" r:id="rId31"/>
    <p:sldId id="311" r:id="rId32"/>
    <p:sldId id="309" r:id="rId33"/>
    <p:sldId id="312" r:id="rId34"/>
    <p:sldId id="310" r:id="rId35"/>
    <p:sldId id="304" r:id="rId36"/>
    <p:sldId id="306" r:id="rId37"/>
    <p:sldId id="313" r:id="rId38"/>
    <p:sldId id="314" r:id="rId39"/>
    <p:sldId id="305" r:id="rId40"/>
    <p:sldId id="300" r:id="rId41"/>
  </p:sldIdLst>
  <p:sldSz cx="12192000" cy="6858000"/>
  <p:notesSz cx="6858000" cy="9144000"/>
  <p:embeddedFontLst>
    <p:embeddedFont>
      <p:font typeface="思源黑体 CN Regular" panose="020B0500000000000000" charset="-122"/>
      <p:regular r:id="rId46"/>
    </p:embeddedFont>
    <p:embeddedFont>
      <p:font typeface="Cambria Math" panose="02040503050406030204" pitchFamily="18" charset="0"/>
      <p:regular r:id="rId47"/>
    </p:embeddedFont>
  </p:embeddedFontLst>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B0F0"/>
    <a:srgbClr val="006FAE"/>
    <a:srgbClr val="0056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34" autoAdjust="0"/>
    <p:restoredTop sz="94703"/>
  </p:normalViewPr>
  <p:slideViewPr>
    <p:cSldViewPr snapToGrid="0">
      <p:cViewPr varScale="1">
        <p:scale>
          <a:sx n="86" d="100"/>
          <a:sy n="86" d="100"/>
        </p:scale>
        <p:origin x="309"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51.xml"/><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panose="020B0500000000000000" charset="-122"/>
              </a:rPr>
            </a:fld>
            <a:endParaRPr lang="zh-CN" altLang="en-US">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panose="020B0500000000000000" charset="-122"/>
              </a:rPr>
            </a:fld>
            <a:endParaRPr lang="zh-CN" altLang="en-US">
              <a:cs typeface="思源黑体 CN Regular" panose="020B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AC6BB1A7-0D1B-4F2D-B557-917D931FD8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24E404EE-387A-4429-A950-C98FCE955E0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E8E436A-E919-4421-9BC7-04029FF8AF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2E8E436A-E919-4421-9BC7-04029FF8AF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B29329AE-01FF-4B06-A12C-DAE64B6F6607}"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notesSlide" Target="../notesSlides/notesSlide2.xml"/><Relationship Id="rId15" Type="http://schemas.openxmlformats.org/officeDocument/2006/relationships/slideLayout" Target="../slideLayouts/slideLayout1.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15.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tags" Target="../tags/tag21.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tags" Target="../tags/tag2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tags" Target="../tags/tag25.xml"/><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xml"/><Relationship Id="rId5" Type="http://schemas.openxmlformats.org/officeDocument/2006/relationships/tags" Target="../tags/tag26.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tags" Target="../tags/tag30.xml"/><Relationship Id="rId2" Type="http://schemas.openxmlformats.org/officeDocument/2006/relationships/image" Target="../media/image2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tags" Target="../tags/tag33.xml"/><Relationship Id="rId2" Type="http://schemas.openxmlformats.org/officeDocument/2006/relationships/image" Target="../media/image26.pn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image" Target="../media/image29.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image" Target="../media/image30.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39.xml"/></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slideLayout" Target="../slideLayouts/slideLayout1.xml"/><Relationship Id="rId7" Type="http://schemas.openxmlformats.org/officeDocument/2006/relationships/tags" Target="../tags/tag4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4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4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43.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xml"/><Relationship Id="rId3" Type="http://schemas.openxmlformats.org/officeDocument/2006/relationships/tags" Target="../tags/tag44.xml"/><Relationship Id="rId2" Type="http://schemas.openxmlformats.org/officeDocument/2006/relationships/image" Target="../media/image38.png"/><Relationship Id="rId1" Type="http://schemas.openxmlformats.org/officeDocument/2006/relationships/image" Target="../media/image37.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45.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1.xml"/><Relationship Id="rId4" Type="http://schemas.openxmlformats.org/officeDocument/2006/relationships/tags" Target="../tags/tag46.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1.xml"/><Relationship Id="rId4" Type="http://schemas.openxmlformats.org/officeDocument/2006/relationships/tags" Target="../tags/tag47.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ags" Target="../tags/tag48.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tags" Target="../tags/tag49.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737235"/>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第</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2</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章</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Pattern Recognition and Data Mining</a:t>
            </a:r>
            <a:endPar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panose="020B0500000000000000" charset="-122"/>
                <a:ea typeface="思源黑体 CN Regular" panose="020B0500000000000000" charset="-122"/>
                <a:cs typeface="+mn-ea"/>
                <a:sym typeface="+mn-lt"/>
              </a:rPr>
              <a:t>模式识别与数据挖掘</a:t>
            </a:r>
            <a:endParaRPr lang="zh-CN" altLang="en-US" sz="6600" dirty="0">
              <a:solidFill>
                <a:srgbClr val="00568A"/>
              </a:solidFill>
              <a:latin typeface="思源黑体 CN Regular" panose="020B0500000000000000" charset="-122"/>
              <a:ea typeface="思源黑体 CN Regular" panose="020B0500000000000000" charset="-122"/>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目</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录</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Contents</a:t>
              </a:r>
              <a:endPar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grpSp>
      <p:sp>
        <p:nvSpPr>
          <p:cNvPr id="33" name="文本框"/>
          <p:cNvSpPr/>
          <p:nvPr>
            <p:custDataLst>
              <p:tags r:id="rId2"/>
            </p:custDataLst>
          </p:nvPr>
        </p:nvSpPr>
        <p:spPr>
          <a:xfrm>
            <a:off x="4766945" y="1414780"/>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4" name="矩形 33"/>
          <p:cNvSpPr/>
          <p:nvPr>
            <p:custDataLst>
              <p:tags r:id="rId3"/>
            </p:custDataLst>
          </p:nvPr>
        </p:nvSpPr>
        <p:spPr>
          <a:xfrm flipH="1">
            <a:off x="4766945" y="1845648"/>
            <a:ext cx="3550472" cy="26924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Basic Concepts of Data</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5" name="文本框"/>
          <p:cNvSpPr/>
          <p:nvPr>
            <p:custDataLst>
              <p:tags r:id="rId4"/>
            </p:custDataLst>
          </p:nvPr>
        </p:nvSpPr>
        <p:spPr>
          <a:xfrm>
            <a:off x="4766945" y="2515891"/>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数据采集与处理</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6" name="矩形 35"/>
          <p:cNvSpPr/>
          <p:nvPr>
            <p:custDataLst>
              <p:tags r:id="rId5"/>
            </p:custDataLst>
          </p:nvPr>
        </p:nvSpPr>
        <p:spPr>
          <a:xfrm flipH="1">
            <a:off x="4766945" y="2946759"/>
            <a:ext cx="3550472" cy="26924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Collection and Processing</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7" name="文本框"/>
          <p:cNvSpPr/>
          <p:nvPr>
            <p:custDataLst>
              <p:tags r:id="rId6"/>
            </p:custDataLst>
          </p:nvPr>
        </p:nvSpPr>
        <p:spPr>
          <a:xfrm>
            <a:off x="4766945" y="361700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数据可视化</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8" name="矩形 37"/>
          <p:cNvSpPr/>
          <p:nvPr>
            <p:custDataLst>
              <p:tags r:id="rId7"/>
            </p:custDataLst>
          </p:nvPr>
        </p:nvSpPr>
        <p:spPr>
          <a:xfrm flipH="1">
            <a:off x="4766945" y="4047870"/>
            <a:ext cx="3550472" cy="26924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Visualization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9" name="文本框"/>
          <p:cNvSpPr/>
          <p:nvPr>
            <p:custDataLst>
              <p:tags r:id="rId8"/>
            </p:custDataLst>
          </p:nvPr>
        </p:nvSpPr>
        <p:spPr>
          <a:xfrm>
            <a:off x="4766945" y="471811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0" name="矩形 39"/>
          <p:cNvSpPr/>
          <p:nvPr>
            <p:custDataLst>
              <p:tags r:id="rId9"/>
            </p:custDataLst>
          </p:nvPr>
        </p:nvSpPr>
        <p:spPr>
          <a:xfrm flipH="1">
            <a:off x="4766945" y="5148980"/>
            <a:ext cx="3550472" cy="26924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Summary and Discussion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1" name="椭圆 40"/>
          <p:cNvSpPr/>
          <p:nvPr>
            <p:custDataLst>
              <p:tags r:id="rId10"/>
            </p:custDataLst>
          </p:nvPr>
        </p:nvSpPr>
        <p:spPr>
          <a:xfrm>
            <a:off x="3970914" y="1414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2" name="椭圆 41"/>
          <p:cNvSpPr/>
          <p:nvPr>
            <p:custDataLst>
              <p:tags r:id="rId11"/>
            </p:custDataLst>
          </p:nvPr>
        </p:nvSpPr>
        <p:spPr>
          <a:xfrm>
            <a:off x="3970914" y="251589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3" name="椭圆 42"/>
          <p:cNvSpPr/>
          <p:nvPr>
            <p:custDataLst>
              <p:tags r:id="rId12"/>
            </p:custDataLst>
          </p:nvPr>
        </p:nvSpPr>
        <p:spPr>
          <a:xfrm>
            <a:off x="3970914" y="361700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4" name="椭圆 43"/>
          <p:cNvSpPr/>
          <p:nvPr>
            <p:custDataLst>
              <p:tags r:id="rId13"/>
            </p:custDataLst>
          </p:nvPr>
        </p:nvSpPr>
        <p:spPr>
          <a:xfrm>
            <a:off x="3970914" y="471811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395621"/>
          </a:xfrm>
          <a:prstGeom prst="rect">
            <a:avLst/>
          </a:prstGeom>
        </p:spPr>
        <p:txBody>
          <a:bodyPr wrap="square">
            <a:spAutoFit/>
          </a:bodyPr>
          <a:lstStyle/>
          <a:p>
            <a:pPr lvl="0" algn="ctr">
              <a:lnSpc>
                <a:spcPct val="130000"/>
              </a:lnSpc>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Basic Concepts of Data</a:t>
            </a:r>
            <a:endPar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124219"/>
            <a:ext cx="10951210" cy="170747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数据类型</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数据集</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数据（集）可以定义为数据对象的集合，其中每个数据对象由一个或多个属性描述。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属性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attribute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）表示数据对象的基本特征，其类型是由该属性可能具有的值的集合决定。根据属性值的特点，可以将属性分为四种类型：标称（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nominal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）、序数（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ordinal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）、区间（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interval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）和比率（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ratio</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aphicFrame>
        <p:nvGraphicFramePr>
          <p:cNvPr id="2" name="Table 1"/>
          <p:cNvGraphicFramePr>
            <a:graphicFrameLocks noGrp="1"/>
          </p:cNvGraphicFramePr>
          <p:nvPr/>
        </p:nvGraphicFramePr>
        <p:xfrm>
          <a:off x="653778" y="2713706"/>
          <a:ext cx="10655844" cy="3277145"/>
        </p:xfrm>
        <a:graphic>
          <a:graphicData uri="http://schemas.openxmlformats.org/drawingml/2006/table">
            <a:tbl>
              <a:tblPr firstRow="1" bandRow="1">
                <a:tableStyleId>{2D5ABB26-0587-4C30-8999-92F81FD0307C}</a:tableStyleId>
              </a:tblPr>
              <a:tblGrid>
                <a:gridCol w="2801463"/>
                <a:gridCol w="985531"/>
                <a:gridCol w="4011483"/>
                <a:gridCol w="2857367"/>
              </a:tblGrid>
              <a:tr h="655429">
                <a:tc gridSpan="2">
                  <a:txBody>
                    <a:bodyPr/>
                    <a:lstStyle/>
                    <a:p>
                      <a:pPr algn="ctr"/>
                      <a:r>
                        <a:rPr lang="en-US" sz="1600" dirty="0" err="1"/>
                        <a:t>属性类型</a:t>
                      </a:r>
                      <a:endParaRPr lang="en-US" sz="1600" dirty="0"/>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dirty="0" err="1"/>
                        <a:t>描述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例子</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655429">
                <a:tc rowSpan="2">
                  <a:txBody>
                    <a:bodyPr/>
                    <a:lstStyle/>
                    <a:p>
                      <a:pPr algn="ctr"/>
                      <a:r>
                        <a:rPr lang="en-US" sz="1600" dirty="0" err="1"/>
                        <a:t>分类的</a:t>
                      </a:r>
                      <a:r>
                        <a:rPr lang="zh-CN" altLang="en-US" sz="1600" dirty="0"/>
                        <a:t>、定性的</a:t>
                      </a:r>
                      <a:endParaRPr lang="en-US" altLang="zh-CN" sz="1600" dirty="0"/>
                    </a:p>
                    <a:p>
                      <a:pPr algn="ctr"/>
                      <a:r>
                        <a:rPr lang="zh-CN" altLang="en-US" sz="1600" dirty="0"/>
                        <a:t>（不具有数的大部分性质）</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标称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标称属性的值用于标识和区分不同对象的名称</a:t>
                      </a:r>
                      <a:r>
                        <a:rPr lang="zh-CN" altLang="en-US" sz="1600" dirty="0"/>
                        <a:t>，不具有大小或顺序信息</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学号</a:t>
                      </a:r>
                      <a:r>
                        <a:rPr lang="zh-CN" altLang="en-US" sz="1600" dirty="0"/>
                        <a:t>、职业、肤色、性别</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429">
                <a:tc vMerge="1">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序数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序数属性的值能够确定对象的相对次序</a:t>
                      </a:r>
                      <a:r>
                        <a:rPr lang="zh-CN" altLang="en-US" sz="1600" dirty="0"/>
                        <a:t>，但不同值之间的间隔大小无法准确衡量</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街道号码</a:t>
                      </a:r>
                      <a:r>
                        <a:rPr lang="zh-CN" altLang="en-US" sz="1600" dirty="0"/>
                        <a:t>、满意度、职称</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429">
                <a:tc rowSpan="2">
                  <a:txBody>
                    <a:bodyPr/>
                    <a:lstStyle/>
                    <a:p>
                      <a:pPr algn="ctr"/>
                      <a:r>
                        <a:rPr lang="en-US" sz="1600" dirty="0" err="1"/>
                        <a:t>数值的</a:t>
                      </a:r>
                      <a:r>
                        <a:rPr lang="zh-CN" altLang="en-US" sz="1600" dirty="0"/>
                        <a:t>、定量的</a:t>
                      </a:r>
                      <a:endParaRPr lang="en-US" altLang="zh-CN" sz="1600" dirty="0"/>
                    </a:p>
                    <a:p>
                      <a:pPr algn="ctr"/>
                      <a:r>
                        <a:rPr lang="zh-CN" altLang="en-US" sz="1600" dirty="0"/>
                        <a:t>（</a:t>
                      </a:r>
                      <a:r>
                        <a:rPr lang="zh-CN" altLang="en-US" sz="1600" dirty="0"/>
                        <a:t>具有数</a:t>
                      </a:r>
                      <a:r>
                        <a:rPr lang="zh-CN" altLang="en-US" sz="1600" dirty="0"/>
                        <a:t>的大部分性质）</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1600" dirty="0" err="1"/>
                        <a:t>区间</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区间属性</a:t>
                      </a:r>
                      <a:r>
                        <a:rPr lang="zh-CN" altLang="en-US" sz="1600" dirty="0"/>
                        <a:t>的值存在测量单位，其值之间的差是有意义的</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日期</a:t>
                      </a:r>
                      <a:r>
                        <a:rPr lang="zh-CN" altLang="en-US" sz="1600" dirty="0"/>
                        <a:t>、摄氏或华氏温度</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429">
                <a:tc vMerge="1">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600" dirty="0" err="1"/>
                        <a:t>比率</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600" dirty="0" err="1"/>
                        <a:t>比率属性的值的差和比率都是有意义的</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货币量</a:t>
                      </a:r>
                      <a:r>
                        <a:rPr lang="zh-CN" altLang="en-US" sz="1600" dirty="0"/>
                        <a:t>、年龄、长度、速度</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sp>
        <p:nvSpPr>
          <p:cNvPr id="4" name="TextBox 3"/>
          <p:cNvSpPr txBox="1"/>
          <p:nvPr/>
        </p:nvSpPr>
        <p:spPr>
          <a:xfrm>
            <a:off x="653778" y="6231539"/>
            <a:ext cx="10655844" cy="461665"/>
          </a:xfrm>
          <a:prstGeom prst="rect">
            <a:avLst/>
          </a:prstGeom>
          <a:noFill/>
        </p:spPr>
        <p:txBody>
          <a:bodyPr wrap="square" rtlCol="0">
            <a:spAutoFit/>
          </a:bodyPr>
          <a:lstStyle/>
          <a:p>
            <a:r>
              <a:rPr lang="zh-CN" altLang="en-US" sz="1200" dirty="0"/>
              <a:t>需要注意的是，表中每种属性类型不仅具有并支持其上方属性类型的所有性质和操作，还拥有其自身特定的操作。然而，对于某种属性类型适用的操作，对其上方的属性类型未必完全适用。</a:t>
            </a:r>
            <a:endParaRPr lang="en-US" sz="1200" dirty="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124220"/>
            <a:ext cx="10951210" cy="1206026"/>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属性变换</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属性的类型可以通过不改变属性意义的变换来表述。例如，对于性别，我们可以使用编码方式，其中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表示女，</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表示男，更多信息如下表所示：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aphicFrame>
        <p:nvGraphicFramePr>
          <p:cNvPr id="2" name="Table 1"/>
          <p:cNvGraphicFramePr>
            <a:graphicFrameLocks noGrp="1"/>
          </p:cNvGraphicFramePr>
          <p:nvPr/>
        </p:nvGraphicFramePr>
        <p:xfrm>
          <a:off x="653778" y="2500881"/>
          <a:ext cx="10655844" cy="3444676"/>
        </p:xfrm>
        <a:graphic>
          <a:graphicData uri="http://schemas.openxmlformats.org/drawingml/2006/table">
            <a:tbl>
              <a:tblPr firstRow="1" bandRow="1">
                <a:tableStyleId>{2D5ABB26-0587-4C30-8999-92F81FD0307C}</a:tableStyleId>
              </a:tblPr>
              <a:tblGrid>
                <a:gridCol w="2035503"/>
                <a:gridCol w="1460090"/>
                <a:gridCol w="3141407"/>
                <a:gridCol w="4018844"/>
              </a:tblGrid>
              <a:tr h="655429">
                <a:tc gridSpan="2">
                  <a:txBody>
                    <a:bodyPr/>
                    <a:lstStyle/>
                    <a:p>
                      <a:pPr algn="ctr"/>
                      <a:r>
                        <a:rPr lang="en-US" sz="1600" dirty="0" err="1"/>
                        <a:t>属性类型</a:t>
                      </a:r>
                      <a:endParaRPr lang="en-US" sz="1600" dirty="0"/>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dirty="0" err="1"/>
                        <a:t>变换</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注释</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655429">
                <a:tc rowSpan="2">
                  <a:txBody>
                    <a:bodyPr/>
                    <a:lstStyle/>
                    <a:p>
                      <a:pPr algn="ctr"/>
                      <a:r>
                        <a:rPr lang="zh-CN" altLang="en-US" sz="1600" dirty="0"/>
                        <a:t>分类的</a:t>
                      </a:r>
                      <a:endParaRPr lang="en-US" altLang="zh-CN" sz="1600" dirty="0"/>
                    </a:p>
                    <a:p>
                      <a:pPr algn="ctr"/>
                      <a:r>
                        <a:rPr lang="zh-CN" altLang="en-US" sz="1600" dirty="0"/>
                        <a:t>（定性的）</a:t>
                      </a:r>
                      <a:endParaRPr lang="en-US" altLang="zh-CN"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标称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任何一对一变换</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1600" dirty="0" err="1"/>
                        <a:t>例如</a:t>
                      </a:r>
                      <a:r>
                        <a:rPr lang="zh-CN" altLang="en-US" sz="1600" dirty="0"/>
                        <a:t>，如果所有学生的学号都重新赋值，不会有不同之处</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429">
                <a:tc vMerge="1">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序数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值的变换保序</a:t>
                      </a:r>
                      <a:r>
                        <a:rPr lang="zh-CN" altLang="en-US" sz="1600" dirty="0"/>
                        <a:t>，即</a:t>
                      </a:r>
                      <a:endParaRPr lang="en-US" altLang="zh-CN" sz="1600" dirty="0"/>
                    </a:p>
                    <a:p>
                      <a:pPr algn="ctr"/>
                      <a:r>
                        <a:rPr lang="zh-CN" altLang="en-US" sz="1600" dirty="0"/>
                        <a:t>新值 </a:t>
                      </a:r>
                      <a:r>
                        <a:rPr lang="en-US" altLang="zh-CN" sz="1600" dirty="0"/>
                        <a:t>=</a:t>
                      </a:r>
                      <a:r>
                        <a:rPr lang="zh-CN" altLang="en-US" sz="1600" dirty="0"/>
                        <a:t> </a:t>
                      </a:r>
                      <a:r>
                        <a:rPr lang="en-US" altLang="zh-CN" sz="1600" i="1" dirty="0">
                          <a:latin typeface="Times New Roman" panose="02020603050405020304" pitchFamily="18" charset="0"/>
                          <a:cs typeface="Times New Roman" panose="02020603050405020304" pitchFamily="18" charset="0"/>
                        </a:rPr>
                        <a:t>f</a:t>
                      </a:r>
                      <a:r>
                        <a:rPr lang="zh-CN" altLang="en-US" sz="1600" i="1" dirty="0">
                          <a:latin typeface="Times New Roman" panose="02020603050405020304" pitchFamily="18" charset="0"/>
                          <a:cs typeface="Times New Roman" panose="02020603050405020304" pitchFamily="18" charset="0"/>
                        </a:rPr>
                        <a:t> </a:t>
                      </a:r>
                      <a:r>
                        <a:rPr lang="en-US" altLang="zh-CN" sz="1600" dirty="0"/>
                        <a:t>(</a:t>
                      </a:r>
                      <a:r>
                        <a:rPr lang="zh-CN" altLang="en-US" sz="1600" dirty="0"/>
                        <a:t>旧值</a:t>
                      </a:r>
                      <a:r>
                        <a:rPr lang="en-US" altLang="zh-CN" sz="1600" dirty="0"/>
                        <a:t>)</a:t>
                      </a:r>
                      <a:endParaRPr lang="en-US" altLang="zh-CN" sz="1600" dirty="0"/>
                    </a:p>
                    <a:p>
                      <a:pPr algn="ctr"/>
                      <a:r>
                        <a:rPr lang="en-US" sz="1600" dirty="0" err="1"/>
                        <a:t>其中</a:t>
                      </a:r>
                      <a:r>
                        <a:rPr lang="zh-CN" altLang="en-US" sz="1600" dirty="0"/>
                        <a:t> </a:t>
                      </a:r>
                      <a:r>
                        <a:rPr lang="en-US" altLang="zh-CN" sz="1600" i="1" dirty="0">
                          <a:latin typeface="Times New Roman" panose="02020603050405020304" pitchFamily="18" charset="0"/>
                          <a:cs typeface="Times New Roman" panose="02020603050405020304" pitchFamily="18" charset="0"/>
                        </a:rPr>
                        <a:t>f</a:t>
                      </a:r>
                      <a:r>
                        <a:rPr lang="zh-CN" altLang="en-US" sz="1600" i="1" dirty="0">
                          <a:latin typeface="Times New Roman" panose="02020603050405020304" pitchFamily="18" charset="0"/>
                          <a:cs typeface="Times New Roman" panose="02020603050405020304" pitchFamily="18" charset="0"/>
                        </a:rPr>
                        <a:t> </a:t>
                      </a:r>
                      <a:r>
                        <a:rPr lang="zh-CN" altLang="en-US" sz="1600" i="0" dirty="0">
                          <a:latin typeface="Times New Roman" panose="02020603050405020304" pitchFamily="18" charset="0"/>
                          <a:cs typeface="Times New Roman" panose="02020603050405020304" pitchFamily="18" charset="0"/>
                        </a:rPr>
                        <a:t>是单调函数</a:t>
                      </a:r>
                      <a:endParaRPr lang="en-US" sz="1600" i="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1600" dirty="0" err="1"/>
                        <a:t>例如</a:t>
                      </a:r>
                      <a:r>
                        <a:rPr lang="zh-CN" altLang="en-US" sz="1600" dirty="0"/>
                        <a:t>，包含很不满意、不太满意、一般、满意、十分满意的属性可以完全</a:t>
                      </a:r>
                      <a:r>
                        <a:rPr lang="zh-CN" altLang="en-US" sz="1600" dirty="0"/>
                        <a:t>等价地</a:t>
                      </a:r>
                      <a:r>
                        <a:rPr lang="zh-CN" altLang="en-US" sz="1600" dirty="0"/>
                        <a:t>用值 </a:t>
                      </a:r>
                      <a:r>
                        <a:rPr lang="en-US" altLang="zh-CN" sz="1600" dirty="0"/>
                        <a:t>{0,</a:t>
                      </a:r>
                      <a:r>
                        <a:rPr lang="zh-CN" altLang="en-US" sz="1600" dirty="0"/>
                        <a:t> </a:t>
                      </a:r>
                      <a:r>
                        <a:rPr lang="en-US" altLang="zh-CN" sz="1600" dirty="0"/>
                        <a:t>1,</a:t>
                      </a:r>
                      <a:r>
                        <a:rPr lang="zh-CN" altLang="en-US" sz="1600" dirty="0"/>
                        <a:t> </a:t>
                      </a:r>
                      <a:r>
                        <a:rPr lang="en-US" altLang="zh-CN" sz="1600" dirty="0"/>
                        <a:t>2,</a:t>
                      </a:r>
                      <a:r>
                        <a:rPr lang="zh-CN" altLang="en-US" sz="1600" dirty="0"/>
                        <a:t> </a:t>
                      </a:r>
                      <a:r>
                        <a:rPr lang="en-US" altLang="zh-CN" sz="1600" dirty="0"/>
                        <a:t>3,</a:t>
                      </a:r>
                      <a:r>
                        <a:rPr lang="zh-CN" altLang="en-US" sz="1600" dirty="0"/>
                        <a:t> </a:t>
                      </a:r>
                      <a:r>
                        <a:rPr lang="en-US" altLang="zh-CN" sz="1600" dirty="0"/>
                        <a:t>4}</a:t>
                      </a:r>
                      <a:r>
                        <a:rPr lang="zh-CN" altLang="en-US" sz="1600" dirty="0"/>
                        <a:t> 表示</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429">
                <a:tc rowSpan="2">
                  <a:txBody>
                    <a:bodyPr/>
                    <a:lstStyle/>
                    <a:p>
                      <a:pPr algn="ctr"/>
                      <a:r>
                        <a:rPr lang="zh-CN" altLang="en-US" sz="1600" dirty="0"/>
                        <a:t>数值的</a:t>
                      </a:r>
                      <a:endParaRPr lang="en-US" altLang="zh-CN" sz="1600" dirty="0"/>
                    </a:p>
                    <a:p>
                      <a:pPr algn="ctr"/>
                      <a:r>
                        <a:rPr lang="zh-CN" altLang="en-US" sz="1600" dirty="0"/>
                        <a:t>（定量的）</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1600" dirty="0" err="1"/>
                        <a:t>区间</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新值</a:t>
                      </a:r>
                      <a:r>
                        <a:rPr lang="zh-CN" altLang="en-US" sz="1600" dirty="0"/>
                        <a:t> </a:t>
                      </a:r>
                      <a:r>
                        <a:rPr lang="en-US" altLang="zh-CN" sz="1600" dirty="0"/>
                        <a:t>=</a:t>
                      </a:r>
                      <a:r>
                        <a:rPr lang="zh-CN" altLang="en-US" sz="1600" dirty="0"/>
                        <a:t> </a:t>
                      </a:r>
                      <a:r>
                        <a:rPr lang="en-US" altLang="zh-CN" sz="1600" i="1" dirty="0">
                          <a:latin typeface="Times New Roman" panose="02020603050405020304" pitchFamily="18" charset="0"/>
                          <a:cs typeface="Times New Roman" panose="02020603050405020304" pitchFamily="18" charset="0"/>
                        </a:rPr>
                        <a:t>a</a:t>
                      </a:r>
                      <a:r>
                        <a:rPr lang="zh-CN" altLang="en-US" sz="1600" dirty="0"/>
                        <a:t> </a:t>
                      </a:r>
                      <a:r>
                        <a:rPr lang="en-US" altLang="zh-CN" sz="1600" dirty="0"/>
                        <a:t>×</a:t>
                      </a:r>
                      <a:r>
                        <a:rPr lang="zh-CN" altLang="en-US" sz="1600" dirty="0"/>
                        <a:t> 旧值 </a:t>
                      </a:r>
                      <a:r>
                        <a:rPr lang="en-US" altLang="zh-CN" sz="1600" dirty="0"/>
                        <a:t>+</a:t>
                      </a:r>
                      <a:r>
                        <a:rPr lang="zh-CN" altLang="en-US" sz="1600" dirty="0"/>
                        <a:t> </a:t>
                      </a:r>
                      <a:r>
                        <a:rPr lang="en-US" altLang="zh-CN" sz="1600" i="1" dirty="0">
                          <a:latin typeface="Times New Roman" panose="02020603050405020304" pitchFamily="18" charset="0"/>
                          <a:cs typeface="Times New Roman" panose="02020603050405020304" pitchFamily="18" charset="0"/>
                        </a:rPr>
                        <a:t>b</a:t>
                      </a:r>
                      <a:r>
                        <a:rPr lang="zh-CN" altLang="en-US" sz="1600" dirty="0"/>
                        <a:t>，</a:t>
                      </a:r>
                      <a:endParaRPr lang="en-US" altLang="zh-CN" sz="1600" dirty="0"/>
                    </a:p>
                    <a:p>
                      <a:pPr algn="ctr"/>
                      <a:r>
                        <a:rPr lang="zh-CN" altLang="en-US" sz="1600" dirty="0"/>
                        <a:t>其中 </a:t>
                      </a:r>
                      <a:r>
                        <a:rPr lang="en-US" altLang="zh-CN" sz="1600" i="1" dirty="0">
                          <a:latin typeface="Times New Roman" panose="02020603050405020304" pitchFamily="18" charset="0"/>
                          <a:cs typeface="Times New Roman" panose="02020603050405020304" pitchFamily="18" charset="0"/>
                        </a:rPr>
                        <a:t>a</a:t>
                      </a:r>
                      <a:r>
                        <a:rPr lang="zh-CN" altLang="en-US" sz="1600" dirty="0"/>
                        <a:t>、</a:t>
                      </a:r>
                      <a:r>
                        <a:rPr lang="en-US" altLang="zh-CN" sz="1600" i="1" dirty="0">
                          <a:latin typeface="Times New Roman" panose="02020603050405020304" pitchFamily="18" charset="0"/>
                          <a:cs typeface="Times New Roman" panose="02020603050405020304" pitchFamily="18" charset="0"/>
                        </a:rPr>
                        <a:t>b</a:t>
                      </a:r>
                      <a:r>
                        <a:rPr lang="zh-CN" altLang="en-US" sz="1600" dirty="0"/>
                        <a:t> 是常数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1600" dirty="0" err="1"/>
                        <a:t>例如</a:t>
                      </a:r>
                      <a:r>
                        <a:rPr lang="zh-CN" altLang="en-US" sz="1600" dirty="0"/>
                        <a:t>，华氏和摄氏温度的零度的位置不同，</a:t>
                      </a:r>
                      <a:r>
                        <a:rPr lang="en-US" altLang="zh-CN" sz="1600" dirty="0"/>
                        <a:t>1</a:t>
                      </a:r>
                      <a:r>
                        <a:rPr lang="zh-CN" altLang="en-US" sz="1600" dirty="0"/>
                        <a:t> 度的大小（</a:t>
                      </a:r>
                      <a:r>
                        <a:rPr lang="zh-CN" altLang="en-US" sz="1600" dirty="0"/>
                        <a:t>即单位</a:t>
                      </a:r>
                      <a:r>
                        <a:rPr lang="zh-CN" altLang="en-US" sz="1600" dirty="0"/>
                        <a:t>长度）也不同</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429">
                <a:tc vMerge="1">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600" dirty="0" err="1"/>
                        <a:t>比率</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1600" dirty="0"/>
                        <a:t>新值</a:t>
                      </a:r>
                      <a:r>
                        <a:rPr lang="zh-CN" altLang="en-US" sz="1600" dirty="0"/>
                        <a:t> </a:t>
                      </a:r>
                      <a:r>
                        <a:rPr lang="en-US" altLang="zh-CN" sz="1600" dirty="0"/>
                        <a:t>=</a:t>
                      </a:r>
                      <a:r>
                        <a:rPr lang="zh-CN" altLang="en-US" sz="1600" dirty="0"/>
                        <a:t> </a:t>
                      </a:r>
                      <a:r>
                        <a:rPr lang="en-US" altLang="zh-CN" sz="1600" i="1" dirty="0">
                          <a:latin typeface="Times New Roman" panose="02020603050405020304" pitchFamily="18" charset="0"/>
                          <a:cs typeface="Times New Roman" panose="02020603050405020304" pitchFamily="18" charset="0"/>
                        </a:rPr>
                        <a:t>a</a:t>
                      </a:r>
                      <a:r>
                        <a:rPr lang="zh-CN" altLang="en-US" sz="1600" dirty="0"/>
                        <a:t> </a:t>
                      </a:r>
                      <a:r>
                        <a:rPr lang="en-US" altLang="zh-CN" sz="1600" dirty="0"/>
                        <a:t>×</a:t>
                      </a:r>
                      <a:r>
                        <a:rPr lang="zh-CN" altLang="en-US" sz="1600" dirty="0"/>
                        <a:t> 旧值</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1600" dirty="0"/>
                        <a:t>例如</a:t>
                      </a:r>
                      <a:r>
                        <a:rPr lang="zh-CN" altLang="en-US" sz="1600" dirty="0"/>
                        <a:t>，长度可以用米度量</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7"/>
          <p:cNvSpPr/>
          <p:nvPr/>
        </p:nvSpPr>
        <p:spPr>
          <a:xfrm>
            <a:off x="898259" y="4365536"/>
            <a:ext cx="9956553" cy="47870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圆角矩形 7"/>
          <p:cNvSpPr/>
          <p:nvPr/>
        </p:nvSpPr>
        <p:spPr>
          <a:xfrm>
            <a:off x="898260" y="3552653"/>
            <a:ext cx="3526256" cy="47870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9" name="TextBox 8"/>
          <p:cNvSpPr txBox="1"/>
          <p:nvPr/>
        </p:nvSpPr>
        <p:spPr>
          <a:xfrm>
            <a:off x="545465" y="1124220"/>
            <a:ext cx="11202250" cy="5335574"/>
          </a:xfrm>
          <a:prstGeom prst="rect">
            <a:avLst/>
          </a:prstGeom>
          <a:noFill/>
        </p:spPr>
        <p:txBody>
          <a:bodyPr wrap="square" lIns="0" tIns="0" rIns="0" bIns="0" rtlCol="0" anchor="t">
            <a:noAutofit/>
          </a:bodyPr>
          <a:lstStyle/>
          <a:p>
            <a:pPr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离散属性和连续属性</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离散属性</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离散属性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discrete attribute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）可以取有限个值，或无限但可数的值。它们可以是分类的（如肤色），也可以是数值的（如计数）。</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二元属性：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二元属性（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binary attribute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）是离散属性的一种特殊类型，仅接受两个可能的取值，例如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或真和假。通常，二元</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属性可以用布尔变量表示，或用仅取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和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两个值的整型变量表示。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ts val="15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当二元属性的两种状态具有相同的重要性和权重时，该属性是</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对称的</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。即，无论哪个状态被编码为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或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，并无区别。</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    例如，性别可视为对称的二元属性。</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如果二元属性的两个状态在重要性上存在差异，则该属性是</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非对称的</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    例如，在肝功检测结果中，若阳性编码为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，阴性编码为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，如果更关注阳性病例，则该二元属性是非对称的。</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ct val="20000"/>
              </a:spcBef>
              <a:spcAft>
                <a:spcPts val="1500"/>
              </a:spcAft>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此外，非对称属性不仅限于二元属性，还可以是离散或连续的。例如，在满意度评价中，用户评分数据通常属于非对称的离散属性。</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连续属性：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连续属性（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continuous attribute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）是取实数值的属性，例如，身高和体重。通常，连续属性使用浮点数表示。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506095" y="994981"/>
                <a:ext cx="11319112" cy="5863019"/>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中心趋势度量</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代表考试成绩，记录了某班级学生的考试成绩。设这些成绩为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个观测值或数据点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en-US" altLang="zh-CN" sz="1600" i="1" dirty="0" err="1">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i="1" baseline="-25000" dirty="0" err="1">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，则它们也可以视为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数据集”。当绘制完这些观测值后，可以观察到数据大多集中在某个区域，这便是数据中心趋势的体现。常见的中心趋势度量包括均值、中位数、众数和中列数，这些指标有助于衡量数据的集中程度，即数据在分布中的中心位置。</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均值：</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均值（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mean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）是最常用、最有效的数值度量，用于表示数据集的“中心”。设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为某数值属性（如考试成绩），其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个观测值为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en-US" altLang="zh-CN" sz="1600" i="1" dirty="0" err="1">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i="1" baseline="-25000" dirty="0" err="1">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，那么该观测值集合的均值为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acc>
                        <m:accPr>
                          <m:chr m:val="̅"/>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m:rPr>
                              <m:sty m:val="p"/>
                            </m:r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x</m:t>
                          </m:r>
                        </m:e>
                      </m:acc>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zh-CN" altLang="en-US"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 </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nary>
                            <m:naryPr>
                              <m:chr m:val="∑"/>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23"/>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up>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sup>
                            <m:e>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sub>
                              </m:sSub>
                            </m:e>
                          </m:nary>
                        </m:num>
                        <m:den>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den>
                      </m:f>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zh-CN" altLang="en-US"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 </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num>
                        <m:den>
                          <m:r>
                            <m:rPr>
                              <m:sty m:val="p"/>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N</m:t>
                          </m:r>
                        </m:den>
                      </m:f>
                    </m:oMath>
                  </m:oMathPara>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acc>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表示属性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的均值。</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有时，对于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，每个值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i</m:t>
                        </m:r>
                      </m:sub>
                    </m:sSub>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都可能与一个权重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sty m:val="p"/>
                          </m:rP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w</m:t>
                        </m:r>
                      </m:e>
                      <m:sub>
                        <m:r>
                          <m:rPr>
                            <m:sty m:val="p"/>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i</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相关联。权重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sty m:val="p"/>
                          </m:rPr>
                          <a:rPr lang="en-US" altLang="zh-CN" sz="160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w</m:t>
                        </m:r>
                      </m:e>
                      <m:sub>
                        <m:r>
                          <m:rPr>
                            <m:sty m:val="p"/>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i</m:t>
                        </m:r>
                      </m:sub>
                    </m:sSub>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反映了其对应值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m:rPr>
                            <m:sty m:val="p"/>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i</m:t>
                        </m:r>
                      </m:sub>
                    </m:sSub>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的意义、重要性或出现频率。在这种情况下，我们可以计算加权算数均值或加权平均，其计算公式如下：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acc>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p>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nary>
                        </m:num>
                        <m:den>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p>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nary>
                        </m:den>
                      </m:f>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num>
                        <m:den>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den>
                      </m:f>
                    </m:oMath>
                  </m:oMathPara>
                </a14:m>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506095" y="994981"/>
                <a:ext cx="11319112" cy="5863019"/>
              </a:xfrm>
              <a:prstGeom prst="rect">
                <a:avLst/>
              </a:prstGeom>
              <a:blipFill rotWithShape="1">
                <a:blip r:embed="rId1"/>
                <a:stretch>
                  <a:fillRect t="-530" r="2"/>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506095" y="994982"/>
                <a:ext cx="11319112" cy="4429426"/>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中心趋势度量</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对于倾斜分布（非对称分布）的数据，</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中位数</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median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）通常是更合适作为数据中心趋势的度量。在概率论与统计学中，中位数常用于数值数据，但这一概念也可以扩展到序数数据。假设某属性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的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Times New Roman" panose="02020603050405020304" pitchFamily="18" charset="0"/>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个值已经按递增顺序排列：</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𝑁</m:t>
                    </m:r>
                  </m:oMath>
                </a14:m>
                <a:r>
                  <a:rPr lang="zh-CN" altLang="en-US"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是奇数，中位数就是有序集合的中间值，即：</a:t>
                </a:r>
                <a:endPar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𝑚𝑒𝑑𝑖𝑎𝑛</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den>
                          </m:f>
                        </m:sub>
                      </m:sSub>
                    </m:oMath>
                  </m:oMathPara>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𝑁</m:t>
                    </m:r>
                  </m:oMath>
                </a14:m>
                <a:r>
                  <a:rPr lang="zh-CN" altLang="en-US"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是偶数，中位数是最中间的两个值和它们之间的任意值。但对于数值属性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，中位数通常取这两个中间值的平均值，即：</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𝑚𝑒𝑑𝑖𝑎𝑛</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den>
                              </m:f>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den>
                              </m:f>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den>
                      </m:f>
                    </m:oMath>
                  </m:oMathPara>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506095" y="994982"/>
                <a:ext cx="11319112" cy="4429426"/>
              </a:xfrm>
              <a:prstGeom prst="rect">
                <a:avLst/>
              </a:prstGeom>
              <a:blipFill rotWithShape="1">
                <a:blip r:embed="rId1"/>
                <a:stretch>
                  <a:fillRect t="-701" r="2" b="5"/>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09155" y="1010480"/>
            <a:ext cx="11055928" cy="3443127"/>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中心趋势度量</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众数</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：众数（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mode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）是另一种常用的中心趋势度量。数据集的众数指的是在集合中出现次数最多的值。因此，众数可以适用于定性和定量属性。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447675"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某些情况下，出现频率最高的值可能对应多个不同的值，从而导致数据集存在多个众数。根据众数的数量不同，数据集可以是单峰的、双峰的或三峰的。一般而言，具有两个或更多众数的数据集是多峰的。如果每个数据值仅出现一次，则该数据集没有众数。</a:t>
            </a:r>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78130" indent="-263525"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一个完全对称的单峰分布数据集中，均值、中位数和众数是相同的中心值。然而，在大多数实际应用中，数据分布往往是不对称的。数据可能呈现正倾斜（右倾斜），此时众数小于中位数，中位数小于均值；或者呈现负倾斜（左倾斜），此时众数大于中位数，中位数大于均值。这种分布特性表明，在非对称数据集中，不同的中心趋势度量可能会有所偏差（如图所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96245" y="5847520"/>
            <a:ext cx="2180239" cy="652740"/>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36198" y="4674042"/>
            <a:ext cx="3652416" cy="2047009"/>
          </a:xfrm>
          <a:prstGeom prst="rect">
            <a:avLst/>
          </a:prstGeom>
        </p:spPr>
      </p:pic>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437408" y="870431"/>
                <a:ext cx="10961419" cy="371417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设 </a:t>
                </a:r>
                <a14:m>
                  <m:oMath xmlns:m="http://schemas.openxmlformats.org/officeDocument/2006/math">
                    <m: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是某数值属性 </a:t>
                </a:r>
                <a14:m>
                  <m:oMath xmlns:m="http://schemas.openxmlformats.org/officeDocument/2006/math">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的观测值集合。该集合的</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极差（</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range</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定义为最大值与最小值之差，表示为：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𝑟𝑎𝑛𝑔𝑒</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r>
                            <m:rPr>
                              <m:sty m:val="p"/>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max</m:t>
                          </m:r>
                        </m:fName>
                        <m:e>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e>
                          </m:d>
                        </m:e>
                      </m:func>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r>
                            <m:rPr>
                              <m:sty m:val="p"/>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min</m:t>
                          </m:r>
                        </m:fName>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e>
                          </m:d>
                        </m:e>
                      </m:func>
                    </m:oMath>
                  </m:oMathPara>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极差反映了数据集中最大与最小观测值之间的范围。</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quantile</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）是将数据分布按一定间隔划分为基本上大小相等的连续集合的点。由于可能不存在精确地将数据分成完全相等的诸子集的值，因此我们称之为“基本上大小相等”。对于给定的数据分布，第 </a:t>
                </a:r>
                <a14:m>
                  <m:oMath xmlns:m="http://schemas.openxmlformats.org/officeDocument/2006/math">
                    <m: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分位数是一个值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，使得小于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的数据值占比最多为 </a:t>
                </a:r>
                <a14:m>
                  <m:oMath xmlns:m="http://schemas.openxmlformats.org/officeDocument/2006/math">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den>
                    </m:f>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，而大于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的数据值占比最多为 </a:t>
                </a:r>
                <a14:m>
                  <m:oMath xmlns:m="http://schemas.openxmlformats.org/officeDocument/2006/math">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num>
                      <m:den>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den>
                    </m:f>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是正整数且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&lt;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&lt;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。因此，一个数据集共有</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2-</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分位数是将数据分布划分为两半的点，对应于中位数。</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4-</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分位数则是三个将数据分布划分为四个相等部分的点，通常称它们为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四分位数（</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quartile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，每部分代表整个数据的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1/4</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100-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分位数称为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百分位数（</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percentile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，它们将数据划分为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100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个大小相等的连贯集。</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中位数、四分位数和百分位数是最常用的分位数。</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437408" y="870431"/>
                <a:ext cx="10961419" cy="3714174"/>
              </a:xfrm>
              <a:prstGeom prst="rect">
                <a:avLst/>
              </a:prstGeom>
              <a:blipFill rotWithShape="1">
                <a:blip r:embed="rId1"/>
                <a:stretch>
                  <a:fillRect l="-5" t="-834" r="-1310" b="-759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7"/>
          <p:cNvSpPr/>
          <p:nvPr/>
        </p:nvSpPr>
        <p:spPr>
          <a:xfrm>
            <a:off x="508916" y="4998027"/>
            <a:ext cx="6831727" cy="180935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TextBox 8"/>
              <p:cNvSpPr txBox="1"/>
              <p:nvPr/>
            </p:nvSpPr>
            <p:spPr>
              <a:xfrm>
                <a:off x="738785" y="5203739"/>
                <a:ext cx="6313226" cy="1445915"/>
              </a:xfrm>
              <a:prstGeom prst="rect">
                <a:avLst/>
              </a:prstGeom>
              <a:noFill/>
            </p:spPr>
            <p:txBody>
              <a:bodyPr wrap="square" lIns="0" tIns="0" rIns="0" bIns="0" rtlCol="0" anchor="t">
                <a:noAutofit/>
              </a:bodyPr>
              <a:lstStyle/>
              <a:p>
                <a:pPr defTabSz="1219200">
                  <a:spcBef>
                    <a:spcPct val="200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某属性 </a:t>
                </a:r>
                <a14:m>
                  <m:oMath xmlns:m="http://schemas.openxmlformats.org/officeDocument/2006/math">
                    <m:r>
                      <a:rPr lang="en-US" altLang="zh-CN" sz="1600" i="1" dirty="0" smtClean="0">
                        <a:solidFill>
                          <a:srgbClr val="05B0F0"/>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𝑋</m:t>
                    </m:r>
                  </m:oMath>
                </a14:m>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的数据分布图及其第 </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 </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第 </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四分位数</a:t>
                </a:r>
                <a:endPar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对于四分位数来说，它们提供了数据分布的中心、离散程度和形状的有用信息。第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个四分位数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个百分位数，表示数据中最低的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个四分位数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75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个百分位数，表示最低的</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75%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（或最高的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）。第二个四分位数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50</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个百分位数，对应于中位数，表示数据分布的中心。</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738785" y="5203739"/>
                <a:ext cx="6313226" cy="1445915"/>
              </a:xfrm>
              <a:prstGeom prst="rect">
                <a:avLst/>
              </a:prstGeom>
              <a:blipFill rotWithShape="1">
                <a:blip r:embed="rId2"/>
                <a:stretch>
                  <a:fillRect l="-4" t="-1707" r="5" b="39"/>
                </a:stretch>
              </a:blipFill>
            </p:spPr>
            <p:txBody>
              <a:bodyPr/>
              <a:lstStyle/>
              <a:p>
                <a:r>
                  <a:rPr lang="zh-CN" altLang="en-US">
                    <a:noFill/>
                  </a:rPr>
                  <a:t> </a:t>
                </a:r>
              </a:p>
            </p:txBody>
          </p:sp>
        </mc:Fallback>
      </mc:AlternateContent>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6952" y="4998027"/>
            <a:ext cx="4025315" cy="1859973"/>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664029" y="950817"/>
                <a:ext cx="10896600" cy="371417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第一四分位数</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和第三四分位数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之间的距离是衡量数据散布的一种简单度量，称为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四分位数极差（</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interquartile range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IQR</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，也称四分位距）</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，定义为：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𝐼𝑄𝑅</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m:oMathPara>
                </a14:m>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它给出被数据的中间一半所覆盖的范围。</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在描述数据分布时，对于对称分布，中位数（以及其他中心趋势度量）将数据均匀地分为两部分。然而，对于倾斜分布，单一的散布度量往往不足以完整反映数据的特征。因此，除了中位数外，提供两个四分位数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也非常重要。识别可疑离群点的一种常用方法是挑选出那些位于第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以下或第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3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以上，且与四分位数的距离至少为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𝐼𝑄𝑅</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的值。由于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、中位数和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不包含数据的端点信息，为了更全面地概括分布形状，通常还需要提供数据的最大值和最小值，这种组合称为五数概括，即分布的</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五数概括（</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five-number summary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由中位数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、第一四分位数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、第三四分位数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、最小值和最大值组成，按顺序写作：</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𝑀𝑖𝑛𝑖𝑚𝑢𝑚</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𝑀𝑒𝑑𝑖𝑎𝑛</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𝑀𝑎𝑥𝑖𝑚𝑢𝑚</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664029" y="950817"/>
                <a:ext cx="10896600" cy="3714174"/>
              </a:xfrm>
              <a:prstGeom prst="rect">
                <a:avLst/>
              </a:prstGeom>
              <a:blipFill rotWithShape="1">
                <a:blip r:embed="rId1"/>
                <a:stretch>
                  <a:fillRect l="-4" t="-827" r="4" b="8"/>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464949" y="950816"/>
                <a:ext cx="11282766" cy="535699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方差和标准差都是衡量数据散布程度的重要指标，它们反映了数据值偏离均值的程度。低标准差表示数据观测值集中在均值附近，而高标准差则表示数据分布在较大的值域范围内。</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设数值属性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𝑋</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个观测值为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方差（</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variance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定义为：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p>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den>
                      </m:f>
                      <m:nary>
                        <m:nary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p>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acc>
                                    <m:acc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acc>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nary>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acc>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是观测值的均值。观测值的</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标准差（</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standard deviation</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是方差 </a:t>
                </a:r>
                <a14:m>
                  <m:oMath xmlns:m="http://schemas.openxmlformats.org/officeDocument/2006/math">
                    <m:sSup>
                      <m:sSup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的平方根。</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9880" indent="-30988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作为数据散布程度的度量，标准差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具有以下性质：</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oMath>
                </a14:m>
                <a: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度量数据与均值的偏离程度，因此适用于以均值作为中心度量的场合。</a:t>
                </a:r>
                <a:endPar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仅当所有观测值都相同的情况下，</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oMath>
                </a14:m>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；否则，</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&gt;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oMath>
                </a14:m>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endPar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293370" defTabSz="1219200">
                  <a:spcBef>
                    <a:spcPct val="20000"/>
                  </a:spcBef>
                  <a:defRPr/>
                </a:pP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通常，观测值不会偏离均值超过标准差的几倍。更精确地说，根据切比雪夫不等式，至少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den>
                    </m:f>
                  </m:oMath>
                </a14:m>
                <a: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的观测值与均值的距离不会超过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倍的标准差。因此，标准差是衡量数据集发散情况的一个有效指标。</a:t>
                </a:r>
                <a:endPar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464949" y="950816"/>
                <a:ext cx="11282766" cy="5356993"/>
              </a:xfrm>
              <a:prstGeom prst="rect">
                <a:avLst/>
              </a:prstGeom>
              <a:blipFill rotWithShape="1">
                <a:blip r:embed="rId1"/>
                <a:stretch>
                  <a:fillRect l="-1" t="-573" r="2" b="7"/>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469899" y="842330"/>
                <a:ext cx="11303001" cy="277717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协方差矩阵：</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对于包含多个属性的数据（多源数据），每个属性的散布可以独立于其他属性来计算。然而，对于具有连续变量的数据，通常使用协方差矩阵（</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covariance matrix</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𝑺</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来表示数据的散布。协方差矩阵的元素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表示数据的第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个属性和第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个属性之间的协方差。具体来说，如果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分别是第</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个和第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个属性，那么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由以下公式给出：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covariance</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den>
                      </m:f>
                      <m:nary>
                        <m:nary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p>
                        <m:e>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acc>
                            </m:e>
                          </m:d>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acc>
                            </m:e>
                          </m:d>
                        </m:e>
                      </m:nary>
                    </m:oMath>
                  </m:oMathPara>
                </a14:m>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238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个数据对象在第</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个属性和第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个属性上的观测值。同时，</a:t>
                </a:r>
                <a14:m>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acc>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acc>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分别是属性</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的均值，</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是观测值的数量。需要注意的是，当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时，协方差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是属性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的方差，即：</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variance</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。因此，协方差矩阵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𝑺</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的对角线元素表示各属性的方差。</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469899" y="842330"/>
                <a:ext cx="11303001" cy="2777170"/>
              </a:xfrm>
              <a:prstGeom prst="rect">
                <a:avLst/>
              </a:prstGeom>
              <a:blipFill rotWithShape="1">
                <a:blip r:embed="rId1"/>
                <a:stretch>
                  <a:fillRect l="-6" t="-1109" r="-25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7"/>
          <p:cNvSpPr/>
          <p:nvPr/>
        </p:nvSpPr>
        <p:spPr>
          <a:xfrm>
            <a:off x="787400" y="3727768"/>
            <a:ext cx="10604500" cy="234388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1016779" y="3992391"/>
            <a:ext cx="9901159" cy="728898"/>
          </a:xfrm>
          <a:prstGeom prst="rect">
            <a:avLst/>
          </a:prstGeom>
          <a:noFill/>
        </p:spPr>
        <p:txBody>
          <a:bodyPr wrap="square" lIns="0" tIns="0" rIns="0" bIns="0" rtlCol="0" anchor="t">
            <a:noAutofit/>
          </a:bodyPr>
          <a:lstStyle/>
          <a:p>
            <a:pPr defTabSz="1219200">
              <a:spcBef>
                <a:spcPct val="200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协方差矩阵：学生成绩与游戏时间</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假设我们调查了</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6</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名同学，记录了他们数学成绩（满分</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100</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分），每天玩手机游戏的时间（小时），数据如下：</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1222051" y="4687335"/>
              <a:ext cx="9638783" cy="1038924"/>
            </p:xfrm>
            <a:graphic>
              <a:graphicData uri="http://schemas.openxmlformats.org/drawingml/2006/table">
                <a:tbl>
                  <a:tblPr firstRow="1" bandRow="1">
                    <a:tableStyleId>{2D5ABB26-0587-4C30-8999-92F81FD0307C}</a:tableStyleId>
                  </a:tblPr>
                  <a:tblGrid>
                    <a:gridCol w="1722227"/>
                    <a:gridCol w="1319426"/>
                    <a:gridCol w="1319426"/>
                    <a:gridCol w="1319426"/>
                    <a:gridCol w="1319426"/>
                    <a:gridCol w="1319426"/>
                    <a:gridCol w="1319426"/>
                  </a:tblGrid>
                  <a:tr h="314703">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zh-CN" altLang="en-US" sz="1600" kern="1200" dirty="0" smtClean="0">
                                    <a:solidFill>
                                      <a:schemeClr val="tx1"/>
                                    </a:solidFill>
                                    <a:latin typeface="Cambria Math" panose="02040503050406030204" pitchFamily="18" charset="0"/>
                                    <a:ea typeface="+mn-ea"/>
                                    <a:cs typeface="+mn-cs"/>
                                    <a:sym typeface="Arial" panose="020B0604020202020204" pitchFamily="34" charset="0"/>
                                  </a:rPr>
                                  <m:t>学生</m:t>
                                </m:r>
                              </m:oMath>
                            </m:oMathPara>
                          </a14:m>
                          <a:endParaRPr lang="en-US" sz="1600" kern="1200" dirty="0">
                            <a:solidFill>
                              <a:schemeClr val="tx1"/>
                            </a:solidFill>
                            <a:latin typeface="+mn-lt"/>
                            <a:ea typeface="+mn-ea"/>
                            <a:cs typeface="+mn-cs"/>
                          </a:endParaRPr>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a:t>A</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B</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C</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D</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F</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12278">
                    <a:tc>
                      <a:txBody>
                        <a:bodyPr/>
                        <a:lstStyle/>
                        <a:p>
                          <a:pPr marL="0" algn="ctr" defTabSz="914400" rtl="0" eaLnBrk="1" latinLnBrk="0" hangingPunct="1"/>
                          <a:r>
                            <a:rPr lang="zh-CN" altLang="en-US" sz="1600" kern="1200" dirty="0">
                              <a:solidFill>
                                <a:schemeClr val="tx1"/>
                              </a:solidFill>
                              <a:latin typeface="+mn-lt"/>
                              <a:ea typeface="+mn-ea"/>
                              <a:cs typeface="+mn-cs"/>
                            </a:rPr>
                            <a:t>数学成绩（</a:t>
                          </a:r>
                          <a14:m>
                            <m:oMath xmlns:m="http://schemas.openxmlformats.org/officeDocument/2006/math">
                              <m:sSub>
                                <m:sSubPr>
                                  <m:ctrlPr>
                                    <a:rPr lang="en-US" altLang="zh-CN" sz="1600" i="1" kern="1200" dirty="0" smtClean="0">
                                      <a:solidFill>
                                        <a:schemeClr val="tx1"/>
                                      </a:solidFill>
                                      <a:latin typeface="Cambria Math" panose="02040503050406030204" pitchFamily="18" charset="0"/>
                                      <a:ea typeface="+mn-ea"/>
                                      <a:cs typeface="+mn-cs"/>
                                    </a:rPr>
                                  </m:ctrlPr>
                                </m:sSubPr>
                                <m:e>
                                  <m:r>
                                    <a:rPr lang="zh-CN" altLang="en-US" sz="1600" kern="1200" dirty="0" smtClean="0">
                                      <a:solidFill>
                                        <a:schemeClr val="tx1"/>
                                      </a:solidFill>
                                      <a:latin typeface="Cambria Math" panose="02040503050406030204" pitchFamily="18" charset="0"/>
                                      <a:ea typeface="+mn-ea"/>
                                      <a:cs typeface="+mn-cs"/>
                                    </a:rPr>
                                    <m:t>𝑥</m:t>
                                  </m:r>
                                </m:e>
                                <m:sub>
                                  <m:r>
                                    <a:rPr lang="en-US" altLang="zh-CN" sz="1600" kern="1200" dirty="0" smtClean="0">
                                      <a:solidFill>
                                        <a:schemeClr val="tx1"/>
                                      </a:solidFill>
                                      <a:latin typeface="Cambria Math" panose="02040503050406030204" pitchFamily="18" charset="0"/>
                                      <a:ea typeface="+mn-ea"/>
                                      <a:cs typeface="+mn-cs"/>
                                    </a:rPr>
                                    <m:t>1</m:t>
                                  </m:r>
                                </m:sub>
                              </m:sSub>
                            </m:oMath>
                          </a14:m>
                          <a:r>
                            <a:rPr lang="zh-CN" altLang="en-US" sz="1600" kern="1200" dirty="0">
                              <a:solidFill>
                                <a:schemeClr val="tx1"/>
                              </a:solidFill>
                              <a:latin typeface="+mn-lt"/>
                              <a:ea typeface="+mn-ea"/>
                              <a:cs typeface="+mn-cs"/>
                            </a:rPr>
                            <a:t>）</a:t>
                          </a:r>
                          <a:endParaRPr lang="en-US" sz="1600" kern="1200" dirty="0">
                            <a:solidFill>
                              <a:schemeClr val="tx1"/>
                            </a:solidFill>
                            <a:latin typeface="+mn-lt"/>
                            <a:ea typeface="+mn-ea"/>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95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85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75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65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55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90</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4066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mn-lt"/>
                              <a:ea typeface="+mn-ea"/>
                              <a:cs typeface="+mn-cs"/>
                            </a:rPr>
                            <a:t>游戏时间绩（</a:t>
                          </a:r>
                          <a14:m>
                            <m:oMath xmlns:m="http://schemas.openxmlformats.org/officeDocument/2006/math">
                              <m:sSub>
                                <m:sSubPr>
                                  <m:ctrlPr>
                                    <a:rPr lang="en-US" altLang="zh-CN" sz="1600" i="1" kern="1200" dirty="0" smtClean="0">
                                      <a:solidFill>
                                        <a:schemeClr val="tx1"/>
                                      </a:solidFill>
                                      <a:latin typeface="Cambria Math" panose="02040503050406030204" pitchFamily="18" charset="0"/>
                                      <a:ea typeface="+mn-ea"/>
                                      <a:cs typeface="+mn-cs"/>
                                    </a:rPr>
                                  </m:ctrlPr>
                                </m:sSubPr>
                                <m:e>
                                  <m:r>
                                    <a:rPr lang="zh-CN" altLang="en-US" sz="1600" kern="1200" dirty="0" smtClean="0">
                                      <a:solidFill>
                                        <a:schemeClr val="tx1"/>
                                      </a:solidFill>
                                      <a:latin typeface="Cambria Math" panose="02040503050406030204" pitchFamily="18" charset="0"/>
                                      <a:ea typeface="+mn-ea"/>
                                      <a:cs typeface="+mn-cs"/>
                                    </a:rPr>
                                    <m:t>𝑥</m:t>
                                  </m:r>
                                </m:e>
                                <m:sub>
                                  <m:r>
                                    <a:rPr lang="en-US" altLang="zh-CN" sz="1600" b="0" i="0" kern="1200" dirty="0" smtClean="0">
                                      <a:solidFill>
                                        <a:schemeClr val="tx1"/>
                                      </a:solidFill>
                                      <a:latin typeface="Cambria Math" panose="02040503050406030204" pitchFamily="18" charset="0"/>
                                      <a:ea typeface="+mn-ea"/>
                                      <a:cs typeface="+mn-cs"/>
                                    </a:rPr>
                                    <m:t>2</m:t>
                                  </m:r>
                                </m:sub>
                              </m:sSub>
                            </m:oMath>
                          </a14:m>
                          <a:r>
                            <a:rPr lang="zh-CN" altLang="en-US" sz="1600" kern="1200" dirty="0">
                              <a:solidFill>
                                <a:schemeClr val="tx1"/>
                              </a:solidFill>
                              <a:latin typeface="+mn-lt"/>
                              <a:ea typeface="+mn-ea"/>
                              <a:cs typeface="+mn-cs"/>
                            </a:rPr>
                            <a:t>）</a:t>
                          </a:r>
                          <a:endParaRPr lang="en-US" sz="1600" kern="1200" dirty="0">
                            <a:solidFill>
                              <a:schemeClr val="tx1"/>
                            </a:solidFill>
                            <a:latin typeface="+mn-lt"/>
                            <a:ea typeface="+mn-ea"/>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1.0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2.0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dirty="0"/>
                            <a:t>3.0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4.0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dirty="0"/>
                            <a:t>5.0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1.5</a:t>
                          </a:r>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bl>
              </a:graphicData>
            </a:graphic>
          </p:graphicFrame>
        </mc:Choice>
        <mc:Fallback xmlns="">
          <p:graphicFrame>
            <p:nvGraphicFramePr>
              <p:cNvPr id="4" name="Table 3"/>
              <p:cNvGraphicFramePr>
                <a:graphicFrameLocks noGrp="1"/>
              </p:cNvGraphicFramePr>
              <p:nvPr/>
            </p:nvGraphicFramePr>
            <p:xfrm>
              <a:off x="1222051" y="4687335"/>
              <a:ext cx="9638783" cy="1038924"/>
            </p:xfrm>
            <a:graphic>
              <a:graphicData uri="http://schemas.openxmlformats.org/drawingml/2006/table">
                <a:tbl>
                  <a:tblPr firstRow="1" bandRow="1">
                    <a:tableStyleId>{2D5ABB26-0587-4C30-8999-92F81FD0307C}</a:tableStyleId>
                  </a:tblPr>
                  <a:tblGrid>
                    <a:gridCol w="1722227"/>
                    <a:gridCol w="1319426"/>
                    <a:gridCol w="1319426"/>
                    <a:gridCol w="1319426"/>
                    <a:gridCol w="1319426"/>
                    <a:gridCol w="1319426"/>
                    <a:gridCol w="1319426"/>
                  </a:tblGrid>
                  <a:tr h="440690">
                    <a:tc>
                      <a:txBody>
                        <a:bodyPr/>
                        <a:lstStyle/>
                        <a:p>
                          <a:endParaRPr lang="zh-CN"/>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pPr algn="ctr"/>
                          <a:r>
                            <a:rPr lang="en-US" sz="1600" dirty="0"/>
                            <a:t>A</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B</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C</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D</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F</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35280">
                    <a:tc>
                      <a:txBody>
                        <a:bodyPr/>
                        <a:lstStyle/>
                        <a:p>
                          <a:endParaRPr lang="zh-CN"/>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pPr algn="ctr"/>
                          <a:r>
                            <a:rPr lang="en-US" altLang="zh-CN" sz="1600" dirty="0"/>
                            <a:t>95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85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75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65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55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90</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65760">
                    <a:tc>
                      <a:txBody>
                        <a:bodyPr/>
                        <a:lstStyle/>
                        <a:p>
                          <a:endParaRPr lang="zh-CN"/>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pPr algn="ctr"/>
                          <a:r>
                            <a:rPr lang="en-US" altLang="zh-CN" sz="1600" dirty="0"/>
                            <a:t>1.0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2.0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dirty="0"/>
                            <a:t>3.0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4.0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dirty="0"/>
                            <a:t>5.0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1.5</a:t>
                          </a:r>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bl>
              </a:graphicData>
            </a:graphic>
          </p:graphicFrame>
        </mc:Fallback>
      </mc:AlternateContent>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69899" y="842330"/>
            <a:ext cx="11303001" cy="42663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7"/>
          <p:cNvSpPr/>
          <p:nvPr/>
        </p:nvSpPr>
        <p:spPr>
          <a:xfrm>
            <a:off x="887270" y="1456001"/>
            <a:ext cx="10604500" cy="4653853"/>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mc:AlternateContent xmlns:mc="http://schemas.openxmlformats.org/markup-compatibility/2006">
        <mc:Choice xmlns:a14="http://schemas.microsoft.com/office/drawing/2010/main" Requires="a14">
          <p:sp>
            <p:nvSpPr>
              <p:cNvPr id="3" name="TextBox 8"/>
              <p:cNvSpPr txBox="1"/>
              <p:nvPr/>
            </p:nvSpPr>
            <p:spPr>
              <a:xfrm>
                <a:off x="1238940" y="1614456"/>
                <a:ext cx="9901159" cy="4401214"/>
              </a:xfrm>
              <a:prstGeom prst="rect">
                <a:avLst/>
              </a:prstGeom>
              <a:noFill/>
            </p:spPr>
            <p:txBody>
              <a:bodyPr wrap="square" lIns="0" tIns="0" rIns="0" bIns="0" rtlCol="0" anchor="t">
                <a:noAutofit/>
              </a:bodyPr>
              <a:lstStyle/>
              <a:p>
                <a:pPr defTabSz="1219200">
                  <a:spcBef>
                    <a:spcPct val="200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协方差矩阵：学生成绩与游戏时间</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第一步：计算均值</a:t>
                </a: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acc>
                        <m:accPr>
                          <m:chr m:val="̅"/>
                          <m:ctrlP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acc>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num>
                        <m:den>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16</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num>
                        <m:den>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75</m:t>
                      </m:r>
                      <m:r>
                        <a:rPr lang="en-US" sz="1400" i="1" dirty="0" smtClean="0">
                          <a:solidFill>
                            <a:schemeClr val="tx1"/>
                          </a:solidFill>
                          <a:latin typeface="Cambria Math" panose="02040503050406030204" pitchFamily="18" charset="0"/>
                        </a:rPr>
                        <m:t>​</m:t>
                      </m:r>
                      <m:acc>
                        <m:accPr>
                          <m:chr m:val="̅"/>
                          <m:ctrlPr>
                            <a:rPr lang="en-US" altLang="zh-CN" sz="1400" i="1" dirty="0" smtClean="0">
                              <a:solidFill>
                                <a:schemeClr val="tx1"/>
                              </a:solidFill>
                              <a:latin typeface="Cambria Math" panose="02040503050406030204" pitchFamily="18" charset="0"/>
                              <a:sym typeface="Arial" panose="020B0604020202020204" pitchFamily="34" charset="0"/>
                            </a:rPr>
                          </m:ctrlPr>
                        </m:accPr>
                        <m:e>
                          <m:sSub>
                            <m:sSubPr>
                              <m:ctrlPr>
                                <a:rPr lang="en-US" altLang="zh-CN" sz="1400" i="1" dirty="0" smtClean="0">
                                  <a:solidFill>
                                    <a:schemeClr val="tx1"/>
                                  </a:solidFill>
                                  <a:latin typeface="Cambria Math" panose="02040503050406030204" pitchFamily="18" charset="0"/>
                                  <a:sym typeface="Arial" panose="020B0604020202020204" pitchFamily="34" charset="0"/>
                                </a:rPr>
                              </m:ctrlPr>
                            </m:sSubPr>
                            <m:e>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e>
                      </m:acc>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95</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85</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75</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65</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55</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90</m:t>
                          </m:r>
                        </m:num>
                        <m:den>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465</m:t>
                          </m:r>
                        </m:num>
                        <m:den>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77</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oMath>
                  </m:oMathPara>
                </a14:m>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endParaRPr>
              </a:p>
              <a:p>
                <a:pPr defTabSz="1219200">
                  <a:spcBef>
                    <a:spcPct val="20000"/>
                  </a:spcBef>
                  <a:defRPr/>
                </a:pPr>
                <a:r>
                  <a:rPr lang="zh-CN" altLang="en-US" sz="1400" dirty="0">
                    <a:latin typeface="思源黑体 CN Regular" panose="020B0500000000000000" charset="-122"/>
                    <a:ea typeface="思源黑体 CN Regular" panose="020B0500000000000000" charset="-122"/>
                  </a:rPr>
                  <a:t>第二步：计算协方差矩阵元素</a:t>
                </a:r>
                <a:endParaRPr lang="zh-CN" altLang="en-US" sz="1400" dirty="0">
                  <a:latin typeface="思源黑体 CN Regular" panose="020B0500000000000000" charset="-122"/>
                  <a:ea typeface="思源黑体 CN Regular" panose="020B0500000000000000" charset="-122"/>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400"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第三步：得到协方差矩阵</a:t>
                </a:r>
                <a:endParaRPr lang="en-US" altLang="zh-CN" sz="1400"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𝑺</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d>
                        <m:dPr>
                          <m:begChr m:val="["/>
                          <m:endChr m:val="]"/>
                          <m:ctrlPr>
                            <a:rPr lang="en-US" altLang="zh-CN" sz="1400" i="1" dirty="0" smtClean="0">
                              <a:solidFill>
                                <a:schemeClr val="tx1"/>
                              </a:solidFill>
                              <a:latin typeface="Cambria Math" panose="02040503050406030204" pitchFamily="18" charset="0"/>
                              <a:ea typeface="思源黑体 CN Regular" panose="020B0500000000000000" charset="-122"/>
                              <a:sym typeface="Arial" panose="020B0604020202020204" pitchFamily="34" charset="0"/>
                            </a:rPr>
                          </m:ctrlPr>
                        </m:dPr>
                        <m:e>
                          <m:m>
                            <m:mPr>
                              <m:mcs>
                                <m:mc>
                                  <m:mcPr>
                                    <m:count m:val="2"/>
                                    <m:mcJc m:val="center"/>
                                  </m:mcPr>
                                </m:mc>
                              </m:mcs>
                              <m:ctrlPr>
                                <a:rPr lang="en-US" altLang="zh-CN" sz="1400" i="1" dirty="0" smtClean="0">
                                  <a:solidFill>
                                    <a:schemeClr val="tx1"/>
                                  </a:solidFill>
                                  <a:latin typeface="Cambria Math" panose="02040503050406030204" pitchFamily="18" charset="0"/>
                                  <a:ea typeface="思源黑体 CN Regular" panose="020B0500000000000000" charset="-122"/>
                                  <a:sym typeface="Arial" panose="020B0604020202020204" pitchFamily="34" charset="0"/>
                                </a:rPr>
                              </m:ctrlPr>
                            </m:mPr>
                            <m:mr>
                              <m:e>
                                <m:sSub>
                                  <m:sSubPr>
                                    <m:ctrlPr>
                                      <a:rPr lang="en-US" altLang="zh-CN" sz="1400" i="1" dirty="0" smtClean="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e>
                              <m:e>
                                <m:sSub>
                                  <m:sSubPr>
                                    <m:ctrlPr>
                                      <a:rPr lang="en-US" altLang="zh-CN" sz="1400" i="1" dirty="0" smtClean="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e>
                            </m:mr>
                            <m:mr>
                              <m:e>
                                <m:sSub>
                                  <m:sSubPr>
                                    <m:ctrlPr>
                                      <a:rPr lang="en-US" altLang="zh-CN" sz="1400" i="1" dirty="0" smtClean="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e>
                              <m:e>
                                <m:sSub>
                                  <m:sSubPr>
                                    <m:ctrlPr>
                                      <a:rPr lang="en-US" altLang="zh-CN" sz="1400" i="1" dirty="0" smtClean="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e>
                            </m:mr>
                          </m:m>
                        </m:e>
                      </m:d>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smtClean="0">
                              <a:solidFill>
                                <a:schemeClr val="tx1"/>
                              </a:solidFill>
                              <a:latin typeface="Cambria Math" panose="02040503050406030204" pitchFamily="18" charset="0"/>
                              <a:ea typeface="思源黑体 CN Regular" panose="020B0500000000000000" charset="-122"/>
                              <a:sym typeface="Arial" panose="020B0604020202020204" pitchFamily="34" charset="0"/>
                            </a:rPr>
                          </m:ctrlPr>
                        </m:dPr>
                        <m:e>
                          <m:m>
                            <m:mPr>
                              <m:mcs>
                                <m:mc>
                                  <m:mcPr>
                                    <m:count m:val="2"/>
                                    <m:mcJc m:val="center"/>
                                  </m:mcPr>
                                </m:mc>
                              </m:mcs>
                              <m:ctrlPr>
                                <a:rPr lang="en-US" altLang="zh-CN" sz="1400" i="1" dirty="0" smtClean="0">
                                  <a:solidFill>
                                    <a:schemeClr val="tx1"/>
                                  </a:solidFill>
                                  <a:latin typeface="Cambria Math" panose="02040503050406030204" pitchFamily="18" charset="0"/>
                                  <a:ea typeface="思源黑体 CN Regular" panose="020B0500000000000000" charset="-122"/>
                                  <a:sym typeface="Arial" panose="020B0604020202020204" pitchFamily="34" charset="0"/>
                                </a:rPr>
                              </m:ctrlPr>
                            </m:mPr>
                            <m:m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197</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92</m:t>
                                </m:r>
                              </m:e>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79</m:t>
                                </m:r>
                              </m:e>
                            </m:mr>
                            <m:m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79</m:t>
                                </m:r>
                              </m:e>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98</m:t>
                                </m:r>
                              </m:e>
                            </m:mr>
                          </m:m>
                        </m:e>
                      </m:d>
                    </m:oMath>
                  </m:oMathPara>
                </a14:m>
                <a:endPar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1238940" y="1614456"/>
                <a:ext cx="9901159" cy="4401214"/>
              </a:xfrm>
              <a:prstGeom prst="rect">
                <a:avLst/>
              </a:prstGeom>
              <a:blipFill rotWithShape="1">
                <a:blip r:embed="rId1"/>
                <a:stretch>
                  <a:fillRect l="-1" t="-555" r="3"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nvSpPr>
            <p:spPr>
              <a:xfrm>
                <a:off x="4771350" y="3563108"/>
                <a:ext cx="2480872" cy="1322542"/>
              </a:xfrm>
              <a:prstGeom prst="rect">
                <a:avLst/>
              </a:prstGeom>
              <a:noFill/>
            </p:spPr>
            <p:txBody>
              <a:bodyPr wrap="none" rtlCol="0">
                <a:spAutoFit/>
              </a:bodyPr>
              <a:lstStyle/>
              <a:p>
                <a:pPr defTabSz="1219200">
                  <a:spcBef>
                    <a:spcPct val="20000"/>
                  </a:spcBef>
                  <a:defRPr/>
                </a:pPr>
                <a14:m>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oMath>
                </a14:m>
                <a:r>
                  <a:rPr lang="zh-CN" altLang="en-US"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（游戏时间的方差）</a:t>
                </a: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19405"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nary>
                        <m:naryPr>
                          <m:chr m:val="∑"/>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sup>
                        <m:e>
                          <m:sSup>
                            <m:sSup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75</m:t>
                                  </m:r>
                                </m:e>
                              </m:d>
                            </m:e>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nary>
                    </m:oMath>
                  </m:oMathPara>
                </a14:m>
                <a:endPar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319405"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8750</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9792</m:t>
                      </m:r>
                    </m:oMath>
                  </m:oMathPara>
                </a14:m>
                <a:endParaRPr lang="en-US" sz="1400" dirty="0"/>
              </a:p>
            </p:txBody>
          </p:sp>
        </mc:Choice>
        <mc:Fallback>
          <p:sp>
            <p:nvSpPr>
              <p:cNvPr id="5" name="TextBox 4"/>
              <p:cNvSpPr txBox="1">
                <a:spLocks noRot="1" noChangeAspect="1" noMove="1" noResize="1" noEditPoints="1" noAdjustHandles="1" noChangeArrowheads="1" noChangeShapeType="1" noTextEdit="1"/>
              </p:cNvSpPr>
              <p:nvPr/>
            </p:nvSpPr>
            <p:spPr>
              <a:xfrm>
                <a:off x="4771350" y="3563108"/>
                <a:ext cx="2480872" cy="1322542"/>
              </a:xfrm>
              <a:prstGeom prst="rect">
                <a:avLst/>
              </a:prstGeom>
              <a:blipFill rotWithShape="1">
                <a:blip r:embed="rId2"/>
                <a:stretch>
                  <a:fillRect l="-24" t="-9" r="-3742" b="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1768877" y="3563108"/>
                <a:ext cx="2472536" cy="1537985"/>
              </a:xfrm>
              <a:prstGeom prst="rect">
                <a:avLst/>
              </a:prstGeom>
              <a:noFill/>
            </p:spPr>
            <p:txBody>
              <a:bodyPr wrap="none" rtlCol="0">
                <a:spAutoFit/>
              </a:bodyPr>
              <a:lstStyle/>
              <a:p>
                <a:pPr defTabSz="1219200">
                  <a:spcBef>
                    <a:spcPct val="20000"/>
                  </a:spcBef>
                  <a:defRPr/>
                </a:pPr>
                <a14:m>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oMath>
                </a14:m>
                <a:r>
                  <a:rPr lang="zh-CN" altLang="en-US"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（数学成绩的方差）</a:t>
                </a: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19405" defTabSz="1219200">
                  <a:spcBef>
                    <a:spcPct val="20000"/>
                  </a:spcBef>
                  <a:defRPr/>
                </a:pPr>
                <a14:m>
                  <m:oMathPara xmlns:m="http://schemas.openxmlformats.org/officeDocument/2006/math">
                    <m:oMathParaPr>
                      <m:jc m:val="left"/>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nary>
                        <m:naryPr>
                          <m:chr m:val="∑"/>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sup>
                        <m:e>
                          <m:sSup>
                            <m:sSup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77</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e>
                              </m:d>
                            </m:e>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nary>
                    </m:oMath>
                  </m:oMathPara>
                </a14:m>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19405" defTabSz="1219200">
                  <a:spcBef>
                    <a:spcPct val="20000"/>
                  </a:spcBef>
                  <a:defRPr/>
                </a:pPr>
                <a14:m>
                  <m:oMathPara xmlns:m="http://schemas.openxmlformats.org/officeDocument/2006/math">
                    <m:oMathParaPr>
                      <m:jc m:val="left"/>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1187</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50</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197</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92</m:t>
                      </m:r>
                    </m:oMath>
                  </m:oMathPara>
                </a14:m>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en-US" sz="1400" dirty="0"/>
              </a:p>
            </p:txBody>
          </p:sp>
        </mc:Choice>
        <mc:Fallback>
          <p:sp>
            <p:nvSpPr>
              <p:cNvPr id="6" name="TextBox 5"/>
              <p:cNvSpPr txBox="1">
                <a:spLocks noRot="1" noChangeAspect="1" noMove="1" noResize="1" noEditPoints="1" noAdjustHandles="1" noChangeArrowheads="1" noChangeShapeType="1" noTextEdit="1"/>
              </p:cNvSpPr>
              <p:nvPr/>
            </p:nvSpPr>
            <p:spPr>
              <a:xfrm>
                <a:off x="1768877" y="3563108"/>
                <a:ext cx="2472536" cy="1537985"/>
              </a:xfrm>
              <a:prstGeom prst="rect">
                <a:avLst/>
              </a:prstGeom>
              <a:blipFill rotWithShape="1">
                <a:blip r:embed="rId3"/>
                <a:stretch>
                  <a:fillRect l="-16" t="-8" r="10"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7782159" y="3563108"/>
                <a:ext cx="3342390" cy="1537985"/>
              </a:xfrm>
              <a:prstGeom prst="rect">
                <a:avLst/>
              </a:prstGeom>
              <a:noFill/>
            </p:spPr>
            <p:txBody>
              <a:bodyPr wrap="none" rtlCol="0">
                <a:spAutoFit/>
              </a:bodyPr>
              <a:lstStyle/>
              <a:p>
                <a:pPr defTabSz="1219200">
                  <a:spcBef>
                    <a:spcPct val="20000"/>
                  </a:spcBef>
                  <a:defRPr/>
                </a:pPr>
                <a14:m>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oMath>
                </a14:m>
                <a:r>
                  <a:rPr lang="zh-CN" altLang="en-US"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（数学成绩与游戏时间的协方差）</a:t>
                </a: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nary>
                        <m:naryPr>
                          <m:chr m:val="∑"/>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sup>
                        <m:e>
                          <m:d>
                            <m:d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77</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e>
                          </m:d>
                          <m:d>
                            <m:d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75</m:t>
                              </m:r>
                            </m:e>
                          </m:d>
                        </m:e>
                      </m:nary>
                    </m:oMath>
                  </m:oMathPara>
                </a14:m>
                <a:endPar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118</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75</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792</m:t>
                      </m:r>
                    </m:oMath>
                  </m:oMathPara>
                </a14:m>
                <a:endParaRPr lang="en-US" altLang="zh-CN" sz="1400" dirty="0">
                  <a:ea typeface="思源黑体 CN Regular" panose="020B0500000000000000" charset="-122"/>
                  <a:cs typeface="思源黑体 CN Regular" panose="020B0500000000000000" charset="-122"/>
                  <a:sym typeface="Arial" panose="020B0604020202020204" pitchFamily="34" charset="0"/>
                </a:endParaRPr>
              </a:p>
              <a:p>
                <a:endParaRPr lang="en-US" sz="1400" dirty="0"/>
              </a:p>
            </p:txBody>
          </p:sp>
        </mc:Choice>
        <mc:Fallback>
          <p:sp>
            <p:nvSpPr>
              <p:cNvPr id="7" name="TextBox 6"/>
              <p:cNvSpPr txBox="1">
                <a:spLocks noRot="1" noChangeAspect="1" noMove="1" noResize="1" noEditPoints="1" noAdjustHandles="1" noChangeArrowheads="1" noChangeShapeType="1" noTextEdit="1"/>
              </p:cNvSpPr>
              <p:nvPr/>
            </p:nvSpPr>
            <p:spPr>
              <a:xfrm>
                <a:off x="7782159" y="3563108"/>
                <a:ext cx="3342390" cy="1537985"/>
              </a:xfrm>
              <a:prstGeom prst="rect">
                <a:avLst/>
              </a:prstGeom>
              <a:blipFill rotWithShape="1">
                <a:blip r:embed="rId4"/>
                <a:stretch>
                  <a:fillRect l="-7" t="-8" r="19" b="9"/>
                </a:stretch>
              </a:blipFill>
            </p:spPr>
            <p:txBody>
              <a:bodyPr/>
              <a:lstStyle/>
              <a:p>
                <a:r>
                  <a:rPr lang="zh-CN" altLang="en-US">
                    <a:noFill/>
                  </a:rPr>
                  <a:t> </a:t>
                </a:r>
              </a:p>
            </p:txBody>
          </p:sp>
        </mc:Fallback>
      </mc:AlternateContent>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675410" y="842330"/>
                <a:ext cx="10609118" cy="4851888"/>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协方差用于度量两个属性的协同变化程度。若协方差的值接近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，表示两个变量之间没有显著的（线性）关系。然而，协方差的数值大小受变量的单位和取值范围影响。例如，身高若以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m</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（米）为单位，身高与体重的协方差可能为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0.5</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，当身高改为以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cm</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（厘米）为单位时，协方差将扩大至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50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，但两者的线性关系本质未变。因此，协方差无法直接用于跨变量对的关联强度比较。相比协方差，相关性通过标准化协方差消除了单位的影响，其取值范围为</a:t>
                </a:r>
                <a14:m>
                  <m:oMath xmlns:m="http://schemas.openxmlformats.org/officeDocument/2006/math">
                    <m: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，可能更适合反映两个属性之间（线性）相关的程度。</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相关矩阵：</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相关矩阵（</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correlation matrix</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𝑹</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个元素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表示数据的第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个属性和第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个属性之间的相关性。其定义为：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23850"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correlation</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m:rPr>
                              <m:nor/>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covariance</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num>
                        <m:den>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sub>
                          </m:sSub>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sub>
                          </m:sSub>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238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b>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b>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分别是属性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的标准差。相关性</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的值范围为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，越接近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或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，表示两个属性的线性关系越强。而相关矩阵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𝑹</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的对角线上的元素恒为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，这是因为对于任意属性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，其与自身的相关性总是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，即 </a:t>
                </a:r>
                <a14:m>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correlation</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。此外，考虑包含每对数据对象而不是每对属性之间相关性的相关矩阵，也可以为数据分析提供有益的视角。</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675410" y="842330"/>
                <a:ext cx="10609118" cy="4851888"/>
              </a:xfrm>
              <a:prstGeom prst="rect">
                <a:avLst/>
              </a:prstGeom>
              <a:blipFill rotWithShape="1">
                <a:blip r:embed="rId1"/>
                <a:stretch>
                  <a:fillRect l="-4" t="-635" r="5" b="4"/>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633845" y="842330"/>
                <a:ext cx="10557165" cy="330364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聚类、图像识别等应用中，我们需要评估对象之间的相似或相异程度。例如，在推荐系统中，评估两个用户的偏好相似性是很重要的。通过计算用户之间的相似性，系统可以根据其他与当前用户具有相似偏好的人所喜欢的事物，推荐符合其兴趣的内容，从而提升用户体验，并帮助用户发现他们可能感兴趣但尚未接触的物品。</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相似性（</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similarity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相异性（</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dissimilarity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均可视为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邻近性（</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proximity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。具体来说，如果两个对象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不相似，则它们的相似性度量将返回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（假设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表示完全相似）。相似性值越高，表示对象之间的相似性越大。相异性度量则与之相反。如果两个对象完全相同，则相异性度量返回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；相异性值越高，表示两个对象之间的差异越大。</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633845" y="842330"/>
                <a:ext cx="10557165" cy="3303643"/>
              </a:xfrm>
              <a:prstGeom prst="rect">
                <a:avLst/>
              </a:prstGeom>
              <a:blipFill rotWithShape="1">
                <a:blip r:embed="rId1"/>
                <a:stretch>
                  <a:fillRect l="-1" t="-932" r="-868" b="2"/>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573437" y="842330"/>
                <a:ext cx="11128706" cy="601567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通常，邻近性度量会被定义为或转换到区间 </a:t>
                </a:r>
                <a14:m>
                  <m:oMath xmlns:m="http://schemas.openxmlformats.org/officeDocument/2006/math">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e>
                    </m:d>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中的值。这样做的目的是通过使用适当的尺度，使邻近性的数值能够直观地表示两个对象之间的相似性或相异性。如果相似性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（或相异性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）落在 </a:t>
                </a:r>
                <a14:m>
                  <m:oMath xmlns:m="http://schemas.openxmlformats.org/officeDocument/2006/math">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区间，则可以通过以下公式进行转换：</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algn="ctr" defTabSz="1219200">
                  <a:spcBef>
                    <a:spcPct val="20000"/>
                  </a:spcBef>
                  <a:defRPr/>
                </a:pPr>
                <a:endPar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algn="ct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zh-CN" altLang="en-US"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algn="ctr" defTabSz="1219200">
                  <a:spcBef>
                    <a:spcPct val="20000"/>
                  </a:spcBef>
                  <a:defRPr/>
                </a:pPr>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表示对象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m:rPr>
                            <m:sty m:val="p"/>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j</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之间的相异性，</a:t>
                </a:r>
                <a14:m>
                  <m:oMath xmlns:m="http://schemas.openxmlformats.org/officeDocument/2006/math">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表示它们之间的相似性。这样，在 </a:t>
                </a:r>
                <a14:m>
                  <m:oMath xmlns:m="http://schemas.openxmlformats.org/officeDocument/2006/math">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区间内的度量提供了一种简单且统一的方式来描述对象之间的相似性或差异性。</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如果相似性的值不必局限于 </a:t>
                </a:r>
                <a14:m>
                  <m:oMath xmlns:m="http://schemas.openxmlformats.org/officeDocument/2006/math">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区间，还可以使用其他变换方式，例如：</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algn="ctr" defTabSz="1219200">
                  <a:spcBef>
                    <a:spcPct val="20000"/>
                  </a:spcBef>
                  <a:defRPr/>
                </a:pPr>
                <a:endPar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278130" algn="ctr" defTabSz="1219200">
                  <a:spcBef>
                    <a:spcPct val="20000"/>
                  </a:spcBef>
                  <a:defRPr/>
                </a:pPr>
                <a14:m>
                  <m:oMath xmlns:m="http://schemas.openxmlformats.org/officeDocument/2006/math">
                    <m:r>
                      <m:rPr>
                        <m:nor/>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den>
                    </m:f>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e>
                      <m:sup>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zh-CN" altLang="en-US"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或</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𝑚𝑖𝑛</m:t>
                            </m:r>
                          </m:sub>
                        </m:sSub>
                      </m:num>
                      <m:den>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𝑚𝑎𝑥</m:t>
                            </m:r>
                          </m:sub>
                        </m:sSub>
                        <m: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𝑚𝑖𝑛</m:t>
                            </m:r>
                          </m:sub>
                        </m:sSub>
                      </m:den>
                    </m:f>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algn="ctr"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一般来说，任何单调减函数都可实现相异性与相似性的相互转换。但是，在进行相互转换或将它们的值变换到新的尺度时，还需要考虑一些其他因素，例如保持属性的原有意义或者满足目标数据分析工具的需要。因此，选择合适的转换函数应结合具体应用场景进行权衡。</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573437" y="842330"/>
                <a:ext cx="11128706" cy="6015670"/>
              </a:xfrm>
              <a:prstGeom prst="rect">
                <a:avLst/>
              </a:prstGeom>
              <a:blipFill rotWithShape="1">
                <a:blip r:embed="rId1"/>
                <a:stretch>
                  <a:fillRect t="-512" r="-1098"/>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685799" y="842330"/>
                <a:ext cx="10922431" cy="342487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由标称属性描述的数据的相似性：</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设两个对象</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均由</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个标称属性描述。如果在这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个标称属性中有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个属性都取相同的值，那么对象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的相异性可以根据不匹配率计算为：</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相应地，相似性可以通过以下公式计算：</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由二元属性描述的数据的相似性：</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设两个仅包含二元属性的对象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，它们之间的相似性度量也称为相似系数（</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similarity coefficient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）。若它们的所有二元属性都具有相同的权重，我们可以构建一个列联表。其中，</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分别表示对象</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不同取值下的属性数。若属性的总数为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，则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m:rPr>
                        <m:sty m:val="p"/>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w</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685799" y="842330"/>
                <a:ext cx="10922431" cy="3424870"/>
              </a:xfrm>
              <a:prstGeom prst="rect">
                <a:avLst/>
              </a:prstGeom>
              <a:blipFill rotWithShape="1">
                <a:blip r:embed="rId1"/>
                <a:stretch>
                  <a:fillRect l="-6" t="-899" r="4"/>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nvGraphicFramePr>
            <p:xfrm>
              <a:off x="1578429" y="4467201"/>
              <a:ext cx="8588828" cy="1787462"/>
            </p:xfrm>
            <a:graphic>
              <a:graphicData uri="http://schemas.openxmlformats.org/drawingml/2006/table">
                <a:tbl>
                  <a:tblPr firstRow="1" bandRow="1">
                    <a:tableStyleId>{2D5ABB26-0587-4C30-8999-92F81FD0307C}</a:tableStyleId>
                  </a:tblPr>
                  <a:tblGrid>
                    <a:gridCol w="3052395"/>
                    <a:gridCol w="3233337"/>
                    <a:gridCol w="2303096"/>
                  </a:tblGrid>
                  <a:tr h="306914">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m:oMathPara>
                          </a14:m>
                          <a:endParaRPr lang="en-US" sz="1600" dirty="0"/>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m:oMathPara>
                          </a14:m>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属性数</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89945">
                    <a:tc>
                      <a:txBody>
                        <a:bodyPr/>
                        <a:lstStyle/>
                        <a:p>
                          <a:pPr algn="ctr"/>
                          <a:r>
                            <a:rPr lang="en-US" altLang="zh-CN" sz="1600" dirty="0"/>
                            <a:t>1</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oMath>
                            </m:oMathPara>
                          </a14:m>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304">
                    <a:tc>
                      <a:txBody>
                        <a:bodyPr/>
                        <a:lstStyle/>
                        <a:p>
                          <a:pPr algn="ctr"/>
                          <a:r>
                            <a:rPr lang="en-US" altLang="zh-CN" sz="1600" dirty="0"/>
                            <a:t>1</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oMath>
                            </m:oMathPara>
                          </a14:m>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304">
                    <a:tc>
                      <a:txBody>
                        <a:bodyPr/>
                        <a:lstStyle/>
                        <a:p>
                          <a:pPr algn="ctr"/>
                          <a:r>
                            <a:rPr lang="en-US" altLang="zh-CN" dirty="0"/>
                            <a:t>0</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m:rPr>
                                    <m:sty m:val="p"/>
                                  </m:rPr>
                                  <a:rPr lang="en-US" altLang="zh-CN" sz="18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w</m:t>
                                </m:r>
                              </m:oMath>
                            </m:oMathPara>
                          </a14:m>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304">
                    <a:tc>
                      <a:txBody>
                        <a:bodyPr/>
                        <a:lstStyle/>
                        <a:p>
                          <a:pPr algn="ctr"/>
                          <a:r>
                            <a:rPr lang="en-US" altLang="zh-CN" dirty="0"/>
                            <a:t>0</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oMath>
                            </m:oMathPara>
                          </a14:m>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 name="Table 1"/>
              <p:cNvGraphicFramePr>
                <a:graphicFrameLocks noGrp="1"/>
              </p:cNvGraphicFramePr>
              <p:nvPr/>
            </p:nvGraphicFramePr>
            <p:xfrm>
              <a:off x="1578429" y="4467201"/>
              <a:ext cx="8588828" cy="1787462"/>
            </p:xfrm>
            <a:graphic>
              <a:graphicData uri="http://schemas.openxmlformats.org/drawingml/2006/table">
                <a:tbl>
                  <a:tblPr firstRow="1" bandRow="1">
                    <a:tableStyleId>{2D5ABB26-0587-4C30-8999-92F81FD0307C}</a:tableStyleId>
                  </a:tblPr>
                  <a:tblGrid>
                    <a:gridCol w="3052395"/>
                    <a:gridCol w="3233337"/>
                    <a:gridCol w="2303096"/>
                  </a:tblGrid>
                  <a:tr h="344805">
                    <a:tc>
                      <a:txBody>
                        <a:bodyPr/>
                        <a:lstStyle/>
                        <a:p>
                          <a:endParaRPr lang="zh-CN"/>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pPr algn="ctr"/>
                          <a:r>
                            <a:rPr lang="en-US" sz="1600" dirty="0" err="1"/>
                            <a:t>属性数</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35280">
                    <a:tc>
                      <a:txBody>
                        <a:bodyPr/>
                        <a:lstStyle/>
                        <a:p>
                          <a:pPr algn="ctr"/>
                          <a:r>
                            <a:rPr lang="en-US" altLang="zh-CN" sz="1600" dirty="0"/>
                            <a:t>1</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lang="zh-CN"/>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65760">
                    <a:tc>
                      <a:txBody>
                        <a:bodyPr/>
                        <a:lstStyle/>
                        <a:p>
                          <a:pPr algn="ctr"/>
                          <a:r>
                            <a:rPr lang="en-US" altLang="zh-CN" sz="1600" dirty="0"/>
                            <a:t>1</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lang="zh-CN"/>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65760">
                    <a:tc>
                      <a:txBody>
                        <a:bodyPr/>
                        <a:lstStyle/>
                        <a:p>
                          <a:pPr algn="ctr"/>
                          <a:r>
                            <a:rPr lang="en-US" altLang="zh-CN" dirty="0"/>
                            <a:t>0</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lang="zh-CN"/>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65760">
                    <a:tc>
                      <a:txBody>
                        <a:bodyPr/>
                        <a:lstStyle/>
                        <a:p>
                          <a:pPr algn="ctr"/>
                          <a:r>
                            <a:rPr lang="en-US" altLang="zh-CN" dirty="0"/>
                            <a:t>0</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lang="zh-CN"/>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bl>
              </a:graphicData>
            </a:graphic>
          </p:graphicFrame>
        </mc:Fallback>
      </mc:AlternateContent>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573437" y="842329"/>
                <a:ext cx="11034794" cy="4589641"/>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9525"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95275"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基于对称二元属性的相异性度量称为对称二元相异性。对于由对称二元属性描述的对象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，它们的相异性可以通过简单匹配系（</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simple matching coefficient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w</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基于非对称二元属性的相异性度量称为非对称二元相异性。对于非对称二元属性，在计算相异性时，正匹配（即两个属性都取值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）的情况比负匹配（即两个属性都取值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）更重要。在这种情况下，负匹配数</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被认为是不重要的，因此它在计算时被忽略。非对称二元相异性可通过 </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距离（</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distance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来度量，定义如下：</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den>
                      </m:f>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111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对应的相似性度量为 </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coefficient</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sty m:val="p"/>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w</m:t>
                          </m:r>
                        </m:den>
                      </m:f>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573437" y="842329"/>
                <a:ext cx="11034794" cy="4589641"/>
              </a:xfrm>
              <a:prstGeom prst="rect">
                <a:avLst/>
              </a:prstGeom>
              <a:blipFill rotWithShape="1">
                <a:blip r:embed="rId1"/>
                <a:stretch>
                  <a:fillRect t="-671" r="4" b="4"/>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217714" y="842329"/>
                <a:ext cx="11800115" cy="6015671"/>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由数值属性描述的数据的相似性：</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首先通过讨论如何度量数值属性刻画的对象的相异性，引入距离度量的概念。在某些情况下，计算距离之前应对数据进行规范化，确保它们落入较小的公共值域（如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或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），以避免不同属性的尺度影响。</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最常用的距离度量是</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欧几里得距离（</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Euclidean distance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。设 </a:t>
                </a:r>
                <a14:m>
                  <m:oMath xmlns:m="http://schemas.openxmlformats.org/officeDocument/2006/math">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𝑖𝑝</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𝑗𝑝</m:t>
                            </m:r>
                          </m:sub>
                        </m:sSub>
                      </m:e>
                    </m:d>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是两个由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个数值属性描述的对象，其中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个属性值，且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之间的欧几里得距离定义为：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sup>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nary>
                        </m:e>
                      </m:rad>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另一个著名的距离度量是曼哈顿距离（</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Manhattan distance</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），又称为城市区块距离或出租车距离，其定义为：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sup>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nary>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111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欧几里得距离和曼哈顿距离都满足如下数学性质：</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非负性：</a:t>
                </a:r>
                <a14:m>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，距离是个非负的数值。</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同一性：</a:t>
                </a:r>
                <a14:m>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当且仅当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，即对象到自身的距离为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对称性：</a:t>
                </a:r>
                <a14:m>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，距离是一个对称函数。</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三角不等式：</a:t>
                </a:r>
                <a14:m>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，即两点之间线段最短。</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111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满足这些性质的测度称为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度量（</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metric</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217714" y="842329"/>
                <a:ext cx="11800115" cy="6015671"/>
              </a:xfrm>
              <a:prstGeom prst="rect">
                <a:avLst/>
              </a:prstGeom>
              <a:blipFill rotWithShape="1">
                <a:blip r:embed="rId1"/>
                <a:stretch>
                  <a:fillRect l="-5" t="-512" r="4" b="-4708"/>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217714" y="755242"/>
                <a:ext cx="11800115" cy="4295728"/>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事实上，欧几里得距离和曼哈顿距离可以视作</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闵可夫斯基距离（</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Minkowski distance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的特例，其公式为：</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sup>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sup>
                                  </m:sSup>
                                </m:e>
                              </m:nary>
                            </m:e>
                          </m:d>
                        </m:e>
                        <m:sup>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den>
                          </m:f>
                        </m:sup>
                      </m:sSup>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111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为正整数。</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indent="-28130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时，闵可夫斯基距离为曼哈顿距离（即，</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范式）。</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indent="-28130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时，闵可夫斯基距离为欧几里得距离（即，</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范式）；</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indent="-28130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时，闵可夫斯基距离收敛为上确界距离。为了计算这种距离，我们需要找到使两个对象在所有属性中差值最大的属性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，该最大差值即为上确界距离，其形式化定义如下：</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limLow>
                            <m:limLow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limLow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𝑙𝑖𝑚</m:t>
                              </m:r>
                            </m:e>
                            <m:li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lim>
                          </m:limLow>
                        </m:fName>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sup>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sup>
                                      </m:sSup>
                                    </m:e>
                                  </m:nary>
                                </m:e>
                              </m:d>
                            </m:e>
                            <m:sup>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den>
                              </m:f>
                            </m:sup>
                          </m:sSup>
                        </m:e>
                      </m:func>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limLow>
                            <m:limLow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limLow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𝑚𝑎𝑥</m:t>
                              </m:r>
                            </m:e>
                            <m:li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lim>
                          </m:limLow>
                        </m:fName>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func>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此距离也被称为</a:t>
                </a:r>
                <a:r>
                  <a:rPr lang="zh-CN" altLang="en-US"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𝑳</m:t>
                        </m:r>
                      </m:e>
                      <m:sub>
                        <m:r>
                          <a:rPr lang="en-US" altLang="zh-CN" sz="1600" b="1"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sub>
                    </m:sSub>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范数</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或</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一致范数（</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uniform norm</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，它度量了两个对象在所有属性中的最大差异。</a:t>
                </a:r>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217714" y="755242"/>
                <a:ext cx="11800115" cy="4295728"/>
              </a:xfrm>
              <a:prstGeom prst="rect">
                <a:avLst/>
              </a:prstGeom>
              <a:blipFill rotWithShape="1">
                <a:blip r:embed="rId1"/>
                <a:stretch>
                  <a:fillRect l="-5" t="-715" r="4" b="-3174"/>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7"/>
          <p:cNvSpPr/>
          <p:nvPr/>
        </p:nvSpPr>
        <p:spPr>
          <a:xfrm>
            <a:off x="1208405" y="5315585"/>
            <a:ext cx="8006080" cy="138874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TextBox 8"/>
              <p:cNvSpPr txBox="1"/>
              <p:nvPr/>
            </p:nvSpPr>
            <p:spPr>
              <a:xfrm>
                <a:off x="1318260" y="5535295"/>
                <a:ext cx="7787005" cy="1310005"/>
              </a:xfrm>
              <a:prstGeom prst="rect">
                <a:avLst/>
              </a:prstGeom>
              <a:noFill/>
            </p:spPr>
            <p:txBody>
              <a:bodyPr wrap="square" lIns="0" tIns="0" rIns="0" bIns="0" rtlCol="0" anchor="t">
                <a:noAutofit/>
              </a:bodyPr>
              <a:lstStyle/>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给定两个对象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e>
                    </m:d>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e>
                    </m:d>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，它们的上确界距离为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。这是因为：</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 xmlns:m="http://schemas.openxmlformats.org/officeDocument/2006/math">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13</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23</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a:t>
                </a:r>
                <a14:m>
                  <m:oMath xmlns:m="http://schemas.openxmlformats.org/officeDocument/2006/math">
                    <m:r>
                      <m:rPr>
                        <m:nor/>
                      </m:r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𝑚𝑎𝑥</m:t>
                        </m:r>
                      </m:fName>
                      <m:e>
                        <m:r>
                          <m:rPr>
                            <m:lit/>
                          </m:r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e>
                    </m:func>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r>
                      <m:rPr>
                        <m:lit/>
                      </m:r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1318260" y="5535295"/>
                <a:ext cx="7787005" cy="1310005"/>
              </a:xfrm>
              <a:prstGeom prst="rect">
                <a:avLst/>
              </a:prstGeom>
              <a:blipFill rotWithShape="1">
                <a:blip r:embed="rId2"/>
                <a:stretch>
                  <a:fillRect/>
                </a:stretch>
              </a:blipFill>
            </p:spPr>
            <p:txBody>
              <a:bodyPr/>
              <a:lstStyle/>
              <a:p>
                <a:r>
                  <a:rPr lang="zh-CN" altLang="en-US">
                    <a:noFill/>
                  </a:rPr>
                  <a:t> </a:t>
                </a:r>
              </a:p>
            </p:txBody>
          </p:sp>
        </mc:Fallback>
      </mc:AlternateContent>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424543" y="842330"/>
                <a:ext cx="10940144" cy="5656442"/>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由序数属性描述的数据的相似性：</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序数属性的可能值之间具有有意义的顺序或排位，但相邻值之间的量化差异未知。例如，“高校教师职称”这一属性的可能值有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4</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个，其序列为：讲师，助理教授，副教授，教授。其实，数值属性的值域也可以划分成有限个类别，并按照一定的顺序进行组织，从而将数值属性离散化为序数属性。也就是说，数值属性的值域可以映射为具有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个状态的序数属性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𝛼</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。此外，某些区间属性也可以视为序数属性，例如，摄氏温度可以划分为不同的区间，如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10</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20</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50</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100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对应“低温”、“中温”和“高温”状态。这样，摄氏温度就可以作为序数属性进行处理。在计算由序数属性描述的对象之间的相异性时，序数属性的处理方式与数值属性非常相似。具体来说，处理步骤如下：</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63905" indent="-398780" defTabSz="1219200">
                  <a:spcBef>
                    <a:spcPct val="20000"/>
                  </a:spcBef>
                  <a:buFont typeface="+mj-lt"/>
                  <a:buAutoNum type="romanUcPeriod"/>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首先，假设对象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个序数属性，记作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𝛼</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，其值为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且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𝛼</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有</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个有序状态，记为</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。用其对应的排位值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来替代</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63905" indent="-398780" defTabSz="1219200">
                  <a:spcBef>
                    <a:spcPct val="20000"/>
                  </a:spcBef>
                  <a:buFont typeface="+mj-lt"/>
                  <a:buAutoNum type="romanUcPeriod"/>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63905" indent="-398780" defTabSz="1219200">
                  <a:spcBef>
                    <a:spcPct val="20000"/>
                  </a:spcBef>
                  <a:buFont typeface="+mj-lt"/>
                  <a:buAutoNum type="romanUcPeriod"/>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其次，由于不同序数属性的状态数量可能不同，我们通常需要将每个属性的值域映射到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区间上，以消除不同属性的尺度差异。我们用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代替对象</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来实现数据的规范化，公式如下：</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63905" indent="-398780"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65175" indent="-400050" defTabSz="1219200">
                  <a:spcBef>
                    <a:spcPct val="20000"/>
                  </a:spcBef>
                  <a:buFont typeface="+mj-lt"/>
                  <a:buAutoNum type="romanUcPeriod" startAt="3"/>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最后，规范化后的值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可用于计算对象</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之间的相异性。相异性可以通过之前介绍的任意一种数值属性的距离度量来计算。</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序数属性的相似性可由相异性计算得出：</a:t>
                </a:r>
                <a14:m>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424543" y="842330"/>
                <a:ext cx="10940144" cy="5656442"/>
              </a:xfrm>
              <a:prstGeom prst="rect">
                <a:avLst/>
              </a:prstGeom>
              <a:blipFill rotWithShape="1">
                <a:blip r:embed="rId1"/>
                <a:stretch>
                  <a:fillRect l="-3" t="-545" r="1" b="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7"/>
          <p:cNvSpPr/>
          <p:nvPr/>
        </p:nvSpPr>
        <p:spPr>
          <a:xfrm>
            <a:off x="599076" y="1221921"/>
            <a:ext cx="10145123" cy="453662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TextBox 8"/>
              <p:cNvSpPr txBox="1"/>
              <p:nvPr/>
            </p:nvSpPr>
            <p:spPr>
              <a:xfrm>
                <a:off x="828947" y="1463221"/>
                <a:ext cx="9556024" cy="3863154"/>
              </a:xfrm>
              <a:prstGeom prst="rect">
                <a:avLst/>
              </a:prstGeom>
              <a:noFill/>
            </p:spPr>
            <p:txBody>
              <a:bodyPr wrap="square" lIns="0" tIns="0" rIns="0" bIns="0" rtlCol="0" anchor="t">
                <a:noAutofit/>
              </a:bodyPr>
              <a:lstStyle/>
              <a:p>
                <a:pPr defTabSz="1219200">
                  <a:spcBef>
                    <a:spcPct val="20000"/>
                  </a:spcBef>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由序数属性描述的数据的相似性示例</a:t>
                </a:r>
                <a:endParaRPr lang="en-US" altLang="zh-CN" sz="12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假设有两位高校教师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，他们都有一序数属性，高校教师职称，其值分别是：</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副教授，</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讲师。已知该属性值的次序为：讲师（排名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），助理教授（排名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2</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），副教授（排名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3</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），教授（排名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4</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）。首先，根据职称值的次序，用排位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来表示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，即</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。然后，我们使用公式 </a:t>
                </a:r>
                <a14:m>
                  <m:oMath xmlns:m="http://schemas.openxmlformats.org/officeDocument/2006/math">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den>
                    </m:f>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进行规范化，其中，</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err="1">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是排位值，</a:t>
                </a:r>
                <a14:m>
                  <m:oMath xmlns:m="http://schemas.openxmlformats.org/officeDocument/2006/math">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是序数属性的总状态数（这里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67</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00</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。最后，我们使用曼哈顿距离来计算相异性：</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m:rPr>
                          <m:nor/>
                        </m:r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67</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00</m:t>
                          </m:r>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67</m:t>
                      </m:r>
                    </m:oMath>
                  </m:oMathPara>
                </a14:m>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相应地，其相似性为：</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m:rPr>
                          <m:nor/>
                        </m:rPr>
                        <a:rPr lang="en-US" altLang="zh-CN" sz="1400" i="0"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400" i="0"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67</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33</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这表明，副教授和讲师的相似性程度为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0.33</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，相异性程度为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0.67</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828947" y="1463221"/>
                <a:ext cx="9556024" cy="3863154"/>
              </a:xfrm>
              <a:prstGeom prst="rect">
                <a:avLst/>
              </a:prstGeom>
              <a:blipFill rotWithShape="1">
                <a:blip r:embed="rId1"/>
                <a:stretch>
                  <a:fillRect l="-3" t="-711" r="2" b="16"/>
                </a:stretch>
              </a:blipFill>
            </p:spPr>
            <p:txBody>
              <a:bodyPr/>
              <a:lstStyle/>
              <a:p>
                <a:r>
                  <a:rPr lang="zh-CN" altLang="en-US">
                    <a:noFill/>
                  </a:rPr>
                  <a:t> </a:t>
                </a:r>
              </a:p>
            </p:txBody>
          </p:sp>
        </mc:Fallback>
      </mc:AlternateContent>
      <p:sp>
        <p:nvSpPr>
          <p:cNvPr id="7" name="文本框 6"/>
          <p:cNvSpPr txBox="1"/>
          <p:nvPr/>
        </p:nvSpPr>
        <p:spPr>
          <a:xfrm>
            <a:off x="599076" y="852589"/>
            <a:ext cx="6104964" cy="369332"/>
          </a:xfrm>
          <a:prstGeom prst="rect">
            <a:avLst/>
          </a:prstGeom>
          <a:noFill/>
        </p:spPr>
        <p:txBody>
          <a:bodyPr wrap="square">
            <a:spAutoFit/>
          </a:bodyPr>
          <a:lstStyle/>
          <a:p>
            <a:pPr algn="l" defTabSz="1219200">
              <a:spcBef>
                <a:spcPct val="20000"/>
              </a:spcBef>
              <a:defRPr/>
            </a:pPr>
            <a:r>
              <a:rPr lang="zh-CN" altLang="en-US" sz="18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endParaRPr lang="zh-CN" altLang="en-US" sz="18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424543" y="842330"/>
                <a:ext cx="11408228" cy="5656442"/>
              </a:xfrm>
              <a:prstGeom prst="rect">
                <a:avLst/>
              </a:prstGeom>
              <a:noFill/>
            </p:spPr>
            <p:txBody>
              <a:bodyPr wrap="square" lIns="0" tIns="0" rIns="0" bIns="0" rtlCol="0" anchor="t">
                <a:noAutofit/>
              </a:bodyPr>
              <a:lstStyle/>
              <a:p>
                <a:pPr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余弦相似度</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给定两个向量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，它们的维度是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𝑛</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，可以使用</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余弦相似度（</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cosine similarity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来衡量它们之间的相似性，其定义如下：</a:t>
                </a: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num>
                        <m:den>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en>
                      </m:f>
                    </m:oMath>
                  </m:oMathPara>
                </a14:m>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68605"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 </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是向量</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的内积，</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𝑛</m:t>
                        </m:r>
                      </m:sup>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nary>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分别是向量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的欧几里得范数（即向量的长度），</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𝑛</m:t>
                            </m:r>
                          </m:sup>
                          <m:e>
                            <m:sSubSup>
                              <m:sSub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Sup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bSup>
                          </m:e>
                        </m:nary>
                      </m:e>
                    </m:ra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𝑛</m:t>
                            </m:r>
                          </m:sup>
                          <m:e>
                            <m:sSubSup>
                              <m:sSub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Sup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bSup>
                          </m:e>
                        </m:nary>
                      </m:e>
                    </m:ra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当属性是二值属性时，若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，表示对象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具有第</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个属性；同理，</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表示对象</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具有该属性。此时，余弦相似度公式为：</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𝑐𝑜𝑠</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num>
                      <m:den>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en>
                    </m:f>
                  </m:oMath>
                </a14:m>
                <a:r>
                  <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 </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num>
                      <m:den>
                        <m:rad>
                          <m:radPr>
                            <m:degHide m:val="on"/>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e>
                        </m:rad>
                      </m:den>
                    </m:f>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表示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共同具有的属性数，而</a:t>
                </a:r>
                <a14:m>
                  <m:oMath xmlns:m="http://schemas.openxmlformats.org/officeDocument/2006/math">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e>
                    </m:ra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lit/>
                      </m:r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m:rPr>
                                <m:sty m:val="p"/>
                              </m:r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y</m:t>
                            </m:r>
                          </m:e>
                        </m:d>
                      </m:e>
                    </m:ra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代表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各自具有的属性数的几何平均数。</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在二值属性的情况下，余弦相似度的一个常用变种是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系数，定义为：</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b="1"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d>
                            <m:dPr>
                              <m:begChr m:val="|"/>
                              <m:endChr m:val="|"/>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num>
                        <m:den>
                          <m:d>
                            <m:dPr>
                              <m:begChr m:val="|"/>
                              <m:endChr m:val="|"/>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den>
                      </m:f>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num>
                        <m:den>
                          <m:d>
                            <m:dPr>
                              <m:begChr m:val="|"/>
                              <m:endChr m:val="|"/>
                              <m:ctrlP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68605"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它表示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共同具有的属性数与它们总属性数之比。</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Tanimoto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系数是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系数的推广，适用于非二值向量，例如实数向量或频次向量。</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Tanimoto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系数的定义为：</a:t>
                </a:r>
                <a14:m>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Tanimoto</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num>
                      <m:den>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den>
                    </m:f>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，在二值属性的情况下，由于 </a:t>
                </a:r>
                <a14:m>
                  <m:oMath xmlns:m="http://schemas.openxmlformats.org/officeDocument/2006/math">
                    <m:sSup>
                      <m:sSup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e>
                        </m:d>
                      </m:e>
                      <m:sup>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且 </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Tanimoto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系数退化为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424543" y="842330"/>
                <a:ext cx="11408228" cy="5656442"/>
              </a:xfrm>
              <a:prstGeom prst="rect">
                <a:avLst/>
              </a:prstGeom>
              <a:blipFill rotWithShape="1">
                <a:blip r:embed="rId1"/>
                <a:stretch>
                  <a:fillRect l="-3" t="-545" r="-26" b="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24543" y="842330"/>
            <a:ext cx="11408228" cy="1378356"/>
          </a:xfrm>
          <a:prstGeom prst="rect">
            <a:avLst/>
          </a:prstGeom>
          <a:noFill/>
        </p:spPr>
        <p:txBody>
          <a:bodyPr wrap="square" lIns="0" tIns="0" rIns="0" bIns="0" rtlCol="0" anchor="t">
            <a:noAutofit/>
          </a:bodyPr>
          <a:lstStyle/>
          <a:p>
            <a:pPr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余弦相似度</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由于余弦相似度仅反映向量方向的相似性，而不考虑向量长度，它不满足典型的度量定义所要求的所有条件（非负性、同一性、对称性、三角不等式），因此它被称为非度量测度（</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nonmetric measure</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）。尽管如此，余弦相似度在文本分析、推荐系统等领域有着广泛应用，因其对向量长度不敏感的特性适合高维稀疏数据。</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7"/>
          <p:cNvSpPr/>
          <p:nvPr/>
        </p:nvSpPr>
        <p:spPr>
          <a:xfrm>
            <a:off x="228599" y="3450773"/>
            <a:ext cx="11756571" cy="338132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TextBox 8"/>
              <p:cNvSpPr txBox="1"/>
              <p:nvPr/>
            </p:nvSpPr>
            <p:spPr>
              <a:xfrm>
                <a:off x="555172" y="3528062"/>
                <a:ext cx="11277600" cy="3206064"/>
              </a:xfrm>
              <a:prstGeom prst="rect">
                <a:avLst/>
              </a:prstGeom>
              <a:noFill/>
            </p:spPr>
            <p:txBody>
              <a:bodyPr wrap="square" lIns="0" tIns="0" rIns="0" bIns="0" rtlCol="0" anchor="t">
                <a:noAutofit/>
              </a:bodyPr>
              <a:lstStyle/>
              <a:p>
                <a:pPr defTabSz="1219200">
                  <a:spcBef>
                    <a:spcPct val="20000"/>
                  </a:spcBef>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余弦相似度计算示例</a:t>
                </a:r>
                <a:endParaRPr lang="en-US" altLang="zh-CN" sz="12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文档处理中，我们通常使用向量表示形式，其中每个词对应向量的一个维度，且该维度的值表示该词在文档中的出现频率，如表所示。这种词频向量通常是高维且稀疏的，即包含大量零值，即使文档中包含成千上万个词。此时，我们就可以借助余弦相似度来度量不同词频向量之间的相似性，从而实现比较不同文档之间的相似性。即：</a:t>
                </a:r>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27</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31</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zh-CN" altLang="en-US"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b="1"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27</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31</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786</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400" b="1"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ad>
                        <m:radPr>
                          <m:degHide m:val="on"/>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27</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31</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rad>
                      <m:r>
                        <a:rPr lang="zh-CN" altLang="en-US"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ad>
                        <m:radPr>
                          <m:degHide m:val="on"/>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2006</m:t>
                          </m:r>
                        </m:e>
                      </m:ra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Cambria Math" panose="02040503050406030204" pitchFamily="18" charset="0"/>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44</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79</m:t>
                      </m:r>
                      <m:r>
                        <a:rPr lang="zh-CN" altLang="en-US" sz="1400" b="0" i="0"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zh-CN" altLang="en-US" sz="1400" b="0" i="0"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400" b="1" i="1" dirty="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t>𝒚</m:t>
                          </m:r>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ad>
                        <m:radPr>
                          <m:degHide m:val="on"/>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sSup>
                            <m:sSup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ra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ad>
                        <m:radPr>
                          <m:degHide m:val="on"/>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612</m:t>
                          </m:r>
                        </m:e>
                      </m:rad>
                      <m:r>
                        <a:rPr lang="en-US" altLang="zh-CN" sz="1400" i="1" dirty="0">
                          <a:solidFill>
                            <a:schemeClr val="bg2">
                              <a:lumMod val="25000"/>
                            </a:schemeClr>
                          </a:solidFill>
                          <a:latin typeface="Cambria Math" panose="02040503050406030204" pitchFamily="18" charset="0"/>
                          <a:ea typeface="Cambria Math" panose="02040503050406030204" pitchFamily="18" charset="0"/>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24</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74</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𝑠𝑖𝑚</m:t>
                      </m:r>
                      <m:d>
                        <m:d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1"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num>
                        <m:den>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t>𝒙</m:t>
                              </m:r>
                            </m:e>
                          </m:d>
                          <m:d>
                            <m:dPr>
                              <m:begChr m:val="‖"/>
                              <m:endChr m:val="‖"/>
                              <m:ctrlPr>
                                <a:rPr lang="en-US" altLang="zh-CN" sz="1400" b="1"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t>𝒚</m:t>
                              </m:r>
                            </m:e>
                          </m:d>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786</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44</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79</m:t>
                          </m:r>
                          <m:r>
                            <a:rPr lang="zh-CN" altLang="en-US"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zh-CN" altLang="en-US"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24</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74</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786</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110</m:t>
                          </m:r>
                          <m:r>
                            <a:rPr lang="en-US" altLang="zh-CN"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8</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10</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71</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9525"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那么，表中文档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文档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的相似性为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0.71</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555172" y="3528062"/>
                <a:ext cx="11277600" cy="3206064"/>
              </a:xfrm>
              <a:prstGeom prst="rect">
                <a:avLst/>
              </a:prstGeom>
              <a:blipFill rotWithShape="1">
                <a:blip r:embed="rId1"/>
                <a:stretch>
                  <a:fillRect l="-2" t="-852" r="2" b="-3705"/>
                </a:stretch>
              </a:blipFill>
            </p:spPr>
            <p:txBody>
              <a:bodyPr/>
              <a:lstStyle/>
              <a:p>
                <a:r>
                  <a:rPr lang="zh-CN" altLang="en-US">
                    <a:noFill/>
                  </a:rPr>
                  <a:t> </a:t>
                </a:r>
              </a:p>
            </p:txBody>
          </p:sp>
        </mc:Fallback>
      </mc:AlternateContent>
      <p:graphicFrame>
        <p:nvGraphicFramePr>
          <p:cNvPr id="4" name="Table 3"/>
          <p:cNvGraphicFramePr>
            <a:graphicFrameLocks noGrp="1"/>
          </p:cNvGraphicFramePr>
          <p:nvPr/>
        </p:nvGraphicFramePr>
        <p:xfrm>
          <a:off x="2498868" y="2011678"/>
          <a:ext cx="7194264" cy="1341120"/>
        </p:xfrm>
        <a:graphic>
          <a:graphicData uri="http://schemas.openxmlformats.org/drawingml/2006/table">
            <a:tbl>
              <a:tblPr firstRow="1" bandRow="1">
                <a:tableStyleId>{2D5ABB26-0587-4C30-8999-92F81FD0307C}</a:tableStyleId>
              </a:tblPr>
              <a:tblGrid>
                <a:gridCol w="945700"/>
                <a:gridCol w="892652"/>
                <a:gridCol w="892652"/>
                <a:gridCol w="892652"/>
                <a:gridCol w="892652"/>
                <a:gridCol w="892652"/>
                <a:gridCol w="892652"/>
                <a:gridCol w="892652"/>
              </a:tblGrid>
              <a:tr h="251189">
                <a:tc rowSpan="2">
                  <a:txBody>
                    <a:bodyPr/>
                    <a:lstStyle/>
                    <a:p>
                      <a:pPr algn="ctr"/>
                      <a:r>
                        <a:rPr lang="en-US" sz="1600" dirty="0" err="1"/>
                        <a:t>文档</a:t>
                      </a:r>
                      <a:endParaRPr lang="en-US" sz="1600" dirty="0"/>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algn="ctr"/>
                      <a:r>
                        <a:rPr lang="en-US" sz="1600" dirty="0" err="1"/>
                        <a:t>词频</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hMerge="1">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r>
              <a:tr h="251189">
                <a:tc vMerge="1">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我</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600" kern="1200" dirty="0" err="1">
                          <a:solidFill>
                            <a:schemeClr val="tx1"/>
                          </a:solidFill>
                          <a:latin typeface="+mn-lt"/>
                          <a:ea typeface="+mn-ea"/>
                          <a:cs typeface="+mn-cs"/>
                        </a:rPr>
                        <a:t>爱</a:t>
                      </a:r>
                      <a:endParaRPr lang="en-US" sz="16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中国</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err="1"/>
                        <a:t>富强</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民主</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err="1"/>
                        <a:t>文明</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和谐</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1189">
                <a:tc>
                  <a:txBody>
                    <a:bodyPr/>
                    <a:lstStyle/>
                    <a:p>
                      <a:pPr algn="ctr"/>
                      <a:r>
                        <a:rPr lang="en-US" sz="1600" dirty="0" err="1"/>
                        <a:t>文档</a:t>
                      </a:r>
                      <a:r>
                        <a:rPr lang="zh-CN" altLang="en-US" sz="1600" dirty="0"/>
                        <a:t> </a:t>
                      </a:r>
                      <a:r>
                        <a:rPr lang="en-US" altLang="zh-CN" sz="1600" dirty="0"/>
                        <a:t>1</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1600" kern="1200" dirty="0">
                          <a:solidFill>
                            <a:schemeClr val="tx1"/>
                          </a:solidFill>
                          <a:latin typeface="+mn-lt"/>
                          <a:ea typeface="+mn-ea"/>
                          <a:cs typeface="+mn-cs"/>
                        </a:rPr>
                        <a:t>27</a:t>
                      </a:r>
                      <a:endParaRPr lang="en-US" sz="16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latinLnBrk="0" hangingPunct="1"/>
                      <a:r>
                        <a:rPr lang="en-US" altLang="zh-CN" sz="1600" kern="1200" dirty="0">
                          <a:solidFill>
                            <a:schemeClr val="tx1"/>
                          </a:solidFill>
                          <a:latin typeface="+mn-lt"/>
                          <a:ea typeface="+mn-ea"/>
                          <a:cs typeface="+mn-cs"/>
                        </a:rPr>
                        <a:t>7</a:t>
                      </a:r>
                      <a:endParaRPr lang="en-US" sz="16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11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31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0</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1189">
                <a:tc>
                  <a:txBody>
                    <a:bodyPr/>
                    <a:lstStyle/>
                    <a:p>
                      <a:pPr algn="ctr"/>
                      <a:r>
                        <a:rPr lang="en-US" sz="1600" dirty="0" err="1"/>
                        <a:t>文档</a:t>
                      </a:r>
                      <a:r>
                        <a:rPr lang="zh-CN" altLang="en-US" sz="1600" dirty="0"/>
                        <a:t> </a:t>
                      </a:r>
                      <a:r>
                        <a:rPr lang="en-US" altLang="zh-CN" sz="1600" dirty="0"/>
                        <a:t>2</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7</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1600" kern="1200" dirty="0">
                          <a:solidFill>
                            <a:schemeClr val="tx1"/>
                          </a:solidFill>
                          <a:latin typeface="+mn-lt"/>
                          <a:ea typeface="+mn-ea"/>
                          <a:cs typeface="+mn-cs"/>
                        </a:rPr>
                        <a:t>19</a:t>
                      </a:r>
                      <a:endParaRPr lang="en-US" sz="16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7</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12</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3</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0</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0</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数据采集与处理</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395621"/>
          </a:xfrm>
          <a:prstGeom prst="rect">
            <a:avLst/>
          </a:prstGeom>
        </p:spPr>
        <p:txBody>
          <a:bodyPr wrap="square">
            <a:spAutoFit/>
          </a:bodyPr>
          <a:lstStyle/>
          <a:p>
            <a:pPr lvl="0" algn="ctr">
              <a:lnSpc>
                <a:spcPct val="130000"/>
              </a:lnSpc>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Collection and Processing</a:t>
            </a:r>
            <a:endPar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4048288"/>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概念：</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从多样化外部数据源获取信息，为分析决策提供基础支撑。贯穿数据从获取到应用的全生命周期。</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三大核心要点：</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全面性：数据量足、价值高、维度广，确保情境完整与用户画像清晰。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多维性：涵盖多种属性与类型，支持从多角度进行深度业务洞察。</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高效性：追求快速、精准、经济的数据获取流程，优化采集效率。</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主要数据源：</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物理世界（硬感知）：图像数据、传感器数据、工业设备数据。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数字世界（软感知）：互联网数据（网络爬虫）、日志文件、企业业务系统数据。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数据采集：数据分析的起点</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4048288"/>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必要性：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原始数据存在“脏乱”问题，必须清洗以确保分析准确性。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主要数据质量问题：</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异常值：显著偏离正常模式的数据。</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噪声：随机波动（图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2.3</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离群点：明显孤立的点（图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2.4</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识别工具：箱线图、散点图（图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缺失值：数据完全随机丢失、随机丢失、非随机丢失。</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非一致值：违反逻辑或业务规则的值（如年龄为负数）。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重复数据：完全相同、关键字段相同或高度相似的记录。</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数据清洗：识别四大数据质量问题</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4" name="图片 3" descr="图表, 折线图&#10;&#10;AI 生成的内容可能不正确。"/>
          <p:cNvPicPr>
            <a:picLocks noChangeAspect="1"/>
          </p:cNvPicPr>
          <p:nvPr/>
        </p:nvPicPr>
        <p:blipFill>
          <a:blip r:embed="rId1"/>
          <a:srcRect l="-1" r="485" b="7388"/>
          <a:stretch>
            <a:fillRect/>
          </a:stretch>
        </p:blipFill>
        <p:spPr>
          <a:xfrm>
            <a:off x="6197972" y="1875735"/>
            <a:ext cx="3003179" cy="1838132"/>
          </a:xfrm>
          <a:prstGeom prst="rect">
            <a:avLst/>
          </a:prstGeom>
        </p:spPr>
      </p:pic>
      <p:pic>
        <p:nvPicPr>
          <p:cNvPr id="7" name="图片 6" descr="图表, 散点图&#10;&#10;AI 生成的内容可能不正确。"/>
          <p:cNvPicPr>
            <a:picLocks noChangeAspect="1"/>
          </p:cNvPicPr>
          <p:nvPr/>
        </p:nvPicPr>
        <p:blipFill>
          <a:blip r:embed="rId2"/>
          <a:srcRect b="8626"/>
          <a:stretch>
            <a:fillRect/>
          </a:stretch>
        </p:blipFill>
        <p:spPr>
          <a:xfrm>
            <a:off x="9213235" y="1795095"/>
            <a:ext cx="2657396" cy="1999463"/>
          </a:xfrm>
          <a:prstGeom prst="rect">
            <a:avLst/>
          </a:prstGeom>
        </p:spPr>
      </p:pic>
      <p:pic>
        <p:nvPicPr>
          <p:cNvPr id="10" name="图片 9" descr="文本&#10;&#10;AI 生成的内容可能不正确。"/>
          <p:cNvPicPr>
            <a:picLocks noChangeAspect="1"/>
          </p:cNvPicPr>
          <p:nvPr/>
        </p:nvPicPr>
        <p:blipFill>
          <a:blip r:embed="rId3"/>
          <a:stretch>
            <a:fillRect/>
          </a:stretch>
        </p:blipFill>
        <p:spPr>
          <a:xfrm>
            <a:off x="6639144" y="3713867"/>
            <a:ext cx="2394073" cy="406421"/>
          </a:xfrm>
          <a:prstGeom prst="rect">
            <a:avLst/>
          </a:prstGeom>
        </p:spPr>
      </p:pic>
      <p:pic>
        <p:nvPicPr>
          <p:cNvPr id="12" name="图片 11"/>
          <p:cNvPicPr>
            <a:picLocks noChangeAspect="1"/>
          </p:cNvPicPr>
          <p:nvPr/>
        </p:nvPicPr>
        <p:blipFill>
          <a:blip r:embed="rId4"/>
          <a:stretch>
            <a:fillRect/>
          </a:stretch>
        </p:blipFill>
        <p:spPr>
          <a:xfrm>
            <a:off x="9666491" y="3717476"/>
            <a:ext cx="1936850" cy="381020"/>
          </a:xfrm>
          <a:prstGeom prst="rect">
            <a:avLst/>
          </a:prstGeom>
        </p:spPr>
      </p:pic>
      <p:pic>
        <p:nvPicPr>
          <p:cNvPr id="15" name="图片 14" descr="图表, 散点图, 箱线图&#10;&#10;AI 生成的内容可能不正确。"/>
          <p:cNvPicPr>
            <a:picLocks noChangeAspect="1"/>
          </p:cNvPicPr>
          <p:nvPr/>
        </p:nvPicPr>
        <p:blipFill>
          <a:blip r:embed="rId5"/>
          <a:stretch>
            <a:fillRect/>
          </a:stretch>
        </p:blipFill>
        <p:spPr>
          <a:xfrm>
            <a:off x="6313690" y="4120289"/>
            <a:ext cx="4406554" cy="2235046"/>
          </a:xfrm>
          <a:prstGeom prst="rect">
            <a:avLst/>
          </a:prstGeom>
        </p:spPr>
      </p:pic>
      <p:pic>
        <p:nvPicPr>
          <p:cNvPr id="17" name="图片 16"/>
          <p:cNvPicPr>
            <a:picLocks noChangeAspect="1"/>
          </p:cNvPicPr>
          <p:nvPr/>
        </p:nvPicPr>
        <p:blipFill>
          <a:blip r:embed="rId6"/>
          <a:stretch>
            <a:fillRect/>
          </a:stretch>
        </p:blipFill>
        <p:spPr>
          <a:xfrm>
            <a:off x="7604914" y="6345710"/>
            <a:ext cx="1936850" cy="292115"/>
          </a:xfrm>
          <a:prstGeom prst="rect">
            <a:avLst/>
          </a:prstGeom>
        </p:spPr>
      </p:pic>
    </p:spTree>
    <p:custDataLst>
      <p:tags r:id="rId7"/>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4048288"/>
          </a:xfrm>
          <a:prstGeom prst="rect">
            <a:avLst/>
          </a:prstGeom>
          <a:noFill/>
        </p:spPr>
        <p:txBody>
          <a:bodyPr wrap="square" lIns="0" tIns="0" rIns="0" bIns="0" rtlCol="0" anchor="t">
            <a:noAutofit/>
          </a:bodyPr>
          <a:lstStyle/>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处理异常值</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识别：用箱线图（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IQR</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法） 和散点图定位。</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处理：删除、替换（中位数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均值）、转换。</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缺失值：数据完全随机丢失、随机丢失、非随机丢失。</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处理缺失值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删除法：直接移除缺失记录（适用于少量缺失）。</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填充法：用均值、中位数、插值或机器学习预测值填充。</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保留法：将缺失本身作为一个特征。</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处理非一致值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标准化：统一日期、文本、数值、编码的格式（如所有日期转为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YYYY-MM-DD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处理重复数据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去重：使用如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Pandas</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duplicated()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函数识别并删除重复行。</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数据清洗：关键处理方法与步骤</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5163074"/>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目标：</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将来自多个异构数据源的信息融合成一个一致、高质量的数据集。</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关键流程：</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数据源识别：利用机器学习、深度学习（如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BERT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）、知识图谱等技术自动识别数据源结构与语义。</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数据转换：</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方式：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ETL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（先转换后加载）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vs. ELT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（先加载后转换，适合大数据）。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冲突处理：检测（基于规则</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机器学习）与解决（基于优先级、规则或协同过滤）。非一致值：违反逻辑或业务规则的值（如年龄为负数）。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数据匹配与融合：</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模式匹配：识别不同数据源字段间的对应关系（模式连接、实体解析）。</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数据融合：合并信息，消除冗余。方法包括基于规则、概率、特征级、决策级融合。</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数据加载与存储：采用自适应数据流、增量加载、并行加载等技术优化效率，并选择合适存储方案（数据仓库</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数据湖）。</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65912"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数据集成：融合多源信息</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5163074"/>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目标：</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从海量数据中策略性地选取代表性子集，以降低计算复杂度、提高分析效率，同时保持总体关键特性。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基本策略：</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简单随机采样：总体中每个单位被选中的概率均等，确保随机性与代表性。广泛应用于调研、质量控制等领域。</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分层采样：先将总体按特征划分为若干互斥的“层”，再从每层内独立进行随机抽样。确保样本能代表所有重要子群体，提高估计精度。</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系统采样：将总体单位按序排列，随机确定一个起始点，然后按固定的间隔（如每第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个）抽取样本。操作简便，样本分布均匀。</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整群采样：随机选择自然群体（如学校、社区），调查群内所有个体，降低成本。。</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65912"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数据采样：策略与目的</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5" y="1488446"/>
            <a:ext cx="7800630" cy="5163074"/>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核心挑战：</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分类任务中类别样本数量严重不均，导致模型偏向多数类。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基本策略：</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随机上采样：随机复制少数类样本以增加其数量（可能导致过拟合）。</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随机下采样：随机删除多数类样本以平衡数量（可能丢失重要信息）。</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Wingdings" panose="05000000000000000000" pitchFamily="2" charset="2"/>
              <a:buChar char="l"/>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SMOTE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：合成少数类过采样技术。</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原理：对每个少数类样本，在其特征空间的最近邻之间线性插值，合成新样本。</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最近邻样本对采样：除互为最近邻的异类样本对，清理决策边界。</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依赖技术：例如</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kNN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算法（如图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2.6</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所示）用于寻找最近邻。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65912"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数据采样：机器学习中的采样技术</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descr="图表, 散点图&#10;&#10;AI 生成的内容可能不正确。"/>
          <p:cNvPicPr>
            <a:picLocks noChangeAspect="1"/>
          </p:cNvPicPr>
          <p:nvPr/>
        </p:nvPicPr>
        <p:blipFill>
          <a:blip r:embed="rId1"/>
          <a:stretch>
            <a:fillRect/>
          </a:stretch>
        </p:blipFill>
        <p:spPr>
          <a:xfrm>
            <a:off x="8020134" y="739366"/>
            <a:ext cx="4004703" cy="2893508"/>
          </a:xfrm>
          <a:prstGeom prst="rect">
            <a:avLst/>
          </a:prstGeom>
        </p:spPr>
      </p:pic>
      <p:pic>
        <p:nvPicPr>
          <p:cNvPr id="6" name="图片 5"/>
          <p:cNvPicPr>
            <a:picLocks noChangeAspect="1"/>
          </p:cNvPicPr>
          <p:nvPr/>
        </p:nvPicPr>
        <p:blipFill>
          <a:blip r:embed="rId2"/>
          <a:stretch>
            <a:fillRect/>
          </a:stretch>
        </p:blipFill>
        <p:spPr>
          <a:xfrm>
            <a:off x="9066627" y="3758817"/>
            <a:ext cx="2082907" cy="311166"/>
          </a:xfrm>
          <a:prstGeom prst="rect">
            <a:avLst/>
          </a:prstGeom>
        </p:spPr>
      </p:pic>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数据可视化</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395621"/>
          </a:xfrm>
          <a:prstGeom prst="rect">
            <a:avLst/>
          </a:prstGeom>
        </p:spPr>
        <p:txBody>
          <a:bodyPr wrap="square">
            <a:spAutoFit/>
          </a:bodyPr>
          <a:lstStyle/>
          <a:p>
            <a:pPr lvl="0" algn="ctr">
              <a:lnSpc>
                <a:spcPct val="130000"/>
              </a:lnSpc>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Visualization</a:t>
            </a:r>
            <a:endPar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756447" y="866311"/>
            <a:ext cx="9743440" cy="42430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数据可视化把复杂数据转成直观图形，帮助我们更快识别分布特征与异常值。</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数据可视化</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689506" y="1268149"/>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单变量数据可视化</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756447" y="1839094"/>
            <a:ext cx="7098769" cy="50610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单变量数据可视化的主要目的是展示一个数据集的分布情况、集中趋势以及离散程度。常用的单变量图表包括直方图、箱线图和密度图。</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6" name="文本框 5"/>
          <p:cNvSpPr txBox="1"/>
          <p:nvPr/>
        </p:nvSpPr>
        <p:spPr>
          <a:xfrm>
            <a:off x="688344" y="2534880"/>
            <a:ext cx="6097162" cy="4116640"/>
          </a:xfrm>
          <a:prstGeom prst="rect">
            <a:avLst/>
          </a:prstGeom>
          <a:noFill/>
        </p:spPr>
        <p:txBody>
          <a:bodyPr wrap="square">
            <a:spAutoFit/>
          </a:bodyPr>
          <a:lstStyle/>
          <a:p>
            <a:pPr>
              <a:lnSpc>
                <a:spcPct val="150000"/>
              </a:lnSpc>
              <a:buNone/>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1.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直方图（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Histogram</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将数据按区间（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bins</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）分箱，展示频率分布</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观察：对称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偏态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多峰、分布宽窄、极端条形（潜在离群点）</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buNone/>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2.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箱线图（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Box Plot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用四分位数展示数据分布，突出集中趋势与异常值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关键：中位数、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Q1/Q3</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IQR</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1.5×IQR</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外的离群点</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适合：对比不同组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类别的分布差异</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buNone/>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3.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密度图（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Density Plot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对直方图做平滑化，估计概率密度（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PDF</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优点：趋势更平滑、不受分箱影响</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观察：峰值位置、分布范围、尾部（长尾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极端值）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p:txBody>
      </p:sp>
      <p:pic>
        <p:nvPicPr>
          <p:cNvPr id="8" name="图片 7" descr="图表, 直方图&#10;&#10;AI 生成的内容可能不正确。"/>
          <p:cNvPicPr>
            <a:picLocks noChangeAspect="1"/>
          </p:cNvPicPr>
          <p:nvPr/>
        </p:nvPicPr>
        <p:blipFill>
          <a:blip r:embed="rId1"/>
          <a:stretch>
            <a:fillRect/>
          </a:stretch>
        </p:blipFill>
        <p:spPr>
          <a:xfrm>
            <a:off x="7886169" y="278784"/>
            <a:ext cx="2805216" cy="2259307"/>
          </a:xfrm>
          <a:prstGeom prst="rect">
            <a:avLst/>
          </a:prstGeom>
        </p:spPr>
      </p:pic>
      <p:pic>
        <p:nvPicPr>
          <p:cNvPr id="11" name="图片 10" descr="图表, 箱线图&#10;&#10;AI 生成的内容可能不正确。"/>
          <p:cNvPicPr>
            <a:picLocks noChangeAspect="1"/>
          </p:cNvPicPr>
          <p:nvPr/>
        </p:nvPicPr>
        <p:blipFill>
          <a:blip r:embed="rId2"/>
          <a:stretch>
            <a:fillRect/>
          </a:stretch>
        </p:blipFill>
        <p:spPr>
          <a:xfrm>
            <a:off x="8014854" y="2508187"/>
            <a:ext cx="3076121" cy="2331722"/>
          </a:xfrm>
          <a:prstGeom prst="rect">
            <a:avLst/>
          </a:prstGeom>
        </p:spPr>
      </p:pic>
      <p:pic>
        <p:nvPicPr>
          <p:cNvPr id="16" name="图片 15" descr="图表, 直方图&#10;&#10;AI 生成的内容可能不正确。"/>
          <p:cNvPicPr>
            <a:picLocks noChangeAspect="1"/>
          </p:cNvPicPr>
          <p:nvPr/>
        </p:nvPicPr>
        <p:blipFill>
          <a:blip r:embed="rId3"/>
          <a:stretch>
            <a:fillRect/>
          </a:stretch>
        </p:blipFill>
        <p:spPr>
          <a:xfrm>
            <a:off x="8066688" y="4839909"/>
            <a:ext cx="2624697" cy="2036403"/>
          </a:xfrm>
          <a:prstGeom prst="rect">
            <a:avLst/>
          </a:prstGeom>
        </p:spPr>
      </p:pic>
    </p:spTree>
    <p:custDataLst>
      <p:tags r:id="rId4"/>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数据可视化</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559915" y="902336"/>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二变量数据可视化</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654778" y="1434852"/>
            <a:ext cx="7142053" cy="100122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二变量数据可视化的目标是展示两个变量之间的关系。常用的图表包括散点图、气泡图和折线图。</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6" name="文本框 5"/>
          <p:cNvSpPr txBox="1"/>
          <p:nvPr/>
        </p:nvSpPr>
        <p:spPr>
          <a:xfrm>
            <a:off x="654778" y="2312742"/>
            <a:ext cx="6097162" cy="4116640"/>
          </a:xfrm>
          <a:prstGeom prst="rect">
            <a:avLst/>
          </a:prstGeom>
          <a:noFill/>
        </p:spPr>
        <p:txBody>
          <a:bodyPr wrap="square">
            <a:spAutoFit/>
          </a:bodyPr>
          <a:lstStyle/>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1.</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散点图（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Scatter Plot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每个点代表一条观测，直观看变量关系</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观察：线性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非线性趋势、相关强弱、离群点</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2.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气泡图（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Bubble Chart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散点图扩展：用气泡大小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颜色编码第三变量</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适合：比较多维信息（如城市：人口</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–GDP–</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失业率）</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3.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折线图（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Line Chart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展示时间序列随时间的变化趋势</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适合：识别增长</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下降、周期波动、长期趋势</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p:txBody>
      </p:sp>
      <p:pic>
        <p:nvPicPr>
          <p:cNvPr id="7" name="图片 6" descr="图表, 散点图&#10;&#10;AI 生成的内容可能不正确。"/>
          <p:cNvPicPr>
            <a:picLocks noChangeAspect="1"/>
          </p:cNvPicPr>
          <p:nvPr/>
        </p:nvPicPr>
        <p:blipFill>
          <a:blip r:embed="rId1"/>
          <a:stretch>
            <a:fillRect/>
          </a:stretch>
        </p:blipFill>
        <p:spPr>
          <a:xfrm>
            <a:off x="8066688" y="188556"/>
            <a:ext cx="2571065" cy="2000849"/>
          </a:xfrm>
          <a:prstGeom prst="rect">
            <a:avLst/>
          </a:prstGeom>
        </p:spPr>
      </p:pic>
      <p:pic>
        <p:nvPicPr>
          <p:cNvPr id="12" name="图片 11" descr="图表, 散点图&#10;&#10;AI 生成的内容可能不正确。"/>
          <p:cNvPicPr>
            <a:picLocks noChangeAspect="1"/>
          </p:cNvPicPr>
          <p:nvPr/>
        </p:nvPicPr>
        <p:blipFill>
          <a:blip r:embed="rId2"/>
          <a:stretch>
            <a:fillRect/>
          </a:stretch>
        </p:blipFill>
        <p:spPr>
          <a:xfrm>
            <a:off x="8161966" y="2276653"/>
            <a:ext cx="2832473" cy="2448909"/>
          </a:xfrm>
          <a:prstGeom prst="rect">
            <a:avLst/>
          </a:prstGeom>
        </p:spPr>
      </p:pic>
      <p:pic>
        <p:nvPicPr>
          <p:cNvPr id="15" name="图片 14" descr="图表, 折线图&#10;&#10;AI 生成的内容可能不正确。"/>
          <p:cNvPicPr>
            <a:picLocks noChangeAspect="1"/>
          </p:cNvPicPr>
          <p:nvPr/>
        </p:nvPicPr>
        <p:blipFill>
          <a:blip r:embed="rId3"/>
          <a:stretch>
            <a:fillRect/>
          </a:stretch>
        </p:blipFill>
        <p:spPr>
          <a:xfrm>
            <a:off x="7948724" y="4781377"/>
            <a:ext cx="3045715" cy="2076623"/>
          </a:xfrm>
          <a:prstGeom prst="rect">
            <a:avLst/>
          </a:prstGeom>
        </p:spPr>
      </p:pic>
    </p:spTree>
    <p:custDataLst>
      <p:tags r:id="rId4"/>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数据可视化</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497095" y="902336"/>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动态与交互式数据可视化</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583772" y="1383101"/>
            <a:ext cx="9743440" cy="50610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除了静态图表</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动态与交互式数据可视化为分析者提供了更大的灵活性和交互性。</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6" name="文本框 5"/>
          <p:cNvSpPr txBox="1"/>
          <p:nvPr/>
        </p:nvSpPr>
        <p:spPr>
          <a:xfrm>
            <a:off x="583772" y="4524574"/>
            <a:ext cx="9878654" cy="1900649"/>
          </a:xfrm>
          <a:prstGeom prst="rect">
            <a:avLst/>
          </a:prstGeom>
          <a:noFill/>
        </p:spPr>
        <p:txBody>
          <a:bodyPr wrap="square">
            <a:spAutoFit/>
          </a:bodyPr>
          <a:lstStyle/>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3.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交互与动态结合</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交互决定“看哪里”，动态负责“看变化过程”，两者结合能显著提高探索与解释效率。</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结论优先：动画与交互要服务问题，不要为了炫技而增加操作负担</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控制复杂度：交互层级清晰（总览→细分→钻取），避免按钮过多</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性能与体验：数据量大时注意加载</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抽样</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缓存，否则交互会卡顿影响理解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p:txBody>
      </p:sp>
      <p:sp>
        <p:nvSpPr>
          <p:cNvPr id="10" name="文本框 9"/>
          <p:cNvSpPr txBox="1"/>
          <p:nvPr/>
        </p:nvSpPr>
        <p:spPr>
          <a:xfrm>
            <a:off x="497095" y="1889202"/>
            <a:ext cx="4487432" cy="2723702"/>
          </a:xfrm>
          <a:prstGeom prst="rect">
            <a:avLst/>
          </a:prstGeom>
          <a:noFill/>
        </p:spPr>
        <p:txBody>
          <a:bodyPr wrap="square">
            <a:spAutoFit/>
          </a:bodyPr>
          <a:lstStyle/>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1.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交互式可视化（</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Interactive Visualization</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支持：筛选、缩放、悬停提示、维度切换、联动更新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核心应用：交互式仪表盘（</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Dashboard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场景：商业智能（</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BI</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）实时监控、钻取分析（时间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地区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产品）</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p:txBody>
      </p:sp>
      <p:sp>
        <p:nvSpPr>
          <p:cNvPr id="12" name="文本框 11"/>
          <p:cNvSpPr txBox="1"/>
          <p:nvPr/>
        </p:nvSpPr>
        <p:spPr>
          <a:xfrm>
            <a:off x="5544919" y="1960484"/>
            <a:ext cx="5756201" cy="1900649"/>
          </a:xfrm>
          <a:prstGeom prst="rect">
            <a:avLst/>
          </a:prstGeom>
          <a:noFill/>
        </p:spPr>
        <p:txBody>
          <a:bodyPr wrap="square">
            <a:spAutoFit/>
          </a:bodyPr>
          <a:lstStyle/>
          <a:p>
            <a:pPr>
              <a:lnSpc>
                <a:spcPct val="150000"/>
              </a:lnSpc>
            </a:pPr>
            <a:r>
              <a:rPr lang="en-US" altLang="zh-CN" sz="1600" b="1" dirty="0"/>
              <a:t>2. </a:t>
            </a:r>
            <a:r>
              <a:rPr lang="zh-CN" altLang="en-US" sz="1600" b="1" dirty="0"/>
              <a:t>动态可视化（</a:t>
            </a:r>
            <a:r>
              <a:rPr lang="en-US" altLang="zh-CN" sz="1600" b="1" dirty="0"/>
              <a:t>Dynamic Visualization</a:t>
            </a:r>
            <a:r>
              <a:rPr lang="zh-CN" altLang="en-US" sz="1600" b="1" dirty="0"/>
              <a:t>）</a:t>
            </a:r>
            <a:endParaRPr lang="en-US" altLang="zh-CN" sz="1600" b="1" dirty="0"/>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用动画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时间滑块展示数据随时间或维度变化的演化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场景：疫情传播、股价走势、市场波动等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典型图：桑基图（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Sankey</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）展示能量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资金</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资源流向（宽度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流量）</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395621"/>
          </a:xfrm>
          <a:prstGeom prst="rect">
            <a:avLst/>
          </a:prstGeom>
        </p:spPr>
        <p:txBody>
          <a:bodyPr wrap="square">
            <a:spAutoFit/>
          </a:bodyPr>
          <a:lstStyle/>
          <a:p>
            <a:pPr lvl="0" algn="ctr">
              <a:lnSpc>
                <a:spcPct val="130000"/>
              </a:lnSpc>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Summary and Discussion</a:t>
            </a:r>
            <a:endPar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653585" y="790045"/>
            <a:ext cx="9984678" cy="2591287"/>
          </a:xfrm>
          <a:prstGeom prst="rect">
            <a:avLst/>
          </a:prstGeom>
          <a:noFill/>
        </p:spPr>
        <p:txBody>
          <a:bodyPr wrap="square">
            <a:spAutoFit/>
          </a:bodyPr>
          <a:lstStyle/>
          <a:p>
            <a:pPr>
              <a:lnSpc>
                <a:spcPct val="200000"/>
              </a:lnSpc>
              <a:buNone/>
            </a:pPr>
            <a:r>
              <a:rPr lang="zh-CN" altLang="en-US" sz="2400" b="1" dirty="0">
                <a:solidFill>
                  <a:schemeClr val="accent1"/>
                </a:solidFill>
                <a:latin typeface="思源黑体 CN Regular" panose="020B0500000000000000" charset="-122"/>
                <a:ea typeface="思源黑体 CN Regular" panose="020B0500000000000000" charset="-122"/>
              </a:rPr>
              <a:t>小结</a:t>
            </a:r>
            <a:endParaRPr lang="zh-CN" altLang="en-US" sz="2400" b="1" dirty="0">
              <a:solidFill>
                <a:schemeClr val="accent1"/>
              </a:solidFill>
              <a:latin typeface="思源黑体 CN Regular" panose="020B0500000000000000" charset="-122"/>
              <a:ea typeface="思源黑体 CN Regular" panose="020B0500000000000000" charset="-122"/>
            </a:endParaRPr>
          </a:p>
          <a:p>
            <a:pPr marL="342900" indent="-342900">
              <a:lnSpc>
                <a:spcPct val="200000"/>
              </a:lnSpc>
              <a:buFont typeface="Arial" panose="020B0604020202020204" pitchFamily="34" charset="0"/>
              <a:buChar char="•"/>
            </a:pPr>
            <a:r>
              <a:rPr lang="zh-CN" altLang="en-US" sz="2000" dirty="0"/>
              <a:t>数据基本概念：数据怎么“描述”，类型 </a:t>
            </a:r>
            <a:r>
              <a:rPr lang="en-US" altLang="zh-CN" sz="2000" dirty="0"/>
              <a:t>+ </a:t>
            </a:r>
            <a:r>
              <a:rPr lang="zh-CN" altLang="en-US" sz="2000" dirty="0"/>
              <a:t>基本统计（中心</a:t>
            </a:r>
            <a:r>
              <a:rPr lang="en-US" altLang="zh-CN" sz="2000" dirty="0"/>
              <a:t>/</a:t>
            </a:r>
            <a:r>
              <a:rPr lang="zh-CN" altLang="en-US" sz="2000" dirty="0"/>
              <a:t>离散</a:t>
            </a:r>
            <a:r>
              <a:rPr lang="en-US" altLang="zh-CN" sz="2000" dirty="0"/>
              <a:t>/</a:t>
            </a:r>
            <a:r>
              <a:rPr lang="zh-CN" altLang="en-US" sz="2000" dirty="0"/>
              <a:t>相关）</a:t>
            </a:r>
            <a:endParaRPr lang="zh-CN" altLang="en-US" sz="2000" dirty="0"/>
          </a:p>
          <a:p>
            <a:pPr marL="342900" indent="-342900">
              <a:lnSpc>
                <a:spcPct val="200000"/>
              </a:lnSpc>
              <a:buFont typeface="Arial" panose="020B0604020202020204" pitchFamily="34" charset="0"/>
              <a:buChar char="•"/>
            </a:pPr>
            <a:r>
              <a:rPr lang="zh-CN" altLang="en-US" sz="2000" dirty="0"/>
              <a:t>数据采集和处理：数据怎么“变干净”，缺失 </a:t>
            </a:r>
            <a:r>
              <a:rPr lang="en-US" altLang="zh-CN" sz="2000" dirty="0"/>
              <a:t>/ </a:t>
            </a:r>
            <a:r>
              <a:rPr lang="zh-CN" altLang="en-US" sz="2000" dirty="0"/>
              <a:t>异常 </a:t>
            </a:r>
            <a:r>
              <a:rPr lang="en-US" altLang="zh-CN" sz="2000" dirty="0"/>
              <a:t>/ </a:t>
            </a:r>
            <a:r>
              <a:rPr lang="zh-CN" altLang="en-US" sz="2000" dirty="0"/>
              <a:t>不一致 </a:t>
            </a:r>
            <a:r>
              <a:rPr lang="en-US" altLang="zh-CN" sz="2000" dirty="0"/>
              <a:t>/ </a:t>
            </a:r>
            <a:r>
              <a:rPr lang="zh-CN" altLang="en-US" sz="2000" dirty="0"/>
              <a:t>重复 → 清洗与融合</a:t>
            </a:r>
            <a:endParaRPr lang="zh-CN" altLang="en-US" sz="2000" dirty="0"/>
          </a:p>
          <a:p>
            <a:pPr marL="342900" indent="-342900">
              <a:lnSpc>
                <a:spcPct val="200000"/>
              </a:lnSpc>
              <a:buFont typeface="Arial" panose="020B0604020202020204" pitchFamily="34" charset="0"/>
              <a:buChar char="•"/>
            </a:pPr>
            <a:r>
              <a:rPr lang="zh-CN" altLang="en-US" sz="2000" dirty="0"/>
              <a:t>数据可视化：数据怎么“讲清楚”，按任务选图（分布</a:t>
            </a:r>
            <a:r>
              <a:rPr lang="en-US" altLang="zh-CN" sz="2000" dirty="0"/>
              <a:t>/</a:t>
            </a:r>
            <a:r>
              <a:rPr lang="zh-CN" altLang="en-US" sz="2000" dirty="0"/>
              <a:t>关系</a:t>
            </a:r>
            <a:r>
              <a:rPr lang="en-US" altLang="zh-CN" sz="2000" dirty="0"/>
              <a:t>/</a:t>
            </a:r>
            <a:r>
              <a:rPr lang="zh-CN" altLang="en-US" sz="2000" dirty="0"/>
              <a:t>趋势）</a:t>
            </a:r>
            <a:r>
              <a:rPr lang="en-US" altLang="zh-CN" sz="2000" dirty="0"/>
              <a:t>+ </a:t>
            </a:r>
            <a:r>
              <a:rPr lang="zh-CN" altLang="en-US" sz="2000" dirty="0"/>
              <a:t>交互增强理解</a:t>
            </a:r>
            <a:endParaRPr lang="zh-CN" altLang="en-US" sz="2000" dirty="0"/>
          </a:p>
        </p:txBody>
      </p:sp>
      <p:sp>
        <p:nvSpPr>
          <p:cNvPr id="9" name="文本框 8"/>
          <p:cNvSpPr txBox="1"/>
          <p:nvPr/>
        </p:nvSpPr>
        <p:spPr>
          <a:xfrm>
            <a:off x="653585" y="3231342"/>
            <a:ext cx="11404600" cy="3329951"/>
          </a:xfrm>
          <a:prstGeom prst="rect">
            <a:avLst/>
          </a:prstGeom>
          <a:noFill/>
        </p:spPr>
        <p:txBody>
          <a:bodyPr wrap="square">
            <a:spAutoFit/>
          </a:bodyPr>
          <a:lstStyle/>
          <a:p>
            <a:pPr>
              <a:lnSpc>
                <a:spcPct val="200000"/>
              </a:lnSpc>
              <a:buNone/>
            </a:pPr>
            <a:r>
              <a:rPr lang="zh-CN" altLang="en-US" sz="2800" b="1" dirty="0">
                <a:solidFill>
                  <a:schemeClr val="accent1"/>
                </a:solidFill>
                <a:latin typeface="思源黑体 CN Regular" panose="020B0500000000000000" charset="-122"/>
                <a:ea typeface="思源黑体 CN Regular" panose="020B0500000000000000" charset="-122"/>
              </a:rPr>
              <a:t>讨论</a:t>
            </a:r>
            <a:endParaRPr lang="en-US" altLang="zh-CN" sz="2800" b="1" dirty="0">
              <a:solidFill>
                <a:schemeClr val="accent1"/>
              </a:solidFill>
              <a:latin typeface="思源黑体 CN Regular" panose="020B0500000000000000" charset="-122"/>
              <a:ea typeface="思源黑体 CN Regular" panose="020B0500000000000000" charset="-122"/>
            </a:endParaRPr>
          </a:p>
          <a:p>
            <a:pPr marL="342900" indent="-342900">
              <a:lnSpc>
                <a:spcPct val="200000"/>
              </a:lnSpc>
              <a:buFont typeface="Arial" panose="020B0604020202020204" pitchFamily="34" charset="0"/>
              <a:buChar char="•"/>
            </a:pPr>
            <a:r>
              <a:rPr lang="zh-CN" altLang="en-US" sz="2000" dirty="0"/>
              <a:t> 根据属性可能的取值</a:t>
            </a:r>
            <a:r>
              <a:rPr lang="en-US" altLang="zh-CN" sz="2000" dirty="0"/>
              <a:t>, </a:t>
            </a:r>
            <a:r>
              <a:rPr lang="zh-CN" altLang="en-US" sz="2000" dirty="0"/>
              <a:t>可以将属性分为哪几种类型</a:t>
            </a:r>
            <a:r>
              <a:rPr lang="en-US" altLang="zh-CN" sz="2000" dirty="0"/>
              <a:t>?</a:t>
            </a:r>
            <a:endParaRPr lang="en-US" altLang="zh-CN" sz="2000" dirty="0"/>
          </a:p>
          <a:p>
            <a:pPr marL="342900" indent="-342900">
              <a:lnSpc>
                <a:spcPct val="200000"/>
              </a:lnSpc>
              <a:buFont typeface="Arial" panose="020B0604020202020204" pitchFamily="34" charset="0"/>
              <a:buChar char="•"/>
            </a:pPr>
            <a:r>
              <a:rPr lang="zh-CN" altLang="en-US" sz="2000" dirty="0"/>
              <a:t>请分析何谓通用数据采集</a:t>
            </a:r>
            <a:r>
              <a:rPr lang="en-US" altLang="zh-CN" sz="2000" dirty="0"/>
              <a:t>, </a:t>
            </a:r>
            <a:r>
              <a:rPr lang="zh-CN" altLang="en-US" sz="2000" dirty="0"/>
              <a:t>何谓定向数据采集</a:t>
            </a:r>
            <a:r>
              <a:rPr lang="en-US" altLang="zh-CN" sz="2000" dirty="0"/>
              <a:t>; </a:t>
            </a:r>
            <a:r>
              <a:rPr lang="zh-CN" altLang="en-US" sz="2000" dirty="0"/>
              <a:t>请描述定向数据采集算法的典型步骤。</a:t>
            </a:r>
            <a:endParaRPr lang="zh-CN" altLang="en-US" sz="2000" dirty="0"/>
          </a:p>
          <a:p>
            <a:pPr marL="342900" indent="-342900">
              <a:lnSpc>
                <a:spcPct val="200000"/>
              </a:lnSpc>
              <a:buFont typeface="Arial" panose="020B0604020202020204" pitchFamily="34" charset="0"/>
              <a:buChar char="•"/>
            </a:pPr>
            <a:r>
              <a:rPr lang="zh-CN" altLang="en-US" sz="2000" dirty="0"/>
              <a:t>在大数据时代</a:t>
            </a:r>
            <a:r>
              <a:rPr lang="en-US" altLang="zh-CN" sz="2000" dirty="0"/>
              <a:t>, </a:t>
            </a:r>
            <a:r>
              <a:rPr lang="zh-CN" altLang="en-US" sz="2000" dirty="0"/>
              <a:t>数据采集的工具多种多样。网络爬虫是一种按照一定的规则自动地抓取 </a:t>
            </a:r>
            <a:r>
              <a:rPr lang="en-US" altLang="zh-CN" sz="2000" dirty="0"/>
              <a:t>Web </a:t>
            </a:r>
            <a:r>
              <a:rPr lang="zh-CN" altLang="en-US" sz="2000" dirty="0"/>
              <a:t>数据的程序或者脚本。请描述网络爬虫的工作流程。</a:t>
            </a:r>
            <a:endParaRPr lang="zh-CN" altLang="en-US" sz="2000" dirty="0"/>
          </a:p>
        </p:txBody>
      </p:sp>
    </p:spTree>
    <p:custDataLst>
      <p:tags r:id="rId1"/>
    </p:custDataLst>
  </p:cSld>
  <p:clrMapOvr>
    <a:masterClrMapping/>
  </p:clrMapOvr>
</p:sld>
</file>

<file path=ppt/tags/tag1.xml><?xml version="1.0" encoding="utf-8"?>
<p:tagLst xmlns:p="http://schemas.openxmlformats.org/presentationml/2006/main">
  <p:tag name="ISLIDE.ICON" val="#407207;"/>
</p:tagLst>
</file>

<file path=ppt/tags/tag2.xml><?xml version="1.0" encoding="utf-8"?>
<p:tagLst xmlns:p="http://schemas.openxmlformats.org/presentationml/2006/main">
  <p:tag name="KSO_WM_DIAGRAM_VIRTUALLY_FRAME" val="{&quot;height&quot;:317.7314960629921,&quot;left&quot;:417.32039370078735,&quot;top&quot;:94.5,&quot;width&quot;:359.1841732283465}"/>
</p:tagLst>
</file>

<file path=ppt/tags/tag3.xml><?xml version="1.0" encoding="utf-8"?>
<p:tagLst xmlns:p="http://schemas.openxmlformats.org/presentationml/2006/main">
  <p:tag name="KSO_WM_DIAGRAM_VIRTUALLY_FRAME" val="{&quot;height&quot;:317.7314960629921,&quot;left&quot;:417.32039370078735,&quot;top&quot;:94.5,&quot;width&quot;:359.1841732283465}"/>
</p:tagLst>
</file>

<file path=ppt/tags/tag4.xml><?xml version="1.0" encoding="utf-8"?>
<p:tagLst xmlns:p="http://schemas.openxmlformats.org/presentationml/2006/main">
  <p:tag name="KSO_WM_DIAGRAM_VIRTUALLY_FRAME" val="{&quot;height&quot;:317.7314960629921,&quot;left&quot;:417.32039370078735,&quot;top&quot;:94.5,&quot;width&quot;:359.1841732283465}"/>
</p:tagLst>
</file>

<file path=ppt/tags/tag5.xml><?xml version="1.0" encoding="utf-8"?>
<p:tagLst xmlns:p="http://schemas.openxmlformats.org/presentationml/2006/main">
  <p:tag name="KSO_WM_DIAGRAM_VIRTUALLY_FRAME" val="{&quot;height&quot;:317.7314960629921,&quot;left&quot;:417.32039370078735,&quot;top&quot;:94.5,&quot;width&quot;:359.1841732283465}"/>
</p:tagLst>
</file>

<file path=ppt/tags/tag6.xml><?xml version="1.0" encoding="utf-8"?>
<p:tagLst xmlns:p="http://schemas.openxmlformats.org/presentationml/2006/main">
  <p:tag name="KSO_WM_DIAGRAM_VIRTUALLY_FRAME" val="{&quot;height&quot;:317.7314960629921,&quot;left&quot;:417.32039370078735,&quot;top&quot;:94.5,&quot;width&quot;:359.1841732283465}"/>
</p:tagLst>
</file>

<file path=ppt/tags/tag7.xml><?xml version="1.0" encoding="utf-8"?>
<p:tagLst xmlns:p="http://schemas.openxmlformats.org/presentationml/2006/main">
  <p:tag name="KSO_WM_DIAGRAM_VIRTUALLY_FRAME" val="{&quot;height&quot;:317.7314960629921,&quot;left&quot;:417.32039370078735,&quot;top&quot;:94.5,&quot;width&quot;:359.1841732283465}"/>
</p:tagLst>
</file>

<file path=ppt/tags/tag8.xml><?xml version="1.0" encoding="utf-8"?>
<p:tagLst xmlns:p="http://schemas.openxmlformats.org/presentationml/2006/main">
  <p:tag name="KSO_WM_DIAGRAM_VIRTUALLY_FRAME" val="{&quot;height&quot;:317.7314960629921,&quot;left&quot;:417.32039370078735,&quot;top&quot;:94.5,&quot;width&quot;:359.1841732283465}"/>
</p:tagLst>
</file>

<file path=ppt/tags/tag9.xml><?xml version="1.0" encoding="utf-8"?>
<p:tagLst xmlns:p="http://schemas.openxmlformats.org/presentationml/2006/main">
  <p:tag name="KSO_WM_DIAGRAM_VIRTUALLY_FRAME" val="{&quot;height&quot;:317.7314960629921,&quot;left&quot;:417.32039370078735,&quot;top&quot;:94.5,&quot;width&quot;:359.1841732283465}"/>
</p:tagLst>
</file>

<file path=ppt/tags/tag10.xml><?xml version="1.0" encoding="utf-8"?>
<p:tagLst xmlns:p="http://schemas.openxmlformats.org/presentationml/2006/main">
  <p:tag name="KSO_WM_DIAGRAM_VIRTUALLY_FRAME" val="{&quot;height&quot;:317.7314960629921,&quot;left&quot;:417.32039370078735,&quot;top&quot;:94.5,&quot;width&quot;:359.1841732283465}"/>
</p:tagLst>
</file>

<file path=ppt/tags/tag11.xml><?xml version="1.0" encoding="utf-8"?>
<p:tagLst xmlns:p="http://schemas.openxmlformats.org/presentationml/2006/main">
  <p:tag name="KSO_WM_DIAGRAM_VIRTUALLY_FRAME" val="{&quot;height&quot;:317.7314960629921,&quot;left&quot;:417.32039370078735,&quot;top&quot;:94.5,&quot;width&quot;:359.1841732283465}"/>
</p:tagLst>
</file>

<file path=ppt/tags/tag12.xml><?xml version="1.0" encoding="utf-8"?>
<p:tagLst xmlns:p="http://schemas.openxmlformats.org/presentationml/2006/main">
  <p:tag name="KSO_WM_DIAGRAM_VIRTUALLY_FRAME" val="{&quot;height&quot;:317.7314960629921,&quot;left&quot;:417.32039370078735,&quot;top&quot;:94.5,&quot;width&quot;:359.1841732283465}"/>
</p:tagLst>
</file>

<file path=ppt/tags/tag13.xml><?xml version="1.0" encoding="utf-8"?>
<p:tagLst xmlns:p="http://schemas.openxmlformats.org/presentationml/2006/main">
  <p:tag name="KSO_WM_DIAGRAM_VIRTUALLY_FRAME" val="{&quot;height&quot;:317.7314960629921,&quot;left&quot;:417.32039370078735,&quot;top&quot;:94.5,&quot;width&quot;:359.1841732283465}"/>
</p:tagLst>
</file>

<file path=ppt/tags/tag14.xml><?xml version="1.0" encoding="utf-8"?>
<p:tagLst xmlns:p="http://schemas.openxmlformats.org/presentationml/2006/main">
  <p:tag name="ISLIDE.ICON" val="#407207;"/>
</p:tagLst>
</file>

<file path=ppt/tags/tag15.xml><?xml version="1.0" encoding="utf-8"?>
<p:tagLst xmlns:p="http://schemas.openxmlformats.org/presentationml/2006/main">
  <p:tag name="ISLIDE.ICON" val="#407207;"/>
</p:tagLst>
</file>

<file path=ppt/tags/tag16.xml><?xml version="1.0" encoding="utf-8"?>
<p:tagLst xmlns:p="http://schemas.openxmlformats.org/presentationml/2006/main">
  <p:tag name="ISLIDE.ICON" val="#407207;"/>
</p:tagLst>
</file>

<file path=ppt/tags/tag17.xml><?xml version="1.0" encoding="utf-8"?>
<p:tagLst xmlns:p="http://schemas.openxmlformats.org/presentationml/2006/main">
  <p:tag name="ISLIDE.ICON" val="#407207;"/>
</p:tagLst>
</file>

<file path=ppt/tags/tag18.xml><?xml version="1.0" encoding="utf-8"?>
<p:tagLst xmlns:p="http://schemas.openxmlformats.org/presentationml/2006/main">
  <p:tag name="ISLIDE.ICON" val="#407207;"/>
</p:tagLst>
</file>

<file path=ppt/tags/tag19.xml><?xml version="1.0" encoding="utf-8"?>
<p:tagLst xmlns:p="http://schemas.openxmlformats.org/presentationml/2006/main">
  <p:tag name="ISLIDE.ICON" val="#407207;"/>
</p:tagLst>
</file>

<file path=ppt/tags/tag20.xml><?xml version="1.0" encoding="utf-8"?>
<p:tagLst xmlns:p="http://schemas.openxmlformats.org/presentationml/2006/main">
  <p:tag name="ISLIDE.ICON" val="#407207;"/>
</p:tagLst>
</file>

<file path=ppt/tags/tag21.xml><?xml version="1.0" encoding="utf-8"?>
<p:tagLst xmlns:p="http://schemas.openxmlformats.org/presentationml/2006/main">
  <p:tag name="ISLIDE.ICON" val="#407207;"/>
</p:tagLst>
</file>

<file path=ppt/tags/tag22.xml><?xml version="1.0" encoding="utf-8"?>
<p:tagLst xmlns:p="http://schemas.openxmlformats.org/presentationml/2006/main">
  <p:tag name="ISLIDE.ICON" val="#407207;"/>
</p:tagLst>
</file>

<file path=ppt/tags/tag23.xml><?xml version="1.0" encoding="utf-8"?>
<p:tagLst xmlns:p="http://schemas.openxmlformats.org/presentationml/2006/main">
  <p:tag name="ISLIDE.ICON" val="#407207;"/>
</p:tagLst>
</file>

<file path=ppt/tags/tag24.xml><?xml version="1.0" encoding="utf-8"?>
<p:tagLst xmlns:p="http://schemas.openxmlformats.org/presentationml/2006/main">
  <p:tag name="ISLIDE.ICON" val="#407207;"/>
</p:tagLst>
</file>

<file path=ppt/tags/tag25.xml><?xml version="1.0" encoding="utf-8"?>
<p:tagLst xmlns:p="http://schemas.openxmlformats.org/presentationml/2006/main">
  <p:tag name="ISLIDE.ICON" val="#407207;"/>
</p:tagLst>
</file>

<file path=ppt/tags/tag26.xml><?xml version="1.0" encoding="utf-8"?>
<p:tagLst xmlns:p="http://schemas.openxmlformats.org/presentationml/2006/main">
  <p:tag name="ISLIDE.ICON" val="#407207;"/>
</p:tagLst>
</file>

<file path=ppt/tags/tag27.xml><?xml version="1.0" encoding="utf-8"?>
<p:tagLst xmlns:p="http://schemas.openxmlformats.org/presentationml/2006/main">
  <p:tag name="ISLIDE.ICON" val="#407207;"/>
</p:tagLst>
</file>

<file path=ppt/tags/tag28.xml><?xml version="1.0" encoding="utf-8"?>
<p:tagLst xmlns:p="http://schemas.openxmlformats.org/presentationml/2006/main">
  <p:tag name="ISLIDE.ICON" val="#407207;"/>
</p:tagLst>
</file>

<file path=ppt/tags/tag29.xml><?xml version="1.0" encoding="utf-8"?>
<p:tagLst xmlns:p="http://schemas.openxmlformats.org/presentationml/2006/main">
  <p:tag name="ISLIDE.ICON" val="#407207;"/>
</p:tagLst>
</file>

<file path=ppt/tags/tag30.xml><?xml version="1.0" encoding="utf-8"?>
<p:tagLst xmlns:p="http://schemas.openxmlformats.org/presentationml/2006/main">
  <p:tag name="ISLIDE.ICON" val="#407207;"/>
</p:tagLst>
</file>

<file path=ppt/tags/tag31.xml><?xml version="1.0" encoding="utf-8"?>
<p:tagLst xmlns:p="http://schemas.openxmlformats.org/presentationml/2006/main">
  <p:tag name="ISLIDE.ICON" val="#407207;"/>
</p:tagLst>
</file>

<file path=ppt/tags/tag32.xml><?xml version="1.0" encoding="utf-8"?>
<p:tagLst xmlns:p="http://schemas.openxmlformats.org/presentationml/2006/main">
  <p:tag name="ISLIDE.ICON" val="#407207;"/>
</p:tagLst>
</file>

<file path=ppt/tags/tag33.xml><?xml version="1.0" encoding="utf-8"?>
<p:tagLst xmlns:p="http://schemas.openxmlformats.org/presentationml/2006/main">
  <p:tag name="ISLIDE.ICON" val="#407207;"/>
</p:tagLst>
</file>

<file path=ppt/tags/tag34.xml><?xml version="1.0" encoding="utf-8"?>
<p:tagLst xmlns:p="http://schemas.openxmlformats.org/presentationml/2006/main">
  <p:tag name="ISLIDE.ICON" val="#407207;"/>
</p:tagLst>
</file>

<file path=ppt/tags/tag35.xml><?xml version="1.0" encoding="utf-8"?>
<p:tagLst xmlns:p="http://schemas.openxmlformats.org/presentationml/2006/main">
  <p:tag name="ISLIDE.ICON" val="#407207;"/>
</p:tagLst>
</file>

<file path=ppt/tags/tag36.xml><?xml version="1.0" encoding="utf-8"?>
<p:tagLst xmlns:p="http://schemas.openxmlformats.org/presentationml/2006/main">
  <p:tag name="ISLIDE.ICON" val="#407207;"/>
</p:tagLst>
</file>

<file path=ppt/tags/tag37.xml><?xml version="1.0" encoding="utf-8"?>
<p:tagLst xmlns:p="http://schemas.openxmlformats.org/presentationml/2006/main">
  <p:tag name="ISLIDE.ICON" val="#407207;"/>
</p:tagLst>
</file>

<file path=ppt/tags/tag38.xml><?xml version="1.0" encoding="utf-8"?>
<p:tagLst xmlns:p="http://schemas.openxmlformats.org/presentationml/2006/main">
  <p:tag name="ISLIDE.ICON" val="#407207;"/>
</p:tagLst>
</file>

<file path=ppt/tags/tag39.xml><?xml version="1.0" encoding="utf-8"?>
<p:tagLst xmlns:p="http://schemas.openxmlformats.org/presentationml/2006/main">
  <p:tag name="ISLIDE.ICON" val="#407207;"/>
</p:tagLst>
</file>

<file path=ppt/tags/tag40.xml><?xml version="1.0" encoding="utf-8"?>
<p:tagLst xmlns:p="http://schemas.openxmlformats.org/presentationml/2006/main">
  <p:tag name="ISLIDE.ICON" val="#407207;"/>
</p:tagLst>
</file>

<file path=ppt/tags/tag41.xml><?xml version="1.0" encoding="utf-8"?>
<p:tagLst xmlns:p="http://schemas.openxmlformats.org/presentationml/2006/main">
  <p:tag name="ISLIDE.ICON" val="#407207;"/>
</p:tagLst>
</file>

<file path=ppt/tags/tag42.xml><?xml version="1.0" encoding="utf-8"?>
<p:tagLst xmlns:p="http://schemas.openxmlformats.org/presentationml/2006/main">
  <p:tag name="ISLIDE.ICON" val="#407207;"/>
</p:tagLst>
</file>

<file path=ppt/tags/tag43.xml><?xml version="1.0" encoding="utf-8"?>
<p:tagLst xmlns:p="http://schemas.openxmlformats.org/presentationml/2006/main">
  <p:tag name="ISLIDE.ICON" val="#407207;"/>
</p:tagLst>
</file>

<file path=ppt/tags/tag44.xml><?xml version="1.0" encoding="utf-8"?>
<p:tagLst xmlns:p="http://schemas.openxmlformats.org/presentationml/2006/main">
  <p:tag name="ISLIDE.ICON" val="#407207;"/>
</p:tagLst>
</file>

<file path=ppt/tags/tag45.xml><?xml version="1.0" encoding="utf-8"?>
<p:tagLst xmlns:p="http://schemas.openxmlformats.org/presentationml/2006/main">
  <p:tag name="ISLIDE.ICON" val="#407207;"/>
</p:tagLst>
</file>

<file path=ppt/tags/tag46.xml><?xml version="1.0" encoding="utf-8"?>
<p:tagLst xmlns:p="http://schemas.openxmlformats.org/presentationml/2006/main">
  <p:tag name="ISLIDE.ICON" val="#407207;"/>
</p:tagLst>
</file>

<file path=ppt/tags/tag47.xml><?xml version="1.0" encoding="utf-8"?>
<p:tagLst xmlns:p="http://schemas.openxmlformats.org/presentationml/2006/main">
  <p:tag name="ISLIDE.ICON" val="#407207;"/>
</p:tagLst>
</file>

<file path=ppt/tags/tag48.xml><?xml version="1.0" encoding="utf-8"?>
<p:tagLst xmlns:p="http://schemas.openxmlformats.org/presentationml/2006/main">
  <p:tag name="ISLIDE.ICON" val="#407207;"/>
</p:tagLst>
</file>

<file path=ppt/tags/tag49.xml><?xml version="1.0" encoding="utf-8"?>
<p:tagLst xmlns:p="http://schemas.openxmlformats.org/presentationml/2006/main">
  <p:tag name="ISLIDE.ICON" val="#407207;"/>
</p:tagLst>
</file>

<file path=ppt/tags/tag50.xml><?xml version="1.0" encoding="utf-8"?>
<p:tagLst xmlns:p="http://schemas.openxmlformats.org/presentationml/2006/main">
  <p:tag name="ISLIDE.ICON" val="#407207;"/>
</p:tagLst>
</file>

<file path=ppt/tags/tag51.xml><?xml version="1.0" encoding="utf-8"?>
<p:tagLst xmlns:p="http://schemas.openxmlformats.org/presentationml/2006/main">
  <p:tag name="KSO_WPP_MARK_KEY" val="be449126-64c9-4d19-a63f-f572ce796e9d"/>
  <p:tag name="COMMONDATA" val="eyJoZGlkIjoiNTQ0MDc3NzBkNTM1ZjYzYmNhY2VjZGI2NTUwOWI0NjkifQ=="/>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15306</Words>
  <Application>WPS 演示</Application>
  <PresentationFormat>宽屏</PresentationFormat>
  <Paragraphs>728</Paragraphs>
  <Slides>38</Slides>
  <Notes>38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Arial</vt:lpstr>
      <vt:lpstr>宋体</vt:lpstr>
      <vt:lpstr>Wingdings</vt:lpstr>
      <vt:lpstr>思源黑体 CN Regular</vt:lpstr>
      <vt:lpstr>Times New Roman</vt:lpstr>
      <vt:lpstr>Cambria Math</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张海波</cp:lastModifiedBy>
  <cp:revision>168</cp:revision>
  <dcterms:created xsi:type="dcterms:W3CDTF">2025-12-27T06:12:00Z</dcterms:created>
  <dcterms:modified xsi:type="dcterms:W3CDTF">2026-03-05T06:29:23Z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FA0D7DC21BEC4B2A15764F69A6625F4E_43</vt:lpwstr>
  </property>
  <property fmtid="{D5CDD505-2E9C-101B-9397-08002B2CF9AE}" pid="4" name="KSOTemplateUUID">
    <vt:lpwstr>v1.0_mb_8FD/Rqav6PdV2YvimblSqQ==</vt:lpwstr>
  </property>
</Properties>
</file>